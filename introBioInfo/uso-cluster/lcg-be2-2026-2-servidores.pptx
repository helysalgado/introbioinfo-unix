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5.xml.rels" ContentType="application/vnd.openxmlformats-package.relationships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3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7.xml" ContentType="application/vnd.openxmlformats-officedocument.theme+xml"/>
  <Override PartName="/ppt/theme/theme22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5.xml.rels" ContentType="application/vnd.openxmlformats-package.relationships+xml"/>
  <Override PartName="/ppt/slideLayouts/slideLayout2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9.png" ContentType="image/png"/>
  <Override PartName="/ppt/media/image28.png" ContentType="image/png"/>
  <Override PartName="/ppt/media/image27.png" ContentType="image/png"/>
  <Override PartName="/ppt/media/image25.png" ContentType="image/png"/>
  <Override PartName="/ppt/media/image3.png" ContentType="image/png"/>
  <Override PartName="/ppt/media/image2.png" ContentType="image/png"/>
  <Override PartName="/ppt/media/image23.png" ContentType="image/png"/>
  <Override PartName="/ppt/media/image8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1.png" ContentType="image/png"/>
  <Override PartName="/ppt/media/image6.png" ContentType="image/png"/>
  <Override PartName="/ppt/media/image35.png" ContentType="image/png"/>
  <Override PartName="/ppt/media/image4.png" ContentType="image/png"/>
  <Override PartName="/ppt/media/image19.png" ContentType="image/png"/>
  <Override PartName="/ppt/media/image13.png" ContentType="image/png"/>
  <Override PartName="/ppt/media/image17.png" ContentType="image/png"/>
  <Override PartName="/ppt/media/image34.png" ContentType="image/png"/>
  <Override PartName="/ppt/media/image33.png" ContentType="image/png"/>
  <Override PartName="/ppt/media/image12.png" ContentType="image/png"/>
  <Override PartName="/ppt/media/image30.png" ContentType="image/png"/>
  <Override PartName="/ppt/media/image21.png" ContentType="image/png"/>
  <Override PartName="/ppt/media/image7.jpeg" ContentType="image/jpeg"/>
  <Override PartName="/ppt/media/image31.png" ContentType="image/png"/>
  <Override PartName="/ppt/media/image24.png" ContentType="image/png"/>
  <Override PartName="/ppt/media/image26.png" ContentType="image/png"/>
  <Override PartName="/ppt/media/image11.png" ContentType="image/png"/>
  <Override PartName="/ppt/media/image10.png" ContentType="image/png"/>
  <Override PartName="/ppt/media/image14.png" ContentType="image/png"/>
  <Override PartName="/ppt/media/image15.png" ContentType="image/png"/>
  <Override PartName="/ppt/media/image5.png" ContentType="image/png"/>
  <Override PartName="/ppt/media/image32.png" ContentType="image/png"/>
  <Override PartName="/ppt/media/image16.png" ContentType="image/png"/>
  <Override PartName="/ppt/media/image22.png" ContentType="image/png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2.xml.rels" ContentType="application/vnd.openxmlformats-package.relationships+xml"/>
  <Override PartName="/ppt/slides/_rels/slide4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63.xml.rels" ContentType="application/vnd.openxmlformats-package.relationships+xml"/>
  <Override PartName="/ppt/slides/_rels/slide27.xml.rels" ContentType="application/vnd.openxmlformats-package.relationships+xml"/>
  <Override PartName="/ppt/slides/_rels/slide38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55.xml.rels" ContentType="application/vnd.openxmlformats-package.relationships+xml"/>
  <Override PartName="/ppt/slides/_rels/slide60.xml.rels" ContentType="application/vnd.openxmlformats-package.relationships+xml"/>
  <Override PartName="/ppt/slides/_rels/slide23.xml.rels" ContentType="application/vnd.openxmlformats-package.relationships+xml"/>
  <Override PartName="/ppt/slides/_rels/slide56.xml.rels" ContentType="application/vnd.openxmlformats-package.relationships+xml"/>
  <Override PartName="/ppt/slides/_rels/slide30.xml.rels" ContentType="application/vnd.openxmlformats-package.relationships+xml"/>
  <Override PartName="/ppt/slides/_rels/slide5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25.xml.rels" ContentType="application/vnd.openxmlformats-package.relationships+xml"/>
  <Override PartName="/ppt/slides/_rels/slide13.xml.rels" ContentType="application/vnd.openxmlformats-package.relationships+xml"/>
  <Override PartName="/ppt/slides/_rels/slide54.xml.rels" ContentType="application/vnd.openxmlformats-package.relationships+xml"/>
  <Override PartName="/ppt/slides/_rels/slide21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48.xml.rels" ContentType="application/vnd.openxmlformats-package.relationships+xml"/>
  <Override PartName="/ppt/slides/_rels/slide4.xml.rels" ContentType="application/vnd.openxmlformats-package.relationships+xml"/>
  <Override PartName="/ppt/slides/_rels/slide34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5.xml.rels" ContentType="application/vnd.openxmlformats-package.relationships+xml"/>
  <Override PartName="/ppt/slides/_rels/slide61.xml.rels" ContentType="application/vnd.openxmlformats-package.relationships+xml"/>
  <Override PartName="/ppt/slides/_rels/slide37.xml.rels" ContentType="application/vnd.openxmlformats-package.relationships+xml"/>
  <Override PartName="/ppt/slides/_rels/slide19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5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36.xml.rels" ContentType="application/vnd.openxmlformats-package.relationships+xml"/>
  <Override PartName="/ppt/slides/_rels/slide22.xml.rels" ContentType="application/vnd.openxmlformats-package.relationships+xml"/>
  <Override PartName="/ppt/slides/_rels/slide41.xml.rels" ContentType="application/vnd.openxmlformats-package.relationships+xml"/>
  <Override PartName="/ppt/slides/_rels/slide43.xml.rels" ContentType="application/vnd.openxmlformats-package.relationships+xml"/>
  <Override PartName="/ppt/slides/_rels/slide58.xml.rels" ContentType="application/vnd.openxmlformats-package.relationships+xml"/>
  <Override PartName="/ppt/slides/_rels/slide28.xml.rels" ContentType="application/vnd.openxmlformats-package.relationships+xml"/>
  <Override PartName="/ppt/slides/_rels/slide42.xml.rels" ContentType="application/vnd.openxmlformats-package.relationships+xml"/>
  <Override PartName="/ppt/slides/_rels/slide44.xml.rels" ContentType="application/vnd.openxmlformats-package.relationshi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63.xml" ContentType="application/vnd.openxmlformats-officedocument.presentationml.slide+xml"/>
  <Override PartName="/ppt/slides/slide61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1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notesSlides/_rels/notesSlide6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1.xml.rels" ContentType="application/vnd.openxmlformats-package.relationships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90" r:id="rId19"/>
    <p:sldMasterId id="2147483700" r:id="rId20"/>
    <p:sldMasterId id="2147483702" r:id="rId21"/>
    <p:sldMasterId id="2147483704" r:id="rId22"/>
    <p:sldMasterId id="2147483706" r:id="rId23"/>
    <p:sldMasterId id="2147483708" r:id="rId24"/>
    <p:sldMasterId id="2147483710" r:id="rId25"/>
    <p:sldMasterId id="2147483712" r:id="rId26"/>
  </p:sldMasterIdLst>
  <p:notesMasterIdLst>
    <p:notesMasterId r:id="rId27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0" r:id="rId62"/>
    <p:sldId id="291" r:id="rId63"/>
    <p:sldId id="292" r:id="rId64"/>
    <p:sldId id="293" r:id="rId65"/>
    <p:sldId id="294" r:id="rId66"/>
    <p:sldId id="295" r:id="rId67"/>
    <p:sldId id="296" r:id="rId68"/>
    <p:sldId id="297" r:id="rId69"/>
    <p:sldId id="298" r:id="rId70"/>
    <p:sldId id="299" r:id="rId71"/>
    <p:sldId id="300" r:id="rId72"/>
    <p:sldId id="301" r:id="rId73"/>
    <p:sldId id="302" r:id="rId74"/>
    <p:sldId id="303" r:id="rId75"/>
    <p:sldId id="304" r:id="rId76"/>
    <p:sldId id="305" r:id="rId77"/>
    <p:sldId id="306" r:id="rId78"/>
    <p:sldId id="307" r:id="rId79"/>
    <p:sldId id="308" r:id="rId80"/>
    <p:sldId id="309" r:id="rId81"/>
    <p:sldId id="310" r:id="rId82"/>
    <p:sldId id="311" r:id="rId83"/>
    <p:sldId id="312" r:id="rId84"/>
    <p:sldId id="313" r:id="rId85"/>
    <p:sldId id="314" r:id="rId86"/>
    <p:sldId id="315" r:id="rId87"/>
    <p:sldId id="316" r:id="rId88"/>
    <p:sldId id="317" r:id="rId89"/>
    <p:sldId id="318" r:id="rId9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26.xml"/><Relationship Id="rId20" Type="http://schemas.openxmlformats.org/officeDocument/2006/relationships/slideMaster" Target="slideMasters/slideMaster27.xml"/><Relationship Id="rId21" Type="http://schemas.openxmlformats.org/officeDocument/2006/relationships/slideMaster" Target="slideMasters/slideMaster28.xml"/><Relationship Id="rId22" Type="http://schemas.openxmlformats.org/officeDocument/2006/relationships/slideMaster" Target="slideMasters/slideMaster29.xml"/><Relationship Id="rId23" Type="http://schemas.openxmlformats.org/officeDocument/2006/relationships/slideMaster" Target="slideMasters/slideMaster30.xml"/><Relationship Id="rId24" Type="http://schemas.openxmlformats.org/officeDocument/2006/relationships/slideMaster" Target="slideMasters/slideMaster31.xml"/><Relationship Id="rId25" Type="http://schemas.openxmlformats.org/officeDocument/2006/relationships/slideMaster" Target="slideMasters/slideMaster32.xml"/><Relationship Id="rId26" Type="http://schemas.openxmlformats.org/officeDocument/2006/relationships/slideMaster" Target="slideMasters/slideMaster33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slide" Target="slides/slide17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0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1" Type="http://schemas.openxmlformats.org/officeDocument/2006/relationships/slide" Target="slides/slide34.xml"/><Relationship Id="rId62" Type="http://schemas.openxmlformats.org/officeDocument/2006/relationships/slide" Target="slides/slide35.xml"/><Relationship Id="rId63" Type="http://schemas.openxmlformats.org/officeDocument/2006/relationships/slide" Target="slides/slide36.xml"/><Relationship Id="rId64" Type="http://schemas.openxmlformats.org/officeDocument/2006/relationships/slide" Target="slides/slide37.xml"/><Relationship Id="rId65" Type="http://schemas.openxmlformats.org/officeDocument/2006/relationships/slide" Target="slides/slide38.xml"/><Relationship Id="rId66" Type="http://schemas.openxmlformats.org/officeDocument/2006/relationships/slide" Target="slides/slide39.xml"/><Relationship Id="rId67" Type="http://schemas.openxmlformats.org/officeDocument/2006/relationships/slide" Target="slides/slide40.xml"/><Relationship Id="rId68" Type="http://schemas.openxmlformats.org/officeDocument/2006/relationships/slide" Target="slides/slide41.xml"/><Relationship Id="rId69" Type="http://schemas.openxmlformats.org/officeDocument/2006/relationships/slide" Target="slides/slide42.xml"/><Relationship Id="rId70" Type="http://schemas.openxmlformats.org/officeDocument/2006/relationships/slide" Target="slides/slide43.xml"/><Relationship Id="rId71" Type="http://schemas.openxmlformats.org/officeDocument/2006/relationships/slide" Target="slides/slide44.xml"/><Relationship Id="rId72" Type="http://schemas.openxmlformats.org/officeDocument/2006/relationships/slide" Target="slides/slide45.xml"/><Relationship Id="rId73" Type="http://schemas.openxmlformats.org/officeDocument/2006/relationships/slide" Target="slides/slide46.xml"/><Relationship Id="rId74" Type="http://schemas.openxmlformats.org/officeDocument/2006/relationships/slide" Target="slides/slide47.xml"/><Relationship Id="rId75" Type="http://schemas.openxmlformats.org/officeDocument/2006/relationships/slide" Target="slides/slide48.xml"/><Relationship Id="rId76" Type="http://schemas.openxmlformats.org/officeDocument/2006/relationships/slide" Target="slides/slide49.xml"/><Relationship Id="rId77" Type="http://schemas.openxmlformats.org/officeDocument/2006/relationships/slide" Target="slides/slide50.xml"/><Relationship Id="rId78" Type="http://schemas.openxmlformats.org/officeDocument/2006/relationships/slide" Target="slides/slide51.xml"/><Relationship Id="rId79" Type="http://schemas.openxmlformats.org/officeDocument/2006/relationships/slide" Target="slides/slide52.xml"/><Relationship Id="rId80" Type="http://schemas.openxmlformats.org/officeDocument/2006/relationships/slide" Target="slides/slide53.xml"/><Relationship Id="rId81" Type="http://schemas.openxmlformats.org/officeDocument/2006/relationships/slide" Target="slides/slide54.xml"/><Relationship Id="rId82" Type="http://schemas.openxmlformats.org/officeDocument/2006/relationships/slide" Target="slides/slide55.xml"/><Relationship Id="rId83" Type="http://schemas.openxmlformats.org/officeDocument/2006/relationships/slide" Target="slides/slide56.xml"/><Relationship Id="rId84" Type="http://schemas.openxmlformats.org/officeDocument/2006/relationships/slide" Target="slides/slide57.xml"/><Relationship Id="rId85" Type="http://schemas.openxmlformats.org/officeDocument/2006/relationships/slide" Target="slides/slide58.xml"/><Relationship Id="rId86" Type="http://schemas.openxmlformats.org/officeDocument/2006/relationships/slide" Target="slides/slide59.xml"/><Relationship Id="rId87" Type="http://schemas.openxmlformats.org/officeDocument/2006/relationships/slide" Target="slides/slide60.xml"/><Relationship Id="rId88" Type="http://schemas.openxmlformats.org/officeDocument/2006/relationships/slide" Target="slides/slide61.xml"/><Relationship Id="rId89" Type="http://schemas.openxmlformats.org/officeDocument/2006/relationships/slide" Target="slides/slide62.xml"/><Relationship Id="rId90" Type="http://schemas.openxmlformats.org/officeDocument/2006/relationships/slide" Target="slides/slide63.xml"/><Relationship Id="rId9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CF1D74-015A-401A-B2A4-F6283B3AC9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hyperlink" Target="mailto:user@chaac.lcg.unam.mx" TargetMode="External"/><Relationship Id="rId2" Type="http://schemas.openxmlformats.org/officeDocument/2006/relationships/slide" Target="../slides/slide11.xml"/><Relationship Id="rId3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hyperlink" Target="http://kukun.lcg.unam.mx/wordpress/?page_id=47" TargetMode="External"/><Relationship Id="rId2" Type="http://schemas.openxmlformats.org/officeDocument/2006/relationships/slide" Target="../slides/slide60.xml"/><Relationship Id="rId3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hyperlink" Target="https://bioinformatics.mdc-berlin.de/intro2UnixandSGE/sun_grid_engine_for_beginners/README.html" TargetMode="External"/><Relationship Id="rId2" Type="http://schemas.openxmlformats.org/officeDocument/2006/relationships/hyperlink" Target="https://docs.oracle.com/cd/E19957-01/820-0699/chp4-21/index.html" TargetMode="External"/><Relationship Id="rId3" Type="http://schemas.openxmlformats.org/officeDocument/2006/relationships/slide" Target="../slides/slide61.xml"/><Relationship Id="rId4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Modelos computacionales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Ejemplo problemas de gran reto: estudio de estructura y dinámica de moléculas, pronóstico del clima o cambios climáticos, estudio de la creación y evolución de las galaxias, farmacología, sarscov2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Hpc ~1960s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Objetivo del supercómputo: reducir tiempos para procesamientos de muchos datos. Requiere muchos recursos, memoria, almacenamiento. Realiza millones de operaciones aritméticas por segundo.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High Performance Computing: un trabajo en paralelo, menos tiempo, más rápido, escalable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High Throughput Computing, muchos trabajos, similares pero diferentes entradas, concurrentes, no necesariamente se comunican, más tiempo,  (throughput: cantidad de trabajo por unidad de tiempo)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1980s mainframes se desarrollan tecnologías como time sharing y envío de mensajes; precios elevador por componentes y licencias UNIX, se popularizan las PCs, GNU 1985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1990s linux por linus torvalds 1991, cluster Beowulf 1994 Donals Becker (NASA) 16 pcs 486 y red ethernet 10M, problema de dinámica de fluídos, Linux y GNU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Cómputo distribuido? Tipo seti@home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Grid EELA cluster de clusters 2007, globus toolkit, tenía un sistema de archivos distribuido lfc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Supercomputadora, 10x o 100x mayor capacidad que cualquier computadora convencional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CPUs, GPUs, TPUs, DPUs?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Rendimiento se mide en flops, benchmark hpl (linpack) rmax, rpeak, numcores*freq*flops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freq=clock speed en GHz ciclos de reloj por segundo, no necesariamente mejor rendimiento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freq==rpm, flops=hp (horsepower, potencia, taza en que el trabajo es realizado)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Top500 desde 1993, Top 3 nov2023: 1 “frontier” hpe cray os, amd, US; 2 “aurora” hpe cray ex, intel, suse, US, 4.7M cores; 3. US 1.1M cores; 4 japón; 5 finlandia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Nov2024: 1 “el capitan” hpe cray ex255a, amd 11M cores 1742 Pflops, 2 “frontier” hpe 9M C, 3 “aurora” 9M 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BSC Marenostrum lugar 11, 660K cores, fecha nov 2024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Imagen: seminario supercómputo UNAM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1997 berenice cray origin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2002 bakliz, 60x sirio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Kanbalam: buena época, pero estaba muy saturada! Proyecto palacios?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Miztli estaba en el top10 de latam. Xiuhcoatl cinvestav 344Tflops, yoltla uam 282 tflops , usa IBM LSF $$$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 2024 mexico ya no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Kukun? Alrededor de unos cuantos Gflops?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CNS thubat kaal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UAM aitzaloa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CINVESTAV xiuhcoatl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 alta disponibilidad, replicación, balanceador de cargas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Nube? -&gt; virtualización, on-prem -&gt; IaaS -&gt; </a:t>
            </a: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PaaS -&gt; SaaS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Serverless? No existe! Es nube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Sistemas de archivos por NFS, si se tiene red ethernet es posible cuello  de botella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Sistemas de archivos distribuidos: lustre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GPUs? Cientos o miles de cores, cuda nvidia, programas deben ser desarrollados para usar gpus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Redes: ethernet, fibra, infiniband 10,100Gbps-&gt;1TBps!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 de datos: más rápida -&gt; poca latencia, red 1G lat=25-65ms;  ejemplo grace hopper nanosecond? Ejemplo 1ns ~ 30cm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ccg sólo tenemos nodo principal (que funciona como de acceso y de servicios), y nodos de cómputo; sólo tenemos una red (que funciona para admon y datos)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conecten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ssh -p 25252 </a:t>
            </a:r>
            <a:r>
              <a:rPr b="0" lang="en-US" sz="2000" strike="noStrike" u="sng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user@chaac.lcg.unam.mx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mosh –ssh=”ssh -p 25252” user@lcg.unam.mx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ya deben saber, preguntar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Sintáxis básica comandos: $ commando [-opciones] [argumentos]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Uso de shell, tecla tab, teclas flecha arriba, abajo, history, !, ctrl-r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Revisar htop: columnas PID, USER, RES, SHR, S, CPU%, MEM%, TIME, command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VIRT= total de memoria usada, puede incluir código, datos, swap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RES=residente en memoria (non-swap)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SHR=compartida entre procesos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Operaciones: click en encabezado, ordenar; f5 árbol, f9 kill, H mostrar/ocultar threads, u usuario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Señales: TERM, KILL, pero hay otras como HUP  STOP CONT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man 7 signal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Mostrar htop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Recordar que usen su directorio en /export/storage/users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tepeu, buluc, kukun existe la misma ruta, pero son diferentes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1400" cy="37681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4320" cy="45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Mencionarlo sólo por completud histórica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Recordar que usen su directorio en /export/storage/users, mencionar PORQUE: por el espacio en home es limitado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tepeu, buluc, kukun existe la misma ruta, pero son diferentes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Motd: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Lista de programas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estado de space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sge y estado de sge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agradecimientos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Commando: instrucción al SO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Depende de cómo se programan los programas. Ej, no se puede agarrar cualquier programa y “hacerlo paralelo” con el comando parallel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Hadoop, mapreduce, cluster spark, scheduler yarn, mesos, Sistemas de archivos distribuidos hdfs, pej Archivos tipo parquet columnares particionados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punto va subiendo en complejidad, incluye los anteriores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Computación cuántica?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Haremos ejercicios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Haremos ejercicios de esos comandos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Haremos ejercicios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cd /export/storage/users/$USER; mkdir -p be2; cd !$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archivo markdown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cd /export/storage/users/$USER; mkdir -p be2; cd !$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archivo markdown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lo vieron en introbioinfo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planificador de trabajos nos puede ayudar con eso y más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planificador nos ayudará a ejecutar los programas, monitorearlos, terminarlos, pero también a asignarles recursos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Software diseñado o adecuado para optimizar el uso y el aprovechamiento de los recursos disponibles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También se conoce como manejador de colas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LCG tenemos SGE en los servidores y el cluster.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a empezar a practicar, pero primero recordemos qué infraestructura computacional tenemos.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2000 sun adquirió gridware, 2001 sun publicó el código, 2010 Oracle Grid Engine, comunidad hizo fork Open Grid Scheduler, Son of Grid Engine, Some Grid Engine, gridengine, 2011 UNIVA GE $$, 2020 altair compró univa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vayan tecleando los comandos, vean los valores iniciales, carga en cero, mencionar valores “normales”, y ya arriba del número de cores es que está cargado, memuse bajo, swapus en cero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decir que cuando empiece a swapear habrá problemas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vayan tecleando los comandos, vean los valores iniciales, carga en cero, mencionar valores “normales”, y ya arriba del número de cores es que está cargado, memuse bajo, swapus en cero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decir que cuando empiece a swapear habrá problemas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vean los valores iniciales, carga en cero, used en cero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chaac cola default hay 56 cores disponibles, en cola long hay 48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con qconf -sql; qconf -sq default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vean los valores iniciales, carga en cero, used en cero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vean los valores iniciales, carga en cero, used en cero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chaac cola default hay 56 cores disponibles, en cola long hay 48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con qconf -sql; qconf -sq default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Ejercicio: que hagan qrsh, luego find /export/apps y luego vean en otra terminal qhost, qstat -g 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Tarda aprox 1min, OJO recordar exit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Ejercicio: que hagan qrsh, luego find /export/apps y luego vean en otra terminal qhost, qstat -g c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Tarda aprox 1min, OJO recordar exit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Aplican recomendaciones de buenas prácticas de programación en shell, pej set -eu, poner echo inicio, echo fin, revisar en el archivo de salida que diga fin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se especifica -j y, tanto la salida estándar como el error se guarda en el archivo -o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No confundir los archivos de salida con el archivo de resultados del programa que se ejecuta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se especifica -o y -e y luego se usa un arrayjob, se va agregando la salida de cada task al mismo archivo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Ejercicio, que primero se cambien a su directorio en storage users, y envíen usando mi archivo script.jdl y que vean estados, igual tarda aprox 1min y genera archivo 400M, prueben lanzar varios, que prueben -N pruebaX, -q long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si en el script jdl incluyen -N, luego con qsub ponen primero el script y el -N al final, no lo toma, toma primero el del script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script.jdl con nano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 quieren pueden copiar mis scripts a su directorio, pej cp -R /export/storage/users/ati/* 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en kukun les saldrá permission denied de downloads pero lo pueden ignorar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kukun tarda ~10minutos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Prior: prioridad dinámica cada 30 segundos se ajusta, dependiendo de: el que más lo usa, menos prioridad; más prioridad conforme más cpus pedidos; el uso por usuario se mantiene en cuenta regresiva cada 21 días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prueben watch -n 1 “qstat -u \*” OJO es el comando entre comillas dobles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Prior: prioridad dinámica cada 30 segundos se ajusta, dependiendo de: el que más lo usa, menos prioridad; más prioridad conforme más cpus pedidos; el uso por usuario se mantiene en cuenta regresiva cada 21 días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prueben watch -n 1 “qstat -u \*” OJO es el comando entre comillas dobles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tepeu y buluc no hay ganglia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Tenemos nagios para sysadmins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Telegram uati_bot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3720" cy="34272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eliminen su job de script.jdl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381240" y="694800"/>
            <a:ext cx="6093720" cy="34272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eliminen su job de script.jdl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Ejemplo usando un segundo archivo que contenga los comandos uno por línea, y ejecutarlos SEED=$(cat $SEEDFILE | head -n $SGE_TASK_ID | tail -n 1) y luego bash -c “$SEED”, NOTA las líneas no se van a ejecutar secuencialmente, pudiera ser en diferente orden pues pudieran irse a diferentes nodos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prueben poner -t con otro valores, por ejemplo 1-5:2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Ejemplo usando un segundo archivo que contenga los comandos uno por línea, y ejecutarlos SEED=$(cat $SEEDFILE | head -n $SGE_TASK_ID | tail -n 1) y luego bash -c “$SEED”, NOTA las líneas no se van a ejecutar secuencialmente, pudiera ser en diferente orden pues pudieran irse a diferentes nodos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prueben poner -t con otro valores, por ejemplo 1-5:2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Mencionar que se verá un ejemplo con smp 4 y con blast -n</a:t>
            </a: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um_threads $NSLOTS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ojo si se usara mpi sería mpirun -np $NSLOTS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Cuántos cores? Depende del programa y los datos, pero mencionar también nodos numa, ver lscpu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Revisar scripts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Mencionar que ese jdl también define tiempo hard 1 hora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Monitorear con watch -n 3 qstat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Tmux y ver tail -f BlastnArrayThreads-JOBID.out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qué 14? le pedi 4 cores y la cola default tiene máximo 56!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Ejercicio con smp 8 y con blast -n</a:t>
            </a: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um_threads $NSLOTS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Monitorear con qstat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scrpt busca sobre 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ojo si se usara mpi sería mpirun -np $NSLOTS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Cuántos cores? Depende del programa y los datos, pero mencionar también nodos numa, ver lscpu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Quizá no dé tiempo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Snakemake?, nextflow? Airflow?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Quizá no dé tiempo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Qacct -h, qacct -o, qacct -q, qacct -j jobname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Cómo ver qué usuario ha usado más cpu? Qacct -o | (sed -u 2q;sort -k 5 -nr)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Quizá no dé tiempo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Correr en web el dyad-analysis, luego en cli con bash y con qsub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Revisar scripts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el bash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Monitorear con htop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Comentar dependencias por comandos secuenciales pero y si falla uno?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el sge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onitorear con qstat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Dependencias con hold_jid, comentar sync 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ambos introducir errores y ver que pasa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file:///home/ajhernan/Documents/trabajo/lcg/ccg/aaguilar/cluster/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Probar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correr normal, borrar salida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introducir un error, corregir y correr con -resume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report en ambos casos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Monitorear con watch -n 1 qstat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Scripts sencillos, que cada uno haga una cosa, si se complica dividir en varios scripts? Pipelines?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Cómo ven qué programas están instalados? Conda list; conda env list; http://kukun.lcg.unam.mx/wordpress/?page_id=47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Scripts sencillos, que cada uno haga una cosa, si se complica dividir en varios scripts? Pipelines?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Cómo ven qué programas están instalados? Conda list; conda env list; http://kukun.lcg.unam.mx/wordpress/?page_id=47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Scripts sencillos, que cada uno haga una cosa, si se complica dividir en varios scripts? Pipelines?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Cómo ven qué programas están instalados? Conda list; conda env list; 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http://kukun.lcg.unam.mx/wordpress/?page_id=47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buenas prácticas en curso Intro Bioinfo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Repositorio, en chaac está instalado git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1200" cy="34243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sng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https://bioinformatics.mdc-berlin.de/intro2UnixandSGE/sun_grid_engine_for_beginners/README.html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sng">
                <a:solidFill>
                  <a:schemeClr val="hlink"/>
                </a:solidFill>
                <a:effectLst/>
                <a:uFillTx/>
                <a:latin typeface="Arial"/>
                <a:hlinkClick r:id="rId2"/>
              </a:rPr>
              <a:t>https://docs.oracle.com/cd/E19957-01/820-0699/chp4-21/index.html</a:t>
            </a: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variables de sge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 -M /opt/gridengine/man COMANDO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9211152-E026-4464-BE33-19A6C7897C1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108532-F0F5-4D76-8EFB-8F91FE1B448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39CFC-7B43-4379-88E4-3E56FF0A9C6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9345D45-6888-40D0-9C2F-A513087A6E3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6C70B8-99C8-4E71-BCE5-A820AC69DE9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8564A-8D25-46E8-BE98-2878FA7374E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AF94C78-8507-4961-9387-8D75F49C76F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496DFD-FDEF-4DBF-BBAE-E76A02DF3A0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E83A32-5261-4655-862C-92B854CFD4B1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2B76FC2-B61D-48E9-B638-62FEC79B8A4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F7CC486-1833-4E8B-9CAB-BD4E3E4732B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D38EC5F-B691-464E-BFA2-CB8548D8E5A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82EC2A1-CC4E-4538-B10A-1439F91D3326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5D7639C-FBAD-4AE4-88F5-0EC00C8057F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0E84758-C7FF-47F2-B6E8-38A6DD28B70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DDF7F74-B3A6-4265-8A0C-DBDE8957552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29BD10-6A05-4585-95E8-D4EBA84A0C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09DEE8-3AFB-4E02-9466-BEA51714DE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AB3CF3-9BD1-4044-8B38-E36C366994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CCB914-EB8F-49F5-B3B0-68799CBA5B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0E03D3-87A6-41D9-90EE-3416C21CD81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40F171-DE8B-42E3-BDE0-69EE168B14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E03F1D-132D-4C10-B2D5-406ABC134E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8D2A93-9EF2-470D-A1C6-1752FD2798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90DF56-0FF2-4307-BAC5-DF0446B220B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A43EA6F-3447-4D38-83FB-229DEE50BD22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CBAE14C-C3FB-46E3-8C69-D43AD030F26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74E3EEF-E304-4A60-AC4A-8A19F8BBB740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D97DC2A-4362-48A5-AE4F-095BB448AC70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803F285-9FE0-46A7-AE4B-9790D20CE8A3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D9857E2-686B-41CB-8977-EEC1BFDDBFB5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1EBCC8A-681B-45B4-A1A6-33E8FB559DDA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A67FD57-F0DE-4EEB-98E4-A77B35A537CE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5B04E0E-B3E7-435D-97EC-6C050A9BB42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E077DC9-4D4B-413C-B506-E00BDE61A8D4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4C3D1EF8-9318-43F1-97B9-7DFA73B7D5B6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B6FE149-12C0-4C64-BBFF-28D60D3A6E8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E37FF16-0B8B-4188-B6CF-58641BF2CE1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C1D7E336-688A-49D7-AD6A-C98E184C4AAF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20840FD-627F-4413-9ED4-E232585A84B3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E72AD20-1098-4390-BCE1-2528E5C6238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35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36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7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8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9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40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CAA64B-8649-4984-8686-3F33AA821E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A981B7-73D7-4B97-821C-370F7E5658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2F6621-424C-4BB3-A709-A9351D677B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4D967D-ED36-49B9-8A01-F63734181B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3E1B4D-BD99-473D-A9EB-A9410E2CF8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77ACB8-0019-4FDC-BB41-B88500DB24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1AFC1E-AEC2-4F37-9A51-F3CD72F2E6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0B852B-861D-46FE-8BC6-A919A36BC2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942416-4800-4D32-ADD0-24A7BA9284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965F98-8E83-490E-AE18-79C38F4267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A8D6FB-166E-4CC5-9A65-8667A94EE0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B20622-7DAB-45BB-B104-97C4AB9BA3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FD8EC4-C3C7-41BC-9F9B-640C12692F1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2760840"/>
            <a:ext cx="822780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CCA2B8-D9C7-4CF6-89AF-AC161D482A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601B2F-3316-467A-B924-3C5148DA58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91E3CE-ED10-44C4-B3E0-8EA6889B9F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9CFAF-4F3B-418B-869E-B60774D0CA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8E8AE0-3190-4ABD-A9D2-C5330FAE67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C8ED50-7FF2-487C-81BC-872F60DBAE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26C2E8-B621-4CB8-8EDB-829ECBEF0D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8E9047-5ED8-474C-95DD-BBE1C3B006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6F357B-74B7-4AFD-B093-B9EED6F7D43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5720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8838AD-1AAF-40EF-96F6-99AEDA3658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496440"/>
            <a:ext cx="8227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67352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4673520" y="276084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64509B-09EF-4873-B196-2A9908DD81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3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https://mitla.ccg.unam.mx/ganglia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hyperlink" Target="http://chaac.lcg.unam.mx/rsat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hyperlink" Target="https://nextflow.io/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34.xml"/><Relationship Id="rId8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hyperlink" Target="https://www.ccg.unam.mx/uati/faqs/sge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hyperlink" Target="https://www.ccg.unam.mx/uati/" TargetMode="External"/><Relationship Id="rId2" Type="http://schemas.openxmlformats.org/officeDocument/2006/relationships/hyperlink" Target="mailto:uati@lcg.unam.mx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5800" cy="16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Bioinformática y Estadística II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Semestre 2026-2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ubTitle"/>
          </p:nvPr>
        </p:nvSpPr>
        <p:spPr>
          <a:xfrm>
            <a:off x="311760" y="2478600"/>
            <a:ext cx="8515800" cy="1167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80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Uso de los servidores de bioinformática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Google Shape;56;p13" descr=""/>
          <p:cNvPicPr/>
          <p:nvPr/>
        </p:nvPicPr>
        <p:blipFill>
          <a:blip r:embed="rId1"/>
          <a:stretch/>
        </p:blipFill>
        <p:spPr>
          <a:xfrm>
            <a:off x="2748960" y="486360"/>
            <a:ext cx="3641040" cy="82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Google Shape;57;p13"/>
          <p:cNvSpPr/>
          <p:nvPr/>
        </p:nvSpPr>
        <p:spPr>
          <a:xfrm>
            <a:off x="311760" y="4114800"/>
            <a:ext cx="851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Alfredo Hernández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09 febrero 2025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Contenido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Conceptos básicos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Historia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Definiciones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Infraestructura computacional en la LCG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Servidores chaac, kauil, tepeu y buluc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Ejecución de programas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Comandos, scripts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Planificador de trabajos SGE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1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Monitoreo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Recomendaciones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Ejercicios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A98265-CF5D-445B-B7B2-971CBDD1EC3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6" name="Google Shape;65;p1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Objetivo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Revisión de la ejecución de programas usando un planificador de trabajos en los servidores de la LCG.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F4EDAA-D880-483A-BA5B-EFD44B6028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0" name="Google Shape;73;p15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Conceptos básicos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Antecedentes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Necesidad de recursos computacionales y de almacenamiento siempre en aumento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Problemas científicos y tecnológicos formulados de manera que permitan un tratamiento computacional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Supercómputo, cómputo de alto rendimiento (</a:t>
            </a:r>
            <a:r>
              <a:rPr b="0" i="1" lang="en" sz="2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high performance computing)</a:t>
            </a:r>
            <a:r>
              <a:rPr b="0" lang="en" sz="2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requerir capacidades computacionales muy por encima de las de equipos convencionales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Google Shape;80;p16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PlaceHolder 3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DFC946-F798-4A1E-B062-5E7973F530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Supercómputo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11760" y="92844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1960s 1970s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Cray, IBM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1980s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Mainframes: empresas, gobierno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Licencias UNIX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-&gt; Precios altos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1990s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1991 Linux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1994 cluster Beowulf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-&gt; Precios accesibles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200"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Google Shape;88;p17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PlaceHolder 3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614701-10FD-4268-B276-EC232081D6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9" name="Google Shape;90;p17" descr=""/>
          <p:cNvPicPr/>
          <p:nvPr/>
        </p:nvPicPr>
        <p:blipFill>
          <a:blip r:embed="rId2"/>
          <a:stretch/>
        </p:blipFill>
        <p:spPr>
          <a:xfrm>
            <a:off x="5959440" y="1260000"/>
            <a:ext cx="2805480" cy="28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2286000" y="3099960"/>
            <a:ext cx="330120" cy="36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Supercomputadora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“Conjunto de hardware (procesador, E/S, red) y software (S.O., programas) que se encuentra en el punto de máximo desarrollo en el momento.”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Servidores, clusters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CPUs, GPUs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Top500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Nov 2024: 11M cores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Feb 2026: 11.3M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97;p18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B92EB4-0D59-429B-9B34-21C5725B38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Google Shape;99;p18" descr=""/>
          <p:cNvPicPr/>
          <p:nvPr/>
        </p:nvPicPr>
        <p:blipFill>
          <a:blip r:embed="rId2"/>
          <a:stretch/>
        </p:blipFill>
        <p:spPr>
          <a:xfrm>
            <a:off x="6284160" y="2633760"/>
            <a:ext cx="2610360" cy="127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Google Shape;100;p18"/>
          <p:cNvSpPr/>
          <p:nvPr/>
        </p:nvSpPr>
        <p:spPr>
          <a:xfrm>
            <a:off x="6548040" y="3910680"/>
            <a:ext cx="20826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0" bIns="61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Imagen: Seminario Supercómputo UNAM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Supercómputo en la UNAM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lnSpcReduction="9999"/>
          </a:bodyPr>
          <a:p>
            <a:pPr marL="423360" indent="-3520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1991 Sirio, Cray YMP4/432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3360" indent="-3520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2007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Kanbalam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HP, llegó al lugar 126 del top500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48520" indent="-3520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1360 cores, 5.1Tflops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3360" indent="-3520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2013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Miztli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HP, llegó al lugar 348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48520" indent="-3520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332 nodos, 5312 cores, 92.3Tflops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48520" indent="-3520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750 TB almacenamiento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48520" indent="-3520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2018: 8568 CPUs, 49152 GPUs,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485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302Tflops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4852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4852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Fuente: https://www.super.unam.mx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Google Shape;107;p19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PlaceHolder 3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B62A2A-9EC1-4E89-AD8D-FF72F97C4A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1" name="Google Shape;109;p19" descr=""/>
          <p:cNvPicPr/>
          <p:nvPr/>
        </p:nvPicPr>
        <p:blipFill>
          <a:blip r:embed="rId2"/>
          <a:stretch/>
        </p:blipFill>
        <p:spPr>
          <a:xfrm>
            <a:off x="6504480" y="2571840"/>
            <a:ext cx="1883160" cy="168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Servidores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Computadora con más recursos de lo normal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Normalmente se ocupa de servicios (web, correo, bd)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En este caso: procesamiento para análisis de datos bioinformáticos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El sistema operativo se encarga de la ejecución de programas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Puede ser necesario algo más para hacer más ordenada la ejecución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Google Shape;116;p20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PlaceHolder 3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D218F2-535F-41D8-A3C8-D08A3CB4C1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Cluster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Conjunto de computadoras (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nodos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) independientes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interconectadas entre sí (por medio de la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red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), que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funcionan como un solo recurso computacional.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Los nodos pueden compartir recursos, como el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almacenamiento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Para ejecución de múltiples programas al mismo tiempo o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miles de ejecuciones de un programa con diferentes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entradas.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Google Shape;124;p2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PlaceHolder 3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6B1ABC-B404-43CA-83BB-BAA8B05D01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Cluster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Tipos de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nodos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principal, de acceso, de cómputo o ejecución, de servicios (p.ej. administración, almacenamiento).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Tipos de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redes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de administración, de datos (más rápida)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Hay herramientas que controlan la ejecución de programas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Google Shape;132;p2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PlaceHolder 3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73BB44-27D2-4636-9A28-03E7F6A1DC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Requisitos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Conexión SSH: comando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ssh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(-X), MobaXTerm (Windows)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Si están fuera del CCG/LCG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Conexión OpenVPN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Puerto ssh 25252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Opcionalmente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mosh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si su conexión de red es inestable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Google Shape;197;p29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PlaceHolder 3"/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50398B-9F8E-4438-A13E-93A757B9CA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Requisitos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Comandos básicos de Linux: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ls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cd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cp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mv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rm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mkdir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Editor de texto en el servidor: alguno de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nano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micro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vi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Transferencia de archivos entre su computadora y el servidor: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rsync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scp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filezilla, MobaXTerm (windows)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Google Shape;197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PlaceHolder 3"/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1B54D3-F239-4D20-8E55-8788F62A08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2"/>
          <a:stretch/>
        </p:blipFill>
        <p:spPr>
          <a:xfrm>
            <a:off x="8229600" y="36036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Infraestructura computacional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tretch/>
        </p:blipFill>
        <p:spPr>
          <a:xfrm>
            <a:off x="5943600" y="488520"/>
            <a:ext cx="2883960" cy="456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oogle Shape;156;p25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PlaceHolder 2"/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729EC7-5B58-46AB-BBA4-65FB8575C3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Google Shape;158;p25"/>
          <p:cNvSpPr/>
          <p:nvPr/>
        </p:nvSpPr>
        <p:spPr>
          <a:xfrm>
            <a:off x="3886200" y="1131480"/>
            <a:ext cx="91404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134f5c"/>
                </a:solidFill>
                <a:effectLst/>
                <a:uFillTx/>
                <a:latin typeface="Consolas"/>
                <a:ea typeface="Consolas"/>
              </a:rPr>
              <a:t>kukun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160;p25"/>
          <p:cNvSpPr/>
          <p:nvPr/>
        </p:nvSpPr>
        <p:spPr>
          <a:xfrm>
            <a:off x="3996360" y="2406960"/>
            <a:ext cx="15958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rgbClr val="134f5c"/>
                </a:solidFill>
                <a:effectLst/>
                <a:uFillTx/>
                <a:latin typeface="Consolas"/>
                <a:ea typeface="Consolas"/>
              </a:rPr>
              <a:t>tepeu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161;p25"/>
          <p:cNvSpPr/>
          <p:nvPr/>
        </p:nvSpPr>
        <p:spPr>
          <a:xfrm>
            <a:off x="4233240" y="2902680"/>
            <a:ext cx="170604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rgbClr val="134f5c"/>
                </a:solidFill>
                <a:effectLst/>
                <a:uFillTx/>
                <a:latin typeface="Consolas"/>
                <a:ea typeface="Consolas"/>
              </a:rPr>
              <a:t>buluc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162;p25"/>
          <p:cNvSpPr/>
          <p:nvPr/>
        </p:nvSpPr>
        <p:spPr>
          <a:xfrm>
            <a:off x="5356800" y="992880"/>
            <a:ext cx="1039680" cy="60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19050">
            <a:solidFill>
              <a:srgbClr val="5c98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1" name="Google Shape;163;p25"/>
          <p:cNvSpPr/>
          <p:nvPr/>
        </p:nvSpPr>
        <p:spPr>
          <a:xfrm>
            <a:off x="5177880" y="2519280"/>
            <a:ext cx="1447200" cy="44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19050">
            <a:solidFill>
              <a:srgbClr val="5c98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2" name="Google Shape;164;p25"/>
          <p:cNvSpPr/>
          <p:nvPr/>
        </p:nvSpPr>
        <p:spPr>
          <a:xfrm>
            <a:off x="5486400" y="2971800"/>
            <a:ext cx="1218600" cy="45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19050">
            <a:solidFill>
              <a:srgbClr val="5c98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73" name="Google Shape;165;p25" descr=""/>
          <p:cNvPicPr/>
          <p:nvPr/>
        </p:nvPicPr>
        <p:blipFill>
          <a:blip r:embed="rId3"/>
          <a:stretch/>
        </p:blipFill>
        <p:spPr>
          <a:xfrm>
            <a:off x="816480" y="1371600"/>
            <a:ext cx="1239120" cy="146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Google Shape;161;p 1"/>
          <p:cNvSpPr/>
          <p:nvPr/>
        </p:nvSpPr>
        <p:spPr>
          <a:xfrm>
            <a:off x="3657600" y="3200400"/>
            <a:ext cx="170604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rgbClr val="134f5c"/>
                </a:solidFill>
                <a:effectLst/>
                <a:uFillTx/>
                <a:latin typeface="Consolas"/>
                <a:ea typeface="Consolas"/>
              </a:rPr>
              <a:t>chaac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163;p 1"/>
          <p:cNvSpPr/>
          <p:nvPr/>
        </p:nvSpPr>
        <p:spPr>
          <a:xfrm>
            <a:off x="5257800" y="3433680"/>
            <a:ext cx="1447200" cy="44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19050">
            <a:solidFill>
              <a:srgbClr val="5c98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6" name="Google Shape;163;p 2"/>
          <p:cNvSpPr/>
          <p:nvPr/>
        </p:nvSpPr>
        <p:spPr>
          <a:xfrm>
            <a:off x="5177880" y="3886200"/>
            <a:ext cx="1447200" cy="44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19050">
            <a:solidFill>
              <a:srgbClr val="5c98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7" name="Google Shape;161;p 2"/>
          <p:cNvSpPr/>
          <p:nvPr/>
        </p:nvSpPr>
        <p:spPr>
          <a:xfrm>
            <a:off x="4007520" y="3883320"/>
            <a:ext cx="170604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rgbClr val="134f5c"/>
                </a:solidFill>
                <a:effectLst/>
                <a:uFillTx/>
                <a:latin typeface="Consolas"/>
                <a:ea typeface="Consolas"/>
              </a:rPr>
              <a:t>kauil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4"/>
          <a:stretch/>
        </p:blipFill>
        <p:spPr>
          <a:xfrm>
            <a:off x="2490480" y="2301480"/>
            <a:ext cx="1622520" cy="104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5"/>
          <a:stretch/>
        </p:blipFill>
        <p:spPr>
          <a:xfrm>
            <a:off x="2948400" y="943920"/>
            <a:ext cx="684000" cy="68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Chaac y kauil (2023)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chaac.lcg.unam.mx</a:t>
            </a:r>
            <a:r>
              <a:rPr b="0" lang="en" sz="32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132.248.220.18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Dell PowerEdge R550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Sistema Operativo Centos Stream 9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96 cores,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768   GB   RAM,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~90 TB disco space3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kauil.lcg.unam.mx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132.248.220.28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características similares a chaac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~90 TB disco space4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Google Shape;172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PlaceHolder 3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0092F-3703-4205-8D3D-48A6C0F724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Tepeu y buluc (2014)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tepeu.lcg.unam.mx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132.248.220.14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DELL PowerEdge R720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Sistema Operativo Centos Stream 9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40 cores,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378   GB   RAM,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18 TB disco space1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buluc.lcg.unam.mx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132.248.220.16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características similares a tepeu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18 TB disco space2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Google Shape;172;p26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PlaceHolder 3"/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05F711-39D9-49DC-8F9A-9AD4E51D82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Cluster Kukun (2011!)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kukun.lcg.unam.mx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132.248.220.123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Supermicro SC85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Sistema operativo Rocks 6.2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1 nodo principal: 12 cores, 16GB RAM, 2.7TB disco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8 nodos de cómputo: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 nombres compute-0-1 hasta compute-0-8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cada uno con 12 cores, 16GB RAM, 1 TB disco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conectados por una red ethernet de 1Gbps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Google Shape;180;p27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PlaceHolder 3"/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27CF11-4A1B-4E71-9CF8-0DB9AFCF65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Conexión al servidor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Comando básico: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 ssh ajhernan@chaac.lcg.unam.mx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Conexión con opciones, ej.: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 ssh -l ajhernan -p 25252 -X 132.248.220.18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Posicionarse en su directorio de trabajo y copiar archivos: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 cd /export/space3/users/$USER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21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 cp -R /export/space3/users/ajhernan/be2 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21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 cd be2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Google Shape;172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laceHolder 3"/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386DC2-6177-4760-9C0F-56554189709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Procesos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marL="427680" indent="-3556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Proceso: programa en ejecución. Tiene PID, UID, estado, tiempo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7680" indent="-3556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El usuario ejecuta programas a través de comandos en el </a:t>
            </a:r>
            <a:r>
              <a:rPr b="0" i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shell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7680" indent="-3556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Procesos: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En primer plano o interactivo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En segundo plano o </a:t>
            </a:r>
            <a:r>
              <a:rPr b="0" i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background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&amp;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nohup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screen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Concurrente: multithreading, comando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parallel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Procesamiento paralelo: MPI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Memoria compartida: OpenMP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7160" indent="-355680">
              <a:lnSpc>
                <a:spcPct val="100000"/>
              </a:lnSpc>
              <a:buClr>
                <a:srgbClr val="434343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Procesamiento distribuido: p.ej. en un cluster Spark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Google Shape;140;p2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PlaceHolder 3"/>
          <p:cNvSpPr>
            <a:spLocks noGrp="1"/>
          </p:cNvSpPr>
          <p:nvPr>
            <p:ph type="sldNum" idx="5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4F46FE-97A7-4369-8ED9-3D1394108C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Procesos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Monitoreo de procesos: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ps, top, htop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Terminación (control) de procesos: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kill, pkill, htop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Benchmarking: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time, hyperfine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Ejercicio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ps -fea | more; htop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Google Shape;140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PlaceHolder 3"/>
          <p:cNvSpPr>
            <a:spLocks noGrp="1"/>
          </p:cNvSpPr>
          <p:nvPr>
            <p:ph type="sldNum" idx="5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847ACE-D827-4159-A323-005D07C32A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Procesos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24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Cómo iniciar un proceso: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Escribir el comando completo en la línea de comandos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En un script bash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Y si queremos ejecutar varios programas? Con diferentes parámetros? f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or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en bash,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parallel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Google Shape;140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PlaceHolder 3"/>
          <p:cNvSpPr>
            <a:spLocks noGrp="1"/>
          </p:cNvSpPr>
          <p:nvPr>
            <p:ph type="sldNum" idx="5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C3CDF3-8BC6-410F-AAF6-0DF60323D5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Ejecución de programas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Primer plano o interactivo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blastn -db BlastDB/ntRed -query sequences.fa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Segundo plano: no esperar que termine para seguir trabajando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blastn -db BlastDB/ntRed -query sequences.fa -out salida-blastn.txt </a:t>
            </a:r>
            <a:r>
              <a:rPr b="1" lang="en" sz="18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&amp;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6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Revisar salida de blastn.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Opcional: usar tmux, split pane, comando arriba y htop abajo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Google Shape;197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PlaceHolder 3"/>
          <p:cNvSpPr>
            <a:spLocks noGrp="1"/>
          </p:cNvSpPr>
          <p:nvPr>
            <p:ph type="sldNum" idx="5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CD9FC2-93B7-4EF9-9871-0699C79BB8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Ejecución de programas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Script: archivo de texto que ejecuta un intérprete. Ej. Script en bash contiene la 1a línea el intérprete #!/bin/bash y a continuación las  instrucciones o comandos que se van a ejecutar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bash blastn.sh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Revisar script y salida de blastn.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Google Shape;197;p 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PlaceHolder 3"/>
          <p:cNvSpPr>
            <a:spLocks noGrp="1"/>
          </p:cNvSpPr>
          <p:nvPr>
            <p:ph type="sldNum" idx="5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0443D5-719E-4414-A57D-E253AE5A94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Ejecución de programas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Ejecutar varios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Secuencialmente: for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bash blastn-for.sh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Al mismo tiempo: parallel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Courier New"/>
                <a:ea typeface="Arial"/>
              </a:rPr>
              <a:t>bash blastn-parallel.sh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Revisar scripts, ejecutar y revisar salidas.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Ejercicio: </a:t>
            </a:r>
            <a:r>
              <a:rPr b="0" lang="en" sz="16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Ejecutar con time y comparar tiempos, monitorear con htop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Google Shape;197;p 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PlaceHolder 3"/>
          <p:cNvSpPr>
            <a:spLocks noGrp="1"/>
          </p:cNvSpPr>
          <p:nvPr>
            <p:ph type="sldNum" idx="5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B80B48-AB1A-4E37-AE31-4781F7D0ED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Procesos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64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-379440">
              <a:lnSpc>
                <a:spcPct val="100000"/>
              </a:lnSpc>
              <a:buClr>
                <a:srgbClr val="434343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Un planificador de trabajos nos puede ayudar a controlar la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ejecución de programas.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61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Ej. procesos dependientes, asignar recursos a un trabajo, 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procesos paralelos (MPI)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Google Shape;140;p 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PlaceHolder 3"/>
          <p:cNvSpPr>
            <a:spLocks noGrp="1"/>
          </p:cNvSpPr>
          <p:nvPr>
            <p:ph type="sldNum" idx="5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290ABC-0BF7-47EE-BCC2-BC64E928EB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Planificador de trabajos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Trabajo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conjunto de programas a ejecutar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Serial o paralelo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Interactivo o en batch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Planificador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o </a:t>
            </a:r>
            <a:r>
              <a:rPr b="0" i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scheduler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: controla el orden de ejecución y el acceso a los recursos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spcBef>
                <a:spcPts val="1134"/>
              </a:spcBef>
              <a:buClr>
                <a:srgbClr val="434343"/>
              </a:buClr>
              <a:buFont typeface="Arial"/>
              <a:buChar char="○"/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Ejemplos: HTCondor, Torque, PBS,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SGE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, LSF, Slurm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434343"/>
              </a:buClr>
              <a:buFont typeface="Arial"/>
              <a:buChar char="●"/>
            </a:pP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Colas</a:t>
            </a: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 o particiones: contenedores de trabajos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Google Shape;148;p2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3"/>
          <p:cNvSpPr>
            <a:spLocks noGrp="1"/>
          </p:cNvSpPr>
          <p:nvPr>
            <p:ph type="sldNum" idx="6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80A3D3-A71A-43CC-9B8E-7B965627AC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Planificador de trabajos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0184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SGE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Sun Grid Engine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Resumen de comandos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qhost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Listar nodos y estado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-g c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Listar colas y estado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qrsh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Iniciar un trabajo interactivo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script.jdl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Enviar a ejecutar un trabajo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-u \*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Mostrar todos los trabajos actuales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qdel </a:t>
            </a:r>
            <a:r>
              <a:rPr b="1" i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JOBID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Eliminar un trabajo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Google Shape;205;p30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3"/>
          <p:cNvSpPr>
            <a:spLocks noGrp="1"/>
          </p:cNvSpPr>
          <p:nvPr>
            <p:ph type="sldNum" idx="6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1B4FA1-2E6E-4AE2-8336-2C8A56CD6D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19080" y="3063240"/>
            <a:ext cx="9139680" cy="96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Nodos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qhost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Listar nodos y estado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columnas LOAD, MEMUSE, SWAPUS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Google Shape;213;p31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PlaceHolder 3"/>
          <p:cNvSpPr>
            <a:spLocks noGrp="1"/>
          </p:cNvSpPr>
          <p:nvPr>
            <p:ph type="sldNum" idx="6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F94A82-7D49-41F5-9197-3FAA4F646F7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Google Shape;215;p31"/>
          <p:cNvSpPr/>
          <p:nvPr/>
        </p:nvSpPr>
        <p:spPr>
          <a:xfrm>
            <a:off x="0" y="0"/>
            <a:ext cx="2995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217;p31"/>
          <p:cNvSpPr/>
          <p:nvPr/>
        </p:nvSpPr>
        <p:spPr>
          <a:xfrm>
            <a:off x="5515200" y="2971800"/>
            <a:ext cx="583920" cy="114264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4" name="Google Shape;218;p31"/>
          <p:cNvSpPr/>
          <p:nvPr/>
        </p:nvSpPr>
        <p:spPr>
          <a:xfrm>
            <a:off x="7003800" y="2971800"/>
            <a:ext cx="644040" cy="113904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5" name="Google Shape;219;p31"/>
          <p:cNvSpPr/>
          <p:nvPr/>
        </p:nvSpPr>
        <p:spPr>
          <a:xfrm>
            <a:off x="8494200" y="3047760"/>
            <a:ext cx="644040" cy="106308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6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685800" y="1371600"/>
            <a:ext cx="8000640" cy="307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Nodos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 el caso del cluster con varios nodos: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Google Shape;213;p 1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PlaceHolder 3"/>
          <p:cNvSpPr>
            <a:spLocks noGrp="1"/>
          </p:cNvSpPr>
          <p:nvPr>
            <p:ph type="sldNum" idx="6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EA907D-9144-4EF5-AA76-720EB9AE5D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Google Shape;215;p 1"/>
          <p:cNvSpPr/>
          <p:nvPr/>
        </p:nvSpPr>
        <p:spPr>
          <a:xfrm>
            <a:off x="0" y="0"/>
            <a:ext cx="2995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217;p 1"/>
          <p:cNvSpPr/>
          <p:nvPr/>
        </p:nvSpPr>
        <p:spPr>
          <a:xfrm>
            <a:off x="3724920" y="1960200"/>
            <a:ext cx="583920" cy="251064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4" name="Google Shape;218;p 1"/>
          <p:cNvSpPr/>
          <p:nvPr/>
        </p:nvSpPr>
        <p:spPr>
          <a:xfrm>
            <a:off x="5486400" y="2008800"/>
            <a:ext cx="527040" cy="239616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5" name="Google Shape;219;p 1"/>
          <p:cNvSpPr/>
          <p:nvPr/>
        </p:nvSpPr>
        <p:spPr>
          <a:xfrm>
            <a:off x="6816600" y="2022840"/>
            <a:ext cx="644040" cy="238212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360" y="3249000"/>
            <a:ext cx="9139680" cy="13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Colas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-g c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# Listar colas y estado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Cola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default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más cores, mayor prioridad, límite de tiempo de 1 día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Cola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long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menos cores, prioridad normal, sin límite de tiempo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columnas CQLOAD, AVAIL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Google Shape;226;p32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PlaceHolder 3"/>
          <p:cNvSpPr>
            <a:spLocks noGrp="1"/>
          </p:cNvSpPr>
          <p:nvPr>
            <p:ph type="sldNum" idx="6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B6CBED-B7E3-489C-A781-EEB0E04FB5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Google Shape;229;p32"/>
          <p:cNvSpPr/>
          <p:nvPr/>
        </p:nvSpPr>
        <p:spPr>
          <a:xfrm>
            <a:off x="3645000" y="3358080"/>
            <a:ext cx="672840" cy="116568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2" name="Google Shape;230;p32"/>
          <p:cNvSpPr/>
          <p:nvPr/>
        </p:nvSpPr>
        <p:spPr>
          <a:xfrm>
            <a:off x="6104880" y="3362400"/>
            <a:ext cx="672840" cy="116568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" descr=""/>
          <p:cNvPicPr/>
          <p:nvPr/>
        </p:nvPicPr>
        <p:blipFill>
          <a:blip r:embed="rId1"/>
          <a:stretch/>
        </p:blipFill>
        <p:spPr>
          <a:xfrm>
            <a:off x="141480" y="1600200"/>
            <a:ext cx="8686080" cy="164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Colas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311760" y="114300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 el caso del cluster con varios nodos: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Google Shape;226;p 1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PlaceHolder 3"/>
          <p:cNvSpPr>
            <a:spLocks noGrp="1"/>
          </p:cNvSpPr>
          <p:nvPr>
            <p:ph type="sldNum" idx="6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ED0B8A-A4BC-4DE4-8DB3-AF2ADB06A7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Google Shape;229;p 1"/>
          <p:cNvSpPr/>
          <p:nvPr/>
        </p:nvSpPr>
        <p:spPr>
          <a:xfrm>
            <a:off x="3537000" y="1882080"/>
            <a:ext cx="672840" cy="116568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0" name="Google Shape;230;p 1"/>
          <p:cNvSpPr/>
          <p:nvPr/>
        </p:nvSpPr>
        <p:spPr>
          <a:xfrm>
            <a:off x="5871600" y="1864800"/>
            <a:ext cx="672840" cy="116568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2514600" y="2037960"/>
            <a:ext cx="6419520" cy="256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Colas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311760" y="101484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-f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# Listar instancias y estado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Instancia: cola@nodo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columnas resv/used/tot, load_avg, states (E, au)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226;p 3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PlaceHolder 3"/>
          <p:cNvSpPr>
            <a:spLocks noGrp="1"/>
          </p:cNvSpPr>
          <p:nvPr>
            <p:ph type="sldNum" idx="6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C385E2-C8A5-4667-B71A-6C42932F7A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Google Shape;229;p 3"/>
          <p:cNvSpPr/>
          <p:nvPr/>
        </p:nvSpPr>
        <p:spPr>
          <a:xfrm>
            <a:off x="5367240" y="2190960"/>
            <a:ext cx="1033200" cy="2380680"/>
          </a:xfrm>
          <a:prstGeom prst="rect">
            <a:avLst/>
          </a:prstGeom>
          <a:noFill/>
          <a:ln w="12600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2880" bIns="9288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7" name="Google Shape;230;p 3"/>
          <p:cNvSpPr/>
          <p:nvPr/>
        </p:nvSpPr>
        <p:spPr>
          <a:xfrm>
            <a:off x="8214120" y="2057400"/>
            <a:ext cx="685440" cy="251424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Google Shape;230;p 2"/>
          <p:cNvSpPr/>
          <p:nvPr/>
        </p:nvSpPr>
        <p:spPr>
          <a:xfrm>
            <a:off x="6522480" y="2057760"/>
            <a:ext cx="685440" cy="251424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Iniciar un trabajo interactivo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311760" y="1017720"/>
            <a:ext cx="8515800" cy="3323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qrsh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Al ejecutar el comando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Arial"/>
              </a:rPr>
              <a:t>qrsh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el planificador inicia un trabajo que consiste en iniciar un 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shell.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Sirve para pruebas de alguna sesión interactiva, por ejemplo un 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prompt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de R o python.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Google Shape;237;p3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PlaceHolder 3"/>
          <p:cNvSpPr>
            <a:spLocks noGrp="1"/>
          </p:cNvSpPr>
          <p:nvPr>
            <p:ph type="sldNum" idx="6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7BED96-4AF5-494B-ABE2-C54899698B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" descr=""/>
          <p:cNvPicPr/>
          <p:nvPr/>
        </p:nvPicPr>
        <p:blipFill>
          <a:blip r:embed="rId3"/>
          <a:stretch/>
        </p:blipFill>
        <p:spPr>
          <a:xfrm>
            <a:off x="111600" y="3032640"/>
            <a:ext cx="8924400" cy="142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Iniciar un 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trabajo 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interactiv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311760" y="1017720"/>
            <a:ext cx="8515800" cy="3546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 el caso del cluster con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varios nodos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al ejecutar el comando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Arial"/>
              </a:rPr>
              <a:t>qrsh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el planificador envía el trabajo 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 un nodo de cómputo disponible.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 este ejemplo el planificador lo envió al nodo compute-0-3: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Google Shape;237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PlaceHolder 3"/>
          <p:cNvSpPr>
            <a:spLocks noGrp="1"/>
          </p:cNvSpPr>
          <p:nvPr>
            <p:ph type="sldNum" idx="6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194F8B-17A9-426C-A3AF-F39D6B2B93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0" name="Google Shape;239;p 2" descr=""/>
          <p:cNvPicPr/>
          <p:nvPr/>
        </p:nvPicPr>
        <p:blipFill>
          <a:blip r:embed="rId2"/>
          <a:stretch/>
        </p:blipFill>
        <p:spPr>
          <a:xfrm>
            <a:off x="685800" y="2741400"/>
            <a:ext cx="5298120" cy="140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Archivo de definición del trabajo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311760" y="1017720"/>
            <a:ext cx="8618400" cy="3546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 prepara un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archivo 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con un 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script en bash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que contiene la secuencia de comandos a ejecutar.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Este archivo puede tener como nombre la terminación .jdl (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job definition language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) para denotar que es un script que se enviará al planificador de trabajos.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Google Shape;246;p3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PlaceHolder 3"/>
          <p:cNvSpPr>
            <a:spLocks noGrp="1"/>
          </p:cNvSpPr>
          <p:nvPr>
            <p:ph type="sldNum" idx="6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5822EE-4565-4764-9664-86D2A36C08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5" name="Google Shape;248;p34" descr=""/>
          <p:cNvPicPr/>
          <p:nvPr/>
        </p:nvPicPr>
        <p:blipFill>
          <a:blip r:embed="rId2"/>
          <a:stretch/>
        </p:blipFill>
        <p:spPr>
          <a:xfrm>
            <a:off x="723960" y="2416320"/>
            <a:ext cx="3843360" cy="2148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96" name="Google Shape;249;p34"/>
          <p:cNvCxnSpPr/>
          <p:nvPr/>
        </p:nvCxnSpPr>
        <p:spPr>
          <a:xfrm flipH="1" flipV="1">
            <a:off x="1717560" y="2865960"/>
            <a:ext cx="3256920" cy="1440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397" name="Google Shape;250;p34"/>
          <p:cNvSpPr/>
          <p:nvPr/>
        </p:nvSpPr>
        <p:spPr>
          <a:xfrm>
            <a:off x="4969800" y="2683440"/>
            <a:ext cx="2687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Intérprete de comandos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251;p34"/>
          <p:cNvSpPr/>
          <p:nvPr/>
        </p:nvSpPr>
        <p:spPr>
          <a:xfrm>
            <a:off x="2036160" y="2816640"/>
            <a:ext cx="2462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3800" strike="noStrike" u="none">
                <a:solidFill>
                  <a:srgbClr val="0b5394"/>
                </a:solidFill>
                <a:effectLst/>
                <a:uFillTx/>
                <a:latin typeface="Nunito ExtraLight"/>
                <a:ea typeface="Nunito ExtraLight"/>
              </a:rPr>
              <a:t>}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252;p34"/>
          <p:cNvSpPr/>
          <p:nvPr/>
        </p:nvSpPr>
        <p:spPr>
          <a:xfrm>
            <a:off x="4969800" y="3016800"/>
            <a:ext cx="2687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Directivas para el envío del trabajo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Google Shape;253;p34"/>
          <p:cNvCxnSpPr>
            <a:endCxn id="398" idx="3"/>
          </p:cNvCxnSpPr>
          <p:nvPr/>
        </p:nvCxnSpPr>
        <p:spPr>
          <a:xfrm flipH="1" flipV="1">
            <a:off x="2282400" y="3197520"/>
            <a:ext cx="2672640" cy="4824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cxnSp>
        <p:nvCxnSpPr>
          <p:cNvPr id="401" name="Google Shape;254;p34"/>
          <p:cNvCxnSpPr>
            <a:stCxn id="402" idx="1"/>
          </p:cNvCxnSpPr>
          <p:nvPr/>
        </p:nvCxnSpPr>
        <p:spPr>
          <a:xfrm flipH="1" flipV="1">
            <a:off x="2238840" y="3717720"/>
            <a:ext cx="2731320" cy="17100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02" name="Google Shape;255;p34"/>
          <p:cNvSpPr/>
          <p:nvPr/>
        </p:nvSpPr>
        <p:spPr>
          <a:xfrm>
            <a:off x="4969800" y="3705480"/>
            <a:ext cx="2687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Comentario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256;p34"/>
          <p:cNvSpPr/>
          <p:nvPr/>
        </p:nvSpPr>
        <p:spPr>
          <a:xfrm>
            <a:off x="1785240" y="3647880"/>
            <a:ext cx="246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5400" strike="noStrike" u="none">
                <a:solidFill>
                  <a:srgbClr val="0b5394"/>
                </a:solidFill>
                <a:effectLst/>
                <a:uFillTx/>
                <a:latin typeface="Nunito ExtraLight"/>
                <a:ea typeface="Nunito ExtraLight"/>
              </a:rPr>
              <a:t>}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257;p34"/>
          <p:cNvSpPr/>
          <p:nvPr/>
        </p:nvSpPr>
        <p:spPr>
          <a:xfrm>
            <a:off x="4969800" y="4047840"/>
            <a:ext cx="2687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Comandos a ejecutar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5" name="Google Shape;258;p34"/>
          <p:cNvCxnSpPr>
            <a:stCxn id="404" idx="1"/>
          </p:cNvCxnSpPr>
          <p:nvPr/>
        </p:nvCxnSpPr>
        <p:spPr>
          <a:xfrm flipH="1">
            <a:off x="2035800" y="4230720"/>
            <a:ext cx="2934360" cy="2556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06" name="Google Shape;259;p34"/>
          <p:cNvSpPr/>
          <p:nvPr/>
        </p:nvSpPr>
        <p:spPr>
          <a:xfrm>
            <a:off x="4950720" y="3381120"/>
            <a:ext cx="396036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6680" bIns="7668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OJO: incluir </a:t>
            </a:r>
            <a:r>
              <a:rPr b="0" lang="en" sz="1000" strike="noStrike" u="none">
                <a:solidFill>
                  <a:srgbClr val="000000"/>
                </a:solidFill>
                <a:effectLst/>
                <a:highlight>
                  <a:srgbClr val="fff2cc"/>
                </a:highlight>
                <a:uFillTx/>
                <a:latin typeface="Courier New"/>
                <a:ea typeface="Courier New"/>
              </a:rPr>
              <a:t>source /etc/bashrc</a:t>
            </a:r>
            <a:r>
              <a:rPr b="0" lang="en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después de las directivas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Directivas para envío del trabajo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7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C1EF6-E453-4F7A-B37A-85FE414D74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09" name="Google Shape;267;p35"/>
          <p:cNvGraphicFramePr/>
          <p:nvPr/>
        </p:nvGraphicFramePr>
        <p:xfrm>
          <a:off x="357120" y="963000"/>
          <a:ext cx="8429040" cy="3610440"/>
        </p:xfrm>
        <a:graphic>
          <a:graphicData uri="http://schemas.openxmlformats.org/drawingml/2006/table">
            <a:tbl>
              <a:tblPr/>
              <a:tblGrid>
                <a:gridCol w="1172160"/>
                <a:gridCol w="5866200"/>
                <a:gridCol w="1391040"/>
              </a:tblGrid>
              <a:tr h="4323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chemeClr val="lt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Directiva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chemeClr val="lt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Descripción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chemeClr val="lt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Ejemplo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</a:tr>
              <a:tr h="5270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-N </a:t>
                      </a:r>
                      <a:r>
                        <a:rPr b="0" i="1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jobname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Especifica el nombre del trabajo. Si no se especifica, se toma el nombre del archivo jdl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-N Prueba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323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-q </a:t>
                      </a:r>
                      <a:r>
                        <a:rPr b="0" i="1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cola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Establece la cola de trabajo donde se desea ejecutar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-q default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7117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-cwd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Establece el directorio actual como directorio de trabajo. Si no se especifica, los archivos de salida y error se guardan en el directorio </a:t>
                      </a:r>
                      <a:r>
                        <a:rPr b="0" i="1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home</a:t>
                      </a: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del usuario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-cwd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-o </a:t>
                      </a:r>
                      <a:r>
                        <a:rPr b="0" i="1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salida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Define el nombre del archivo de salida. Si no se especifica se usa JOB_NAME.oJOB_ID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-o salida.out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-e </a:t>
                      </a:r>
                      <a:r>
                        <a:rPr b="0" i="1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error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Define el nombre del archivo de error. Si no se especifica se usa JOB_NAME.eJOB_ID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-e salida.err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323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-S shell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Define la ruta al intérprete de comandos que se va a usar.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-S /bin/bash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Envío del trabajo a ejecución en </a:t>
            </a:r>
            <a:r>
              <a:rPr b="1" i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batch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311760" y="1085040"/>
            <a:ext cx="8515800" cy="3486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 qsub script.jdl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La salida del comando qsub muestra el identificador del trabajo o </a:t>
            </a:r>
            <a:r>
              <a:rPr b="1" i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job id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en este caso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2624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Qsub puede recibir directivas en línea de comandos. Normalmente toman precedencia las que estén primero. Por ejemplo: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 qsub -N Prueba2 -cwd script.jdlls -ltr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Ejercicio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$ qsub script.jdl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Ver con qstat, ver archivos de salida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Google Shape;274;p36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PlaceHolder 3"/>
          <p:cNvSpPr>
            <a:spLocks noGrp="1"/>
          </p:cNvSpPr>
          <p:nvPr>
            <p:ph type="sldNum" idx="7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656EA7-3DF9-44C4-837B-ADF5ABEA0F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" descr=""/>
          <p:cNvPicPr/>
          <p:nvPr/>
        </p:nvPicPr>
        <p:blipFill>
          <a:blip r:embed="rId3"/>
          <a:stretch/>
        </p:blipFill>
        <p:spPr>
          <a:xfrm>
            <a:off x="1022400" y="2072880"/>
            <a:ext cx="7772400" cy="76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1143000" y="2743200"/>
            <a:ext cx="6629040" cy="178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Monitoreo de trabajos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311760" y="91440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Mostrar sólo mis trabajos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-u \*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0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# Mostrar todos los trabajos actuales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las columnas: job-ID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State: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(running),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q 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(queued),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(waiting),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(error), t (transferring), h (hold)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Queue: nombre de cola y nodo donde se está ejecutando el trabajo (instancia)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Google Shape;283;p37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PlaceHolder 3"/>
          <p:cNvSpPr>
            <a:spLocks noGrp="1"/>
          </p:cNvSpPr>
          <p:nvPr>
            <p:ph type="sldNum" idx="7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63856C-F682-43F0-987B-3708AE8C51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Google Shape;286;p37"/>
          <p:cNvSpPr/>
          <p:nvPr/>
        </p:nvSpPr>
        <p:spPr>
          <a:xfrm>
            <a:off x="3357000" y="2790720"/>
            <a:ext cx="456840" cy="177336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2" name="Google Shape;287;p37"/>
          <p:cNvSpPr/>
          <p:nvPr/>
        </p:nvSpPr>
        <p:spPr>
          <a:xfrm>
            <a:off x="4993200" y="2757600"/>
            <a:ext cx="685440" cy="181080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3" name="Google Shape;286;p 1"/>
          <p:cNvSpPr/>
          <p:nvPr/>
        </p:nvSpPr>
        <p:spPr>
          <a:xfrm>
            <a:off x="1055880" y="2798280"/>
            <a:ext cx="543960" cy="1773360"/>
          </a:xfrm>
          <a:prstGeom prst="rect">
            <a:avLst/>
          </a:prstGeom>
          <a:noFill/>
          <a:ln w="9525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24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Detalles de un trabajo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311760" y="116208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qstat -j </a:t>
            </a:r>
            <a:r>
              <a:rPr b="1" i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JOBID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Google Shape;313;p40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PlaceHolder 3"/>
          <p:cNvSpPr>
            <a:spLocks noGrp="1"/>
          </p:cNvSpPr>
          <p:nvPr>
            <p:ph type="sldNum" idx="7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851610-E709-4F5B-B79A-E0C1BA3988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29" name="Google Shape;316;p40"/>
          <p:cNvCxnSpPr/>
          <p:nvPr/>
        </p:nvCxnSpPr>
        <p:spPr>
          <a:xfrm flipH="1">
            <a:off x="1105920" y="3245040"/>
            <a:ext cx="2449800" cy="1476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30" name="Google Shape;317;p40"/>
          <p:cNvSpPr/>
          <p:nvPr/>
        </p:nvSpPr>
        <p:spPr>
          <a:xfrm>
            <a:off x="311760" y="3065400"/>
            <a:ext cx="132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1" name="Google Shape;318;p40"/>
          <p:cNvCxnSpPr/>
          <p:nvPr/>
        </p:nvCxnSpPr>
        <p:spPr>
          <a:xfrm flipH="1">
            <a:off x="1105920" y="4159440"/>
            <a:ext cx="2449800" cy="1476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32" name="Google Shape;319;p40"/>
          <p:cNvSpPr/>
          <p:nvPr/>
        </p:nvSpPr>
        <p:spPr>
          <a:xfrm>
            <a:off x="311760" y="3979800"/>
            <a:ext cx="132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Archivo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Google Shape;320;p40"/>
          <p:cNvSpPr/>
          <p:nvPr/>
        </p:nvSpPr>
        <p:spPr>
          <a:xfrm>
            <a:off x="311760" y="4208400"/>
            <a:ext cx="132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Uso de recursos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4" name="Google Shape;321;p40"/>
          <p:cNvCxnSpPr>
            <a:endCxn id="433" idx="3"/>
          </p:cNvCxnSpPr>
          <p:nvPr/>
        </p:nvCxnSpPr>
        <p:spPr>
          <a:xfrm flipH="1">
            <a:off x="1634400" y="4357440"/>
            <a:ext cx="1845000" cy="3420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35" name="Google Shape;322;p40"/>
          <p:cNvSpPr/>
          <p:nvPr/>
        </p:nvSpPr>
        <p:spPr>
          <a:xfrm>
            <a:off x="311760" y="3446640"/>
            <a:ext cx="1640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Nombre del trabajo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6" name="Google Shape;323;p40"/>
          <p:cNvCxnSpPr>
            <a:endCxn id="435" idx="3"/>
          </p:cNvCxnSpPr>
          <p:nvPr/>
        </p:nvCxnSpPr>
        <p:spPr>
          <a:xfrm flipH="1">
            <a:off x="1952640" y="3625920"/>
            <a:ext cx="1603080" cy="396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sp>
        <p:nvSpPr>
          <p:cNvPr id="437" name="Google Shape;324;p40"/>
          <p:cNvSpPr/>
          <p:nvPr/>
        </p:nvSpPr>
        <p:spPr>
          <a:xfrm>
            <a:off x="311760" y="2404080"/>
            <a:ext cx="132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Usuario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8" name="Google Shape;325;p40"/>
          <p:cNvCxnSpPr/>
          <p:nvPr/>
        </p:nvCxnSpPr>
        <p:spPr>
          <a:xfrm flipH="1">
            <a:off x="1105920" y="1247760"/>
            <a:ext cx="2453760" cy="1347120"/>
          </a:xfrm>
          <a:prstGeom prst="straightConnector1">
            <a:avLst/>
          </a:prstGeom>
          <a:ln w="9525">
            <a:solidFill>
              <a:srgbClr val="0b5394"/>
            </a:solidFill>
            <a:round/>
            <a:headEnd len="med" type="triangle" w="med"/>
          </a:ln>
        </p:spPr>
      </p:cxnSp>
      <p:pic>
        <p:nvPicPr>
          <p:cNvPr id="439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" descr=""/>
          <p:cNvPicPr/>
          <p:nvPr/>
        </p:nvPicPr>
        <p:blipFill>
          <a:blip r:embed="rId3"/>
          <a:stretch/>
        </p:blipFill>
        <p:spPr>
          <a:xfrm>
            <a:off x="3598200" y="574560"/>
            <a:ext cx="5977800" cy="420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Monitoreo de trabajos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311760" y="95040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Aviso por correo cuando termine: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Courier new"/>
                <a:ea typeface="Arial"/>
              </a:rPr>
              <a:t>$ qsub -m e -M </a:t>
            </a:r>
            <a:r>
              <a:rPr b="0" lang="en" sz="1600" strike="noStrike" u="none">
                <a:solidFill>
                  <a:srgbClr val="666666"/>
                </a:solidFill>
                <a:effectLst/>
                <a:uFillTx/>
                <a:latin typeface="Courier new"/>
                <a:ea typeface="Arial"/>
              </a:rPr>
              <a:t>ati@lcg.unam.mx</a:t>
            </a: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Courier new"/>
                <a:ea typeface="Arial"/>
              </a:rPr>
              <a:t> script.jdl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Archivo de bitácora: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/opt/gridengine/default/spool/qmaster/messages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Trabajo en error: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Google Shape;283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PlaceHolder 3"/>
          <p:cNvSpPr>
            <a:spLocks noGrp="1"/>
          </p:cNvSpPr>
          <p:nvPr>
            <p:ph type="sldNum" idx="7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F4BEB1-3BEE-4BC3-AEC8-0237E5BB54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2"/>
          <a:stretch/>
        </p:blipFill>
        <p:spPr>
          <a:xfrm>
            <a:off x="0" y="3580200"/>
            <a:ext cx="11018880" cy="91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" descr=""/>
          <p:cNvPicPr/>
          <p:nvPr/>
        </p:nvPicPr>
        <p:blipFill>
          <a:blip r:embed="rId3"/>
          <a:stretch/>
        </p:blipFill>
        <p:spPr>
          <a:xfrm>
            <a:off x="5442120" y="63720"/>
            <a:ext cx="2787480" cy="256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" descr=""/>
          <p:cNvPicPr/>
          <p:nvPr/>
        </p:nvPicPr>
        <p:blipFill>
          <a:blip r:embed="rId4"/>
          <a:stretch/>
        </p:blipFill>
        <p:spPr>
          <a:xfrm>
            <a:off x="8230320" y="36108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Monitoreo de trabajos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311760" y="95040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Una especie de htop para qstat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watch -n 1 “qstat”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Google Shape;283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PlaceHolder 3"/>
          <p:cNvSpPr>
            <a:spLocks noGrp="1"/>
          </p:cNvSpPr>
          <p:nvPr>
            <p:ph type="sldNum" idx="7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3E73FA-5509-4205-9F6E-6CB38B53B9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2"/>
          <a:stretch/>
        </p:blipFill>
        <p:spPr>
          <a:xfrm>
            <a:off x="1366200" y="2057400"/>
            <a:ext cx="6633360" cy="243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 descr=""/>
          <p:cNvPicPr/>
          <p:nvPr/>
        </p:nvPicPr>
        <p:blipFill>
          <a:blip r:embed="rId3"/>
          <a:stretch/>
        </p:blipFill>
        <p:spPr>
          <a:xfrm>
            <a:off x="8230320" y="36108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Monitoreo de los nodos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  <a:hlinkClick r:id="rId1"/>
              </a:rPr>
              <a:t>https://mitla.ccg.unam.mx/ganglia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Google Shape;294;p38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PlaceHolder 3"/>
          <p:cNvSpPr>
            <a:spLocks noGrp="1"/>
          </p:cNvSpPr>
          <p:nvPr>
            <p:ph type="sldNum" idx="7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A34D10-73A4-4C49-9386-D05317FC0E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8" name="Google Shape;296;p38" descr=""/>
          <p:cNvPicPr/>
          <p:nvPr/>
        </p:nvPicPr>
        <p:blipFill>
          <a:blip r:embed="rId3"/>
          <a:stretch/>
        </p:blipFill>
        <p:spPr>
          <a:xfrm>
            <a:off x="4328640" y="444960"/>
            <a:ext cx="4629960" cy="314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Google Shape;297;p38" descr=""/>
          <p:cNvPicPr/>
          <p:nvPr/>
        </p:nvPicPr>
        <p:blipFill>
          <a:blip r:embed="rId4"/>
          <a:stretch/>
        </p:blipFill>
        <p:spPr>
          <a:xfrm>
            <a:off x="1351800" y="1509840"/>
            <a:ext cx="4696560" cy="305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Eliminar un trabajo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qdel </a:t>
            </a:r>
            <a:r>
              <a:rPr b="1" i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jobID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Puede recibir varios identificadores separados por espacio.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Nota: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borrar manualmente archivos de salida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que hayan quedado incompletos por haber terminado los procesos.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Google Shape;304;p39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PlaceHolder 3"/>
          <p:cNvSpPr>
            <a:spLocks noGrp="1"/>
          </p:cNvSpPr>
          <p:nvPr>
            <p:ph type="sldNum" idx="7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C70CDE-EF8E-444C-B4E5-C867FF3584B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4" name="Google Shape;306;p39" descr=""/>
          <p:cNvPicPr/>
          <p:nvPr/>
        </p:nvPicPr>
        <p:blipFill>
          <a:blip r:embed="rId2"/>
          <a:stretch/>
        </p:blipFill>
        <p:spPr>
          <a:xfrm>
            <a:off x="1271520" y="3097440"/>
            <a:ext cx="6596280" cy="7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Ejercicios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022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Blastn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blastn.jdl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Blastn definiendo archivo de salida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blastn-out.jdl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Courier New"/>
              </a:rPr>
              <a:t>Blastn definiendo el número de threads  a usar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blastn-threads.jdl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scripts, ejecutar y revisar salidas.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Google Shape;304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PlaceHolder 3"/>
          <p:cNvSpPr>
            <a:spLocks noGrp="1"/>
          </p:cNvSpPr>
          <p:nvPr>
            <p:ph type="sldNum" idx="7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FD01DC-CEC9-4253-99D0-FFAB0CC841E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Trabajo en arreglo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311760" y="1017720"/>
            <a:ext cx="8515800" cy="3546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Es posible ejecutar un trabajo parametrizado usando un array job. Esto genera un trabajo con varias tareas independientes concurrentes que ejecutan comandos cambiando solamente un argumento.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 usa qsub con la opción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-t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y un valor del tipo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x-y:n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donde: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Ejemplo: 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 qsub -t 1-10:1 arrayjob.jdl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Genera 10 tareas con identificador $SGE_TASK_ID que va del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 al 10 de 1 en 1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Usar variable $SGE_TASK_ID en el script.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3" name="Google Shape;332;p4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PlaceHolder 3"/>
          <p:cNvSpPr>
            <a:spLocks noGrp="1"/>
          </p:cNvSpPr>
          <p:nvPr>
            <p:ph type="sldNum" idx="7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F9826-03FA-4061-8598-26910B11F7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75" name="Google Shape;334;p41"/>
          <p:cNvGraphicFramePr/>
          <p:nvPr/>
        </p:nvGraphicFramePr>
        <p:xfrm>
          <a:off x="2431080" y="2317320"/>
          <a:ext cx="3209760" cy="941760"/>
        </p:xfrm>
        <a:graphic>
          <a:graphicData uri="http://schemas.openxmlformats.org/drawingml/2006/table">
            <a:tbl>
              <a:tblPr/>
              <a:tblGrid>
                <a:gridCol w="535680"/>
                <a:gridCol w="2674440"/>
              </a:tblGrid>
              <a:tr h="3139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Índice inferior del arreglo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139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Índice superior del arreglo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139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Incremento o </a:t>
                      </a:r>
                      <a:r>
                        <a:rPr b="0" i="1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step</a:t>
                      </a:r>
                      <a:r>
                        <a:rPr b="0" lang="en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(opcional)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Trabajo en arreglo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7" name="Google Shape;332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PlaceHolder 2"/>
          <p:cNvSpPr>
            <a:spLocks noGrp="1"/>
          </p:cNvSpPr>
          <p:nvPr>
            <p:ph type="sldNum" idx="8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80B182-89E4-4771-83AE-3011EF20BE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2"/>
          <a:stretch/>
        </p:blipFill>
        <p:spPr>
          <a:xfrm>
            <a:off x="0" y="2057400"/>
            <a:ext cx="9222840" cy="108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PlaceHolder 23"/>
          <p:cNvSpPr/>
          <p:nvPr/>
        </p:nvSpPr>
        <p:spPr>
          <a:xfrm>
            <a:off x="312120" y="1018080"/>
            <a:ext cx="8515800" cy="354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rmAutofit lnSpcReduction="9999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trike="noStrike" u="non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Ejercicio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$ qsub arrayjob.jdl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Ojo con el uso de -m en trabajos en arreglo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Definición de recursos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Reservar 4 cores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para el trabajo, en el ambiente de ejecución paralela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smp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-pe smp 4 script.jdl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OJO: En el script.jdl usar $NSLOTS ( = 4 )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Definir un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tiempo máximo de ejecución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formato HH:MM:SS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-l h_rt=03:00:00 script.jdl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Definir una cantidad de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memoria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por core para el trabajo: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-l h_vmem=2g script.jdl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Definir un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nodo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para ejecución (sólo en el cluster):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-l h=compute-0-7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 pueden incluir dentro del archivo script.jdl como directivas con #$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4" name="Google Shape;341;p 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PlaceHolder 3"/>
          <p:cNvSpPr>
            <a:spLocks noGrp="1"/>
          </p:cNvSpPr>
          <p:nvPr>
            <p:ph type="sldNum" idx="8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54EF01-5BF1-4213-AD5E-2D572E8690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Ejercicios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Google Shape;341;p 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PlaceHolder 2"/>
          <p:cNvSpPr>
            <a:spLocks noGrp="1"/>
          </p:cNvSpPr>
          <p:nvPr>
            <p:ph type="sldNum" idx="8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313ED2-70B1-4FD8-8AF1-57C41978AB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12"/>
          <p:cNvSpPr/>
          <p:nvPr/>
        </p:nvSpPr>
        <p:spPr>
          <a:xfrm>
            <a:off x="312120" y="914400"/>
            <a:ext cx="8515800" cy="36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rmAutofit/>
          </a:bodyPr>
          <a:p>
            <a:pPr marL="216000" indent="-216000">
              <a:lnSpc>
                <a:spcPct val="100000"/>
              </a:lnSpc>
              <a:buClr>
                <a:srgbClr val="333333"/>
              </a:buClr>
              <a:buSzPct val="66000"/>
              <a:buFont typeface="Wingdings" charset="2"/>
              <a:buChar char="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Blastn en arrayjob definiendo el número de threads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blastn-arrayjob-threads.jdl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2"/>
          <a:stretch/>
        </p:blipFill>
        <p:spPr>
          <a:xfrm>
            <a:off x="190800" y="1600200"/>
            <a:ext cx="8587080" cy="296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Ejercicios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Google Shape;341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PlaceHolder 2"/>
          <p:cNvSpPr>
            <a:spLocks noGrp="1"/>
          </p:cNvSpPr>
          <p:nvPr>
            <p:ph type="sldNum" idx="8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0B730-5024-4631-8C8A-52093D5791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16"/>
          <p:cNvSpPr/>
          <p:nvPr/>
        </p:nvSpPr>
        <p:spPr>
          <a:xfrm>
            <a:off x="312120" y="1152720"/>
            <a:ext cx="8515800" cy="34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rmAutofit/>
          </a:bodyPr>
          <a:p>
            <a:pPr marL="216000" indent="-216000">
              <a:lnSpc>
                <a:spcPct val="100000"/>
              </a:lnSpc>
              <a:buClr>
                <a:srgbClr val="333333"/>
              </a:buClr>
              <a:buSzPct val="66000"/>
              <a:buFont typeface="Wingdings" charset="2"/>
              <a:buChar char="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Blastn largo definiendo el número de threads NSLOTS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blastn-threads-nt.jdl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Arial"/>
                <a:ea typeface="DejaVu Sans"/>
              </a:rPr>
              <a:t>Revisar script, las variables BLASTDB y BLASTDBNAME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trike="noStrike" u="non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Tarea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: subir archivo de salida estándar del trabajo ejecutado con blastn-threads-nt.jdl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6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Reservar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Si se piden muchos cores pero no están disponibles, el planificador podría no enviar el trabajo, y podría enviar trabajos que lleguen después que pidan menos cores que sí estén disponibles.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 puede especificar reservación con -R, ojo se debe especificar el tiempo: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-R y -l h_rt=03:00:00 script.jdl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Google Shape;349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PlaceHolder 3"/>
          <p:cNvSpPr>
            <a:spLocks noGrp="1"/>
          </p:cNvSpPr>
          <p:nvPr>
            <p:ph type="sldNum" idx="8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7D1471-9EF9-454F-A556-7D675AC61A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Dependencias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 puede definir que un trabajo depende de otro. Por ejemplo, queremos que JOB1 se ejecute, y cuando termine con éxito se ejecute JOB2.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Envío del primer trabajo JOB1, definido en script1.jdl, anotar el JOBID1 asignado: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script1.jdl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Envío del segundo trabajo JOB2, definido en script2.jdl, especificando que se mantenga en estado hold hasta que termine el primer trabajo JOB1: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qsub -hold_jid JOBID1 script2.jdl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La opción -hold_jid puede recibir una lista de identificadores separados por coma.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Puede simular flujos de trabajo o pipelines, pero ya hay otras herramientas más poderosas (ej. nextflow).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3" name="Google Shape;357;p4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PlaceHolder 3"/>
          <p:cNvSpPr>
            <a:spLocks noGrp="1"/>
          </p:cNvSpPr>
          <p:nvPr>
            <p:ph type="sldNum" idx="8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FA7EE4-6461-4C92-B0D9-F50DB92158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Contabilidad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Reporte de uso de los recursos del cluster o servidor.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Por nodo: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qacct -h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Por usuario: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qacct -o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 qacct -o | { sed -u 2q; sort -k 2 -nr; 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Por cola: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 qacct -q [</a:t>
            </a:r>
            <a:r>
              <a:rPr b="1" i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cola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Por trabajo: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qacct -j </a:t>
            </a:r>
            <a:r>
              <a:rPr b="1" i="1" lang="en" sz="24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JOBID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7" name="Google Shape;365;p45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PlaceHolder 3"/>
          <p:cNvSpPr>
            <a:spLocks noGrp="1"/>
          </p:cNvSpPr>
          <p:nvPr>
            <p:ph type="sldNum" idx="8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D8EB25-ED96-4479-BD3D-DEF2404045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2"/>
          <a:stretch/>
        </p:blipFill>
        <p:spPr>
          <a:xfrm>
            <a:off x="8230320" y="36108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Ejemplos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lnSpcReduction="9999"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Script jdl que ejecuta un script de python: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#!/bin/bash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#$ -N pythonexample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#$ -cwd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#$ -pe smp 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MKL_NUM_THREADS=$NSLOTS python thmg.py -i data-rolled5.csv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Script jdl que ejecuta un script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#!/bin/bash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#$ -N rexample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#$ -cwd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Rscript programa.R --args dev='png'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Google Shape;373;p 3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PlaceHolder 3"/>
          <p:cNvSpPr>
            <a:spLocks noGrp="1"/>
          </p:cNvSpPr>
          <p:nvPr>
            <p:ph type="sldNum" idx="8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4EE17D-E352-4D3C-97A9-94546856B7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4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Ejemplos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RSAT: Regulatory Sequence Analysis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Por web: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  <a:hlinkClick r:id="rId1"/>
              </a:rPr>
              <a:t>http://chaac.lcg.unam.mx/rsat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, Motif discovery, dyad-analysis, demo, go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En línea de comandos: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conda activate rsat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rsat -h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Directorio de trabajo: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cd rsat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Ejecutar un script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time bash dyad-analysis-demo.sh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Ejecutar trabajo con qsub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qsub dyad-analysis-demo.jdl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Google Shape;373;p 1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PlaceHolder 3"/>
          <p:cNvSpPr>
            <a:spLocks noGrp="1"/>
          </p:cNvSpPr>
          <p:nvPr>
            <p:ph type="sldNum" idx="8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84038A-3F78-4195-A3C5-D61DC6DFD8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9" name="" descr=""/>
          <p:cNvPicPr/>
          <p:nvPr/>
        </p:nvPicPr>
        <p:blipFill>
          <a:blip r:embed="rId3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" descr=""/>
          <p:cNvPicPr/>
          <p:nvPr/>
        </p:nvPicPr>
        <p:blipFill>
          <a:blip r:embed="rId4"/>
          <a:stretch/>
        </p:blipFill>
        <p:spPr>
          <a:xfrm>
            <a:off x="7875360" y="1086120"/>
            <a:ext cx="952200" cy="2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Ejemplos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Pipeline de RSAT: Oligo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Por web: Gene info, demo, go -&gt;  retrieve sequences, run, go -&gt; oligo-analysis, go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Un script bash sencillo(?):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cd bash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bash rsat-oligo-analysis.sh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Usar el planificador de trabajos con dependencias: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cd ../sge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bash rsat-oligo-analysis-sge.sh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Nota: este script sh llama a qsub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3" name="Google Shape;373;p 4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PlaceHolder 3"/>
          <p:cNvSpPr>
            <a:spLocks noGrp="1"/>
          </p:cNvSpPr>
          <p:nvPr>
            <p:ph type="sldNum" idx="8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F31FAE-5D01-4846-A613-4435C97128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54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5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Bonus: nextflow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Es un sistema manejador de flujos de trabajo, open source, hecho en Java y Groovy. Ver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  <a:hlinkClick r:id="rId1"/>
              </a:rPr>
              <a:t>https://nextflow.io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Google Shape;373;p 2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PlaceHolder 3"/>
          <p:cNvSpPr>
            <a:spLocks noGrp="1"/>
          </p:cNvSpPr>
          <p:nvPr>
            <p:ph type="sldNum" idx="9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B946FE-F9AA-4A14-BA1D-CB01E056C17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55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0" name="" descr=""/>
          <p:cNvPicPr/>
          <p:nvPr/>
        </p:nvPicPr>
        <p:blipFill>
          <a:blip r:embed="rId3"/>
          <a:stretch/>
        </p:blipFill>
        <p:spPr>
          <a:xfrm>
            <a:off x="3377880" y="2415600"/>
            <a:ext cx="4247640" cy="21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" descr=""/>
          <p:cNvPicPr/>
          <p:nvPr/>
        </p:nvPicPr>
        <p:blipFill>
          <a:blip r:embed="rId4"/>
          <a:stretch/>
        </p:blipFill>
        <p:spPr>
          <a:xfrm>
            <a:off x="6400800" y="1549080"/>
            <a:ext cx="2554560" cy="233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" descr=""/>
          <p:cNvPicPr/>
          <p:nvPr/>
        </p:nvPicPr>
        <p:blipFill>
          <a:blip r:embed="rId5"/>
          <a:stretch/>
        </p:blipFill>
        <p:spPr>
          <a:xfrm>
            <a:off x="228600" y="1828800"/>
            <a:ext cx="3657600" cy="18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" descr=""/>
          <p:cNvPicPr/>
          <p:nvPr/>
        </p:nvPicPr>
        <p:blipFill>
          <a:blip r:embed="rId6"/>
          <a:stretch/>
        </p:blipFill>
        <p:spPr>
          <a:xfrm>
            <a:off x="7913160" y="810720"/>
            <a:ext cx="933120" cy="15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Bonus: nextflow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lnSpcReduction="9999"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Un workflow tiene procesos. Un proceso tiene entradas, salidas, y las instrucciones del programa a ejecutar. Un workflow puede tener subworkflows.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Pipeline sencillo: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cd ../nextflow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nextflow run rsat-oligo-analysis.nf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--querytxt genes.txt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--organism Saccharomyces_cerevisiae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--resultsdir out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Revisar script nf.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Probar: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-resume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-with-report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-with-timeline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-with-dag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Ver salidas y archivos 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Google Shape;373;p 6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PlaceHolder 3"/>
          <p:cNvSpPr>
            <a:spLocks noGrp="1"/>
          </p:cNvSpPr>
          <p:nvPr>
            <p:ph type="sldNum" idx="9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4B4FA1-1C39-4F86-BA34-C889C74BA2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56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8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Bonus: nextflow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Pipeline usando SGE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cd ../nextflow-sge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$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nextflow run rsat-oligo-analysis-sge.nf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--querytxt genes.txt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--organism Saccharomyces_cerevisiae \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  --resultsdir out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Monitorear con </a:t>
            </a:r>
            <a:r>
              <a:rPr b="0" lang="en" sz="1800" strike="noStrike" u="none">
                <a:solidFill>
                  <a:srgbClr val="333333"/>
                </a:solidFill>
                <a:effectLst/>
                <a:uFillTx/>
                <a:latin typeface="Courier new"/>
                <a:ea typeface="Arial"/>
              </a:rPr>
              <a:t>watch -n 1 qstat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1" name="Google Shape;373;p 5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PlaceHolder 3"/>
          <p:cNvSpPr>
            <a:spLocks noGrp="1"/>
          </p:cNvSpPr>
          <p:nvPr>
            <p:ph type="sldNum" idx="9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29FD6B-D709-4448-8C32-99055F8E39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57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3" name="" descr=""/>
          <p:cNvPicPr/>
          <p:nvPr/>
        </p:nvPicPr>
        <p:blipFill>
          <a:blip r:embed="rId2"/>
          <a:stretch/>
        </p:blipFill>
        <p:spPr>
          <a:xfrm>
            <a:off x="8229960" y="360720"/>
            <a:ext cx="552600" cy="55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Buenas prácticas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Recordar que la infraestructura de cómputo es </a:t>
            </a:r>
            <a:r>
              <a:rPr b="0" i="1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compartida, 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es indispensable el uso responsable.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Sobre los recursos y la ejecución: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el estado del servidor: htop, qhost, qstat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Revisar de las colas existentes y usar la cola adecuada.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Siempre usar qsub para ejecutar sus programas.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Reservar sólo los recursos necesarios (evitar sobre-asignar).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Monitorear constantemente su trabajo.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Eliminar trabajos en error o que se hayan quedado colgados.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Google Shape;381;p47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PlaceHolder 3"/>
          <p:cNvSpPr>
            <a:spLocks noGrp="1"/>
          </p:cNvSpPr>
          <p:nvPr>
            <p:ph type="sldNum" idx="9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984970-603C-4F95-AA98-7AEA0E36F9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58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Buenas prácticas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Almacenamiento: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Usar su directorio de trabajo en spaceN (storage). No usar el home (tiene espacio limitado).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Borrar resultados incompletos, temporales o pruebas fallidas.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Una vez terminado su trabajo, descargar los resultados y borrarlos del servidor o cluster.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Recordar que el servidor no es un repositorio.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Solicitar la instalación de un programa o descarga de bases de datos para uso general.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Google Shape;381;p 2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PlaceHolder 3"/>
          <p:cNvSpPr>
            <a:spLocks noGrp="1"/>
          </p:cNvSpPr>
          <p:nvPr>
            <p:ph type="sldNum" idx="9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BD6874-6CED-41CB-BE10-2C37B254F7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59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Buena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s 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prácti</a:t>
            </a: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cas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92500" lnSpcReduction="9999"/>
          </a:bodyPr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Organizar trabajos en subdirectorios, usar nombres claros, p.ej que los nombres de archivos de resultados tengan la fecha y parámetros.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Programación de scripts: seguir las recomendaciones en desarrollo de software, p.ej. funciones, control de errores, versiones (usar un repositorio para su proyecto), </a:t>
            </a:r>
            <a:r>
              <a:rPr b="1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documentar</a:t>
            </a: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Seguridad: no compartir contraseñas; si su script usa contraseñas, guardarlas en un llavero con permisos sólo para tí.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4" name="Google Shape;381;p 1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PlaceHolder 3"/>
          <p:cNvSpPr>
            <a:spLocks noGrp="1"/>
          </p:cNvSpPr>
          <p:nvPr>
            <p:ph type="sldNum" idx="9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AC8E6B-ECDB-4EC6-B8C8-B0FD03147F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60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Más información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Manual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Courier New"/>
              </a:rPr>
              <a:t>man qsub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Courier New"/>
              </a:rPr>
              <a:t>$</a:t>
            </a:r>
            <a:r>
              <a:rPr b="1" lang="en" sz="2400" strike="noStrike" u="none">
                <a:solidFill>
                  <a:srgbClr val="434343"/>
                </a:solidFill>
                <a:effectLst/>
                <a:uFillTx/>
                <a:latin typeface="Courier New"/>
                <a:ea typeface="Courier New"/>
              </a:rPr>
              <a:t> man qstat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Courier New"/>
              </a:rPr>
              <a:t>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Courier New"/>
              </a:rPr>
              <a:t>Página UATI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https://www.ccg.unam.mx/uati/faqs/sge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9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BF1F15-512B-4ED8-8037-B8F8312BD71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9" name="Google Shape;399;p49" descr=""/>
          <p:cNvPicPr/>
          <p:nvPr/>
        </p:nvPicPr>
        <p:blipFill>
          <a:blip r:embed="rId2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¿Preguntas?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9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CD9F73-DCF5-4DDB-B221-9C72D8ED8D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62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3" name="Google Shape;390;p48" descr=""/>
          <p:cNvPicPr/>
          <p:nvPr/>
        </p:nvPicPr>
        <p:blipFill>
          <a:blip r:embed="rId1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Google Shape;391;p48"/>
          <p:cNvSpPr txBox="1"/>
          <p:nvPr/>
        </p:nvSpPr>
        <p:spPr>
          <a:xfrm>
            <a:off x="3263400" y="1055160"/>
            <a:ext cx="2311560" cy="2815200"/>
          </a:xfrm>
          <a:prstGeom prst="rect">
            <a:avLst/>
          </a:prstGeom>
        </p:spPr>
        <p:txBody>
          <a:bodyPr wrap="none" lIns="90000" rIns="90000" tIns="45000" bIns="4500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0" lang="es-MX" sz="1400" strike="noStrike" u="none">
                <a:ln w="0">
                  <a:noFill/>
                </a:ln>
                <a:solidFill>
                  <a:srgbClr val="0b5394"/>
                </a:solidFill>
                <a:uFillTx/>
                <a:latin typeface="Arial"/>
                <a:ea typeface="Arial"/>
              </a:rPr>
              <a:t>?</a:t>
            </a:r>
            <a:endParaRPr b="0" lang="en-US" sz="1400" strike="noStrike" u="none">
              <a:ln w="0">
                <a:noFill/>
              </a:ln>
              <a:solidFill>
                <a:srgbClr val="0b5394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800" cy="56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20" strike="noStrike" u="none">
                <a:solidFill>
                  <a:srgbClr val="134f5c"/>
                </a:solidFill>
                <a:effectLst/>
                <a:uFillTx/>
                <a:latin typeface="Arial"/>
                <a:ea typeface="Arial"/>
              </a:rPr>
              <a:t>Contacto</a:t>
            </a:r>
            <a:endParaRPr b="0" lang="en-US" sz="2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5800" cy="3411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434343"/>
                </a:solidFill>
                <a:effectLst/>
                <a:uFillTx/>
                <a:latin typeface="Arial"/>
                <a:ea typeface="Arial"/>
              </a:rPr>
              <a:t>Formularios de servicios 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https://www.ccg.unam.mx/uati/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Correo electrónico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200" strike="noStrike" u="sng">
                <a:solidFill>
                  <a:schemeClr val="accent5"/>
                </a:solidFill>
                <a:effectLst/>
                <a:uFillTx/>
                <a:latin typeface="Arial"/>
                <a:ea typeface="Arial"/>
                <a:hlinkClick r:id="rId2"/>
              </a:rPr>
              <a:t>uati@lcg.unam.mx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9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33B537-2DFD-43E6-9A8C-24E6E03D31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63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8" name="Google Shape;415;p51" descr=""/>
          <p:cNvPicPr/>
          <p:nvPr/>
        </p:nvPicPr>
        <p:blipFill>
          <a:blip r:embed="rId3"/>
          <a:stretch/>
        </p:blipFill>
        <p:spPr>
          <a:xfrm>
            <a:off x="3628080" y="4568760"/>
            <a:ext cx="1883160" cy="42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Google Shape;423;p 1" descr=""/>
          <p:cNvPicPr/>
          <p:nvPr/>
        </p:nvPicPr>
        <p:blipFill>
          <a:blip r:embed="rId4"/>
          <a:stretch/>
        </p:blipFill>
        <p:spPr>
          <a:xfrm>
            <a:off x="7086600" y="457200"/>
            <a:ext cx="1550880" cy="77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2026-02-09T01:17:04Z</dcterms:modified>
  <cp:revision>107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