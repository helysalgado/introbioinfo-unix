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307" r:id="rId3"/>
    <p:sldId id="257" r:id="rId4"/>
    <p:sldId id="277" r:id="rId5"/>
    <p:sldId id="299" r:id="rId6"/>
    <p:sldId id="298" r:id="rId7"/>
    <p:sldId id="300" r:id="rId8"/>
    <p:sldId id="278" r:id="rId9"/>
    <p:sldId id="260" r:id="rId10"/>
    <p:sldId id="279" r:id="rId11"/>
    <p:sldId id="262" r:id="rId12"/>
    <p:sldId id="263" r:id="rId13"/>
    <p:sldId id="280" r:id="rId14"/>
    <p:sldId id="264" r:id="rId15"/>
    <p:sldId id="267" r:id="rId16"/>
    <p:sldId id="265" r:id="rId17"/>
    <p:sldId id="282" r:id="rId18"/>
    <p:sldId id="284" r:id="rId19"/>
    <p:sldId id="266" r:id="rId20"/>
    <p:sldId id="286" r:id="rId21"/>
    <p:sldId id="289" r:id="rId22"/>
    <p:sldId id="290" r:id="rId23"/>
    <p:sldId id="268" r:id="rId24"/>
    <p:sldId id="292" r:id="rId25"/>
    <p:sldId id="288" r:id="rId26"/>
    <p:sldId id="291" r:id="rId27"/>
    <p:sldId id="287" r:id="rId28"/>
    <p:sldId id="270" r:id="rId29"/>
    <p:sldId id="269" r:id="rId30"/>
    <p:sldId id="306" r:id="rId31"/>
    <p:sldId id="293" r:id="rId32"/>
    <p:sldId id="294" r:id="rId33"/>
    <p:sldId id="295" r:id="rId34"/>
    <p:sldId id="271" r:id="rId35"/>
    <p:sldId id="273" r:id="rId36"/>
    <p:sldId id="272" r:id="rId37"/>
    <p:sldId id="301" r:id="rId38"/>
    <p:sldId id="303" r:id="rId39"/>
    <p:sldId id="302" r:id="rId40"/>
    <p:sldId id="304" r:id="rId41"/>
    <p:sldId id="305" r:id="rId42"/>
    <p:sldId id="274" r:id="rId43"/>
    <p:sldId id="275" r:id="rId44"/>
    <p:sldId id="276" r:id="rId45"/>
    <p:sldId id="281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1478"/>
  </p:normalViewPr>
  <p:slideViewPr>
    <p:cSldViewPr snapToGrid="0" snapToObjects="1">
      <p:cViewPr>
        <p:scale>
          <a:sx n="108" d="100"/>
          <a:sy n="108" d="100"/>
        </p:scale>
        <p:origin x="128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6D1F1-A6A1-A641-B1FA-A544A94ACAC1}" type="datetimeFigureOut">
              <a:rPr lang="es-MX" smtClean="0"/>
              <a:t>03/09/26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218DD-C44E-F64E-A57B-A2D8925184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0104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¿Qué es Markdown y qué ventajas tiene para escribir documentación?</a:t>
            </a:r>
            <a:br>
              <a:rPr lang="es-MX" dirty="0"/>
            </a:br>
            <a:r>
              <a:rPr lang="es-MX" b="1" dirty="0"/>
              <a:t>Respuesta:</a:t>
            </a:r>
            <a:r>
              <a:rPr lang="es-MX" dirty="0"/>
              <a:t> Es un lenguaje de marcado ligero que permite dar estructura a documentos de texto plano mediante una sintaxis sencilla. Es legible, portable y fácil de editar. </a:t>
            </a:r>
          </a:p>
          <a:p>
            <a:endParaRPr lang="es-MX" b="1" dirty="0"/>
          </a:p>
          <a:p>
            <a:r>
              <a:rPr lang="es-MX" b="1" dirty="0"/>
              <a:t>¿Por qué comenzamos con una pregunta biológica y no con una herramienta?</a:t>
            </a:r>
            <a:br>
              <a:rPr lang="es-MX" dirty="0"/>
            </a:br>
            <a:r>
              <a:rPr lang="es-MX" b="1" dirty="0"/>
              <a:t>Respuesta:</a:t>
            </a:r>
            <a:r>
              <a:rPr lang="es-MX" dirty="0"/>
              <a:t> Porque primero debemos definir qué queremos conocer; a partir de ello decidimos qué evidencia, datos y operaciones necesitamos. </a:t>
            </a:r>
          </a:p>
          <a:p>
            <a:endParaRPr lang="es-MX" b="1" dirty="0"/>
          </a:p>
          <a:p>
            <a:r>
              <a:rPr lang="es-MX" b="1" dirty="0"/>
              <a:t>¿Para qué dividimos una pregunta central en subpreguntas?</a:t>
            </a:r>
            <a:br>
              <a:rPr lang="es-MX" dirty="0"/>
            </a:br>
            <a:r>
              <a:rPr lang="es-MX" b="1" dirty="0"/>
              <a:t>Respuesta:</a:t>
            </a:r>
            <a:r>
              <a:rPr lang="es-MX" dirty="0"/>
              <a:t> Para convertir un problema amplio en preguntas concretas que podamos abordar con evidencia y datos específicos. </a:t>
            </a:r>
          </a:p>
          <a:p>
            <a:endParaRPr lang="es-MX" b="1" dirty="0"/>
          </a:p>
          <a:p>
            <a:r>
              <a:rPr lang="es-MX" b="1" dirty="0"/>
              <a:t>¿Qué relación hay entre una pregunta, la evidencia que necesitamos y los datos que debemos obtener?</a:t>
            </a:r>
            <a:br>
              <a:rPr lang="es-MX" dirty="0"/>
            </a:br>
            <a:r>
              <a:rPr lang="es-MX" b="1" dirty="0"/>
              <a:t>Respuesta:</a:t>
            </a:r>
            <a:r>
              <a:rPr lang="es-MX" dirty="0"/>
              <a:t> La pregunta define qué queremos saber; la evidencia, qué necesitamos observar; y los datos contienen esa evidencia.</a:t>
            </a:r>
            <a:br>
              <a:rPr lang="es-MX" dirty="0"/>
            </a:br>
            <a:r>
              <a:rPr lang="es-MX" b="1" dirty="0"/>
              <a:t>Pregunta → Evidencia → Datos</a:t>
            </a:r>
            <a:r>
              <a:rPr lang="es-MX" dirty="0"/>
              <a:t> </a:t>
            </a:r>
          </a:p>
          <a:p>
            <a:endParaRPr lang="es-MX" b="1" dirty="0"/>
          </a:p>
          <a:p>
            <a:r>
              <a:rPr lang="es-MX" b="1" dirty="0"/>
              <a:t>¿Qué etapas reconocemos en el proceso científico que seguiremos durante el curso?</a:t>
            </a:r>
            <a:br>
              <a:rPr lang="es-MX" dirty="0"/>
            </a:br>
            <a:r>
              <a:rPr lang="es-MX" b="1" dirty="0"/>
              <a:t>Respuesta:</a:t>
            </a:r>
            <a:r>
              <a:rPr lang="es-MX" dirty="0"/>
              <a:t> Partimos de una pregunta, planteamos una estrategia, obtenemos y preparamos datos, los analizamos, evaluamos los resultados y llegamos a conclusiones, documentando el proceso. </a:t>
            </a:r>
          </a:p>
          <a:p>
            <a:endParaRPr lang="es-MX" b="1" dirty="0"/>
          </a:p>
          <a:p>
            <a:r>
              <a:rPr lang="es-MX" b="1" dirty="0"/>
              <a:t>¿Para qué sirve protocolo.md y por qué lo consideramos un documento vivo?</a:t>
            </a:r>
            <a:br>
              <a:rPr lang="es-MX" dirty="0"/>
            </a:br>
            <a:r>
              <a:rPr lang="es-MX" b="1" dirty="0"/>
              <a:t>Respuesta:</a:t>
            </a:r>
            <a:r>
              <a:rPr lang="es-MX" dirty="0"/>
              <a:t> Para registrar cómo se desarrolla nuestra investigación. Es “vivo” porque se completa y modifica conforme avanzamos y tomamos nuevas decisiones. </a:t>
            </a:r>
          </a:p>
          <a:p>
            <a:endParaRPr lang="es-MX" b="1" dirty="0"/>
          </a:p>
          <a:p>
            <a:r>
              <a:rPr lang="es-MX" b="1" dirty="0"/>
              <a:t>¿Que un análisis sea reproducible significa necesariamente que sea correcto? ¿Por qué?</a:t>
            </a:r>
            <a:br>
              <a:rPr lang="es-MX" dirty="0"/>
            </a:br>
            <a:r>
              <a:rPr lang="es-MX" b="1" dirty="0"/>
              <a:t>Respuesta:</a:t>
            </a:r>
            <a:r>
              <a:rPr lang="es-MX" dirty="0"/>
              <a:t> No. Podemos repetir exactamente un procedimiento y obtener el mismo resultado, pero el procedimiento, los datos o la interpretación pueden ser inadecuados.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854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Ya definimos qué queremos saber y qué evidencia necesitaríamos. Ahora necesitamos conocer bien los datos que vamos a utilizar: de dónde vienen, qué representan y cómo conservarlos.”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Ya tenemos el archivo que necesitamos. ¿Podemos empezar a usarlo?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795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Algunas cosas quizá podamos adivinarlas mirando el archivo. Pero </a:t>
            </a:r>
            <a:r>
              <a:rPr lang="es-MX" b="1" dirty="0"/>
              <a:t>la procedencia exacta, la versión utilizada y las decisiones que tomamos durante el procesamiento pueden ser imposibles de reconstruir si no las registramos en el momento</a:t>
            </a:r>
            <a:r>
              <a:rPr lang="es-MX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4813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¿190 qué?</a:t>
            </a:r>
            <a:br>
              <a:rPr lang="es-MX" dirty="0"/>
            </a:br>
            <a:r>
              <a:rPr lang="es-MX" dirty="0"/>
              <a:t>→ una coordenada.</a:t>
            </a:r>
          </a:p>
          <a:p>
            <a:r>
              <a:rPr lang="es-MX" b="1" dirty="0"/>
              <a:t>¿Coordenada respecto a qué?</a:t>
            </a:r>
            <a:br>
              <a:rPr lang="es-MX" dirty="0"/>
            </a:br>
            <a:r>
              <a:rPr lang="es-MX" dirty="0"/>
              <a:t>→ una secuencia/genoma de referencia.</a:t>
            </a:r>
          </a:p>
          <a:p>
            <a:r>
              <a:rPr lang="es-MX" b="1" dirty="0"/>
              <a:t>¿De qué organismo/cepa?</a:t>
            </a:r>
            <a:br>
              <a:rPr lang="es-MX" dirty="0"/>
            </a:br>
            <a:r>
              <a:rPr lang="es-MX" dirty="0"/>
              <a:t>→ </a:t>
            </a:r>
            <a:r>
              <a:rPr lang="es-MX" i="1" dirty="0"/>
              <a:t>E. coli</a:t>
            </a:r>
            <a:r>
              <a:rPr lang="es-MX" dirty="0"/>
              <a:t> K-12 MG1655.</a:t>
            </a:r>
          </a:p>
          <a:p>
            <a:r>
              <a:rPr lang="es-MX" b="1" dirty="0"/>
              <a:t>¿Qué versión del genoma?</a:t>
            </a:r>
            <a:br>
              <a:rPr lang="es-MX" dirty="0"/>
            </a:br>
            <a:r>
              <a:rPr lang="es-MX" dirty="0"/>
              <a:t>→ necesitamos identificarla.</a:t>
            </a:r>
          </a:p>
          <a:p>
            <a:r>
              <a:rPr lang="es-MX" b="1" dirty="0"/>
              <a:t>¿Cómo se cuentan las posiciones?</a:t>
            </a:r>
            <a:br>
              <a:rPr lang="es-MX" dirty="0"/>
            </a:br>
            <a:r>
              <a:rPr lang="es-MX" dirty="0"/>
              <a:t>→ ¿0-based o 1-based?</a:t>
            </a:r>
          </a:p>
          <a:p>
            <a:r>
              <a:rPr lang="es-MX" dirty="0"/>
              <a:t>Y ahí aparece naturalmente tu mensaje:</a:t>
            </a:r>
          </a:p>
          <a:p>
            <a:r>
              <a:rPr lang="es-MX" b="1" dirty="0"/>
              <a:t>El número 190 está en el archivo. Su significado depende del contexto que lo acompaña.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“Los metadatos describen el dato. Además, durante el proyecto necesitaremos registrar su procedencia y las transformaciones que realizamos.”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8082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“Ya vimos que los metadatos nos ayudan a saber qué significa un archivo. Pero hay otro problema: ¿cómo sabemos que el archivo que tenemos hoy es exactamente el mismo que descargamos originalmente?”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287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Que su contenido cambió y ya no es exactamente el mismo archivo.</a:t>
            </a:r>
            <a:endParaRPr lang="es-MX" dirty="0"/>
          </a:p>
          <a:p>
            <a:r>
              <a:rPr lang="es-MX" dirty="0"/>
              <a:t>Y puedes aprovechar para remarcar algo importante:</a:t>
            </a:r>
          </a:p>
          <a:p>
            <a:r>
              <a:rPr lang="es-MX" b="1" dirty="0"/>
              <a:t>El checksum detecta que cambió, pero no explica qué cambió ni por qué.</a:t>
            </a:r>
            <a:endParaRPr lang="es-MX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1378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7323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dirty="0"/>
              <a:t>Ya sabemos dónde va cada cosa. Pero organizar las carpetas no hace que nuestros datos sean FAIR. Veamos dónde entra FAIR en todo este proceso.</a:t>
            </a:r>
            <a:endParaRPr lang="es-MX" sz="1200" b="1" dirty="0">
              <a:solidFill>
                <a:srgbClr val="18375B"/>
              </a:solidFill>
              <a:latin typeface="Aptos"/>
            </a:endParaRP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8347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Errores a observar:</a:t>
            </a:r>
            <a:r>
              <a:rPr lang="es-MX" dirty="0"/>
              <a:t> confundir plataforma de descarga con fuente original; inventar metadatos; colocar el GFF en processed/; modificar el original; confundir dato y metadatos.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3118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tus errores buscados deberían ser más bien: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confundir </a:t>
            </a:r>
            <a:r>
              <a:rPr lang="es-MX" b="1" dirty="0"/>
              <a:t>“descargado desde la plataforma”</a:t>
            </a:r>
            <a:r>
              <a:rPr lang="es-MX" dirty="0"/>
              <a:t> con </a:t>
            </a:r>
            <a:r>
              <a:rPr lang="es-MX" b="1" dirty="0"/>
              <a:t>“fuente original de los datos”</a:t>
            </a:r>
            <a:r>
              <a:rPr lang="es-MX" dirty="0"/>
              <a:t>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inventar información que no aparece en la ficha proporcionada;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poner el GFF en processed/ en vez de source/;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modificar el original;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confundir el dato con sus metadatos.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4562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2365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mantener claramente asociados el dato y la información necesaria para interpretarlo.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“Ya no tenemos solamente genes_ecoli.gff. Ahora sabemos </a:t>
            </a:r>
            <a:r>
              <a:rPr lang="es-MX" b="1" dirty="0"/>
              <a:t>qué es, de dónde proviene y dónde encontrar la información que lo describe</a:t>
            </a:r>
            <a:r>
              <a:rPr lang="es-MX" dirty="0"/>
              <a:t>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557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No. Es IA generativa, pero no un modelo de lenguaje.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9833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Respuesta: </a:t>
            </a:r>
            <a:r>
              <a:rPr lang="es-MX" b="1" dirty="0"/>
              <a:t>No.</a:t>
            </a:r>
            <a:endParaRPr lang="es-MX" dirty="0"/>
          </a:p>
          <a:p>
            <a:r>
              <a:rPr lang="es-MX" dirty="0"/>
              <a:t>Y ahí puedes decir oralmente algo como: “Exactamente. Que una continuación sea plausible no significa que sea correcta. Más adelante veremos qué consecuencias tiene esto cuando usamos IA en ciencia.”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4762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necesariamente. El modelo no recuerda por sí mismo; la aplicación puede incluir historial, archivos o memoria dentro del contexto que envía al modelo.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7928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¿Qué estamos abriendo aquí: un modelo o una aplicación?</a:t>
            </a:r>
          </a:p>
          <a:p>
            <a:r>
              <a:rPr lang="es-MX" dirty="0"/>
              <a:t>Estas son aplicaciones. Dentro de ellas podemos tener acceso a distintos modelos y herramientas. No debemos confundir el nombre de la aplicación con el modelo que está respondiendo.”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2211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Respuesta esperada:</a:t>
            </a:r>
          </a:p>
          <a:p>
            <a:r>
              <a:rPr lang="es-MX" b="1" dirty="0"/>
              <a:t>El prompt, el contexto, los archivos y las instrucciones.</a:t>
            </a:r>
            <a:endParaRPr lang="es-MX" dirty="0"/>
          </a:p>
          <a:p>
            <a:r>
              <a:rPr lang="es-MX" dirty="0"/>
              <a:t>Y yo aprovecharía para remarcar:</a:t>
            </a:r>
          </a:p>
          <a:p>
            <a:r>
              <a:rPr lang="es-MX" b="1" dirty="0"/>
              <a:t>Verificar la respuesta no mejora lo que el modelo generó; mejora la confiabilidad de lo que tú decides aceptar.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9677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 respuesta esperada sería el último, porque requiere: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contexto;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objetivo concreto;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restricciones;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forma de respuesta;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verificación.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4057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 pregunta al grupo funciona muy bien:</a:t>
            </a:r>
          </a:p>
          <a:p>
            <a:r>
              <a:rPr lang="es-MX" b="1" dirty="0"/>
              <a:t>¿Qué riesgo aparece cuando una respuesta falsa suena convincente?</a:t>
            </a:r>
            <a:endParaRPr lang="es-MX" dirty="0"/>
          </a:p>
          <a:p>
            <a:r>
              <a:rPr lang="es-MX" dirty="0"/>
              <a:t>La respuesta esperada es: </a:t>
            </a:r>
            <a:r>
              <a:rPr lang="es-MX" b="1" dirty="0"/>
              <a:t>que podemos aceptarla sin verificarla porque parece correcta</a:t>
            </a:r>
            <a:r>
              <a:rPr lang="es-MX" dirty="0"/>
              <a:t>.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3919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5208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se trata de escribir más: se trata de hacer explícito lo que importa.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04119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se trata de escribir más: se trata de hacer explícito lo que importa.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65743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se trata de escribir más: se trata de hacer explícito lo que importa.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4351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se trata de escribir más: se trata de hacer explícito lo que importa.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28037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42384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02196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66383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34811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40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41897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218DD-C44E-F64E-A57B-A2D892518477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7001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6E"/>
          </a:solidFill>
          <a:ln w="12700">
            <a:solidFill>
              <a:srgbClr val="1F4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Introducción a la Bioinformática · S1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6565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Guía docente · aula invertida / taller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7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8368" y="2948448"/>
            <a:ext cx="23774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CA9718"/>
                </a:solidFill>
                <a:latin typeface="Aptos"/>
              </a:rPr>
              <a:t>Unidad 1 · </a:t>
            </a:r>
            <a:r>
              <a:rPr sz="1200" b="1" dirty="0" err="1">
                <a:solidFill>
                  <a:srgbClr val="CA9718"/>
                </a:solidFill>
                <a:latin typeface="Aptos"/>
              </a:rPr>
              <a:t>Sesión</a:t>
            </a:r>
            <a:r>
              <a:rPr sz="1200" b="1" dirty="0">
                <a:solidFill>
                  <a:srgbClr val="CA9718"/>
                </a:solidFill>
                <a:latin typeface="Aptos"/>
              </a:rPr>
              <a:t>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11106"/>
            <a:ext cx="6072938" cy="147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 err="1">
                <a:solidFill>
                  <a:srgbClr val="0F172A"/>
                </a:solidFill>
                <a:latin typeface="Aptos"/>
              </a:rPr>
              <a:t>Organizar</a:t>
            </a:r>
            <a:r>
              <a:rPr sz="3000" b="1" dirty="0">
                <a:solidFill>
                  <a:srgbClr val="0F172A"/>
                </a:solidFill>
                <a:latin typeface="Aptos"/>
              </a:rPr>
              <a:t>: </a:t>
            </a:r>
            <a:r>
              <a:rPr sz="3000" b="1" dirty="0" err="1">
                <a:solidFill>
                  <a:srgbClr val="0F172A"/>
                </a:solidFill>
                <a:latin typeface="Aptos"/>
              </a:rPr>
              <a:t>buenas</a:t>
            </a:r>
            <a:r>
              <a:rPr sz="30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0F172A"/>
                </a:solidFill>
                <a:latin typeface="Aptos"/>
              </a:rPr>
              <a:t>prácticas</a:t>
            </a:r>
            <a:r>
              <a:rPr sz="3000" b="1" dirty="0">
                <a:solidFill>
                  <a:srgbClr val="0F172A"/>
                </a:solidFill>
                <a:latin typeface="Aptos"/>
              </a:rPr>
              <a:t> FAIR</a:t>
            </a:r>
            <a:br>
              <a:rPr sz="3000" b="1" dirty="0">
                <a:solidFill>
                  <a:srgbClr val="0F172A"/>
                </a:solidFill>
                <a:latin typeface="Aptos"/>
              </a:rPr>
            </a:br>
            <a:r>
              <a:rPr sz="3000" b="1" dirty="0">
                <a:solidFill>
                  <a:srgbClr val="0F172A"/>
                </a:solidFill>
                <a:latin typeface="Aptos"/>
              </a:rPr>
              <a:t>e </a:t>
            </a:r>
            <a:r>
              <a:rPr sz="3000" b="1" dirty="0" err="1">
                <a:solidFill>
                  <a:srgbClr val="0F172A"/>
                </a:solidFill>
                <a:latin typeface="Aptos"/>
              </a:rPr>
              <a:t>introducción</a:t>
            </a:r>
            <a:r>
              <a:rPr sz="3000" b="1" dirty="0">
                <a:solidFill>
                  <a:srgbClr val="0F172A"/>
                </a:solidFill>
                <a:latin typeface="Aptos"/>
              </a:rPr>
              <a:t> al prompting </a:t>
            </a:r>
            <a:r>
              <a:rPr sz="3000" b="1" dirty="0" err="1">
                <a:solidFill>
                  <a:srgbClr val="0F172A"/>
                </a:solidFill>
                <a:latin typeface="Aptos"/>
              </a:rPr>
              <a:t>científico</a:t>
            </a:r>
            <a:endParaRPr sz="30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4819426"/>
            <a:ext cx="3840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5C6670"/>
                </a:solidFill>
                <a:latin typeface="Aptos"/>
              </a:rPr>
              <a:t>Aula </a:t>
            </a:r>
            <a:r>
              <a:rPr sz="1400" b="0" dirty="0" err="1">
                <a:solidFill>
                  <a:srgbClr val="5C6670"/>
                </a:solidFill>
                <a:latin typeface="Aptos"/>
              </a:rPr>
              <a:t>invertida</a:t>
            </a:r>
            <a:r>
              <a:rPr sz="1400" b="0" dirty="0">
                <a:solidFill>
                  <a:srgbClr val="5C6670"/>
                </a:solidFill>
                <a:latin typeface="Aptos"/>
              </a:rPr>
              <a:t> · Taller de 2 horas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5674" y="2120747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2F7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5674" y="2218542"/>
            <a:ext cx="1920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100" b="1" dirty="0" err="1">
                <a:solidFill>
                  <a:srgbClr val="18375B"/>
                </a:solidFill>
                <a:latin typeface="Aptos"/>
              </a:rPr>
              <a:t>genes_ecoli</a:t>
            </a:r>
            <a:r>
              <a:rPr sz="1100" b="1" dirty="0">
                <a:solidFill>
                  <a:srgbClr val="18375B"/>
                </a:solidFill>
                <a:latin typeface="Aptos"/>
              </a:rPr>
              <a:t>.</a:t>
            </a:r>
            <a:r>
              <a:rPr lang="es-ES" sz="1100" b="1" dirty="0" err="1">
                <a:solidFill>
                  <a:srgbClr val="18375B"/>
                </a:solidFill>
                <a:latin typeface="Aptos"/>
              </a:rPr>
              <a:t>gff</a:t>
            </a:r>
            <a:endParaRPr sz="11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11634" y="2340203"/>
            <a:ext cx="777239" cy="13716"/>
          </a:xfrm>
          <a:prstGeom prst="rect">
            <a:avLst/>
          </a:prstGeom>
          <a:solidFill>
            <a:srgbClr val="CA9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45674" y="3035147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22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5674" y="3035147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8375B"/>
                </a:solidFill>
                <a:latin typeface="Aptos"/>
              </a:rPr>
              <a:t>metadatos.md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1634" y="3254603"/>
            <a:ext cx="777239" cy="13716"/>
          </a:xfrm>
          <a:prstGeom prst="rect">
            <a:avLst/>
          </a:prstGeom>
          <a:solidFill>
            <a:srgbClr val="CA9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45674" y="3949547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705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5674" y="3949547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8375B"/>
                </a:solidFill>
                <a:latin typeface="Aptos"/>
              </a:rPr>
              <a:t>bitacora-ia.md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1634" y="4169003"/>
            <a:ext cx="777239" cy="13716"/>
          </a:xfrm>
          <a:prstGeom prst="rect">
            <a:avLst/>
          </a:prstGeom>
          <a:solidFill>
            <a:srgbClr val="CA9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11712" y="2416016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375B"/>
                </a:solidFill>
                <a:latin typeface="Aptos"/>
              </a:rPr>
              <a:t>proyecto/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4113" y="2690336"/>
            <a:ext cx="2155005" cy="147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data/</a:t>
            </a:r>
            <a:b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source/</a:t>
            </a:r>
            <a:b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processed/</a:t>
            </a:r>
            <a:b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doc/</a:t>
            </a:r>
            <a:b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results/</a:t>
            </a: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C1DB0AA8-D85C-11AA-DB16-79929EE013E5}"/>
              </a:ext>
            </a:extLst>
          </p:cNvPr>
          <p:cNvSpPr txBox="1"/>
          <p:nvPr/>
        </p:nvSpPr>
        <p:spPr>
          <a:xfrm>
            <a:off x="658368" y="59436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 err="1">
                <a:solidFill>
                  <a:srgbClr val="002B49"/>
                </a:solidFill>
                <a:latin typeface="Aptos"/>
              </a:rPr>
              <a:t>Introducción</a:t>
            </a:r>
            <a:r>
              <a:rPr sz="3000" b="1" dirty="0">
                <a:solidFill>
                  <a:srgbClr val="002B49"/>
                </a:solidFill>
                <a:latin typeface="Aptos"/>
              </a:rPr>
              <a:t> a la
</a:t>
            </a:r>
            <a:r>
              <a:rPr sz="3000" b="1" dirty="0" err="1">
                <a:solidFill>
                  <a:srgbClr val="002B49"/>
                </a:solidFill>
                <a:latin typeface="Aptos"/>
              </a:rPr>
              <a:t>Bioinformática</a:t>
            </a:r>
            <a:endParaRPr sz="3000" b="1" dirty="0">
              <a:solidFill>
                <a:srgbClr val="002B49"/>
              </a:solidFill>
              <a:latin typeface="Aptos"/>
            </a:endParaRP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36D9012E-2622-6C49-56F8-6A30FA0E3A86}"/>
              </a:ext>
            </a:extLst>
          </p:cNvPr>
          <p:cNvSpPr txBox="1"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LCG · UNAM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28F4610-35C6-1EA8-C567-223D82BDE0A6}"/>
              </a:ext>
            </a:extLst>
          </p:cNvPr>
          <p:cNvSpPr txBox="1"/>
          <p:nvPr/>
        </p:nvSpPr>
        <p:spPr>
          <a:xfrm>
            <a:off x="1013792" y="1351722"/>
            <a:ext cx="9104243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¿Para qué usamos Markdown y qué ventajas tiene para escribir documentación?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¿Por qué comenzamos con una pregunta biológica y no con una herramienta?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¿Para qué dividimos una pregunta central en subpreguntas?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¿Qué relación hay entre una pregunta, la evidencia que necesitamos y los datos que debemos obtener?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¿Qué etapas reconocemos en el proceso científico que seguiremos durante el curso?</a:t>
            </a:r>
            <a:endParaRPr lang="es-MX" dirty="0">
              <a:latin typeface="Aptos" panose="020B00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¿</a:t>
            </a:r>
            <a:r>
              <a:rPr lang="es-MX" dirty="0"/>
              <a:t>Para qué sirve 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protocolo.md </a:t>
            </a:r>
            <a:r>
              <a:rPr lang="es-MX" dirty="0"/>
              <a:t>y por qué lo consideramos un documento vivo</a:t>
            </a:r>
            <a:r>
              <a:rPr lang="es-MX" dirty="0">
                <a:latin typeface="Aptos" panose="020B0004020202020204" pitchFamily="34" charset="0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>
                <a:latin typeface="Aptos" panose="020B0004020202020204" pitchFamily="34" charset="0"/>
              </a:rPr>
              <a:t>¿Que un análisis sea reproducible significa necesariamente que sea correcto? ¿Por qué?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B5304CCB-282F-2973-1A1C-D01F135B1B5F}"/>
              </a:ext>
            </a:extLst>
          </p:cNvPr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000" b="1" dirty="0">
                <a:solidFill>
                  <a:srgbClr val="CA9718"/>
                </a:solidFill>
                <a:latin typeface="Aptos"/>
              </a:rPr>
              <a:t>REPASO</a:t>
            </a:r>
            <a:endParaRPr sz="1000" b="1" dirty="0">
              <a:solidFill>
                <a:srgbClr val="CA9718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FF0BD-7768-D615-990C-3A0A1F9BAB02}"/>
              </a:ext>
            </a:extLst>
          </p:cNvPr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400" b="1" dirty="0">
                <a:solidFill>
                  <a:srgbClr val="18375B"/>
                </a:solidFill>
                <a:latin typeface="Aptos"/>
              </a:rPr>
              <a:t>Recordar 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B6E27-407A-ED8F-AD30-79208BE51157}"/>
              </a:ext>
            </a:extLst>
          </p:cNvPr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6580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18375B"/>
                </a:solidFill>
                <a:latin typeface="Aptos"/>
              </a:rPr>
              <a:t>¿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Qué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queremos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lograr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hoy?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5C6670"/>
                </a:solidFill>
                <a:latin typeface="Aptos"/>
              </a:rPr>
              <a:t>Al </a:t>
            </a:r>
            <a:r>
              <a:rPr sz="1400" b="0" dirty="0" err="1">
                <a:solidFill>
                  <a:srgbClr val="5C6670"/>
                </a:solidFill>
                <a:latin typeface="Aptos"/>
              </a:rPr>
              <a:t>terminar</a:t>
            </a:r>
            <a:r>
              <a:rPr sz="1400" b="0" dirty="0">
                <a:solidFill>
                  <a:srgbClr val="5C6670"/>
                </a:solidFill>
                <a:latin typeface="Aptos"/>
              </a:rPr>
              <a:t> la </a:t>
            </a:r>
            <a:r>
              <a:rPr sz="1400" b="0" dirty="0" err="1">
                <a:solidFill>
                  <a:srgbClr val="5C6670"/>
                </a:solidFill>
                <a:latin typeface="Aptos"/>
              </a:rPr>
              <a:t>sesión</a:t>
            </a:r>
            <a:r>
              <a:rPr sz="1400" b="0" dirty="0">
                <a:solidFill>
                  <a:srgbClr val="5C6670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5C6670"/>
                </a:solidFill>
                <a:latin typeface="Aptos"/>
              </a:rPr>
              <a:t>el</a:t>
            </a:r>
            <a:r>
              <a:rPr sz="1400" b="0" dirty="0">
                <a:solidFill>
                  <a:srgbClr val="5C667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C6670"/>
                </a:solidFill>
                <a:latin typeface="Aptos"/>
              </a:rPr>
              <a:t>estudiante</a:t>
            </a:r>
            <a:r>
              <a:rPr sz="1400" b="0" dirty="0">
                <a:solidFill>
                  <a:srgbClr val="5C667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C6670"/>
                </a:solidFill>
                <a:latin typeface="Aptos"/>
              </a:rPr>
              <a:t>podrá</a:t>
            </a:r>
            <a:r>
              <a:rPr sz="1400" b="0" dirty="0">
                <a:solidFill>
                  <a:srgbClr val="5C6670"/>
                </a:solidFill>
                <a:latin typeface="Aptos"/>
              </a:rPr>
              <a:t>…</a:t>
            </a:r>
          </a:p>
        </p:txBody>
      </p:sp>
      <p:sp>
        <p:nvSpPr>
          <p:cNvPr id="8" name="Oval 7"/>
          <p:cNvSpPr/>
          <p:nvPr/>
        </p:nvSpPr>
        <p:spPr>
          <a:xfrm>
            <a:off x="1326390" y="2057400"/>
            <a:ext cx="475488" cy="475488"/>
          </a:xfrm>
          <a:prstGeom prst="ellipse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6390" y="20574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3318" y="2148840"/>
            <a:ext cx="2057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65363"/>
            <a:ext cx="1920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8375B"/>
                </a:solidFill>
                <a:latin typeface="Aptos"/>
              </a:rPr>
              <a:t>ORGANIZAR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29588"/>
            <a:ext cx="25146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5C6670"/>
                </a:solidFill>
                <a:latin typeface="Aptos"/>
              </a:rPr>
              <a:t>separar</a:t>
            </a:r>
            <a:r>
              <a:rPr sz="1200" b="0" dirty="0">
                <a:solidFill>
                  <a:srgbClr val="5C6670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0"/>
                </a:solidFill>
                <a:latin typeface="Aptos"/>
              </a:rPr>
              <a:t>originales</a:t>
            </a:r>
            <a:r>
              <a:rPr sz="1200" dirty="0">
                <a:solidFill>
                  <a:srgbClr val="5C6670"/>
                </a:solidFill>
                <a:latin typeface="Aptos"/>
              </a:rPr>
              <a:t>,</a:t>
            </a:r>
            <a:br>
              <a:rPr sz="1200" dirty="0">
                <a:solidFill>
                  <a:srgbClr val="5C6670"/>
                </a:solidFill>
                <a:latin typeface="Aptos"/>
              </a:rPr>
            </a:br>
            <a:r>
              <a:rPr sz="1200" dirty="0" err="1">
                <a:solidFill>
                  <a:srgbClr val="5C6670"/>
                </a:solidFill>
                <a:latin typeface="Aptos"/>
              </a:rPr>
              <a:t>derivados</a:t>
            </a:r>
            <a:r>
              <a:rPr sz="1200" dirty="0">
                <a:solidFill>
                  <a:srgbClr val="5C6670"/>
                </a:solidFill>
                <a:latin typeface="Aptos"/>
              </a:rPr>
              <a:t> y </a:t>
            </a:r>
            <a:r>
              <a:rPr sz="1200" dirty="0" err="1">
                <a:solidFill>
                  <a:srgbClr val="5C6670"/>
                </a:solidFill>
                <a:latin typeface="Aptos"/>
              </a:rPr>
              <a:t>resultados</a:t>
            </a:r>
            <a:endParaRPr sz="120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069590" y="2057400"/>
            <a:ext cx="475488" cy="475488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69590" y="20574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517" y="2148840"/>
            <a:ext cx="2057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665363"/>
            <a:ext cx="1920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8375B"/>
                </a:solidFill>
                <a:latin typeface="Aptos"/>
              </a:rPr>
              <a:t>DESCRIBIR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9" y="3129588"/>
            <a:ext cx="25146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5C6670"/>
                </a:solidFill>
                <a:latin typeface="Aptos"/>
              </a:rPr>
              <a:t>registrar </a:t>
            </a:r>
            <a:r>
              <a:rPr sz="1200" dirty="0" err="1">
                <a:solidFill>
                  <a:srgbClr val="5C6670"/>
                </a:solidFill>
                <a:latin typeface="Aptos"/>
              </a:rPr>
              <a:t>procedencia</a:t>
            </a:r>
            <a:br>
              <a:rPr sz="1200" dirty="0">
                <a:solidFill>
                  <a:srgbClr val="5C6670"/>
                </a:solidFill>
                <a:latin typeface="Aptos"/>
              </a:rPr>
            </a:br>
            <a:r>
              <a:rPr sz="1200" dirty="0">
                <a:solidFill>
                  <a:srgbClr val="5C6670"/>
                </a:solidFill>
                <a:latin typeface="Aptos"/>
              </a:rPr>
              <a:t>y </a:t>
            </a:r>
            <a:r>
              <a:rPr sz="1200" dirty="0" err="1">
                <a:solidFill>
                  <a:srgbClr val="5C6670"/>
                </a:solidFill>
                <a:latin typeface="Aptos"/>
              </a:rPr>
              <a:t>metadatos</a:t>
            </a:r>
            <a:endParaRPr sz="120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812790" y="2057400"/>
            <a:ext cx="475488" cy="475488"/>
          </a:xfrm>
          <a:prstGeom prst="ellipse">
            <a:avLst/>
          </a:prstGeom>
          <a:solidFill>
            <a:srgbClr val="CA9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790" y="20574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718" y="2148840"/>
            <a:ext cx="2057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665363"/>
            <a:ext cx="1920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8375B"/>
                </a:solidFill>
                <a:latin typeface="Aptos"/>
              </a:rPr>
              <a:t>DECIDIR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129588"/>
            <a:ext cx="25146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5C6670"/>
                </a:solidFill>
                <a:latin typeface="Aptos"/>
              </a:rPr>
              <a:t>reconocer</a:t>
            </a:r>
            <a:r>
              <a:rPr sz="1200" b="0" dirty="0">
                <a:solidFill>
                  <a:srgbClr val="5C6670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C6670"/>
                </a:solidFill>
                <a:latin typeface="Aptos"/>
              </a:rPr>
              <a:t>qué</a:t>
            </a:r>
            <a:r>
              <a:rPr sz="1200" b="0" dirty="0">
                <a:solidFill>
                  <a:srgbClr val="5C6670"/>
                </a:solidFill>
                <a:latin typeface="Aptos"/>
              </a:rPr>
              <a:t> </a:t>
            </a:r>
            <a:r>
              <a:rPr sz="1200" dirty="0">
                <a:solidFill>
                  <a:srgbClr val="5C6670"/>
                </a:solidFill>
                <a:latin typeface="Aptos"/>
              </a:rPr>
              <a:t>se sabe</a:t>
            </a:r>
            <a:br>
              <a:rPr sz="1200" dirty="0">
                <a:solidFill>
                  <a:srgbClr val="5C6670"/>
                </a:solidFill>
                <a:latin typeface="Aptos"/>
              </a:rPr>
            </a:br>
            <a:r>
              <a:rPr sz="1200" dirty="0">
                <a:solidFill>
                  <a:srgbClr val="5C6670"/>
                </a:solidFill>
                <a:latin typeface="Aptos"/>
              </a:rPr>
              <a:t>y </a:t>
            </a:r>
            <a:r>
              <a:rPr sz="1200" dirty="0" err="1">
                <a:solidFill>
                  <a:srgbClr val="5C6670"/>
                </a:solidFill>
                <a:latin typeface="Aptos"/>
              </a:rPr>
              <a:t>qué</a:t>
            </a:r>
            <a:r>
              <a:rPr sz="1200" dirty="0">
                <a:solidFill>
                  <a:srgbClr val="5C6670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0"/>
                </a:solidFill>
                <a:latin typeface="Aptos"/>
              </a:rPr>
              <a:t>falta</a:t>
            </a:r>
            <a:endParaRPr sz="120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555990" y="2057400"/>
            <a:ext cx="475488" cy="475488"/>
          </a:xfrm>
          <a:prstGeom prst="ellipse">
            <a:avLst/>
          </a:prstGeom>
          <a:solidFill>
            <a:srgbClr val="705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55990" y="20574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665363"/>
            <a:ext cx="1920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8375B"/>
                </a:solidFill>
                <a:latin typeface="Aptos"/>
              </a:rPr>
              <a:t>VALIDAR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129588"/>
            <a:ext cx="25146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5C6670"/>
                </a:solidFill>
                <a:latin typeface="Aptos"/>
              </a:rPr>
              <a:t>pedir</a:t>
            </a:r>
            <a:r>
              <a:rPr sz="1200" b="0" dirty="0">
                <a:solidFill>
                  <a:srgbClr val="5C6670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5C6670"/>
                </a:solidFill>
                <a:latin typeface="Aptos"/>
              </a:rPr>
              <a:t>comprobar</a:t>
            </a:r>
            <a:br>
              <a:rPr sz="1200" dirty="0">
                <a:solidFill>
                  <a:srgbClr val="5C6670"/>
                </a:solidFill>
                <a:latin typeface="Aptos"/>
              </a:rPr>
            </a:br>
            <a:r>
              <a:rPr sz="1200" dirty="0">
                <a:solidFill>
                  <a:srgbClr val="5C6670"/>
                </a:solidFill>
                <a:latin typeface="Aptos"/>
              </a:rPr>
              <a:t>y </a:t>
            </a:r>
            <a:r>
              <a:rPr sz="1200" dirty="0" err="1">
                <a:solidFill>
                  <a:srgbClr val="5C6670"/>
                </a:solidFill>
                <a:latin typeface="Aptos"/>
              </a:rPr>
              <a:t>documentar</a:t>
            </a:r>
            <a:endParaRPr sz="120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4149477"/>
            <a:ext cx="1042416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2000" b="1" dirty="0">
                <a:solidFill>
                  <a:srgbClr val="18375B"/>
                </a:solidFill>
                <a:latin typeface="Aptos"/>
              </a:rPr>
              <a:t>Un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dato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 sin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historia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puede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existir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,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pero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 no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necesariamente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puede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reutilizarse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 con </a:t>
            </a:r>
            <a:r>
              <a:rPr sz="2000" b="1" dirty="0" err="1">
                <a:solidFill>
                  <a:srgbClr val="18375B"/>
                </a:solidFill>
                <a:latin typeface="Aptos"/>
              </a:rPr>
              <a:t>confianza</a:t>
            </a:r>
            <a:r>
              <a:rPr sz="2000" b="1" dirty="0">
                <a:solidFill>
                  <a:srgbClr val="18375B"/>
                </a:solidFill>
                <a:latin typeface="Apto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980176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¿Qué le faltaba al protocolo de S1 para que otra persona pudiera reproducir el trabajo?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CONEXIÓN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18375B"/>
                </a:solidFill>
                <a:latin typeface="Aptos"/>
              </a:rPr>
              <a:t>De S1 a S2: </a:t>
            </a:r>
            <a:r>
              <a:rPr lang="es-ES" sz="2400" b="1" dirty="0">
                <a:solidFill>
                  <a:srgbClr val="18375B"/>
                </a:solidFill>
                <a:latin typeface="Aptos"/>
              </a:rPr>
              <a:t>de la pregunta al contexto 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del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dato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017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8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87389"/>
            <a:ext cx="3017520" cy="16773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8375B"/>
                </a:solidFill>
                <a:latin typeface="Aptos"/>
              </a:rPr>
              <a:t>S1 · PROTOCOLO</a:t>
            </a:r>
            <a:br>
              <a:rPr dirty="0"/>
            </a:br>
            <a:br>
              <a:rPr dirty="0"/>
            </a:br>
            <a:r>
              <a:rPr b="1" dirty="0" err="1"/>
              <a:t>Pregunta</a:t>
            </a:r>
            <a:br>
              <a:rPr dirty="0"/>
            </a:br>
            <a:r>
              <a:rPr b="1" dirty="0" err="1"/>
              <a:t>Estrategia</a:t>
            </a:r>
            <a:br>
              <a:rPr dirty="0"/>
            </a:br>
            <a:r>
              <a:rPr dirty="0" err="1"/>
              <a:t>Decisiones</a:t>
            </a:r>
            <a:br>
              <a:rPr dirty="0"/>
            </a:br>
            <a:r>
              <a:rPr dirty="0" err="1"/>
              <a:t>Resultados</a:t>
            </a:r>
            <a:r>
              <a:rPr lang="es-ES" dirty="0"/>
              <a:t>..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828800"/>
            <a:ext cx="3017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2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828800"/>
            <a:ext cx="30175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8375B"/>
                </a:solidFill>
                <a:latin typeface="Aptos"/>
              </a:rPr>
              <a:t>S2 · DATOS</a:t>
            </a:r>
            <a:br/>
            <a:br/>
            <a:r>
              <a:t>Procedencia</a:t>
            </a:r>
            <a:br/>
            <a:r>
              <a:t>Metadatos</a:t>
            </a:r>
            <a:br/>
            <a:r>
              <a:t>Carpetas</a:t>
            </a:r>
            <a:br/>
            <a:r>
              <a:t>Integridad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51460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828800"/>
            <a:ext cx="20116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A9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828800"/>
            <a:ext cx="20116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375B"/>
                </a:solidFill>
                <a:latin typeface="Aptos"/>
              </a:rPr>
              <a:t>EVIDENCIA</a:t>
            </a:r>
            <a:br/>
            <a:br/>
            <a:r>
              <a:t>que otra persona</a:t>
            </a:r>
            <a:br/>
            <a:r>
              <a:t>puede entender</a:t>
            </a:r>
            <a:br/>
            <a:r>
              <a:t>y comprobar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92208"/>
            <a:ext cx="1024128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18375B"/>
                </a:solidFill>
                <a:latin typeface="Aptos"/>
              </a:rPr>
              <a:t>Un </a:t>
            </a:r>
            <a:r>
              <a:rPr sz="1700" b="1" dirty="0" err="1">
                <a:solidFill>
                  <a:srgbClr val="18375B"/>
                </a:solidFill>
                <a:latin typeface="Aptos"/>
              </a:rPr>
              <a:t>análisis</a:t>
            </a:r>
            <a:r>
              <a:rPr sz="17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8375B"/>
                </a:solidFill>
                <a:latin typeface="Aptos"/>
              </a:rPr>
              <a:t>impecable</a:t>
            </a:r>
            <a:r>
              <a:rPr sz="17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8375B"/>
                </a:solidFill>
                <a:latin typeface="Aptos"/>
              </a:rPr>
              <a:t>sobre</a:t>
            </a:r>
            <a:r>
              <a:rPr sz="17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8375B"/>
                </a:solidFill>
                <a:latin typeface="Aptos"/>
              </a:rPr>
              <a:t>datos</a:t>
            </a:r>
            <a:r>
              <a:rPr sz="17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ptos"/>
              </a:rPr>
              <a:t>sin</a:t>
            </a:r>
            <a:r>
              <a:rPr sz="17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0000"/>
                </a:solidFill>
                <a:latin typeface="Aptos"/>
              </a:rPr>
              <a:t>procedencia</a:t>
            </a:r>
            <a:r>
              <a:rPr sz="17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700" b="1" dirty="0">
                <a:solidFill>
                  <a:srgbClr val="00B0F0"/>
                </a:solidFill>
                <a:latin typeface="Aptos"/>
              </a:rPr>
              <a:t>NO es reproducible</a:t>
            </a:r>
            <a:r>
              <a:rPr sz="1700" b="1" dirty="0">
                <a:solidFill>
                  <a:srgbClr val="18375B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5C6670"/>
                </a:solidFill>
                <a:latin typeface="Aptos"/>
              </a:rPr>
              <a:t>Si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el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protocolo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está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perfecto,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pero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nadie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sabe de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dónde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salió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el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archivo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, ¿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qué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 se </a:t>
            </a:r>
            <a:r>
              <a:rPr sz="1000" b="1" dirty="0" err="1">
                <a:solidFill>
                  <a:srgbClr val="5C6670"/>
                </a:solidFill>
                <a:latin typeface="Aptos"/>
              </a:rPr>
              <a:t>rompe</a:t>
            </a:r>
            <a:r>
              <a:rPr sz="1000" b="1" dirty="0">
                <a:solidFill>
                  <a:srgbClr val="5C6670"/>
                </a:solidFill>
                <a:latin typeface="Apto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0093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CONEXIÓN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400" b="1" dirty="0">
                <a:solidFill>
                  <a:srgbClr val="18375B"/>
                </a:solidFill>
                <a:latin typeface="Aptos"/>
              </a:rPr>
              <a:t>El punto de partida: La pregunta biológica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B5053EA-89F2-D131-E17A-DB493DAE3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72" y="1286964"/>
            <a:ext cx="7772400" cy="476435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1B316A0-1C99-5DE6-092A-804C5F69247D}"/>
              </a:ext>
            </a:extLst>
          </p:cNvPr>
          <p:cNvSpPr txBox="1"/>
          <p:nvPr/>
        </p:nvSpPr>
        <p:spPr>
          <a:xfrm>
            <a:off x="8136172" y="2142876"/>
            <a:ext cx="36920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ptos" panose="020B0004020202020204" pitchFamily="34" charset="0"/>
              </a:rPr>
              <a:t>El genoma se actualiza, porque se corrigen errores</a:t>
            </a:r>
          </a:p>
          <a:p>
            <a:endParaRPr lang="es-MX" dirty="0">
              <a:latin typeface="Aptos" panose="020B0004020202020204" pitchFamily="34" charset="0"/>
            </a:endParaRPr>
          </a:p>
          <a:p>
            <a:r>
              <a:rPr lang="es-MX" dirty="0">
                <a:latin typeface="Aptos" panose="020B0004020202020204" pitchFamily="34" charset="0"/>
              </a:rPr>
              <a:t>La anotación se corrige. Se anotan nuevos genes, se eliminan los genes mal anotados, se actualizan coordenadas de los genes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0892151-8968-FE40-903D-331EF382A58E}"/>
              </a:ext>
            </a:extLst>
          </p:cNvPr>
          <p:cNvSpPr txBox="1"/>
          <p:nvPr/>
        </p:nvSpPr>
        <p:spPr>
          <a:xfrm>
            <a:off x="8240754" y="4789594"/>
            <a:ext cx="3372126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>
                <a:latin typeface="Aptos" panose="020B0004020202020204" pitchFamily="34" charset="0"/>
              </a:rPr>
              <a:t>Queremos hacer el analisis para ver si hay cambios y corroborar lo que se sabe.</a:t>
            </a:r>
          </a:p>
        </p:txBody>
      </p:sp>
    </p:spTree>
    <p:extLst>
      <p:ext uri="{BB962C8B-B14F-4D97-AF65-F5344CB8AC3E}">
        <p14:creationId xmlns:p14="http://schemas.microsoft.com/office/powerpoint/2010/main" val="1094409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S1: De la pregunta a la estrategia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10469880" cy="1051560"/>
          </a:xfrm>
          <a:prstGeom prst="roundRect">
            <a:avLst/>
          </a:prstGeom>
          <a:solidFill>
            <a:srgbClr val="EAF4F5"/>
          </a:solidFill>
          <a:ln w="12700">
            <a:solidFill>
              <a:srgbClr val="8AC7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618488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E3A5F"/>
                </a:solidFill>
              </a:rPr>
              <a:t>¿Cuántos genes tiene el genoma de E. coli K-12 y cómo se distribuyen en el cromosoma?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2372252" y="210312"/>
            <a:ext cx="2240280" cy="658368"/>
          </a:xfrm>
          <a:prstGeom prst="roundRect">
            <a:avLst/>
          </a:prstGeom>
          <a:solidFill>
            <a:srgbClr val="257780"/>
          </a:solidFill>
          <a:ln>
            <a:solidFill>
              <a:srgbClr val="25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2743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🧪 PRÁCTICA 1</a:t>
            </a:r>
          </a:p>
          <a:p>
            <a:pPr algn="ctr"/>
            <a:r>
              <a:rPr sz="850" dirty="0" err="1">
                <a:solidFill>
                  <a:srgbClr val="FFFFFF"/>
                </a:solidFill>
                <a:latin typeface="Aptos"/>
              </a:rPr>
              <a:t>Revisar</a:t>
            </a:r>
            <a:r>
              <a:rPr sz="850" dirty="0">
                <a:solidFill>
                  <a:srgbClr val="FFFFFF"/>
                </a:solidFill>
                <a:latin typeface="Aptos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en</a:t>
            </a:r>
            <a:r>
              <a:rPr sz="850" dirty="0">
                <a:solidFill>
                  <a:srgbClr val="FFFFFF"/>
                </a:solidFill>
                <a:latin typeface="Aptos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clase</a:t>
            </a:r>
            <a:r>
              <a:rPr sz="850" dirty="0">
                <a:solidFill>
                  <a:srgbClr val="FFFFFF"/>
                </a:solidFill>
                <a:latin typeface="Aptos"/>
              </a:rPr>
              <a:t> · 10–15 min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F961FD5A-8C32-D123-E9E5-6D683705C771}"/>
              </a:ext>
            </a:extLst>
          </p:cNvPr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F0D27DD-5E1D-A5CE-8692-6A16F9FC6411}"/>
              </a:ext>
            </a:extLst>
          </p:cNvPr>
          <p:cNvSpPr txBox="1"/>
          <p:nvPr/>
        </p:nvSpPr>
        <p:spPr>
          <a:xfrm>
            <a:off x="12517821" y="1030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pic>
        <p:nvPicPr>
          <p:cNvPr id="20" name="Picture 2" descr="Reloj colgante de pared acrílico con dibujo de gato, decoración de pared  Adorable decorativa de 24x30cm para habitación de invitados, resistente y  ver | Bodega Aurrera en línea">
            <a:extLst>
              <a:ext uri="{FF2B5EF4-FFF2-40B4-BE49-F238E27FC236}">
                <a16:creationId xmlns:a16="http://schemas.microsoft.com/office/drawing/2014/main" id="{5C389C1A-DC1B-1BD0-30B9-A257A215C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283" y="139730"/>
            <a:ext cx="1126714" cy="112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57406250-8ABB-3B06-4360-5147858C8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065837"/>
              </p:ext>
            </p:extLst>
          </p:nvPr>
        </p:nvGraphicFramePr>
        <p:xfrm>
          <a:off x="770001" y="2524539"/>
          <a:ext cx="10705719" cy="2971800"/>
        </p:xfrm>
        <a:graphic>
          <a:graphicData uri="http://schemas.openxmlformats.org/drawingml/2006/table">
            <a:tbl>
              <a:tblPr/>
              <a:tblGrid>
                <a:gridCol w="1607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Subpregunta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Evidencia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Dato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Operación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¿Cómo comprobar?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Tamaño del genoma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sz="1300" kern="1200" dirty="0">
                          <a:solidFill>
                            <a:srgbClr val="24364B"/>
                          </a:solidFill>
                          <a:latin typeface="Aptos" pitchFamily="34" charset="0"/>
                        </a:rPr>
                        <a:t>Longitud de la secuencia de referencia</a:t>
                      </a:r>
                      <a:endParaRPr lang="en-US" sz="1300" kern="1200" dirty="0">
                        <a:solidFill>
                          <a:srgbClr val="24364B"/>
                        </a:solidFill>
                        <a:latin typeface="Aptos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FASTA o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metadatos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de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referencia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sz="1400" dirty="0"/>
                        <a:t>Obtener la longitud total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Contrastar con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una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fuente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original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Número de genes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Registros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de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tipo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“gene”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sz="1400" dirty="0"/>
                        <a:t>Seleccionar registros </a:t>
                      </a:r>
                      <a:r>
                        <a:rPr lang="es-MX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</a:t>
                      </a:r>
                      <a:r>
                        <a:rPr lang="es-MX" sz="1400" dirty="0"/>
                        <a:t> y contar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Comparar con referencia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12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Genes </a:t>
                      </a:r>
                      <a:r>
                        <a:rPr lang="en-US" sz="1300" kern="12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</a:t>
                      </a:r>
                      <a:r>
                        <a:rPr lang="en-US" sz="1300" kern="12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1300" kern="12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hebra</a:t>
                      </a:r>
                      <a:endParaRPr lang="en-US" sz="1300" kern="1200" dirty="0">
                        <a:solidFill>
                          <a:srgbClr val="24364B"/>
                        </a:solidFill>
                        <a:latin typeface="Aptos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sz="1300" kern="1200" dirty="0">
                          <a:solidFill>
                            <a:srgbClr val="24364B"/>
                          </a:solidFill>
                          <a:latin typeface="Aptos" pitchFamily="34" charset="0"/>
                        </a:rPr>
                        <a:t>Registros </a:t>
                      </a:r>
                      <a:r>
                        <a:rPr lang="es-MX" sz="1300" kern="1200" dirty="0">
                          <a:solidFill>
                            <a:srgbClr val="24364B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</a:t>
                      </a:r>
                      <a:r>
                        <a:rPr lang="es-MX" sz="1300" kern="1200" dirty="0">
                          <a:solidFill>
                            <a:srgbClr val="24364B"/>
                          </a:solidFill>
                          <a:latin typeface="Aptos" pitchFamily="34" charset="0"/>
                        </a:rPr>
                        <a:t> con + o −</a:t>
                      </a:r>
                      <a:endParaRPr lang="en-US" sz="1300" kern="1200" dirty="0">
                        <a:solidFill>
                          <a:srgbClr val="24364B"/>
                        </a:solidFill>
                        <a:latin typeface="Aptos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Agrupar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hebra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y contar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 y − deben sumar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total de genes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7FC0B293-8D06-2DC7-1328-340A246EB89C}"/>
              </a:ext>
            </a:extLst>
          </p:cNvPr>
          <p:cNvSpPr txBox="1"/>
          <p:nvPr/>
        </p:nvSpPr>
        <p:spPr>
          <a:xfrm>
            <a:off x="2230696" y="5559806"/>
            <a:ext cx="778432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700" dirty="0"/>
              <a:t>¿</a:t>
            </a:r>
            <a:r>
              <a:rPr lang="es-MX" sz="1700" b="1" dirty="0"/>
              <a:t>Qué quiero saber</a:t>
            </a:r>
            <a:r>
              <a:rPr lang="es-MX" sz="1700" dirty="0"/>
              <a:t>? → ¿</a:t>
            </a:r>
            <a:r>
              <a:rPr lang="es-MX" sz="1700" b="1" dirty="0"/>
              <a:t>qué evidencia necesitaría</a:t>
            </a:r>
            <a:r>
              <a:rPr lang="es-MX" sz="1700" dirty="0"/>
              <a:t>? → ¿qué datos necesito? → 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IDEA GUÍA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400" b="1" dirty="0">
                <a:solidFill>
                  <a:srgbClr val="18375B"/>
                </a:solidFill>
                <a:latin typeface="Aptos"/>
              </a:rPr>
              <a:t>Pausa: revisemos el protocolo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FD7092-D5B9-07C7-8AF2-535709619A3A}"/>
              </a:ext>
            </a:extLst>
          </p:cNvPr>
          <p:cNvSpPr txBox="1"/>
          <p:nvPr/>
        </p:nvSpPr>
        <p:spPr>
          <a:xfrm>
            <a:off x="675861" y="1163628"/>
            <a:ext cx="10553210" cy="3895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dirty="0">
                <a:solidFill>
                  <a:srgbClr val="002060"/>
                </a:solidFill>
                <a:latin typeface="Aptos" panose="020B0004020202020204" pitchFamily="34" charset="0"/>
              </a:rPr>
              <a:t>- Abre stackedit</a:t>
            </a:r>
          </a:p>
          <a:p>
            <a:pPr>
              <a:lnSpc>
                <a:spcPct val="200000"/>
              </a:lnSpc>
            </a:pPr>
            <a:r>
              <a:rPr lang="es-MX" dirty="0">
                <a:solidFill>
                  <a:srgbClr val="002060"/>
                </a:solidFill>
                <a:latin typeface="Aptos" panose="020B0004020202020204" pitchFamily="34" charset="0"/>
              </a:rPr>
              <a:t>- Buscar tu archivo de protocolo</a:t>
            </a:r>
          </a:p>
          <a:p>
            <a:pPr>
              <a:lnSpc>
                <a:spcPct val="200000"/>
              </a:lnSpc>
            </a:pPr>
            <a:r>
              <a:rPr lang="es-MX" dirty="0">
                <a:solidFill>
                  <a:srgbClr val="002060"/>
                </a:solidFill>
                <a:latin typeface="Aptos" panose="020B0004020202020204" pitchFamily="34" charset="0"/>
              </a:rPr>
              <a:t>- Revisemos qué tenemos y qué nos falta para avanzar ( compara con </a:t>
            </a:r>
            <a:r>
              <a:rPr lang="es-MX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protocolo.md </a:t>
            </a:r>
            <a:r>
              <a:rPr lang="es-MX" dirty="0">
                <a:solidFill>
                  <a:srgbClr val="002060"/>
                </a:solidFill>
                <a:latin typeface="Aptos" panose="020B0004020202020204" pitchFamily="34" charset="0"/>
              </a:rPr>
              <a:t>en la plataforma)</a:t>
            </a:r>
          </a:p>
          <a:p>
            <a:pPr>
              <a:lnSpc>
                <a:spcPct val="200000"/>
              </a:lnSpc>
            </a:pPr>
            <a:endParaRPr lang="es-MX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lnSpc>
                <a:spcPct val="200000"/>
              </a:lnSpc>
            </a:pPr>
            <a:endParaRPr lang="es-MX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lnSpc>
                <a:spcPct val="200000"/>
              </a:lnSpc>
            </a:pPr>
            <a:endParaRPr lang="es-MX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lnSpc>
                <a:spcPct val="200000"/>
              </a:lnSpc>
            </a:pPr>
            <a:endParaRPr lang="es-MX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4B5E8F-9E1B-1EB9-053D-FD9C757A3A2C}"/>
              </a:ext>
            </a:extLst>
          </p:cNvPr>
          <p:cNvSpPr txBox="1"/>
          <p:nvPr/>
        </p:nvSpPr>
        <p:spPr>
          <a:xfrm>
            <a:off x="1403406" y="3093675"/>
            <a:ext cx="91559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ptos" panose="020B0004020202020204" pitchFamily="34" charset="0"/>
              </a:rPr>
              <a:t>Ya sabemos qué queremos investigar y qué evidencia necesitamos. El siguiente paso es conseguir los datos que contienen esa evidencia.</a:t>
            </a:r>
            <a:endParaRPr lang="es-MX" sz="1700" dirty="0">
              <a:latin typeface="Aptos" panose="020B00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858821-8850-4B6E-995C-A21B1158529D}"/>
              </a:ext>
            </a:extLst>
          </p:cNvPr>
          <p:cNvSpPr txBox="1"/>
          <p:nvPr/>
        </p:nvSpPr>
        <p:spPr>
          <a:xfrm>
            <a:off x="1403406" y="3812485"/>
            <a:ext cx="7031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PREGUNTA</a:t>
            </a:r>
            <a:r>
              <a:rPr lang="es-MX" dirty="0"/>
              <a:t> → </a:t>
            </a:r>
            <a:r>
              <a:rPr lang="es-MX" b="1" dirty="0"/>
              <a:t>EVIDENCIA</a:t>
            </a:r>
            <a:r>
              <a:rPr lang="es-MX" dirty="0"/>
              <a:t> → </a:t>
            </a:r>
            <a:r>
              <a:rPr lang="es-MX" b="1" dirty="0"/>
              <a:t>DATOS</a:t>
            </a:r>
            <a:br>
              <a:rPr lang="es-MX" dirty="0"/>
            </a:br>
            <a:r>
              <a:rPr lang="es-MX" i="1" dirty="0"/>
              <a:t>¿qué quiero saber?</a:t>
            </a:r>
            <a:r>
              <a:rPr lang="es-MX" dirty="0"/>
              <a:t> → </a:t>
            </a:r>
            <a:r>
              <a:rPr lang="es-MX" i="1" dirty="0"/>
              <a:t>¿qué necesito observar?</a:t>
            </a:r>
            <a:r>
              <a:rPr lang="es-MX" dirty="0"/>
              <a:t> → </a:t>
            </a:r>
            <a:r>
              <a:rPr lang="es-MX" b="1" dirty="0"/>
              <a:t>¿qué archivo necesito?</a:t>
            </a:r>
            <a:endParaRPr lang="es-MX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83E06D-2B7E-4C8F-71BD-9B5A9DBB6C43}"/>
              </a:ext>
            </a:extLst>
          </p:cNvPr>
          <p:cNvSpPr txBox="1"/>
          <p:nvPr/>
        </p:nvSpPr>
        <p:spPr>
          <a:xfrm>
            <a:off x="1374503" y="4831111"/>
            <a:ext cx="9155926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Necesitamos información sobre los genes, su posición y la hebra en la que se encuentran. Esa información puede estar en un archivo de anotación del genoma</a:t>
            </a:r>
            <a:endParaRPr lang="es-MX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IDEA GUÍA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400" b="1" dirty="0">
                <a:solidFill>
                  <a:srgbClr val="18375B"/>
                </a:solidFill>
                <a:latin typeface="Aptos"/>
              </a:rPr>
              <a:t>Tener los datos no es suficiente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51107" y="6006658"/>
            <a:ext cx="4144893" cy="251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b="1" dirty="0">
                <a:solidFill>
                  <a:srgbClr val="5C6670"/>
                </a:solidFill>
                <a:latin typeface="Aptos"/>
              </a:rPr>
              <a:t>¿Qué información podríamos perder si no la registramos ahora</a:t>
            </a:r>
            <a:r>
              <a:rPr lang="es-MX" sz="1000" b="1" dirty="0"/>
              <a:t>?</a:t>
            </a:r>
            <a:endParaRPr lang="es-MX" sz="1000" b="1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BB002EE-B400-3E53-EDCF-E8115C9C8BB9}"/>
              </a:ext>
            </a:extLst>
          </p:cNvPr>
          <p:cNvSpPr txBox="1"/>
          <p:nvPr/>
        </p:nvSpPr>
        <p:spPr>
          <a:xfrm>
            <a:off x="597031" y="1568037"/>
            <a:ext cx="6324630" cy="36933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genes_ecoli.gff </a:t>
            </a:r>
          </a:p>
          <a:p>
            <a:endParaRPr lang="es-MX" dirty="0">
              <a:latin typeface="Aptos" panose="020B0004020202020204" pitchFamily="34" charset="0"/>
            </a:endParaRPr>
          </a:p>
          <a:p>
            <a:r>
              <a:rPr lang="es-MX" dirty="0">
                <a:latin typeface="Aptos" panose="020B0004020202020204" pitchFamily="34" charset="0"/>
              </a:rPr>
              <a:t>✓ El archivo existe </a:t>
            </a:r>
          </a:p>
          <a:p>
            <a:r>
              <a:rPr lang="es-MX" dirty="0">
                <a:latin typeface="Aptos" panose="020B0004020202020204" pitchFamily="34" charset="0"/>
              </a:rPr>
              <a:t>✓ Puedes abrirlo </a:t>
            </a:r>
          </a:p>
          <a:p>
            <a:endParaRPr lang="es-MX" dirty="0">
              <a:latin typeface="Aptos" panose="020B0004020202020204" pitchFamily="34" charset="0"/>
            </a:endParaRPr>
          </a:p>
          <a:p>
            <a:r>
              <a:rPr lang="es-MX" dirty="0">
                <a:latin typeface="Aptos" panose="020B0004020202020204" pitchFamily="34" charset="0"/>
              </a:rPr>
              <a:t>Pero... </a:t>
            </a:r>
          </a:p>
          <a:p>
            <a:endParaRPr lang="es-MX" dirty="0">
              <a:latin typeface="Aptos" panose="020B0004020202020204" pitchFamily="34" charset="0"/>
            </a:endParaRPr>
          </a:p>
          <a:p>
            <a:r>
              <a:rPr lang="es-MX" dirty="0">
                <a:latin typeface="Aptos" panose="020B0004020202020204" pitchFamily="34" charset="0"/>
              </a:rPr>
              <a:t>+  ¿De dónde se obtuvo? </a:t>
            </a:r>
          </a:p>
          <a:p>
            <a:r>
              <a:rPr lang="es-MX" dirty="0">
                <a:latin typeface="Aptos" panose="020B0004020202020204" pitchFamily="34" charset="0"/>
              </a:rPr>
              <a:t>+ ¿Qué organismo y cepa representa? </a:t>
            </a:r>
          </a:p>
          <a:p>
            <a:r>
              <a:rPr lang="es-MX" dirty="0">
                <a:latin typeface="Aptos" panose="020B0004020202020204" pitchFamily="34" charset="0"/>
              </a:rPr>
              <a:t>+ </a:t>
            </a:r>
            <a:r>
              <a:rPr lang="es-MX" dirty="0"/>
              <a:t>¿Qué versión o identificador corresponde a estos datos</a:t>
            </a:r>
            <a:r>
              <a:rPr lang="es-MX" dirty="0">
                <a:latin typeface="Aptos" panose="020B0004020202020204" pitchFamily="34" charset="0"/>
              </a:rPr>
              <a:t>? </a:t>
            </a:r>
          </a:p>
          <a:p>
            <a:r>
              <a:rPr lang="es-MX" dirty="0">
                <a:latin typeface="Aptos" panose="020B0004020202020204" pitchFamily="34" charset="0"/>
              </a:rPr>
              <a:t>+ ¿Qué significa cada columna? </a:t>
            </a:r>
          </a:p>
          <a:p>
            <a:r>
              <a:rPr lang="es-MX" dirty="0">
                <a:latin typeface="Aptos" panose="020B0004020202020204" pitchFamily="34" charset="0"/>
              </a:rPr>
              <a:t>+ ¿Se modificó o filtró? </a:t>
            </a:r>
          </a:p>
          <a:p>
            <a:r>
              <a:rPr lang="es-MX" dirty="0">
                <a:latin typeface="Aptos" panose="020B0004020202020204" pitchFamily="34" charset="0"/>
              </a:rPr>
              <a:t>+ ¿Cuándo se descargó?</a:t>
            </a:r>
            <a:endParaRPr lang="es-MX" dirty="0">
              <a:latin typeface="Aptos" panose="020B00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E54A082-A48C-57CF-11E0-F40955CFC44B}"/>
              </a:ext>
            </a:extLst>
          </p:cNvPr>
          <p:cNvSpPr txBox="1"/>
          <p:nvPr/>
        </p:nvSpPr>
        <p:spPr>
          <a:xfrm>
            <a:off x="7113449" y="3052086"/>
            <a:ext cx="4453711" cy="8771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700" b="1">
                <a:solidFill>
                  <a:srgbClr val="18375B"/>
                </a:solidFill>
                <a:latin typeface="Aptos"/>
              </a:defRPr>
            </a:lvl1pPr>
          </a:lstStyle>
          <a:p>
            <a:pPr algn="just"/>
            <a:r>
              <a:rPr lang="es-MX" b="1" dirty="0"/>
              <a:t>Guardar un archivo no garantiza que en el futuro podamos entender qué representa, de dónde proviene ni cómo reutilizarlo.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5275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CA9718"/>
                </a:solidFill>
                <a:latin typeface="Aptos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13768"/>
            <a:ext cx="58305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dirty="0">
                <a:solidFill>
                  <a:srgbClr val="5C6670"/>
                </a:solidFill>
                <a:latin typeface="Aptos"/>
              </a:rPr>
              <a:t>S2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MX" sz="2400" b="1" dirty="0">
                <a:solidFill>
                  <a:srgbClr val="18375B"/>
                </a:solidFill>
                <a:latin typeface="Aptos"/>
              </a:rPr>
              <a:t>Los principios FAIR para el manejo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980176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¿Un dato FAIR necesariamente tiene que ser público?</a:t>
            </a:r>
          </a:p>
        </p:txBody>
      </p:sp>
      <p:pic>
        <p:nvPicPr>
          <p:cNvPr id="26" name="Picture 3" descr="figura-u1-s01-principios-fair.png">
            <a:extLst>
              <a:ext uri="{FF2B5EF4-FFF2-40B4-BE49-F238E27FC236}">
                <a16:creationId xmlns:a16="http://schemas.microsoft.com/office/drawing/2014/main" id="{D0D0B951-D6E2-3475-5C00-16411E4B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353" y="1277268"/>
            <a:ext cx="9797047" cy="4776060"/>
          </a:xfrm>
          <a:prstGeom prst="rect">
            <a:avLst/>
          </a:prstGeom>
        </p:spPr>
      </p:pic>
      <p:sp>
        <p:nvSpPr>
          <p:cNvPr id="27" name="TextBox 8">
            <a:extLst>
              <a:ext uri="{FF2B5EF4-FFF2-40B4-BE49-F238E27FC236}">
                <a16:creationId xmlns:a16="http://schemas.microsoft.com/office/drawing/2014/main" id="{8100CBB6-7024-5909-7018-86E521E21BD3}"/>
              </a:ext>
            </a:extLst>
          </p:cNvPr>
          <p:cNvSpPr txBox="1"/>
          <p:nvPr/>
        </p:nvSpPr>
        <p:spPr>
          <a:xfrm>
            <a:off x="1640441" y="4620083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8375B"/>
                </a:solidFill>
                <a:latin typeface="Aptos"/>
              </a:rPr>
              <a:t>¿Se </a:t>
            </a:r>
            <a:r>
              <a:rPr sz="1300" b="1" dirty="0" err="1">
                <a:solidFill>
                  <a:srgbClr val="18375B"/>
                </a:solidFill>
                <a:latin typeface="Aptos"/>
              </a:rPr>
              <a:t>encuentra</a:t>
            </a:r>
            <a:r>
              <a:rPr sz="1300" b="1" dirty="0">
                <a:solidFill>
                  <a:srgbClr val="18375B"/>
                </a:solidFill>
                <a:latin typeface="Aptos"/>
              </a:rPr>
              <a:t>?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1E9320E9-6600-6E90-EAD0-0A534A7D97C0}"/>
              </a:ext>
            </a:extLst>
          </p:cNvPr>
          <p:cNvSpPr txBox="1"/>
          <p:nvPr/>
        </p:nvSpPr>
        <p:spPr>
          <a:xfrm>
            <a:off x="3925436" y="4604004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8375B"/>
                </a:solidFill>
                <a:latin typeface="Aptos"/>
              </a:rPr>
              <a:t>¿Se </a:t>
            </a:r>
            <a:r>
              <a:rPr sz="1300" b="1" dirty="0" err="1">
                <a:solidFill>
                  <a:srgbClr val="18375B"/>
                </a:solidFill>
                <a:latin typeface="Aptos"/>
              </a:rPr>
              <a:t>recupera</a:t>
            </a:r>
            <a:r>
              <a:rPr sz="1300" b="1" dirty="0">
                <a:solidFill>
                  <a:srgbClr val="18375B"/>
                </a:solidFill>
                <a:latin typeface="Aptos"/>
              </a:rPr>
              <a:t>?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5A10958C-C2CC-0861-4672-C22E18DEF8A4}"/>
              </a:ext>
            </a:extLst>
          </p:cNvPr>
          <p:cNvSpPr txBox="1"/>
          <p:nvPr/>
        </p:nvSpPr>
        <p:spPr>
          <a:xfrm>
            <a:off x="6280172" y="4695444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8375B"/>
                </a:solidFill>
                <a:latin typeface="Aptos"/>
              </a:rPr>
              <a:t>¿Se </a:t>
            </a:r>
            <a:r>
              <a:rPr sz="1300" b="1" dirty="0" err="1">
                <a:solidFill>
                  <a:srgbClr val="18375B"/>
                </a:solidFill>
                <a:latin typeface="Aptos"/>
              </a:rPr>
              <a:t>entiende</a:t>
            </a:r>
            <a:r>
              <a:rPr sz="1300" b="1" dirty="0">
                <a:solidFill>
                  <a:srgbClr val="18375B"/>
                </a:solidFill>
                <a:latin typeface="Aptos"/>
              </a:rPr>
              <a:t> entre </a:t>
            </a:r>
            <a:r>
              <a:rPr sz="1300" b="1" dirty="0" err="1">
                <a:solidFill>
                  <a:srgbClr val="18375B"/>
                </a:solidFill>
                <a:latin typeface="Aptos"/>
              </a:rPr>
              <a:t>herramientas</a:t>
            </a:r>
            <a:r>
              <a:rPr sz="1300" b="1" dirty="0">
                <a:solidFill>
                  <a:srgbClr val="18375B"/>
                </a:solidFill>
                <a:latin typeface="Aptos"/>
              </a:rPr>
              <a:t>?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FC04E9A9-AB81-D64B-E574-AA690322D31E}"/>
              </a:ext>
            </a:extLst>
          </p:cNvPr>
          <p:cNvSpPr txBox="1"/>
          <p:nvPr/>
        </p:nvSpPr>
        <p:spPr>
          <a:xfrm>
            <a:off x="8587871" y="4604004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8375B"/>
                </a:solidFill>
                <a:latin typeface="Aptos"/>
              </a:rPr>
              <a:t>¿</a:t>
            </a:r>
            <a:r>
              <a:rPr sz="1300" b="1" dirty="0" err="1">
                <a:solidFill>
                  <a:srgbClr val="18375B"/>
                </a:solidFill>
                <a:latin typeface="Aptos"/>
              </a:rPr>
              <a:t>Puede</a:t>
            </a:r>
            <a:r>
              <a:rPr sz="13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8375B"/>
                </a:solidFill>
                <a:latin typeface="Aptos"/>
              </a:rPr>
              <a:t>reutilizarse</a:t>
            </a:r>
            <a:r>
              <a:rPr sz="1300" b="1" dirty="0">
                <a:solidFill>
                  <a:srgbClr val="18375B"/>
                </a:solidFill>
                <a:latin typeface="Aptos"/>
              </a:rPr>
              <a:t>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88D1D8-7E4F-19F2-13AB-A5B2B4ADCA93}"/>
              </a:ext>
            </a:extLst>
          </p:cNvPr>
          <p:cNvSpPr txBox="1"/>
          <p:nvPr/>
        </p:nvSpPr>
        <p:spPr>
          <a:xfrm>
            <a:off x="517303" y="1320898"/>
            <a:ext cx="1065687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s-MX" sz="1600" b="1" dirty="0">
                <a:solidFill>
                  <a:srgbClr val="18375B"/>
                </a:solidFill>
                <a:latin typeface="Aptos"/>
              </a:rPr>
              <a:t>Recomendaciones</a:t>
            </a:r>
            <a:r>
              <a:rPr lang="es-MX" sz="1600" dirty="0">
                <a:solidFill>
                  <a:srgbClr val="18375B"/>
                </a:solidFill>
                <a:latin typeface="Aptos"/>
              </a:rPr>
              <a:t> para mejorar la </a:t>
            </a:r>
            <a:r>
              <a:rPr lang="es-MX" sz="1600" b="1" dirty="0">
                <a:solidFill>
                  <a:srgbClr val="18375B"/>
                </a:solidFill>
                <a:latin typeface="Aptos"/>
              </a:rPr>
              <a:t>localización</a:t>
            </a:r>
            <a:r>
              <a:rPr lang="es-MX" sz="1600" dirty="0">
                <a:solidFill>
                  <a:srgbClr val="18375B"/>
                </a:solidFill>
                <a:latin typeface="Aptos"/>
              </a:rPr>
              <a:t>, </a:t>
            </a:r>
            <a:r>
              <a:rPr lang="es-MX" sz="1600" b="1" dirty="0">
                <a:solidFill>
                  <a:srgbClr val="18375B"/>
                </a:solidFill>
                <a:latin typeface="Aptos"/>
              </a:rPr>
              <a:t>accesibilidad</a:t>
            </a:r>
            <a:r>
              <a:rPr lang="es-MX" sz="1600" dirty="0">
                <a:solidFill>
                  <a:srgbClr val="18375B"/>
                </a:solidFill>
                <a:latin typeface="Aptos"/>
              </a:rPr>
              <a:t>, </a:t>
            </a:r>
            <a:r>
              <a:rPr lang="es-MX" sz="1600" b="1" dirty="0">
                <a:solidFill>
                  <a:srgbClr val="18375B"/>
                </a:solidFill>
                <a:latin typeface="Aptos"/>
              </a:rPr>
              <a:t>interoperabilidad</a:t>
            </a:r>
            <a:r>
              <a:rPr lang="es-MX" sz="1600" dirty="0">
                <a:solidFill>
                  <a:srgbClr val="18375B"/>
                </a:solidFill>
                <a:latin typeface="Aptos"/>
              </a:rPr>
              <a:t> y </a:t>
            </a:r>
            <a:r>
              <a:rPr lang="es-MX" sz="1600" b="1" dirty="0">
                <a:solidFill>
                  <a:srgbClr val="18375B"/>
                </a:solidFill>
                <a:latin typeface="Aptos"/>
              </a:rPr>
              <a:t>reutilización</a:t>
            </a:r>
            <a:r>
              <a:rPr lang="es-MX" sz="1600" dirty="0">
                <a:solidFill>
                  <a:srgbClr val="18375B"/>
                </a:solidFill>
                <a:latin typeface="Aptos"/>
              </a:rPr>
              <a:t> de los datos/software  y otros objetos digitales de investigación, tanto por </a:t>
            </a:r>
            <a:r>
              <a:rPr lang="es-MX" sz="1600" b="1" dirty="0">
                <a:solidFill>
                  <a:srgbClr val="18375B"/>
                </a:solidFill>
                <a:latin typeface="Aptos"/>
              </a:rPr>
              <a:t>personas</a:t>
            </a:r>
            <a:r>
              <a:rPr lang="es-MX" sz="1600" dirty="0">
                <a:solidFill>
                  <a:srgbClr val="18375B"/>
                </a:solidFill>
                <a:latin typeface="Aptos"/>
              </a:rPr>
              <a:t> como por </a:t>
            </a:r>
            <a:r>
              <a:rPr lang="es-MX" sz="1600" b="1" dirty="0">
                <a:solidFill>
                  <a:srgbClr val="18375B"/>
                </a:solidFill>
                <a:latin typeface="Aptos"/>
              </a:rPr>
              <a:t>máquinas</a:t>
            </a:r>
            <a:r>
              <a:rPr lang="es-MX" sz="1600" dirty="0">
                <a:solidFill>
                  <a:srgbClr val="18375B"/>
                </a:solidFill>
                <a:latin typeface="Aptos"/>
              </a:rPr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65D54F9-5456-5482-8FF8-D31E861C0F46}"/>
              </a:ext>
            </a:extLst>
          </p:cNvPr>
          <p:cNvSpPr txBox="1"/>
          <p:nvPr/>
        </p:nvSpPr>
        <p:spPr>
          <a:xfrm>
            <a:off x="1684638" y="5195197"/>
            <a:ext cx="914400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600" b="1">
                <a:solidFill>
                  <a:srgbClr val="18375B"/>
                </a:solidFill>
                <a:latin typeface="Aptos"/>
              </a:defRPr>
            </a:lvl1pPr>
          </a:lstStyle>
          <a:p>
            <a:r>
              <a:rPr lang="es-MX" dirty="0"/>
              <a:t>FAIR no consiste en hacer más burocracia. Consiste en tomar decisiones durante el trabajo científico para que los datos sigan siendo útiles después.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IDEA GUÍA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400" b="1" dirty="0">
                <a:solidFill>
                  <a:srgbClr val="18375B"/>
                </a:solidFill>
                <a:latin typeface="Aptos"/>
              </a:rPr>
              <a:t>¿Cómo se ve 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FAIR</a:t>
            </a:r>
            <a:r>
              <a:rPr lang="es-ES" sz="2400" b="1" dirty="0">
                <a:solidFill>
                  <a:srgbClr val="18375B"/>
                </a:solidFill>
                <a:latin typeface="Aptos"/>
              </a:rPr>
              <a:t> en la práctica? 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Oval 6"/>
          <p:cNvSpPr/>
          <p:nvPr/>
        </p:nvSpPr>
        <p:spPr>
          <a:xfrm>
            <a:off x="1178958" y="2342118"/>
            <a:ext cx="420624" cy="420624"/>
          </a:xfrm>
          <a:prstGeom prst="ellipse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1178958" y="2398541"/>
            <a:ext cx="4206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1878" y="2343678"/>
            <a:ext cx="14173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412"/>
            <a:ext cx="17373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18375B"/>
                </a:solidFill>
                <a:latin typeface="Aptos"/>
              </a:rPr>
              <a:t>OBTENGO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36969"/>
            <a:ext cx="20574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>
                <a:solidFill>
                  <a:srgbClr val="5C6670"/>
                </a:solidFill>
                <a:latin typeface="Aptos"/>
              </a:rPr>
              <a:t>¿de </a:t>
            </a:r>
            <a:r>
              <a:rPr sz="1400" b="0" dirty="0" err="1">
                <a:solidFill>
                  <a:srgbClr val="5C6670"/>
                </a:solidFill>
                <a:latin typeface="Aptos"/>
              </a:rPr>
              <a:t>dónde</a:t>
            </a:r>
            <a:r>
              <a:rPr sz="1400" b="0" dirty="0">
                <a:solidFill>
                  <a:srgbClr val="5C6670"/>
                </a:solidFill>
                <a:latin typeface="Aptos"/>
              </a:rPr>
              <a:t> vino?</a:t>
            </a:r>
          </a:p>
        </p:txBody>
      </p:sp>
      <p:sp>
        <p:nvSpPr>
          <p:cNvPr id="12" name="Oval 11"/>
          <p:cNvSpPr/>
          <p:nvPr/>
        </p:nvSpPr>
        <p:spPr>
          <a:xfrm>
            <a:off x="3419238" y="2342118"/>
            <a:ext cx="420624" cy="420624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3419238" y="2398541"/>
            <a:ext cx="4206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2158" y="2343678"/>
            <a:ext cx="14173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80412"/>
            <a:ext cx="17373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18375B"/>
                </a:solidFill>
                <a:latin typeface="Aptos"/>
              </a:rPr>
              <a:t>REGISTRO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536969"/>
            <a:ext cx="20574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C6670"/>
                </a:solidFill>
                <a:latin typeface="Aptos"/>
              </a:rPr>
              <a:t>versión · fecha</a:t>
            </a:r>
          </a:p>
        </p:txBody>
      </p:sp>
      <p:sp>
        <p:nvSpPr>
          <p:cNvPr id="17" name="Oval 16"/>
          <p:cNvSpPr/>
          <p:nvPr/>
        </p:nvSpPr>
        <p:spPr>
          <a:xfrm>
            <a:off x="5659518" y="2342118"/>
            <a:ext cx="420624" cy="420624"/>
          </a:xfrm>
          <a:prstGeom prst="ellipse">
            <a:avLst/>
          </a:prstGeom>
          <a:solidFill>
            <a:srgbClr val="2F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5659518" y="2398541"/>
            <a:ext cx="4206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2438" y="2343678"/>
            <a:ext cx="14173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980412"/>
            <a:ext cx="17373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18375B"/>
                </a:solidFill>
                <a:latin typeface="Aptos"/>
              </a:rPr>
              <a:t>EXPLORO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36969"/>
            <a:ext cx="20574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C6670"/>
                </a:solidFill>
                <a:latin typeface="Aptos"/>
              </a:rPr>
              <a:t>formato · campos</a:t>
            </a:r>
          </a:p>
        </p:txBody>
      </p:sp>
      <p:sp>
        <p:nvSpPr>
          <p:cNvPr id="22" name="Oval 21"/>
          <p:cNvSpPr/>
          <p:nvPr/>
        </p:nvSpPr>
        <p:spPr>
          <a:xfrm>
            <a:off x="7899798" y="2342118"/>
            <a:ext cx="420624" cy="420624"/>
          </a:xfrm>
          <a:prstGeom prst="ellipse">
            <a:avLst/>
          </a:prstGeom>
          <a:solidFill>
            <a:srgbClr val="CA9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7899798" y="2398541"/>
            <a:ext cx="4206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2718" y="2343678"/>
            <a:ext cx="14173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A9718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980412"/>
            <a:ext cx="17373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18375B"/>
                </a:solidFill>
                <a:latin typeface="Aptos"/>
              </a:rPr>
              <a:t>CONSERVO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536969"/>
            <a:ext cx="20574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C6670"/>
                </a:solidFill>
                <a:latin typeface="Aptos"/>
              </a:rPr>
              <a:t>original intacto</a:t>
            </a:r>
          </a:p>
        </p:txBody>
      </p:sp>
      <p:sp>
        <p:nvSpPr>
          <p:cNvPr id="27" name="Oval 26"/>
          <p:cNvSpPr/>
          <p:nvPr/>
        </p:nvSpPr>
        <p:spPr>
          <a:xfrm>
            <a:off x="10140078" y="2342118"/>
            <a:ext cx="420624" cy="420624"/>
          </a:xfrm>
          <a:prstGeom prst="ellipse">
            <a:avLst/>
          </a:prstGeom>
          <a:solidFill>
            <a:srgbClr val="705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10140078" y="2398541"/>
            <a:ext cx="4206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980412"/>
            <a:ext cx="17373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18375B"/>
                </a:solidFill>
                <a:latin typeface="Aptos"/>
              </a:rPr>
              <a:t>DOCUMENTO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536969"/>
            <a:ext cx="20574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C6670"/>
                </a:solidFill>
                <a:latin typeface="Aptos"/>
              </a:rPr>
              <a:t>¿otro lo entendería?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502" y="5174667"/>
            <a:ext cx="10241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MX" sz="1600" b="1" dirty="0">
                <a:solidFill>
                  <a:srgbClr val="18375B"/>
                </a:solidFill>
                <a:latin typeface="Aptos"/>
              </a:rPr>
              <a:t>La información que no registramos durante el proceso puede ser difícil o imposible de reconstruir después.</a:t>
            </a:r>
            <a:endParaRPr sz="16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5C6670"/>
                </a:solidFill>
                <a:latin typeface="Aptos"/>
              </a:rPr>
              <a:t>¿</a:t>
            </a:r>
            <a:r>
              <a:rPr lang="es-MX" sz="1000" dirty="0"/>
              <a:t>En qué momento deberíamos empezar a documentar?</a:t>
            </a:r>
            <a:endParaRPr sz="1000" b="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F88A552-0396-4EC4-2B56-5DCAA07E5956}"/>
              </a:ext>
            </a:extLst>
          </p:cNvPr>
          <p:cNvSpPr txBox="1"/>
          <p:nvPr/>
        </p:nvSpPr>
        <p:spPr>
          <a:xfrm>
            <a:off x="594360" y="1175111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18375B"/>
                </a:solidFill>
                <a:latin typeface="Aptos"/>
              </a:defRPr>
            </a:lvl1pPr>
          </a:lstStyle>
          <a:p>
            <a:pPr algn="l"/>
            <a:r>
              <a:rPr lang="es-MX" dirty="0"/>
              <a:t>Las decisiones FAIR pueden planearse desde el diseño del proyecto y se implementan durante todo el ciclo de vida de los datos.</a:t>
            </a:r>
          </a:p>
        </p:txBody>
      </p:sp>
      <p:sp>
        <p:nvSpPr>
          <p:cNvPr id="35" name="Flecha arriba 34">
            <a:extLst>
              <a:ext uri="{FF2B5EF4-FFF2-40B4-BE49-F238E27FC236}">
                <a16:creationId xmlns:a16="http://schemas.microsoft.com/office/drawing/2014/main" id="{AC5F7A4D-BAB2-F5D2-B8BC-460A79BA299C}"/>
              </a:ext>
            </a:extLst>
          </p:cNvPr>
          <p:cNvSpPr/>
          <p:nvPr/>
        </p:nvSpPr>
        <p:spPr>
          <a:xfrm>
            <a:off x="3342476" y="4013083"/>
            <a:ext cx="497386" cy="338554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04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Metadatos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: </a:t>
            </a:r>
            <a:r>
              <a:rPr lang="es-ES" sz="2400" b="1" dirty="0">
                <a:solidFill>
                  <a:srgbClr val="18375B"/>
                </a:solidFill>
                <a:latin typeface="Aptos"/>
              </a:rPr>
              <a:t>el contexto que acompaña al dato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18281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CA9718"/>
                </a:solidFill>
                <a:latin typeface="Aptos"/>
              </a:rPr>
              <a:t>EL DATO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740" y="2151412"/>
            <a:ext cx="5709212" cy="11079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lang="es-MX" sz="2400" b="0" dirty="0">
                <a:solidFill>
                  <a:srgbClr val="18375B"/>
                </a:solidFill>
                <a:latin typeface="Aptos"/>
              </a:rPr>
              <a:t>genes_ecoli.gff</a:t>
            </a:r>
          </a:p>
          <a:p>
            <a:pPr algn="l"/>
            <a:endParaRPr lang="es-MX" b="0" dirty="0">
              <a:solidFill>
                <a:srgbClr val="18375B"/>
              </a:solidFill>
              <a:latin typeface="Aptos"/>
            </a:endParaRPr>
          </a:p>
          <a:p>
            <a:pPr algn="l"/>
            <a:r>
              <a:rPr lang="es-MX" sz="1200" b="0" dirty="0">
                <a:solidFill>
                  <a:srgbClr val="18375B"/>
                </a:solidFill>
                <a:latin typeface="Aptos"/>
              </a:rPr>
              <a:t>NC_000913.3	RefSeq	gene	190	255	.	</a:t>
            </a:r>
            <a:r>
              <a:rPr lang="es-MX" sz="1200" dirty="0">
                <a:solidFill>
                  <a:srgbClr val="18375B"/>
                </a:solidFill>
                <a:latin typeface="Aptos"/>
              </a:rPr>
              <a:t>+	ID=gene-b0001;….</a:t>
            </a:r>
          </a:p>
          <a:p>
            <a:pPr algn="l"/>
            <a:r>
              <a:rPr lang="es-MX" sz="1200" dirty="0">
                <a:solidFill>
                  <a:srgbClr val="18375B"/>
                </a:solidFill>
                <a:latin typeface="Aptos"/>
              </a:rPr>
              <a:t>NC_000913.3	RefSeq	gene	337	2799	.	+	ID=gene-b0002;…</a:t>
            </a:r>
            <a:endParaRPr sz="120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23286" y="1381121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228984"/>
                </a:solidFill>
                <a:latin typeface="Aptos"/>
              </a:rPr>
              <a:t>LO QUE NECESITAMOS SABER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740" y="3649908"/>
            <a:ext cx="5709212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algn="just"/>
            <a:r>
              <a:rPr sz="1400" b="1" dirty="0" err="1">
                <a:solidFill>
                  <a:srgbClr val="18375B"/>
                </a:solidFill>
                <a:latin typeface="Aptos"/>
              </a:rPr>
              <a:t>Regla</a:t>
            </a:r>
            <a:r>
              <a:rPr sz="14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8375B"/>
                </a:solidFill>
                <a:latin typeface="Aptos"/>
              </a:rPr>
              <a:t>científica</a:t>
            </a:r>
            <a:r>
              <a:rPr sz="1400" b="1" dirty="0">
                <a:solidFill>
                  <a:srgbClr val="18375B"/>
                </a:solidFill>
                <a:latin typeface="Aptos"/>
              </a:rPr>
              <a:t>: </a:t>
            </a:r>
            <a:r>
              <a:rPr sz="1400" dirty="0">
                <a:solidFill>
                  <a:srgbClr val="18375B"/>
                </a:solidFill>
                <a:latin typeface="Aptos"/>
              </a:rPr>
              <a:t>lo </a:t>
            </a:r>
            <a:r>
              <a:rPr sz="1400" dirty="0" err="1">
                <a:solidFill>
                  <a:srgbClr val="18375B"/>
                </a:solidFill>
                <a:latin typeface="Aptos"/>
              </a:rPr>
              <a:t>desconocido</a:t>
            </a:r>
            <a:r>
              <a:rPr sz="1400" dirty="0">
                <a:solidFill>
                  <a:srgbClr val="18375B"/>
                </a:solidFill>
                <a:latin typeface="Aptos"/>
              </a:rPr>
              <a:t> se </a:t>
            </a:r>
            <a:r>
              <a:rPr sz="1400" dirty="0" err="1">
                <a:solidFill>
                  <a:srgbClr val="18375B"/>
                </a:solidFill>
                <a:latin typeface="Aptos"/>
              </a:rPr>
              <a:t>marca</a:t>
            </a:r>
            <a:r>
              <a:rPr sz="1400" dirty="0">
                <a:solidFill>
                  <a:srgbClr val="18375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18375B"/>
                </a:solidFill>
                <a:latin typeface="Aptos"/>
              </a:rPr>
              <a:t>como</a:t>
            </a:r>
            <a:r>
              <a:rPr sz="1400" dirty="0">
                <a:solidFill>
                  <a:srgbClr val="18375B"/>
                </a:solidFill>
                <a:latin typeface="Aptos"/>
              </a:rPr>
              <a:t> “no </a:t>
            </a:r>
            <a:r>
              <a:rPr sz="1400" dirty="0" err="1">
                <a:solidFill>
                  <a:srgbClr val="18375B"/>
                </a:solidFill>
                <a:latin typeface="Aptos"/>
              </a:rPr>
              <a:t>documentado</a:t>
            </a:r>
            <a:r>
              <a:rPr sz="1400" dirty="0">
                <a:solidFill>
                  <a:srgbClr val="18375B"/>
                </a:solidFill>
                <a:latin typeface="Aptos"/>
              </a:rPr>
              <a:t>” o “</a:t>
            </a:r>
            <a:r>
              <a:rPr sz="1400" dirty="0" err="1">
                <a:solidFill>
                  <a:srgbClr val="18375B"/>
                </a:solidFill>
                <a:latin typeface="Aptos"/>
              </a:rPr>
              <a:t>pendiente</a:t>
            </a:r>
            <a:r>
              <a:rPr sz="1400" dirty="0">
                <a:solidFill>
                  <a:srgbClr val="18375B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18375B"/>
                </a:solidFill>
                <a:latin typeface="Aptos"/>
              </a:rPr>
              <a:t>confirmar</a:t>
            </a:r>
            <a:r>
              <a:rPr sz="1400" dirty="0">
                <a:solidFill>
                  <a:srgbClr val="18375B"/>
                </a:solidFill>
                <a:latin typeface="Aptos"/>
              </a:rPr>
              <a:t>”. </a:t>
            </a:r>
            <a:r>
              <a:rPr sz="1400" b="1" dirty="0" err="1">
                <a:solidFill>
                  <a:srgbClr val="18375B"/>
                </a:solidFill>
                <a:latin typeface="Aptos"/>
              </a:rPr>
              <a:t>Nunca</a:t>
            </a:r>
            <a:r>
              <a:rPr sz="1400" b="1" dirty="0">
                <a:solidFill>
                  <a:srgbClr val="18375B"/>
                </a:solidFill>
                <a:latin typeface="Aptos"/>
              </a:rPr>
              <a:t> se </a:t>
            </a:r>
            <a:r>
              <a:rPr sz="1400" b="1" dirty="0" err="1">
                <a:solidFill>
                  <a:srgbClr val="18375B"/>
                </a:solidFill>
                <a:latin typeface="Aptos"/>
              </a:rPr>
              <a:t>inventa</a:t>
            </a:r>
            <a:r>
              <a:rPr sz="1400" b="1" dirty="0">
                <a:solidFill>
                  <a:srgbClr val="18375B"/>
                </a:solidFill>
                <a:latin typeface="Apto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39" y="6026562"/>
            <a:ext cx="902306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>
                <a:solidFill>
                  <a:srgbClr val="5C6670"/>
                </a:solidFill>
                <a:latin typeface="Aptos"/>
              </a:rPr>
              <a:t>Si encontramos el valor 190 como posición inicial, ¿qué necesitamos saber antes de interpretarlo?</a:t>
            </a:r>
            <a:endParaRPr sz="100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76E6A5B-0664-2456-3BAC-BD83B2DF175B}"/>
              </a:ext>
            </a:extLst>
          </p:cNvPr>
          <p:cNvSpPr txBox="1"/>
          <p:nvPr/>
        </p:nvSpPr>
        <p:spPr>
          <a:xfrm>
            <a:off x="6523286" y="1792601"/>
            <a:ext cx="504387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MX" sz="1600" b="1" dirty="0">
                <a:latin typeface="Aptos" panose="020B0004020202020204" pitchFamily="34" charset="0"/>
              </a:rPr>
              <a:t>  ¿De dónde proviene?</a:t>
            </a:r>
            <a:br>
              <a:rPr lang="es-MX" sz="1600" dirty="0">
                <a:latin typeface="Aptos" panose="020B0004020202020204" pitchFamily="34" charset="0"/>
              </a:rPr>
            </a:br>
            <a:endParaRPr lang="es-MX" sz="1600" dirty="0"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MX" sz="1600" b="1" dirty="0">
                <a:latin typeface="Aptos" panose="020B0004020202020204" pitchFamily="34" charset="0"/>
              </a:rPr>
              <a:t>  ¿Qué organismo y cepa representa?</a:t>
            </a:r>
            <a:br>
              <a:rPr lang="es-MX" sz="1600" dirty="0">
                <a:latin typeface="Aptos" panose="020B0004020202020204" pitchFamily="34" charset="0"/>
              </a:rPr>
            </a:br>
            <a:endParaRPr lang="es-MX" sz="1600" dirty="0"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MX" sz="1600" b="1" dirty="0">
                <a:latin typeface="Aptos" panose="020B0004020202020204" pitchFamily="34" charset="0"/>
              </a:rPr>
              <a:t>  ¿Qué versión o fecha tiene?</a:t>
            </a:r>
            <a:r>
              <a:rPr lang="es-MX" sz="1600" dirty="0">
                <a:latin typeface="Aptos" panose="020B0004020202020204" pitchFamily="34" charset="0"/>
              </a:rPr>
              <a:t> </a:t>
            </a:r>
          </a:p>
          <a:p>
            <a:pPr>
              <a:buFont typeface="+mj-lt"/>
              <a:buAutoNum type="arabicPeriod"/>
            </a:pPr>
            <a:endParaRPr lang="es-MX" sz="1600" dirty="0"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MX" sz="1600" b="1" dirty="0">
                <a:latin typeface="Aptos" panose="020B0004020202020204" pitchFamily="34" charset="0"/>
              </a:rPr>
              <a:t>  ¿Qué significa cada campo?</a:t>
            </a:r>
            <a:r>
              <a:rPr lang="es-MX" sz="1600" dirty="0">
                <a:latin typeface="Aptos" panose="020B0004020202020204" pitchFamily="34" charset="0"/>
              </a:rPr>
              <a:t> </a:t>
            </a:r>
          </a:p>
          <a:p>
            <a:pPr>
              <a:buFont typeface="+mj-lt"/>
              <a:buAutoNum type="arabicPeriod"/>
            </a:pPr>
            <a:endParaRPr lang="es-MX" sz="1600" dirty="0"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MX" sz="1600" b="1" dirty="0">
                <a:latin typeface="Aptos" panose="020B0004020202020204" pitchFamily="34" charset="0"/>
              </a:rPr>
              <a:t>  ¿Qué unidades, convenciones o referencias usa?</a:t>
            </a:r>
            <a:br>
              <a:rPr lang="es-MX" sz="1600" dirty="0">
                <a:latin typeface="Aptos" panose="020B0004020202020204" pitchFamily="34" charset="0"/>
              </a:rPr>
            </a:br>
            <a:endParaRPr lang="es-MX" sz="1600" dirty="0"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MX" sz="1600" i="1" dirty="0">
                <a:latin typeface="Aptos" panose="020B0004020202020204" pitchFamily="34" charset="0"/>
              </a:rPr>
              <a:t>  ¿Fue modificado o filtrado?  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6A9C68C-EDDC-7D37-69F6-BD2B351623AC}"/>
              </a:ext>
            </a:extLst>
          </p:cNvPr>
          <p:cNvSpPr txBox="1"/>
          <p:nvPr/>
        </p:nvSpPr>
        <p:spPr>
          <a:xfrm>
            <a:off x="5060451" y="5086849"/>
            <a:ext cx="6267691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18375B"/>
                </a:solidFill>
                <a:latin typeface="Aptos"/>
              </a:defRPr>
            </a:lvl1pPr>
          </a:lstStyle>
          <a:p>
            <a:r>
              <a:rPr lang="es-MX" dirty="0"/>
              <a:t>Los metadatos permiten interpretar, rastrear y reutilizar los datos.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VOCABULARIO NUEVO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400" b="1" dirty="0">
                <a:solidFill>
                  <a:srgbClr val="18375B"/>
                </a:solidFill>
                <a:latin typeface="Aptos"/>
              </a:rPr>
              <a:t>Integridad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43216"/>
            <a:ext cx="1121418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705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Aptos" panose="020B0004020202020204" pitchFamily="34" charset="0"/>
              </a:rPr>
              <a:t>genes_ecoli.gff</a:t>
            </a:r>
            <a:r>
              <a:rPr lang="es-MX" b="1" dirty="0">
                <a:solidFill>
                  <a:schemeClr val="tx1"/>
                </a:solidFill>
                <a:latin typeface="Aptos" panose="020B0004020202020204" pitchFamily="34" charset="0"/>
              </a:rPr>
              <a:t>									genes_ecoli.gff</a:t>
            </a:r>
          </a:p>
          <a:p>
            <a:pPr algn="ctr"/>
            <a:endParaRPr lang="es-MX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s-MX" sz="1100" b="0" dirty="0">
                <a:solidFill>
                  <a:srgbClr val="18375B"/>
                </a:solidFill>
                <a:latin typeface="Aptos"/>
              </a:rPr>
              <a:t>NC_000913.3	RefSeq	gene	190	255	.	</a:t>
            </a:r>
            <a:r>
              <a:rPr lang="es-MX" sz="1100" dirty="0">
                <a:solidFill>
                  <a:srgbClr val="18375B"/>
                </a:solidFill>
                <a:latin typeface="Aptos"/>
              </a:rPr>
              <a:t>+	ID=gene-b0001;….		</a:t>
            </a:r>
            <a:r>
              <a:rPr lang="es-MX" sz="1100" b="1" dirty="0">
                <a:solidFill>
                  <a:srgbClr val="18375B"/>
                </a:solidFill>
                <a:latin typeface="Aptos"/>
              </a:rPr>
              <a:t>NC_000913.3	RefSeq	gene	190	255	.	+	ID=gene-b0001;….</a:t>
            </a:r>
          </a:p>
          <a:p>
            <a:r>
              <a:rPr lang="es-MX" sz="1100" dirty="0">
                <a:solidFill>
                  <a:srgbClr val="18375B"/>
                </a:solidFill>
                <a:latin typeface="Aptos"/>
              </a:rPr>
              <a:t>NC_000913.3	RefSeq	gene	337	2799	.	+	ID=gene-b0002;…		</a:t>
            </a:r>
            <a:r>
              <a:rPr lang="es-MX" sz="1100" b="1" dirty="0">
                <a:solidFill>
                  <a:srgbClr val="18375B"/>
                </a:solidFill>
                <a:latin typeface="Aptos"/>
              </a:rPr>
              <a:t>NC_000913.3	RefSeq	gene	337	</a:t>
            </a:r>
            <a:r>
              <a:rPr lang="es-MX" sz="1100" b="1" dirty="0">
                <a:solidFill>
                  <a:srgbClr val="FF0000"/>
                </a:solidFill>
                <a:latin typeface="Aptos"/>
              </a:rPr>
              <a:t>2790</a:t>
            </a:r>
            <a:r>
              <a:rPr lang="es-MX" sz="1100" b="1" dirty="0">
                <a:solidFill>
                  <a:srgbClr val="18375B"/>
                </a:solidFill>
                <a:latin typeface="Aptos"/>
              </a:rPr>
              <a:t>	.	+	ID=gene-b0002;…</a:t>
            </a:r>
          </a:p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>
                <a:solidFill>
                  <a:srgbClr val="5C6670"/>
                </a:solidFill>
                <a:latin typeface="Aptos"/>
              </a:rPr>
              <a:t>¿Cómo comprobarías que dos archivos son exactamente iguales?</a:t>
            </a:r>
            <a:endParaRPr sz="100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46094A4-611F-E020-F63D-595C969B4319}"/>
              </a:ext>
            </a:extLst>
          </p:cNvPr>
          <p:cNvSpPr txBox="1"/>
          <p:nvPr/>
        </p:nvSpPr>
        <p:spPr>
          <a:xfrm>
            <a:off x="2479007" y="3032490"/>
            <a:ext cx="702062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18375B"/>
                </a:solidFill>
                <a:latin typeface="Aptos"/>
              </a:defRPr>
            </a:lvl1pPr>
          </a:lstStyle>
          <a:p>
            <a:r>
              <a:rPr lang="es-MX" b="1" dirty="0"/>
              <a:t>Mismo nombre </a:t>
            </a:r>
            <a:r>
              <a:rPr lang="es-MX" b="1" dirty="0">
                <a:solidFill>
                  <a:srgbClr val="FF0000"/>
                </a:solidFill>
              </a:rPr>
              <a:t>≠ </a:t>
            </a:r>
            <a:r>
              <a:rPr lang="es-MX" b="1" dirty="0"/>
              <a:t>mismo contenido</a:t>
            </a:r>
            <a:endParaRPr lang="es-MX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BA72FFF-AAB5-875D-630E-0DEB5C807F6E}"/>
              </a:ext>
            </a:extLst>
          </p:cNvPr>
          <p:cNvSpPr txBox="1"/>
          <p:nvPr/>
        </p:nvSpPr>
        <p:spPr>
          <a:xfrm>
            <a:off x="2960963" y="3457940"/>
            <a:ext cx="623959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Dos archivos pueden tener el mismo nombre y no ser idénticos.</a:t>
            </a:r>
            <a:endParaRPr lang="es-MX" dirty="0">
              <a:solidFill>
                <a:srgbClr val="0070C0"/>
              </a:solidFill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33B9E19B-3956-775D-D461-454FA5589991}"/>
              </a:ext>
            </a:extLst>
          </p:cNvPr>
          <p:cNvCxnSpPr>
            <a:cxnSpLocks/>
          </p:cNvCxnSpPr>
          <p:nvPr/>
        </p:nvCxnSpPr>
        <p:spPr>
          <a:xfrm>
            <a:off x="5869858" y="1543216"/>
            <a:ext cx="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7243BDD0-0C97-257F-041E-5297E3FBBE87}"/>
              </a:ext>
            </a:extLst>
          </p:cNvPr>
          <p:cNvSpPr/>
          <p:nvPr/>
        </p:nvSpPr>
        <p:spPr>
          <a:xfrm>
            <a:off x="594360" y="4184685"/>
            <a:ext cx="1121418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705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Aptos" panose="020B0004020202020204" pitchFamily="34" charset="0"/>
              </a:rPr>
              <a:t>genes_ecoli.gff</a:t>
            </a:r>
            <a:r>
              <a:rPr lang="es-MX" b="1" dirty="0">
                <a:solidFill>
                  <a:schemeClr val="tx1"/>
                </a:solidFill>
                <a:latin typeface="Aptos" panose="020B0004020202020204" pitchFamily="34" charset="0"/>
              </a:rPr>
              <a:t>									genes_ecoli.gff</a:t>
            </a:r>
          </a:p>
          <a:p>
            <a:pPr algn="ctr"/>
            <a:endParaRPr lang="es-MX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s-MX" sz="1100" b="0" dirty="0">
                <a:solidFill>
                  <a:srgbClr val="18375B"/>
                </a:solidFill>
                <a:latin typeface="Aptos"/>
              </a:rPr>
              <a:t>NC_000913.3	RefSeq	gene	190	255	.	</a:t>
            </a:r>
            <a:r>
              <a:rPr lang="es-MX" sz="1100" dirty="0">
                <a:solidFill>
                  <a:srgbClr val="18375B"/>
                </a:solidFill>
                <a:latin typeface="Aptos"/>
              </a:rPr>
              <a:t>+	ID=gene-b0001;….		</a:t>
            </a:r>
            <a:r>
              <a:rPr lang="es-MX" sz="1100" b="1" dirty="0">
                <a:solidFill>
                  <a:srgbClr val="18375B"/>
                </a:solidFill>
                <a:latin typeface="Aptos"/>
              </a:rPr>
              <a:t>NC_000913.3	RefSeq	gene	190	255	.	+	ID=gene-b0001;….</a:t>
            </a:r>
          </a:p>
          <a:p>
            <a:r>
              <a:rPr lang="es-MX" sz="1100" dirty="0">
                <a:solidFill>
                  <a:srgbClr val="18375B"/>
                </a:solidFill>
                <a:latin typeface="Aptos"/>
              </a:rPr>
              <a:t>NC_000913.3	RefSeq	gene	337	2799	.	+	ID=gene-b0002;…		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ED3663C-988A-4249-7EBC-D9187983414B}"/>
              </a:ext>
            </a:extLst>
          </p:cNvPr>
          <p:cNvCxnSpPr>
            <a:cxnSpLocks/>
          </p:cNvCxnSpPr>
          <p:nvPr/>
        </p:nvCxnSpPr>
        <p:spPr>
          <a:xfrm>
            <a:off x="5960390" y="4184685"/>
            <a:ext cx="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6FB38D-EBF6-2B9C-A802-820A42210437}"/>
              </a:ext>
            </a:extLst>
          </p:cNvPr>
          <p:cNvSpPr txBox="1"/>
          <p:nvPr/>
        </p:nvSpPr>
        <p:spPr>
          <a:xfrm>
            <a:off x="8165016" y="5544366"/>
            <a:ext cx="104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truncado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VOCABULARIO NUEVO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18375B"/>
                </a:solidFill>
                <a:latin typeface="Aptos"/>
              </a:rPr>
              <a:t>Checksum: una huella para comprobar integridad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9742" y="1426685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7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29742" y="1666209"/>
            <a:ext cx="3017520" cy="892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MX" sz="1600" b="1" dirty="0">
                <a:solidFill>
                  <a:schemeClr val="tx1"/>
                </a:solidFill>
                <a:latin typeface="Aptos" panose="020B0004020202020204" pitchFamily="34" charset="0"/>
              </a:rPr>
              <a:t>genes_ecoli.gff</a:t>
            </a:r>
            <a:br>
              <a:rPr dirty="0"/>
            </a:br>
            <a:br>
              <a:rPr dirty="0"/>
            </a:br>
            <a:r>
              <a:rPr dirty="0"/>
              <a:t>8f3a…c21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1582" y="1838165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Aptos"/>
              </a:rPr>
              <a:t>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10302" y="1426685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705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0302" y="1666209"/>
            <a:ext cx="3017520" cy="892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MX" sz="1600" b="1" dirty="0">
                <a:solidFill>
                  <a:schemeClr val="tx1"/>
                </a:solidFill>
                <a:latin typeface="Aptos" panose="020B0004020202020204" pitchFamily="34" charset="0"/>
              </a:rPr>
              <a:t>genes_ecoli.gff</a:t>
            </a:r>
            <a:br>
              <a:rPr dirty="0"/>
            </a:br>
            <a:br>
              <a:rPr dirty="0"/>
            </a:br>
            <a:r>
              <a:rPr dirty="0"/>
              <a:t>1b9d…7aa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5370" y="4487024"/>
            <a:ext cx="56279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5C6670"/>
                </a:solidFill>
                <a:latin typeface="Aptos"/>
              </a:rPr>
              <a:t>En</a:t>
            </a:r>
            <a:r>
              <a:rPr sz="1200" b="0" dirty="0">
                <a:solidFill>
                  <a:srgbClr val="5C6670"/>
                </a:solidFill>
                <a:latin typeface="Aptos"/>
              </a:rPr>
              <a:t> </a:t>
            </a:r>
            <a:r>
              <a:rPr lang="es-ES" sz="1200" b="0" dirty="0">
                <a:solidFill>
                  <a:srgbClr val="5C6670"/>
                </a:solidFill>
                <a:latin typeface="Aptos"/>
              </a:rPr>
              <a:t>esta sesión entenderás para que sirve, más adelante  lo calcularemos</a:t>
            </a:r>
            <a:r>
              <a:rPr sz="1200" b="0" dirty="0">
                <a:solidFill>
                  <a:srgbClr val="5C6670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/>
              <a:t>Si el checksum cambia, ¿qué podemos concluir sobre el archivo?</a:t>
            </a:r>
            <a:endParaRPr sz="1000" b="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46094A4-611F-E020-F63D-595C969B4319}"/>
              </a:ext>
            </a:extLst>
          </p:cNvPr>
          <p:cNvSpPr txBox="1"/>
          <p:nvPr/>
        </p:nvSpPr>
        <p:spPr>
          <a:xfrm>
            <a:off x="2272690" y="3159172"/>
            <a:ext cx="7020625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18375B"/>
                </a:solidFill>
                <a:latin typeface="Aptos"/>
              </a:defRPr>
            </a:lvl1pPr>
          </a:lstStyle>
          <a:p>
            <a:r>
              <a:rPr lang="es-MX" dirty="0"/>
              <a:t>Un checksum es un valor calculado a partir del contenido de un archivo. Si cambia el contenido, cambia el checksum.</a:t>
            </a:r>
          </a:p>
        </p:txBody>
      </p:sp>
    </p:spTree>
    <p:extLst>
      <p:ext uri="{BB962C8B-B14F-4D97-AF65-F5344CB8AC3E}">
        <p14:creationId xmlns:p14="http://schemas.microsoft.com/office/powerpoint/2010/main" val="2270725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" descr="figura-u1-s01-estructura-proyecto.png">
            <a:extLst>
              <a:ext uri="{FF2B5EF4-FFF2-40B4-BE49-F238E27FC236}">
                <a16:creationId xmlns:a16="http://schemas.microsoft.com/office/drawing/2014/main" id="{D821B84C-2546-ECD3-EE23-AA25A38A1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67759"/>
            <a:ext cx="8299464" cy="466844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ORGANIZACIÓN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18375B"/>
                </a:solidFill>
                <a:latin typeface="Aptos"/>
              </a:rPr>
              <a:t>Una casa para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cada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cosa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670"/>
                </a:solidFill>
                <a:latin typeface="Aptos"/>
              </a:rPr>
              <a:t>Separar entrada → proceso → salida → documentación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980176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¿Dónde guardarías un archivo recién transformado? ¿Por qué?</a:t>
            </a:r>
          </a:p>
        </p:txBody>
      </p:sp>
      <p:sp>
        <p:nvSpPr>
          <p:cNvPr id="31" name="TextBox 26">
            <a:extLst>
              <a:ext uri="{FF2B5EF4-FFF2-40B4-BE49-F238E27FC236}">
                <a16:creationId xmlns:a16="http://schemas.microsoft.com/office/drawing/2014/main" id="{EACF3FC4-82F3-385A-D1A5-AA2B6897D853}"/>
              </a:ext>
            </a:extLst>
          </p:cNvPr>
          <p:cNvSpPr txBox="1"/>
          <p:nvPr/>
        </p:nvSpPr>
        <p:spPr>
          <a:xfrm>
            <a:off x="8883501" y="2978665"/>
            <a:ext cx="3161016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MX" sz="1600" b="1" dirty="0"/>
              <a:t>source/</a:t>
            </a:r>
            <a:r>
              <a:rPr lang="es-MX" sz="1600" dirty="0"/>
              <a:t> → datos originales</a:t>
            </a:r>
            <a:br>
              <a:rPr lang="es-MX" sz="1600" dirty="0"/>
            </a:br>
            <a:r>
              <a:rPr lang="es-MX" sz="1600" b="1" dirty="0"/>
              <a:t>processed/</a:t>
            </a:r>
            <a:r>
              <a:rPr lang="es-MX" sz="1600" dirty="0"/>
              <a:t> → datos transformados</a:t>
            </a:r>
            <a:br>
              <a:rPr lang="es-MX" sz="1600" dirty="0"/>
            </a:br>
            <a:r>
              <a:rPr lang="es-MX" sz="1600" b="1" dirty="0"/>
              <a:t>results/</a:t>
            </a:r>
            <a:r>
              <a:rPr lang="es-MX" sz="1600" dirty="0"/>
              <a:t> → resultados del análisis</a:t>
            </a:r>
          </a:p>
          <a:p>
            <a:endParaRPr lang="es-MX" sz="1600" b="1" dirty="0">
              <a:solidFill>
                <a:srgbClr val="18375B"/>
              </a:solidFill>
              <a:latin typeface="Aptos"/>
            </a:endParaRPr>
          </a:p>
          <a:p>
            <a:r>
              <a:rPr lang="es-MX" sz="1600" dirty="0"/>
              <a:t>README es la </a:t>
            </a:r>
            <a:r>
              <a:rPr lang="es-MX" sz="1600" b="1" dirty="0"/>
              <a:t>puerta de entrada al proyecto</a:t>
            </a:r>
            <a:r>
              <a:rPr lang="es-MX" sz="1600" dirty="0"/>
              <a:t>, mientras que doc/ guarda documentación más extensa.</a:t>
            </a:r>
            <a:endParaRPr sz="1500" b="1" dirty="0">
              <a:solidFill>
                <a:srgbClr val="18375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18375B"/>
                </a:solidFill>
                <a:latin typeface="Aptos"/>
              </a:rPr>
              <a:t>De las carpetas a FAIR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1218040"/>
            <a:ext cx="10515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MX" sz="1600" dirty="0">
                <a:solidFill>
                  <a:schemeClr val="bg1">
                    <a:lumMod val="50000"/>
                  </a:schemeClr>
                </a:solidFill>
              </a:rPr>
              <a:t>Entendemos que organizar es solo una parte; FAIR orienta decisiones sobre esos datos durante todo su ciclo de vida. </a:t>
            </a:r>
            <a:endParaRPr sz="1500" b="1" dirty="0">
              <a:solidFill>
                <a:schemeClr val="bg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20" y="6021657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>
                <a:solidFill>
                  <a:srgbClr val="5C6670"/>
                </a:solidFill>
                <a:latin typeface="Aptos"/>
              </a:rPr>
              <a:t>Si los archivos están bien organizados en carpetas, ¿eso significa que los datos ya son FAIR?</a:t>
            </a:r>
            <a:endParaRPr sz="1000" dirty="0">
              <a:solidFill>
                <a:srgbClr val="5C6670"/>
              </a:solidFill>
              <a:latin typeface="Apto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D4541D-EACC-F495-7EF1-85012712B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14" y="1218040"/>
            <a:ext cx="11070216" cy="46644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1 —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Organización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del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proyecto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y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metadatos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94E35E0-BD5A-31C2-C3B5-B329C0F860B0}"/>
              </a:ext>
            </a:extLst>
          </p:cNvPr>
          <p:cNvSpPr txBox="1"/>
          <p:nvPr/>
        </p:nvSpPr>
        <p:spPr>
          <a:xfrm>
            <a:off x="688457" y="1362073"/>
            <a:ext cx="54423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latin typeface="Aptos" panose="020B0004020202020204" pitchFamily="34" charset="0"/>
              </a:rPr>
              <a:t>Continuamos el proyecto de </a:t>
            </a:r>
            <a:r>
              <a:rPr lang="es-MX" b="1" i="1" dirty="0">
                <a:latin typeface="Aptos" panose="020B0004020202020204" pitchFamily="34" charset="0"/>
              </a:rPr>
              <a:t>E. coli</a:t>
            </a:r>
            <a:r>
              <a:rPr lang="es-MX" b="1" dirty="0">
                <a:latin typeface="Aptos" panose="020B0004020202020204" pitchFamily="34" charset="0"/>
              </a:rPr>
              <a:t> iniciado en S1. </a:t>
            </a:r>
          </a:p>
          <a:p>
            <a:endParaRPr lang="es-MX" dirty="0">
              <a:latin typeface="Aptos" panose="020B0004020202020204" pitchFamily="34" charset="0"/>
            </a:endParaRPr>
          </a:p>
          <a:p>
            <a:r>
              <a:rPr lang="es-MX" b="1" dirty="0">
                <a:latin typeface="Aptos" panose="020B0004020202020204" pitchFamily="34" charset="0"/>
              </a:rPr>
              <a:t>1. Organiza el proyecto en </a:t>
            </a:r>
            <a:r>
              <a:rPr lang="es-MX" i="1" dirty="0">
                <a:latin typeface="Aptos" panose="020B0004020202020204" pitchFamily="34" charset="0"/>
              </a:rPr>
              <a:t>introbioinfo</a:t>
            </a:r>
          </a:p>
          <a:p>
            <a:endParaRPr lang="es-MX" dirty="0">
              <a:latin typeface="Aptos" panose="020B00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EAADBD6-3720-4DB7-682A-91B820CA7160}"/>
              </a:ext>
            </a:extLst>
          </p:cNvPr>
          <p:cNvSpPr txBox="1"/>
          <p:nvPr/>
        </p:nvSpPr>
        <p:spPr>
          <a:xfrm>
            <a:off x="6369336" y="1719072"/>
            <a:ext cx="33724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proyecto-ecoli/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data/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│   ├── source/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│   └── processed/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src/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results/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doc/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│   └── protocolo.md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└── README.md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90B0720-133E-11B5-96BF-ACCC67468DE2}"/>
              </a:ext>
            </a:extLst>
          </p:cNvPr>
          <p:cNvSpPr txBox="1"/>
          <p:nvPr/>
        </p:nvSpPr>
        <p:spPr>
          <a:xfrm>
            <a:off x="594360" y="3839123"/>
            <a:ext cx="645016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latin typeface="Aptos" panose="020B0004020202020204" pitchFamily="34" charset="0"/>
              </a:rPr>
              <a:t>2. Mueve </a:t>
            </a:r>
            <a:r>
              <a:rPr lang="es-MX" dirty="0">
                <a:latin typeface="Aptos" panose="020B0004020202020204" pitchFamily="34" charset="0"/>
              </a:rPr>
              <a:t>protocolo.md </a:t>
            </a:r>
            <a:r>
              <a:rPr lang="es-MX" b="1" dirty="0">
                <a:latin typeface="Aptos" panose="020B0004020202020204" pitchFamily="34" charset="0"/>
              </a:rPr>
              <a:t>en la carpeta </a:t>
            </a:r>
            <a:r>
              <a:rPr lang="es-MX" dirty="0">
                <a:latin typeface="Aptos" panose="020B0004020202020204" pitchFamily="34" charset="0"/>
              </a:rPr>
              <a:t>doc</a:t>
            </a:r>
          </a:p>
          <a:p>
            <a:endParaRPr lang="es-MX" b="1" dirty="0">
              <a:latin typeface="Aptos" panose="020B0004020202020204" pitchFamily="34" charset="0"/>
            </a:endParaRPr>
          </a:p>
          <a:p>
            <a:r>
              <a:rPr lang="es-MX" b="1" dirty="0">
                <a:latin typeface="Aptos" panose="020B0004020202020204" pitchFamily="34" charset="0"/>
              </a:rPr>
              <a:t>3. Crea 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README.md </a:t>
            </a:r>
            <a:r>
              <a:rPr lang="es-MX" b="1" dirty="0">
                <a:latin typeface="Aptos" panose="020B0004020202020204" pitchFamily="34" charset="0"/>
              </a:rPr>
              <a:t>y colócalo dentro de 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proyecto-ecoli</a:t>
            </a:r>
          </a:p>
          <a:p>
            <a:r>
              <a:rPr lang="es-MX" dirty="0">
                <a:latin typeface="Aptos" panose="020B0004020202020204" pitchFamily="34" charset="0"/>
              </a:rPr>
              <a:t>	Por ahora, solo contiene:</a:t>
            </a:r>
          </a:p>
          <a:p>
            <a:endParaRPr lang="es-MX" dirty="0">
              <a:latin typeface="Aptos" panose="020B0004020202020204" pitchFamily="34" charset="0"/>
            </a:endParaRPr>
          </a:p>
          <a:p>
            <a:endParaRPr lang="es-MX" dirty="0">
              <a:latin typeface="Aptos" panose="020B0004020202020204" pitchFamily="34" charset="0"/>
            </a:endParaRPr>
          </a:p>
          <a:p>
            <a:endParaRPr lang="es-MX" dirty="0">
              <a:latin typeface="Aptos" panose="020B0004020202020204" pitchFamily="34" charset="0"/>
            </a:endParaRPr>
          </a:p>
          <a:p>
            <a:r>
              <a:rPr lang="es-MX" dirty="0"/>
              <a:t>Lo descargan y lo colocan en 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proyecto-ecoli/.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79AAE23-C7D0-3F4F-7B0D-3DACC3426BCD}"/>
              </a:ext>
            </a:extLst>
          </p:cNvPr>
          <p:cNvSpPr txBox="1"/>
          <p:nvPr/>
        </p:nvSpPr>
        <p:spPr>
          <a:xfrm>
            <a:off x="1612490" y="5155430"/>
            <a:ext cx="6096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# Proyecto E. coli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8F55F186-D147-7233-92EA-BB4C60930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899" y="1574800"/>
            <a:ext cx="2623907" cy="23794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1 —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Organización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del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proyecto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y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metadatos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94E35E0-BD5A-31C2-C3B5-B329C0F860B0}"/>
              </a:ext>
            </a:extLst>
          </p:cNvPr>
          <p:cNvSpPr txBox="1"/>
          <p:nvPr/>
        </p:nvSpPr>
        <p:spPr>
          <a:xfrm>
            <a:off x="688457" y="1362073"/>
            <a:ext cx="1014027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latin typeface="Aptos" panose="020B0004020202020204" pitchFamily="34" charset="0"/>
              </a:rPr>
              <a:t>4.  Obtén el archivo de datos original</a:t>
            </a:r>
          </a:p>
          <a:p>
            <a:r>
              <a:rPr lang="es-MX" dirty="0">
                <a:latin typeface="Aptos" panose="020B0004020202020204" pitchFamily="34" charset="0"/>
              </a:rPr>
              <a:t>	Descarga 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genes_ecoli.gff </a:t>
            </a:r>
            <a:r>
              <a:rPr lang="es-MX" dirty="0">
                <a:latin typeface="Aptos" panose="020B0004020202020204" pitchFamily="34" charset="0"/>
              </a:rPr>
              <a:t>desde la plataforma del curso,  y lo mueven a 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data/source/.</a:t>
            </a:r>
          </a:p>
          <a:p>
            <a:endParaRPr lang="es-MX" b="1" dirty="0">
              <a:latin typeface="Aptos" panose="020B0004020202020204" pitchFamily="34" charset="0"/>
            </a:endParaRPr>
          </a:p>
          <a:p>
            <a:r>
              <a:rPr lang="es-MX" b="1" dirty="0">
                <a:latin typeface="Aptos" panose="020B0004020202020204" pitchFamily="34" charset="0"/>
              </a:rPr>
              <a:t>5. Completa los metadatos</a:t>
            </a:r>
          </a:p>
          <a:p>
            <a:r>
              <a:rPr lang="es-MX" dirty="0">
                <a:latin typeface="Aptos" panose="020B0004020202020204" pitchFamily="34" charset="0"/>
              </a:rPr>
              <a:t>	Ya tienes una primera versión, descárgala desde </a:t>
            </a:r>
          </a:p>
          <a:p>
            <a:r>
              <a:rPr lang="es-MX" dirty="0">
                <a:latin typeface="Aptos" panose="020B0004020202020204" pitchFamily="34" charset="0"/>
              </a:rPr>
              <a:t>          la plataforma y en StackEdit completa lo que </a:t>
            </a:r>
          </a:p>
          <a:p>
            <a:r>
              <a:rPr lang="es-MX" dirty="0">
                <a:latin typeface="Aptos" panose="020B0004020202020204" pitchFamily="34" charset="0"/>
              </a:rPr>
              <a:t>          haga falta.</a:t>
            </a:r>
          </a:p>
          <a:p>
            <a:endParaRPr lang="es-MX" b="1" dirty="0">
              <a:latin typeface="Aptos" panose="020B0004020202020204" pitchFamily="34" charset="0"/>
            </a:endParaRPr>
          </a:p>
          <a:p>
            <a:endParaRPr lang="es-MX" b="1" dirty="0">
              <a:latin typeface="Aptos" panose="020B0004020202020204" pitchFamily="34" charset="0"/>
            </a:endParaRPr>
          </a:p>
          <a:p>
            <a:endParaRPr lang="es-MX" b="1" dirty="0">
              <a:latin typeface="Aptos" panose="020B0004020202020204" pitchFamily="34" charset="0"/>
            </a:endParaRPr>
          </a:p>
          <a:p>
            <a:endParaRPr lang="es-MX" b="1" dirty="0"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002060"/>
                </a:solidFill>
                <a:latin typeface="Aptos" panose="020B0004020202020204" pitchFamily="34" charset="0"/>
              </a:rPr>
              <a:t>               Aquí está la información del archivo</a:t>
            </a:r>
          </a:p>
          <a:p>
            <a:endParaRPr lang="es-MX" b="1" dirty="0">
              <a:latin typeface="Aptos" panose="020B0004020202020204" pitchFamily="34" charset="0"/>
            </a:endParaRPr>
          </a:p>
          <a:p>
            <a:endParaRPr lang="es-MX" b="1" dirty="0">
              <a:latin typeface="Aptos" panose="020B0004020202020204" pitchFamily="34" charset="0"/>
            </a:endParaRPr>
          </a:p>
          <a:p>
            <a:endParaRPr lang="es-MX" b="1" i="1" dirty="0">
              <a:latin typeface="Aptos" panose="020B0004020202020204" pitchFamily="34" charset="0"/>
            </a:endParaRPr>
          </a:p>
          <a:p>
            <a:endParaRPr lang="es-MX" i="1" dirty="0"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BDB0FC-7EEC-DA37-5838-355354221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816" y="1995973"/>
            <a:ext cx="5847708" cy="685800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87200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1 —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Organización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del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proyecto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y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metadatos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5156" y="6021657"/>
            <a:ext cx="481977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>
                <a:solidFill>
                  <a:srgbClr val="5C6670"/>
                </a:solidFill>
                <a:latin typeface="Aptos"/>
              </a:rPr>
              <a:t>¿Qué distingue a data/source/ de data/processed/?</a:t>
            </a:r>
            <a:endParaRPr sz="100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94E35E0-BD5A-31C2-C3B5-B329C0F860B0}"/>
              </a:ext>
            </a:extLst>
          </p:cNvPr>
          <p:cNvSpPr txBox="1"/>
          <p:nvPr/>
        </p:nvSpPr>
        <p:spPr>
          <a:xfrm>
            <a:off x="688457" y="1362073"/>
            <a:ext cx="40261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>
              <a:latin typeface="Aptos" panose="020B0004020202020204" pitchFamily="34" charset="0"/>
            </a:endParaRPr>
          </a:p>
          <a:p>
            <a:r>
              <a:rPr lang="es-MX" b="1" dirty="0">
                <a:latin typeface="Aptos" panose="020B0004020202020204" pitchFamily="34" charset="0"/>
              </a:rPr>
              <a:t>6. Verifica la estructura del proyecto:</a:t>
            </a:r>
            <a:endParaRPr lang="es-MX" dirty="0">
              <a:latin typeface="Aptos" panose="020B0004020202020204" pitchFamily="34" charset="0"/>
            </a:endParaRPr>
          </a:p>
          <a:p>
            <a:endParaRPr lang="es-MX" b="1" dirty="0">
              <a:latin typeface="Aptos" panose="020B0004020202020204" pitchFamily="34" charset="0"/>
            </a:endParaRPr>
          </a:p>
          <a:p>
            <a:endParaRPr lang="es-MX" b="1" dirty="0">
              <a:latin typeface="Aptos" panose="020B0004020202020204" pitchFamily="34" charset="0"/>
            </a:endParaRPr>
          </a:p>
          <a:p>
            <a:endParaRPr lang="es-MX" b="1" dirty="0">
              <a:latin typeface="Aptos" panose="020B0004020202020204" pitchFamily="34" charset="0"/>
            </a:endParaRPr>
          </a:p>
          <a:p>
            <a:endParaRPr lang="es-MX" b="1" i="1" dirty="0">
              <a:latin typeface="Aptos" panose="020B0004020202020204" pitchFamily="34" charset="0"/>
            </a:endParaRPr>
          </a:p>
          <a:p>
            <a:endParaRPr lang="es-MX" i="1" dirty="0">
              <a:latin typeface="Aptos" panose="020B0004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A2031FA-BC46-7D63-5EAB-F97893EFC6DE}"/>
              </a:ext>
            </a:extLst>
          </p:cNvPr>
          <p:cNvSpPr txBox="1"/>
          <p:nvPr/>
        </p:nvSpPr>
        <p:spPr>
          <a:xfrm>
            <a:off x="2179300" y="2159085"/>
            <a:ext cx="475001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proyecto-ecoli/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README.md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data/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│   ├── source/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│   │   ├── genes_ecoli.gff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│   │   └── genes_ecoli-metadatos.md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│   └── processed/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src/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results/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└── doc/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└── protocolo.md</a:t>
            </a:r>
          </a:p>
        </p:txBody>
      </p:sp>
    </p:spTree>
    <p:extLst>
      <p:ext uri="{BB962C8B-B14F-4D97-AF65-F5344CB8AC3E}">
        <p14:creationId xmlns:p14="http://schemas.microsoft.com/office/powerpoint/2010/main" val="1621389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PUESTA EN COMÚN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1 — ¿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Qué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</a:t>
            </a:r>
            <a:r>
              <a:rPr lang="es-ES" sz="2400" b="1" dirty="0">
                <a:solidFill>
                  <a:srgbClr val="18375B"/>
                </a:solidFill>
                <a:latin typeface="Aptos"/>
              </a:rPr>
              <a:t>aprendimos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>
                <a:solidFill>
                  <a:srgbClr val="5C6670"/>
                </a:solidFill>
                <a:latin typeface="Aptos"/>
              </a:rPr>
              <a:t>¿Por qué conviene mantener los metadatos junto al dato que describen?</a:t>
            </a:r>
            <a:endParaRPr sz="100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2F0306E6-2841-36EF-5652-C793B45F0719}"/>
              </a:ext>
            </a:extLst>
          </p:cNvPr>
          <p:cNvSpPr/>
          <p:nvPr/>
        </p:nvSpPr>
        <p:spPr>
          <a:xfrm>
            <a:off x="529467" y="2200093"/>
            <a:ext cx="2057400" cy="2251095"/>
          </a:xfrm>
          <a:prstGeom prst="roundRect">
            <a:avLst/>
          </a:prstGeom>
          <a:solidFill>
            <a:srgbClr val="F6F9FC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0E9E6E75-D11A-86C9-0548-F09D4677CB3F}"/>
              </a:ext>
            </a:extLst>
          </p:cNvPr>
          <p:cNvSpPr txBox="1"/>
          <p:nvPr/>
        </p:nvSpPr>
        <p:spPr>
          <a:xfrm>
            <a:off x="639195" y="2428693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C80B2"/>
                </a:solidFill>
                <a:latin typeface="Aptos"/>
              </a:rPr>
              <a:t>Original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70693BC8-1202-BAA3-DE6B-855D816973DE}"/>
              </a:ext>
            </a:extLst>
          </p:cNvPr>
          <p:cNvSpPr txBox="1"/>
          <p:nvPr/>
        </p:nvSpPr>
        <p:spPr>
          <a:xfrm>
            <a:off x="640080" y="2840173"/>
            <a:ext cx="1783080" cy="15234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MX" sz="1400" dirty="0"/>
              <a:t>Dato original</a:t>
            </a:r>
          </a:p>
          <a:p>
            <a:pPr algn="ctr"/>
            <a:r>
              <a:rPr sz="1300" b="0" dirty="0">
                <a:solidFill>
                  <a:srgbClr val="4C6074"/>
                </a:solidFill>
                <a:latin typeface="Aptos Mono"/>
              </a:rPr>
              <a:t>data/</a:t>
            </a:r>
            <a:r>
              <a:rPr sz="1300" dirty="0">
                <a:solidFill>
                  <a:srgbClr val="4C6074"/>
                </a:solidFill>
                <a:latin typeface="Aptos Mono"/>
              </a:rPr>
              <a:t>source/
</a:t>
            </a:r>
            <a:r>
              <a:rPr lang="es-MX" sz="1300" dirty="0">
                <a:solidFill>
                  <a:srgbClr val="4C6074"/>
                </a:solidFill>
                <a:latin typeface="Aptos Mono"/>
              </a:rPr>
              <a:t>genes_ecoli.gff</a:t>
            </a:r>
          </a:p>
          <a:p>
            <a:pPr algn="ctr"/>
            <a:endParaRPr lang="es-MX" sz="1300" dirty="0">
              <a:solidFill>
                <a:srgbClr val="4C6074"/>
              </a:solidFill>
              <a:latin typeface="Aptos Mono"/>
            </a:endParaRPr>
          </a:p>
          <a:p>
            <a:pPr algn="ctr"/>
            <a:r>
              <a:rPr lang="es-MX" sz="1400" dirty="0"/>
              <a:t>Metadatos del dato</a:t>
            </a:r>
            <a:r>
              <a:rPr lang="es-MX" sz="1300" dirty="0">
                <a:solidFill>
                  <a:srgbClr val="4C6074"/>
                </a:solidFill>
                <a:latin typeface="Aptos Mono"/>
              </a:rPr>
              <a:t> genes_ecoli-metadatos.md</a:t>
            </a:r>
            <a:endParaRPr sz="1300" dirty="0">
              <a:solidFill>
                <a:srgbClr val="4C6074"/>
              </a:solidFill>
              <a:latin typeface="Aptos Mono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AB955331-A31B-CE97-29DF-167404D5E497}"/>
              </a:ext>
            </a:extLst>
          </p:cNvPr>
          <p:cNvSpPr/>
          <p:nvPr/>
        </p:nvSpPr>
        <p:spPr>
          <a:xfrm>
            <a:off x="2861187" y="2200093"/>
            <a:ext cx="2057400" cy="2249719"/>
          </a:xfrm>
          <a:prstGeom prst="roundRect">
            <a:avLst/>
          </a:prstGeom>
          <a:solidFill>
            <a:srgbClr val="F6F9FC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C60E2604-A54E-559C-8253-C68D61E25232}"/>
              </a:ext>
            </a:extLst>
          </p:cNvPr>
          <p:cNvSpPr txBox="1"/>
          <p:nvPr/>
        </p:nvSpPr>
        <p:spPr>
          <a:xfrm>
            <a:off x="2970915" y="2428693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7780"/>
                </a:solidFill>
                <a:latin typeface="Aptos"/>
              </a:rPr>
              <a:t>Derivados</a:t>
            </a: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D087517A-409E-52BA-5ABB-D2CB4D97D09B}"/>
              </a:ext>
            </a:extLst>
          </p:cNvPr>
          <p:cNvSpPr txBox="1"/>
          <p:nvPr/>
        </p:nvSpPr>
        <p:spPr>
          <a:xfrm>
            <a:off x="2998347" y="3114493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 Mono"/>
              </a:rPr>
              <a:t>data/processed/
archivos transformados</a:t>
            </a:r>
          </a:p>
        </p:txBody>
      </p:sp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86F6E7A1-5649-4547-7254-38E13FD0F495}"/>
              </a:ext>
            </a:extLst>
          </p:cNvPr>
          <p:cNvSpPr/>
          <p:nvPr/>
        </p:nvSpPr>
        <p:spPr>
          <a:xfrm>
            <a:off x="5192907" y="2200093"/>
            <a:ext cx="2057400" cy="2249719"/>
          </a:xfrm>
          <a:prstGeom prst="roundRect">
            <a:avLst/>
          </a:prstGeom>
          <a:solidFill>
            <a:srgbClr val="F6F9FC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B2D20310-650D-4EA5-A7BD-9BA6D4C15557}"/>
              </a:ext>
            </a:extLst>
          </p:cNvPr>
          <p:cNvSpPr txBox="1"/>
          <p:nvPr/>
        </p:nvSpPr>
        <p:spPr>
          <a:xfrm>
            <a:off x="5302635" y="2428693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75DA0"/>
                </a:solidFill>
                <a:latin typeface="Aptos"/>
              </a:rPr>
              <a:t>Procedimiento</a:t>
            </a: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B5A2D42B-0824-CAC9-12B7-9D41F2FE2600}"/>
              </a:ext>
            </a:extLst>
          </p:cNvPr>
          <p:cNvSpPr txBox="1"/>
          <p:nvPr/>
        </p:nvSpPr>
        <p:spPr>
          <a:xfrm>
            <a:off x="5330067" y="3114493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 Mono"/>
              </a:rPr>
              <a:t>src/
scripts y comandos</a:t>
            </a: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8DAEE268-1CBA-0E4C-D3F7-A314B7FB1021}"/>
              </a:ext>
            </a:extLst>
          </p:cNvPr>
          <p:cNvSpPr/>
          <p:nvPr/>
        </p:nvSpPr>
        <p:spPr>
          <a:xfrm>
            <a:off x="7524627" y="2200093"/>
            <a:ext cx="2057400" cy="2249719"/>
          </a:xfrm>
          <a:prstGeom prst="roundRect">
            <a:avLst/>
          </a:prstGeom>
          <a:solidFill>
            <a:srgbClr val="F6F9FC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8ED23D2A-90C2-5023-414B-69AABE34BF35}"/>
              </a:ext>
            </a:extLst>
          </p:cNvPr>
          <p:cNvSpPr txBox="1"/>
          <p:nvPr/>
        </p:nvSpPr>
        <p:spPr>
          <a:xfrm>
            <a:off x="7634354" y="2428693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F801D"/>
                </a:solidFill>
                <a:latin typeface="Aptos"/>
              </a:rPr>
              <a:t>Resultados</a:t>
            </a: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DC6E6726-7423-D348-9BE6-9FC437AF715D}"/>
              </a:ext>
            </a:extLst>
          </p:cNvPr>
          <p:cNvSpPr txBox="1"/>
          <p:nvPr/>
        </p:nvSpPr>
        <p:spPr>
          <a:xfrm>
            <a:off x="7661787" y="3114493"/>
            <a:ext cx="1783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 Mono"/>
              </a:rPr>
              <a:t>results/
salidas regenerables</a:t>
            </a: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1D32E081-C9E7-4FBA-A8C1-F511AB12F71D}"/>
              </a:ext>
            </a:extLst>
          </p:cNvPr>
          <p:cNvSpPr txBox="1"/>
          <p:nvPr/>
        </p:nvSpPr>
        <p:spPr>
          <a:xfrm>
            <a:off x="9966074" y="2428693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Documentación</a:t>
            </a:r>
          </a:p>
        </p:txBody>
      </p:sp>
      <p:sp>
        <p:nvSpPr>
          <p:cNvPr id="38" name="TextBox 19">
            <a:extLst>
              <a:ext uri="{FF2B5EF4-FFF2-40B4-BE49-F238E27FC236}">
                <a16:creationId xmlns:a16="http://schemas.microsoft.com/office/drawing/2014/main" id="{86148127-C8C6-4A02-7076-DA8958F0B650}"/>
              </a:ext>
            </a:extLst>
          </p:cNvPr>
          <p:cNvSpPr txBox="1"/>
          <p:nvPr/>
        </p:nvSpPr>
        <p:spPr>
          <a:xfrm>
            <a:off x="9993506" y="3485492"/>
            <a:ext cx="17830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dirty="0">
                <a:solidFill>
                  <a:srgbClr val="4C6074"/>
                </a:solidFill>
                <a:latin typeface="Aptos Mono"/>
              </a:rPr>
              <a:t>doc/
</a:t>
            </a:r>
            <a:r>
              <a:rPr sz="1300" b="0" dirty="0" err="1">
                <a:solidFill>
                  <a:srgbClr val="4C6074"/>
                </a:solidFill>
                <a:latin typeface="Aptos Mono"/>
              </a:rPr>
              <a:t>protocolo</a:t>
            </a:r>
            <a:r>
              <a:rPr lang="es-ES" sz="1300" b="0" dirty="0">
                <a:solidFill>
                  <a:srgbClr val="4C6074"/>
                </a:solidFill>
                <a:latin typeface="Aptos Mono"/>
              </a:rPr>
              <a:t>.</a:t>
            </a:r>
            <a:r>
              <a:rPr lang="es-ES" sz="1300" b="0" dirty="0" err="1">
                <a:solidFill>
                  <a:srgbClr val="4C6074"/>
                </a:solidFill>
                <a:latin typeface="Aptos Mono"/>
              </a:rPr>
              <a:t>md</a:t>
            </a:r>
            <a:endParaRPr sz="1300" b="0" dirty="0">
              <a:solidFill>
                <a:srgbClr val="4C6074"/>
              </a:solidFill>
              <a:latin typeface="Aptos Mono"/>
            </a:endParaRPr>
          </a:p>
        </p:txBody>
      </p:sp>
      <p:sp>
        <p:nvSpPr>
          <p:cNvPr id="39" name="Rounded Rectangle 20">
            <a:extLst>
              <a:ext uri="{FF2B5EF4-FFF2-40B4-BE49-F238E27FC236}">
                <a16:creationId xmlns:a16="http://schemas.microsoft.com/office/drawing/2014/main" id="{9EAA65CB-2B39-8990-63E1-24FF0CA32008}"/>
              </a:ext>
            </a:extLst>
          </p:cNvPr>
          <p:cNvSpPr/>
          <p:nvPr/>
        </p:nvSpPr>
        <p:spPr>
          <a:xfrm>
            <a:off x="1143000" y="4892040"/>
            <a:ext cx="9875520" cy="731520"/>
          </a:xfrm>
          <a:prstGeom prst="roundRect">
            <a:avLst/>
          </a:prstGeom>
          <a:solidFill>
            <a:srgbClr val="FFF7E8"/>
          </a:solidFill>
          <a:ln>
            <a:solidFill>
              <a:srgbClr val="E0A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5EE82137-779F-2DA3-35E9-EECBEEBF4DBD}"/>
              </a:ext>
            </a:extLst>
          </p:cNvPr>
          <p:cNvSpPr txBox="1"/>
          <p:nvPr/>
        </p:nvSpPr>
        <p:spPr>
          <a:xfrm>
            <a:off x="1417320" y="4956269"/>
            <a:ext cx="93268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MX" sz="1600" b="1" dirty="0">
                <a:solidFill>
                  <a:srgbClr val="BF801D"/>
                </a:solidFill>
                <a:latin typeface="Aptos"/>
              </a:rPr>
              <a:t>Lo que no está documentado no se inventa: se registra como “no documentado” o “pendiente de confirmar”.</a:t>
            </a:r>
            <a:endParaRPr sz="1600" b="1" dirty="0">
              <a:solidFill>
                <a:srgbClr val="BF801D"/>
              </a:solidFill>
              <a:latin typeface="Apto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DA2B8B-C8D5-AEB4-454B-A6D6EE43022D}"/>
              </a:ext>
            </a:extLst>
          </p:cNvPr>
          <p:cNvSpPr txBox="1"/>
          <p:nvPr/>
        </p:nvSpPr>
        <p:spPr>
          <a:xfrm>
            <a:off x="529466" y="1248836"/>
            <a:ext cx="11037693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8375B"/>
                </a:solidFill>
                <a:latin typeface="Aptos"/>
              </a:defRPr>
            </a:lvl1pPr>
          </a:lstStyle>
          <a:p>
            <a:r>
              <a:rPr lang="es-MX" dirty="0"/>
              <a:t>Organizar los archivos y documentar sus metadatos permite conservar no solo el dato, sino también el contexto necesario para entenderlo y reutilizarlo.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364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69F4CD8-674A-1E44-CA3E-BFBA123C1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00" y="558452"/>
            <a:ext cx="8952763" cy="56777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IA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13768"/>
            <a:ext cx="4114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dirty="0">
                <a:solidFill>
                  <a:srgbClr val="5C6670"/>
                </a:solidFill>
                <a:latin typeface="Aptos"/>
              </a:rPr>
              <a:t>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dirty="0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6021657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>
                <a:solidFill>
                  <a:srgbClr val="5C6670"/>
                </a:solidFill>
                <a:latin typeface="Aptos"/>
              </a:rPr>
              <a:t>¿Un generador de imágenes como DALL·E es un LLM?</a:t>
            </a:r>
            <a:endParaRPr sz="1000" dirty="0">
              <a:solidFill>
                <a:srgbClr val="5C667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69015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dirty="0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6021657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>
                <a:solidFill>
                  <a:srgbClr val="5C6670"/>
                </a:solidFill>
                <a:latin typeface="Aptos"/>
              </a:rPr>
              <a:t>Si el modelo genera la respuesta prediciendo qué continúa, ¿eso garantiza que lo que escribe sea verdadero?</a:t>
            </a:r>
            <a:endParaRPr sz="1000" dirty="0">
              <a:solidFill>
                <a:srgbClr val="5C6670"/>
              </a:solidFill>
              <a:latin typeface="Apto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B9C4E0E-B0A6-7080-E74B-2CF3A501D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77" y="717228"/>
            <a:ext cx="10577543" cy="603261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IA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13768"/>
            <a:ext cx="4114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dirty="0">
                <a:solidFill>
                  <a:srgbClr val="5C6670"/>
                </a:solidFill>
                <a:latin typeface="Aptos"/>
              </a:rPr>
              <a:t>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</p:spTree>
    <p:extLst>
      <p:ext uri="{BB962C8B-B14F-4D97-AF65-F5344CB8AC3E}">
        <p14:creationId xmlns:p14="http://schemas.microsoft.com/office/powerpoint/2010/main" val="3846688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IA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456F712-B122-BCA7-51A2-984A3FAB7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54" y="457200"/>
            <a:ext cx="10876936" cy="59872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IA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400" b="1" dirty="0">
                <a:solidFill>
                  <a:srgbClr val="18375B"/>
                </a:solidFill>
                <a:latin typeface="Aptos"/>
              </a:rPr>
              <a:t>Conocer </a:t>
            </a:r>
            <a:r>
              <a:rPr lang="es-ES" sz="2400" b="1" dirty="0" err="1">
                <a:solidFill>
                  <a:srgbClr val="18375B"/>
                </a:solidFill>
                <a:latin typeface="Aptos"/>
              </a:rPr>
              <a:t>Chatgpt</a:t>
            </a:r>
            <a:r>
              <a:rPr lang="es-ES" sz="2400" b="1" dirty="0">
                <a:solidFill>
                  <a:srgbClr val="18375B"/>
                </a:solidFill>
                <a:latin typeface="Aptos"/>
              </a:rPr>
              <a:t>, Claude, Gemini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249" y="1857117"/>
            <a:ext cx="7580179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MX" sz="1600" dirty="0">
                <a:solidFill>
                  <a:srgbClr val="18375B"/>
                </a:solidFill>
                <a:latin typeface="Aptos"/>
              </a:rPr>
              <a:t>- Abre chatgpt, claude y gemini en pestañas diferentes</a:t>
            </a:r>
          </a:p>
          <a:p>
            <a:endParaRPr lang="es-MX" sz="1600" dirty="0">
              <a:solidFill>
                <a:srgbClr val="18375B"/>
              </a:solidFill>
              <a:latin typeface="Aptos"/>
            </a:endParaRPr>
          </a:p>
          <a:p>
            <a:r>
              <a:rPr lang="es-MX" sz="1600" dirty="0">
                <a:solidFill>
                  <a:srgbClr val="18375B"/>
                </a:solidFill>
                <a:latin typeface="Aptos"/>
              </a:rPr>
              <a:t>- Ver los modelos disponibles</a:t>
            </a:r>
            <a:endParaRPr sz="160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/>
              <a:t>¿Qué estamos abriendo aquí: un modelo o una aplicación?</a:t>
            </a:r>
            <a:endParaRPr sz="1000" b="0" dirty="0">
              <a:solidFill>
                <a:srgbClr val="5C667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22275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IA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400" b="1" dirty="0">
                <a:solidFill>
                  <a:srgbClr val="18375B"/>
                </a:solidFill>
                <a:latin typeface="Aptos"/>
              </a:rPr>
              <a:t>Qué </a:t>
            </a:r>
            <a:r>
              <a:rPr lang="es-MX" sz="2400" b="1" dirty="0">
                <a:solidFill>
                  <a:srgbClr val="18375B"/>
                </a:solidFill>
                <a:latin typeface="Aptos"/>
              </a:rPr>
              <a:t>parte sí controla el usuario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77089"/>
            <a:ext cx="38404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000" b="1" dirty="0">
                <a:solidFill>
                  <a:srgbClr val="228984"/>
                </a:solidFill>
                <a:latin typeface="Aptos"/>
              </a:rPr>
              <a:t>NO CONTROLAS DIRECTAMENTE</a:t>
            </a:r>
            <a:endParaRPr sz="1000" b="1" dirty="0">
              <a:solidFill>
                <a:srgbClr val="22898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048256"/>
            <a:ext cx="388620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✕ </a:t>
            </a:r>
            <a:r>
              <a:rPr lang="es-MX" sz="1600" b="0" dirty="0">
                <a:solidFill>
                  <a:srgbClr val="18375B"/>
                </a:solidFill>
                <a:latin typeface="Aptos" panose="020B0004020202020204" pitchFamily="34" charset="0"/>
              </a:rPr>
              <a:t> </a:t>
            </a:r>
            <a:r>
              <a:rPr lang="es-MX" sz="1600" dirty="0">
                <a:latin typeface="Aptos" panose="020B0004020202020204" pitchFamily="34" charset="0"/>
              </a:rPr>
              <a:t>cómo fue entrenado el modelo </a:t>
            </a:r>
          </a:p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✕  </a:t>
            </a:r>
            <a:r>
              <a:rPr lang="es-MX" sz="1600" dirty="0">
                <a:latin typeface="Aptos" panose="020B0004020202020204" pitchFamily="34" charset="0"/>
              </a:rPr>
              <a:t>qué datos exactos usó para entrenarse </a:t>
            </a:r>
          </a:p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✕  </a:t>
            </a:r>
            <a:r>
              <a:rPr lang="es-MX" sz="1600" dirty="0">
                <a:latin typeface="Aptos" panose="020B0004020202020204" pitchFamily="34" charset="0"/>
              </a:rPr>
              <a:t>las reglas internas del producto </a:t>
            </a:r>
          </a:p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✕  </a:t>
            </a:r>
            <a:r>
              <a:rPr lang="es-MX" sz="1600" dirty="0">
                <a:latin typeface="Aptos" panose="020B0004020202020204" pitchFamily="34" charset="0"/>
              </a:rPr>
              <a:t>cómo funciona toda la infraestructura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477089"/>
            <a:ext cx="42062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000" b="1" dirty="0">
                <a:solidFill>
                  <a:srgbClr val="70589B"/>
                </a:solidFill>
                <a:latin typeface="Aptos"/>
              </a:rPr>
              <a:t>SI PUEDES CONTROLAR</a:t>
            </a:r>
            <a:endParaRPr sz="1000" b="1" dirty="0">
              <a:solidFill>
                <a:srgbClr val="70589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7840" y="2048256"/>
            <a:ext cx="3526831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✓  </a:t>
            </a:r>
            <a:r>
              <a:rPr lang="es-MX" sz="1600" dirty="0">
                <a:latin typeface="Aptos" panose="020B0004020202020204" pitchFamily="34" charset="0"/>
              </a:rPr>
              <a:t>el prompt </a:t>
            </a:r>
          </a:p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✓  </a:t>
            </a:r>
            <a:r>
              <a:rPr lang="es-MX" sz="1600" dirty="0">
                <a:latin typeface="Aptos" panose="020B0004020202020204" pitchFamily="34" charset="0"/>
              </a:rPr>
              <a:t>el contexto que proporcionas </a:t>
            </a:r>
          </a:p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✓  </a:t>
            </a:r>
            <a:r>
              <a:rPr lang="es-MX" sz="1600" dirty="0">
                <a:latin typeface="Aptos" panose="020B0004020202020204" pitchFamily="34" charset="0"/>
              </a:rPr>
              <a:t>los archivos o datos que adjuntas </a:t>
            </a:r>
          </a:p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✓  </a:t>
            </a:r>
            <a:r>
              <a:rPr lang="es-MX" sz="1600" dirty="0">
                <a:latin typeface="Aptos" panose="020B0004020202020204" pitchFamily="34" charset="0"/>
              </a:rPr>
              <a:t>las instrucciones y restricciones </a:t>
            </a:r>
          </a:p>
          <a:p>
            <a:r>
              <a:rPr lang="es-MX" sz="1600" b="0" dirty="0">
                <a:solidFill>
                  <a:srgbClr val="18375B"/>
                </a:solidFill>
                <a:latin typeface="Aptos"/>
              </a:rPr>
              <a:t>✓ </a:t>
            </a:r>
            <a:r>
              <a:rPr lang="es-MX" sz="1600" dirty="0">
                <a:latin typeface="Aptos" panose="020B0004020202020204" pitchFamily="34" charset="0"/>
              </a:rPr>
              <a:t>cómo verificas la 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350" y="4168104"/>
            <a:ext cx="758017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MX" sz="1400" b="1" dirty="0">
                <a:solidFill>
                  <a:srgbClr val="18375B"/>
                </a:solidFill>
                <a:latin typeface="Aptos"/>
              </a:rPr>
              <a:t>No controlamos directamente cómo fue construido o entrenado el modelo, pero sí podemos controlar mejor la tarea que le planteamos y cómo evaluamos su respuesta.</a:t>
            </a:r>
            <a:endParaRPr sz="1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/>
              <a:t>¿Cuál de estas cosas puedes cambiar inmediatamente para obtener una respuesta más útil?</a:t>
            </a:r>
            <a:endParaRPr sz="1000" b="0" dirty="0">
              <a:solidFill>
                <a:srgbClr val="5C667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36938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IA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18375B"/>
                </a:solidFill>
                <a:latin typeface="Aptos"/>
              </a:rPr>
              <a:t>No todos los prompts piden lo mismo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BDC1DEB-EC26-3839-69FF-38AC31DB1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437301"/>
            <a:ext cx="10805160" cy="607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3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IA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18375B"/>
                </a:solidFill>
                <a:latin typeface="Aptos"/>
              </a:rPr>
              <a:t>IA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en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el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curso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: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apoyo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, no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piloto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8375B"/>
                </a:solidFill>
                <a:latin typeface="Aptos"/>
              </a:rPr>
              <a:t>automático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6436" y="1486957"/>
            <a:ext cx="3840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28984"/>
                </a:solidFill>
                <a:latin typeface="Aptos"/>
              </a:rPr>
              <a:t>PUEDE AYUDAR A…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876" y="1974488"/>
            <a:ext cx="3291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18375B"/>
                </a:solidFill>
                <a:latin typeface="Aptos"/>
              </a:rPr>
              <a:t>✓ 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explicar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un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concepto</a:t>
            </a:r>
            <a:endParaRPr sz="1600" b="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7876" y="2504840"/>
            <a:ext cx="3291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8375B"/>
                </a:solidFill>
                <a:latin typeface="Aptos"/>
              </a:rPr>
              <a:t>✓  proponer una estrategia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7876" y="3035191"/>
            <a:ext cx="3291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18375B"/>
                </a:solidFill>
                <a:latin typeface="Aptos"/>
              </a:rPr>
              <a:t>✓ 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sugerir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un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comando</a:t>
            </a:r>
            <a:endParaRPr sz="1600" b="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97876" y="3565543"/>
            <a:ext cx="3291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18375B"/>
                </a:solidFill>
                <a:latin typeface="Aptos"/>
              </a:rPr>
              <a:t>✓ 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revisar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redacción</a:t>
            </a:r>
            <a:endParaRPr sz="1600" b="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4196" y="1486957"/>
            <a:ext cx="4206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0589B"/>
                </a:solidFill>
                <a:latin typeface="Aptos"/>
              </a:rPr>
              <a:t>NO DEBEMOS ASUMIR QUE…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636" y="1974488"/>
            <a:ext cx="4389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18375B"/>
                </a:solidFill>
                <a:latin typeface="Aptos"/>
              </a:rPr>
              <a:t>✕ 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entiende</a:t>
            </a:r>
            <a:r>
              <a:rPr lang="es-ES" sz="1600" b="0" dirty="0">
                <a:solidFill>
                  <a:srgbClr val="18375B"/>
                </a:solidFill>
                <a:latin typeface="Aptos"/>
              </a:rPr>
              <a:t> correctamente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</a:t>
            </a:r>
            <a:r>
              <a:rPr lang="es-ES" sz="1600" b="0" dirty="0">
                <a:solidFill>
                  <a:srgbClr val="18375B"/>
                </a:solidFill>
                <a:latin typeface="Aptos"/>
              </a:rPr>
              <a:t>nuestro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problema</a:t>
            </a:r>
            <a:endParaRPr sz="1600" b="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35636" y="2504840"/>
            <a:ext cx="4389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18375B"/>
                </a:solidFill>
                <a:latin typeface="Aptos"/>
              </a:rPr>
              <a:t>✕  </a:t>
            </a:r>
            <a:r>
              <a:rPr lang="es-ES" sz="1600" b="0" dirty="0">
                <a:solidFill>
                  <a:srgbClr val="18375B"/>
                </a:solidFill>
                <a:latin typeface="Aptos"/>
              </a:rPr>
              <a:t>que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verificó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lo que </a:t>
            </a:r>
            <a:r>
              <a:rPr lang="es-ES" sz="1600" b="0" dirty="0">
                <a:solidFill>
                  <a:srgbClr val="18375B"/>
                </a:solidFill>
                <a:latin typeface="Aptos"/>
              </a:rPr>
              <a:t>afirma</a:t>
            </a:r>
            <a:endParaRPr sz="1600" b="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35636" y="3035191"/>
            <a:ext cx="4389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18375B"/>
                </a:solidFill>
                <a:latin typeface="Aptos"/>
              </a:rPr>
              <a:t>✕  </a:t>
            </a:r>
            <a:r>
              <a:rPr lang="es-ES" sz="1600" b="0" dirty="0">
                <a:solidFill>
                  <a:srgbClr val="18375B"/>
                </a:solidFill>
                <a:latin typeface="Aptos"/>
              </a:rPr>
              <a:t>que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una</a:t>
            </a:r>
            <a:r>
              <a:rPr lang="es-ES" sz="1600" b="0" dirty="0">
                <a:solidFill>
                  <a:srgbClr val="18375B"/>
                </a:solidFill>
                <a:latin typeface="Aptos"/>
              </a:rPr>
              <a:t> referencia o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cita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</a:t>
            </a:r>
            <a:r>
              <a:rPr lang="es-ES" sz="1600" b="0" dirty="0">
                <a:solidFill>
                  <a:srgbClr val="18375B"/>
                </a:solidFill>
                <a:latin typeface="Aptos"/>
              </a:rPr>
              <a:t>realmente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existe</a:t>
            </a:r>
            <a:endParaRPr sz="1600" b="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5636" y="3565543"/>
            <a:ext cx="4389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18375B"/>
                </a:solidFill>
                <a:latin typeface="Aptos"/>
              </a:rPr>
              <a:t>✕ 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conoce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8375B"/>
                </a:solidFill>
                <a:latin typeface="Aptos"/>
              </a:rPr>
              <a:t>datos</a:t>
            </a:r>
            <a:r>
              <a:rPr sz="1600" b="0" dirty="0">
                <a:solidFill>
                  <a:srgbClr val="18375B"/>
                </a:solidFill>
                <a:latin typeface="Aptos"/>
              </a:rPr>
              <a:t> </a:t>
            </a:r>
            <a:r>
              <a:rPr lang="es-ES" sz="1600" dirty="0">
                <a:solidFill>
                  <a:srgbClr val="18375B"/>
                </a:solidFill>
                <a:latin typeface="Aptos"/>
              </a:rPr>
              <a:t>que no le dimos</a:t>
            </a:r>
            <a:endParaRPr sz="1600" b="0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7233" y="5428272"/>
            <a:ext cx="8350995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 dirty="0" err="1">
                <a:solidFill>
                  <a:srgbClr val="18375B"/>
                </a:solidFill>
                <a:latin typeface="Aptos" panose="020B0004020202020204" pitchFamily="34" charset="0"/>
              </a:rPr>
              <a:t>Alucinación</a:t>
            </a:r>
            <a:r>
              <a:rPr sz="1600" b="1" dirty="0">
                <a:solidFill>
                  <a:srgbClr val="18375B"/>
                </a:solidFill>
                <a:latin typeface="Aptos" panose="020B0004020202020204" pitchFamily="34" charset="0"/>
              </a:rPr>
              <a:t> = </a:t>
            </a:r>
            <a:r>
              <a:rPr lang="es-ES" sz="1600" b="1" dirty="0">
                <a:solidFill>
                  <a:srgbClr val="18375B"/>
                </a:solidFill>
                <a:latin typeface="Aptos" panose="020B0004020202020204" pitchFamily="34" charset="0"/>
              </a:rPr>
              <a:t>información</a:t>
            </a:r>
            <a:r>
              <a:rPr sz="1600" b="1" dirty="0">
                <a:solidFill>
                  <a:srgbClr val="18375B"/>
                </a:solidFill>
                <a:latin typeface="Aptos" panose="020B0004020202020204" pitchFamily="34" charset="0"/>
              </a:rPr>
              <a:t> falsa o </a:t>
            </a:r>
            <a:r>
              <a:rPr sz="1600" b="1" dirty="0" err="1">
                <a:solidFill>
                  <a:srgbClr val="18375B"/>
                </a:solidFill>
                <a:latin typeface="Aptos" panose="020B0004020202020204" pitchFamily="34" charset="0"/>
              </a:rPr>
              <a:t>inventada</a:t>
            </a:r>
            <a:r>
              <a:rPr sz="1600" b="1" dirty="0">
                <a:solidFill>
                  <a:srgbClr val="18375B"/>
                </a:solidFill>
                <a:latin typeface="Aptos" panose="020B0004020202020204" pitchFamily="34" charset="0"/>
              </a:rPr>
              <a:t> </a:t>
            </a:r>
            <a:r>
              <a:rPr lang="es-ES" sz="1600" b="1" dirty="0">
                <a:solidFill>
                  <a:srgbClr val="18375B"/>
                </a:solidFill>
                <a:latin typeface="Aptos" panose="020B0004020202020204" pitchFamily="34" charset="0"/>
              </a:rPr>
              <a:t>presentada de forma </a:t>
            </a:r>
            <a:r>
              <a:rPr sz="1600" b="1" dirty="0">
                <a:solidFill>
                  <a:srgbClr val="18375B"/>
                </a:solidFill>
                <a:latin typeface="Aptos" panose="020B0004020202020204" pitchFamily="34" charset="0"/>
              </a:rPr>
              <a:t>plausible.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/>
              <a:t>¿Qué riesgo aparece cuando una respuesta falsa suena convincente?</a:t>
            </a:r>
            <a:endParaRPr sz="1000" b="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560FA9-219D-C475-0FE0-930FF04C1887}"/>
              </a:ext>
            </a:extLst>
          </p:cNvPr>
          <p:cNvSpPr txBox="1"/>
          <p:nvPr/>
        </p:nvSpPr>
        <p:spPr>
          <a:xfrm>
            <a:off x="2830534" y="4278344"/>
            <a:ext cx="5984395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MX" sz="1600" dirty="0">
                <a:latin typeface="Aptos" panose="020B0004020202020204" pitchFamily="34" charset="0"/>
              </a:rPr>
              <a:t>La IA puede proponer. Tú debes comprender, comprobar y decidir.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39B77F6-7D96-5200-BA2F-5237C7916EC3}"/>
              </a:ext>
            </a:extLst>
          </p:cNvPr>
          <p:cNvSpPr txBox="1"/>
          <p:nvPr/>
        </p:nvSpPr>
        <p:spPr>
          <a:xfrm>
            <a:off x="2078373" y="4866290"/>
            <a:ext cx="7488717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MX" sz="1600" dirty="0">
                <a:latin typeface="Aptos" panose="020B0004020202020204" pitchFamily="34" charset="0"/>
              </a:rPr>
              <a:t>Un mejor prompt puede mejorar la respuesta, pero no garantiza que sea verdadera.</a:t>
            </a:r>
          </a:p>
        </p:txBody>
      </p:sp>
    </p:spTree>
    <p:extLst>
      <p:ext uri="{BB962C8B-B14F-4D97-AF65-F5344CB8AC3E}">
        <p14:creationId xmlns:p14="http://schemas.microsoft.com/office/powerpoint/2010/main" val="1031275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840D3DF8-D736-E25E-53D4-009D47690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96825"/>
            <a:ext cx="10052619" cy="60959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RETO RÁPIDO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326595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285780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5C6670"/>
                </a:solidFill>
                <a:latin typeface="Aptos"/>
              </a:rPr>
              <a:t>¿</a:t>
            </a:r>
            <a:r>
              <a:rPr sz="1000" b="0" dirty="0" err="1">
                <a:solidFill>
                  <a:srgbClr val="5C6670"/>
                </a:solidFill>
                <a:latin typeface="Aptos"/>
              </a:rPr>
              <a:t>Qué</a:t>
            </a:r>
            <a:r>
              <a:rPr sz="1000" b="0" dirty="0">
                <a:solidFill>
                  <a:srgbClr val="5C6670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5C6670"/>
                </a:solidFill>
                <a:latin typeface="Aptos"/>
              </a:rPr>
              <a:t>tendrías</a:t>
            </a:r>
            <a:r>
              <a:rPr sz="1000" b="0" dirty="0">
                <a:solidFill>
                  <a:srgbClr val="5C6670"/>
                </a:solidFill>
                <a:latin typeface="Aptos"/>
              </a:rPr>
              <a:t> que </a:t>
            </a:r>
            <a:r>
              <a:rPr sz="1000" b="0" dirty="0" err="1">
                <a:solidFill>
                  <a:srgbClr val="5C6670"/>
                </a:solidFill>
                <a:latin typeface="Aptos"/>
              </a:rPr>
              <a:t>comprobar</a:t>
            </a:r>
            <a:r>
              <a:rPr sz="1000" b="0" dirty="0">
                <a:solidFill>
                  <a:srgbClr val="5C6670"/>
                </a:solidFill>
                <a:latin typeface="Aptos"/>
              </a:rPr>
              <a:t> ANTES de </a:t>
            </a:r>
            <a:r>
              <a:rPr lang="es-ES" sz="1000" b="0" dirty="0">
                <a:solidFill>
                  <a:srgbClr val="5C6670"/>
                </a:solidFill>
                <a:latin typeface="Aptos"/>
              </a:rPr>
              <a:t>aceptar esta respuesta</a:t>
            </a:r>
            <a:r>
              <a:rPr sz="1000" b="0" dirty="0">
                <a:solidFill>
                  <a:srgbClr val="5C6670"/>
                </a:solidFill>
                <a:latin typeface="Aptos"/>
              </a:rPr>
              <a:t>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118496F-5643-E293-D920-82EFE420F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070" y="1120648"/>
            <a:ext cx="9220200" cy="507929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18375B"/>
                </a:solidFill>
                <a:latin typeface="Aptos"/>
              </a:rPr>
              <a:t>Cómo hacer más preciso un prompt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dirty="0">
                <a:solidFill>
                  <a:srgbClr val="FF0000"/>
                </a:solidFill>
              </a:rPr>
              <a:t>¿Cuál de estos elementos ayuda a controlar la respuesta de la IA y cuál nos ayuda a comprobarla después?</a:t>
            </a:r>
            <a:endParaRPr sz="1000" b="0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0A5A76-4166-C9FD-29FF-266ADDA08785}"/>
              </a:ext>
            </a:extLst>
          </p:cNvPr>
          <p:cNvSpPr txBox="1"/>
          <p:nvPr/>
        </p:nvSpPr>
        <p:spPr>
          <a:xfrm>
            <a:off x="594360" y="1155044"/>
            <a:ext cx="10021088" cy="52322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300" b="0">
                <a:solidFill>
                  <a:srgbClr val="5C6670"/>
                </a:solidFill>
                <a:latin typeface="Aptos"/>
              </a:defRPr>
            </a:lvl1pPr>
          </a:lstStyle>
          <a:p>
            <a:r>
              <a:rPr lang="es-MX" sz="1400" dirty="0"/>
              <a:t>No todos los prompts necesitan los mismos elementos.</a:t>
            </a:r>
            <a:br>
              <a:rPr lang="es-MX" sz="1400" dirty="0"/>
            </a:br>
            <a:r>
              <a:rPr lang="es-MX" sz="1400" dirty="0"/>
              <a:t>Cuando la tarea requiere </a:t>
            </a:r>
            <a:r>
              <a:rPr lang="es-MX" sz="1400" b="1" dirty="0"/>
              <a:t>mayor precisión</a:t>
            </a:r>
            <a:r>
              <a:rPr lang="es-MX" sz="1400" dirty="0"/>
              <a:t>, podemos hacer explícitos contexto, objetivo, formato y criterios de verificación.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>
            <a:extLst>
              <a:ext uri="{FF2B5EF4-FFF2-40B4-BE49-F238E27FC236}">
                <a16:creationId xmlns:a16="http://schemas.microsoft.com/office/drawing/2014/main" id="{4C04165D-2370-0938-8624-03980A6E7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983" y="-2011017"/>
            <a:ext cx="5592417" cy="5592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FEBEB6-44EC-E6EE-6EEF-DB29409DC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1" y="1643272"/>
            <a:ext cx="9404862" cy="5214728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33B03FF0-91AF-6927-95D2-68A965B503A6}"/>
              </a:ext>
            </a:extLst>
          </p:cNvPr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18375B"/>
                </a:solidFill>
                <a:latin typeface="Aptos"/>
              </a:rPr>
              <a:t>Cómo hacer más preciso un prompt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FAC8E4C-2FB1-2D76-AC0C-9C5CC3D4EC26}"/>
              </a:ext>
            </a:extLst>
          </p:cNvPr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3F3A47-3A9C-8384-19DF-0DD50902896E}"/>
              </a:ext>
            </a:extLst>
          </p:cNvPr>
          <p:cNvSpPr txBox="1"/>
          <p:nvPr/>
        </p:nvSpPr>
        <p:spPr>
          <a:xfrm>
            <a:off x="594360" y="1093489"/>
            <a:ext cx="10021088" cy="646331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300" b="0">
                <a:solidFill>
                  <a:srgbClr val="5C6670"/>
                </a:solidFill>
                <a:latin typeface="Aptos"/>
              </a:defRPr>
            </a:lvl1pPr>
          </a:lstStyle>
          <a:p>
            <a:r>
              <a:rPr lang="es-MX" sz="1200" dirty="0"/>
              <a:t>Cómo operan los componentes en conjunto: los cinco primeros condicionan progresivamente la distribución interna del modelo — cada uno </a:t>
            </a:r>
            <a:r>
              <a:rPr lang="es-MX" sz="1200" b="1" dirty="0"/>
              <a:t>elimina una porción del espacio de posibles respuestas</a:t>
            </a:r>
            <a:r>
              <a:rPr lang="es-MX" sz="1200" dirty="0"/>
              <a:t> — antes de que genere cualquier texto; los dos últimos estructuran y evalúan la salida una vez recibida.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7D20B47-F702-3C1F-DA66-FC28BC9DA589}"/>
              </a:ext>
            </a:extLst>
          </p:cNvPr>
          <p:cNvSpPr txBox="1"/>
          <p:nvPr/>
        </p:nvSpPr>
        <p:spPr>
          <a:xfrm>
            <a:off x="3180522" y="3152909"/>
            <a:ext cx="9804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Aptos" panose="020B0004020202020204" pitchFamily="34" charset="0"/>
              </a:rPr>
              <a:t>OBJETIVO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1C982F4-94DA-B76D-73B8-A8D9686604E5}"/>
              </a:ext>
            </a:extLst>
          </p:cNvPr>
          <p:cNvSpPr txBox="1"/>
          <p:nvPr/>
        </p:nvSpPr>
        <p:spPr>
          <a:xfrm>
            <a:off x="7316287" y="2927622"/>
            <a:ext cx="996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Aptos" panose="020B0004020202020204" pitchFamily="34" charset="0"/>
              </a:rPr>
              <a:t>FORMATO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6CCA66F-3D2D-5D34-9BBA-63E89D1C6FF0}"/>
              </a:ext>
            </a:extLst>
          </p:cNvPr>
          <p:cNvSpPr txBox="1"/>
          <p:nvPr/>
        </p:nvSpPr>
        <p:spPr>
          <a:xfrm>
            <a:off x="7036293" y="6581001"/>
            <a:ext cx="5155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Ver: https://helysalgado.github.io/prompting-cientifico/chapters/capitulo3/</a:t>
            </a:r>
          </a:p>
        </p:txBody>
      </p:sp>
    </p:spTree>
    <p:extLst>
      <p:ext uri="{BB962C8B-B14F-4D97-AF65-F5344CB8AC3E}">
        <p14:creationId xmlns:p14="http://schemas.microsoft.com/office/powerpoint/2010/main" val="141574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18375B"/>
                </a:solidFill>
                <a:latin typeface="Aptos"/>
              </a:rPr>
              <a:t>Cómo hacer más preciso un prompt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980176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¿Qué le falta a “Analiza estos datos y dime qué encuentras”?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0A5A76-4166-C9FD-29FF-266ADDA08785}"/>
              </a:ext>
            </a:extLst>
          </p:cNvPr>
          <p:cNvSpPr txBox="1"/>
          <p:nvPr/>
        </p:nvSpPr>
        <p:spPr>
          <a:xfrm>
            <a:off x="594360" y="1724862"/>
            <a:ext cx="10021088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300" b="0">
                <a:solidFill>
                  <a:srgbClr val="5C6670"/>
                </a:solidFill>
                <a:latin typeface="Aptos"/>
              </a:defRPr>
            </a:lvl1pPr>
          </a:lstStyle>
          <a:p>
            <a:r>
              <a:rPr lang="es-MX" sz="2000" dirty="0">
                <a:solidFill>
                  <a:srgbClr val="0070C0"/>
                </a:solidFill>
              </a:rPr>
              <a:t>“¿Qué información puedes obtener de este registro? Explica qué significa cada campo y proporciona información relevante sobre el gen.”</a:t>
            </a:r>
            <a:endParaRPr lang="es-MX" sz="1400" dirty="0">
              <a:solidFill>
                <a:srgbClr val="0070C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B092206-BE93-ADFC-490F-2B435E51C069}"/>
              </a:ext>
            </a:extLst>
          </p:cNvPr>
          <p:cNvSpPr txBox="1"/>
          <p:nvPr/>
        </p:nvSpPr>
        <p:spPr>
          <a:xfrm>
            <a:off x="594360" y="2838752"/>
            <a:ext cx="710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800" b="0" dirty="0">
                <a:solidFill>
                  <a:srgbClr val="18375B"/>
                </a:solidFill>
                <a:latin typeface="Aptos"/>
              </a:rPr>
              <a:t>NC_000913.3	RefSeq	gene	190	255	.	</a:t>
            </a:r>
            <a:r>
              <a:rPr lang="es-MX" sz="1800" dirty="0">
                <a:solidFill>
                  <a:srgbClr val="18375B"/>
                </a:solidFill>
                <a:latin typeface="Aptos"/>
              </a:rPr>
              <a:t>+	ID=gene-b0001;….</a:t>
            </a:r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CD3D20-69EA-2019-62B6-C9B08EDE6372}"/>
              </a:ext>
            </a:extLst>
          </p:cNvPr>
          <p:cNvSpPr txBox="1"/>
          <p:nvPr/>
        </p:nvSpPr>
        <p:spPr>
          <a:xfrm>
            <a:off x="2669628" y="3983421"/>
            <a:ext cx="5833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¿Qué cambiarías en este prompt para evitar que la IA agregue información que no podemos rastrear al archivo?</a:t>
            </a:r>
          </a:p>
        </p:txBody>
      </p:sp>
    </p:spTree>
    <p:extLst>
      <p:ext uri="{BB962C8B-B14F-4D97-AF65-F5344CB8AC3E}">
        <p14:creationId xmlns:p14="http://schemas.microsoft.com/office/powerpoint/2010/main" val="31152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18375B"/>
                </a:solidFill>
                <a:latin typeface="Aptos"/>
              </a:rPr>
              <a:t>Cómo hacer más preciso un prompt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0A5A76-4166-C9FD-29FF-266ADDA08785}"/>
              </a:ext>
            </a:extLst>
          </p:cNvPr>
          <p:cNvSpPr txBox="1"/>
          <p:nvPr/>
        </p:nvSpPr>
        <p:spPr>
          <a:xfrm>
            <a:off x="613016" y="1232100"/>
            <a:ext cx="10021088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300" b="0">
                <a:solidFill>
                  <a:srgbClr val="5C6670"/>
                </a:solidFill>
                <a:latin typeface="Aptos"/>
              </a:defRPr>
            </a:lvl1pPr>
          </a:lstStyle>
          <a:p>
            <a:r>
              <a:rPr lang="es-MX" sz="2000" dirty="0">
                <a:solidFill>
                  <a:srgbClr val="0070C0"/>
                </a:solidFill>
              </a:rPr>
              <a:t>“¿Qué información puedes obtener de este registro? Explica qué significa cada campo y proporciona información relevante sobre el gen.”</a:t>
            </a:r>
            <a:endParaRPr lang="es-MX" sz="1400" dirty="0">
              <a:solidFill>
                <a:srgbClr val="0070C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B092206-BE93-ADFC-490F-2B435E51C069}"/>
              </a:ext>
            </a:extLst>
          </p:cNvPr>
          <p:cNvSpPr txBox="1"/>
          <p:nvPr/>
        </p:nvSpPr>
        <p:spPr>
          <a:xfrm>
            <a:off x="613016" y="2013138"/>
            <a:ext cx="710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800" b="0" dirty="0">
                <a:solidFill>
                  <a:srgbClr val="18375B"/>
                </a:solidFill>
                <a:latin typeface="Aptos"/>
              </a:rPr>
              <a:t>NC_000913.3	RefSeq	gene	190	255	.	</a:t>
            </a:r>
            <a:r>
              <a:rPr lang="es-MX" sz="1800" dirty="0">
                <a:solidFill>
                  <a:srgbClr val="18375B"/>
                </a:solidFill>
                <a:latin typeface="Aptos"/>
              </a:rPr>
              <a:t>+	ID=gene-b0001;….</a:t>
            </a:r>
            <a:endParaRPr lang="es-MX" dirty="0"/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CD64C31-6EA1-5722-A32B-E6428F807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740708"/>
              </p:ext>
            </p:extLst>
          </p:nvPr>
        </p:nvGraphicFramePr>
        <p:xfrm>
          <a:off x="613016" y="2751614"/>
          <a:ext cx="10588388" cy="3690868"/>
        </p:xfrm>
        <a:graphic>
          <a:graphicData uri="http://schemas.openxmlformats.org/drawingml/2006/table">
            <a:tbl>
              <a:tblPr/>
              <a:tblGrid>
                <a:gridCol w="410714">
                  <a:extLst>
                    <a:ext uri="{9D8B030D-6E8A-4147-A177-3AD203B41FA5}">
                      <a16:colId xmlns:a16="http://schemas.microsoft.com/office/drawing/2014/main" val="176180778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335007162"/>
                    </a:ext>
                  </a:extLst>
                </a:gridCol>
                <a:gridCol w="2773018">
                  <a:extLst>
                    <a:ext uri="{9D8B030D-6E8A-4147-A177-3AD203B41FA5}">
                      <a16:colId xmlns:a16="http://schemas.microsoft.com/office/drawing/2014/main" val="4176078923"/>
                    </a:ext>
                  </a:extLst>
                </a:gridCol>
                <a:gridCol w="5804456">
                  <a:extLst>
                    <a:ext uri="{9D8B030D-6E8A-4147-A177-3AD203B41FA5}">
                      <a16:colId xmlns:a16="http://schemas.microsoft.com/office/drawing/2014/main" val="1883955215"/>
                    </a:ext>
                  </a:extLst>
                </a:gridCol>
              </a:tblGrid>
              <a:tr h="267406">
                <a:tc>
                  <a:txBody>
                    <a:bodyPr/>
                    <a:lstStyle/>
                    <a:p>
                      <a:r>
                        <a:rPr lang="es-MX" sz="1600" b="1">
                          <a:latin typeface="Aptos" panose="020B0004020202020204" pitchFamily="34" charset="0"/>
                        </a:rPr>
                        <a:t>#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>
                          <a:latin typeface="Aptos" panose="020B0004020202020204" pitchFamily="34" charset="0"/>
                        </a:rPr>
                        <a:t>Elemento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>
                          <a:latin typeface="Aptos" panose="020B0004020202020204" pitchFamily="34" charset="0"/>
                        </a:rPr>
                        <a:t>Pregunta que responde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>
                          <a:latin typeface="Aptos" panose="020B0004020202020204" pitchFamily="34" charset="0"/>
                        </a:rPr>
                        <a:t>Ejemplo con el GFF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643600"/>
                  </a:ext>
                </a:extLst>
              </a:tr>
              <a:tr h="496612"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1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CONTEXTO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ptos" panose="020B0004020202020204" pitchFamily="34" charset="0"/>
                        </a:rPr>
                        <a:t>¿Qué información necesita conocer?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ptos" panose="020B0004020202020204" pitchFamily="34" charset="0"/>
                        </a:rPr>
                        <a:t>“Te proporciono una línea de un archivo GFF de </a:t>
                      </a:r>
                      <a:r>
                        <a:rPr lang="es-MX" sz="1400" i="1" dirty="0">
                          <a:latin typeface="Aptos" panose="020B0004020202020204" pitchFamily="34" charset="0"/>
                        </a:rPr>
                        <a:t>E. coli</a:t>
                      </a:r>
                      <a:r>
                        <a:rPr lang="es-MX" sz="1400" dirty="0">
                          <a:latin typeface="Aptos" panose="020B0004020202020204" pitchFamily="34" charset="0"/>
                        </a:rPr>
                        <a:t> K-12.”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409937"/>
                  </a:ext>
                </a:extLst>
              </a:tr>
              <a:tr h="611215"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2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latin typeface="Aptos" panose="020B0004020202020204" pitchFamily="34" charset="0"/>
                        </a:rPr>
                        <a:t>OBJETIVO</a:t>
                      </a:r>
                      <a:endParaRPr lang="es-MX" sz="1200" dirty="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ptos" panose="020B0004020202020204" pitchFamily="34" charset="0"/>
                        </a:rPr>
                        <a:t>¿Qué quiero que haga?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ptos" panose="020B0004020202020204" pitchFamily="34" charset="0"/>
                        </a:rPr>
                        <a:t>“Identifica qué información puede obtenerse directamente del registro.”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652165"/>
                  </a:ext>
                </a:extLst>
              </a:tr>
              <a:tr h="496612"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3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FORMATO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latin typeface="Aptos" panose="020B0004020202020204" pitchFamily="34" charset="0"/>
                        </a:rPr>
                        <a:t>¿Cómo quiero la respuesta?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ptos" panose="020B0004020202020204" pitchFamily="34" charset="0"/>
                        </a:rPr>
                        <a:t>“Preséntala en una tabla con: campo, valor e interpretación.”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706968"/>
                  </a:ext>
                </a:extLst>
              </a:tr>
              <a:tr h="840420"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4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RESTRICCIONES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latin typeface="Aptos" panose="020B0004020202020204" pitchFamily="34" charset="0"/>
                        </a:rPr>
                        <a:t>¿Qué debe o no debe hacer?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ptos" panose="020B0004020202020204" pitchFamily="34" charset="0"/>
                        </a:rPr>
                        <a:t>“No agregues información externa sin indicarlo. No inventes datos que no estén presentes.”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847404"/>
                  </a:ext>
                </a:extLst>
              </a:tr>
              <a:tr h="955023"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5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latin typeface="Aptos" panose="020B0004020202020204" pitchFamily="34" charset="0"/>
                        </a:rPr>
                        <a:t>VERIFICACIÓN</a:t>
                      </a:r>
                      <a:endParaRPr lang="es-MX" sz="1200">
                        <a:latin typeface="Aptos" panose="020B0004020202020204" pitchFamily="34" charset="0"/>
                      </a:endParaRP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latin typeface="Aptos" panose="020B0004020202020204" pitchFamily="34" charset="0"/>
                        </a:rPr>
                        <a:t>¿Qué necesito para poder comprobar la respuesta?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ptos" panose="020B0004020202020204" pitchFamily="34" charset="0"/>
                        </a:rPr>
                        <a:t>“Para cada afirmación, indica si proviene del registro. Si usas información externa, señala la fuente para poder verificarla.”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653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632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18375B"/>
                </a:solidFill>
                <a:latin typeface="Aptos"/>
              </a:rPr>
              <a:t>Cómo hacer más preciso un prompt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6012513"/>
            <a:ext cx="9144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000" b="1" dirty="0"/>
              <a:t>¿Qué cambió en el prompt que nos permite controlar mejor la respuesta?</a:t>
            </a:r>
            <a:endParaRPr sz="1000" b="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0A5A76-4166-C9FD-29FF-266ADDA08785}"/>
              </a:ext>
            </a:extLst>
          </p:cNvPr>
          <p:cNvSpPr txBox="1"/>
          <p:nvPr/>
        </p:nvSpPr>
        <p:spPr>
          <a:xfrm>
            <a:off x="594360" y="1724862"/>
            <a:ext cx="10021088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300" b="0">
                <a:solidFill>
                  <a:srgbClr val="5C6670"/>
                </a:solidFill>
                <a:latin typeface="Aptos"/>
              </a:defRPr>
            </a:lvl1pPr>
          </a:lstStyle>
          <a:p>
            <a:r>
              <a:rPr lang="es-MX" sz="2000" dirty="0">
                <a:solidFill>
                  <a:srgbClr val="0070C0"/>
                </a:solidFill>
              </a:rPr>
              <a:t>“¿Qué información puedes obtener de este registro? Explica qué significa cada campo y proporciona información relevante sobre el gen.”</a:t>
            </a:r>
            <a:endParaRPr lang="es-MX" sz="1400" dirty="0">
              <a:solidFill>
                <a:srgbClr val="0070C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B092206-BE93-ADFC-490F-2B435E51C069}"/>
              </a:ext>
            </a:extLst>
          </p:cNvPr>
          <p:cNvSpPr txBox="1"/>
          <p:nvPr/>
        </p:nvSpPr>
        <p:spPr>
          <a:xfrm>
            <a:off x="594360" y="2838752"/>
            <a:ext cx="710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800" b="0" dirty="0">
                <a:solidFill>
                  <a:srgbClr val="18375B"/>
                </a:solidFill>
                <a:latin typeface="Aptos"/>
              </a:rPr>
              <a:t>NC_000913.3	RefSeq	gene	190	255	.	</a:t>
            </a:r>
            <a:r>
              <a:rPr lang="es-MX" sz="1800" dirty="0">
                <a:solidFill>
                  <a:srgbClr val="18375B"/>
                </a:solidFill>
                <a:latin typeface="Aptos"/>
              </a:rPr>
              <a:t>+	ID=gene-b0001;….</a:t>
            </a:r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CD3D20-69EA-2019-62B6-C9B08EDE6372}"/>
              </a:ext>
            </a:extLst>
          </p:cNvPr>
          <p:cNvSpPr txBox="1"/>
          <p:nvPr/>
        </p:nvSpPr>
        <p:spPr>
          <a:xfrm>
            <a:off x="689113" y="3983421"/>
            <a:ext cx="9926335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Te proporciono una línea de un archivo GFF. Identifica la información que puede obtenerse del registro y explica qué significa. Presenta el resultado en una tabla con campo, valor e interpretación. Distingue claramente lo que proviene directamente del registro; si agregas información externa, indícalo y proporciona la fuente para poder verificarla.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566032-7BF1-4418-F704-3D48B476731B}"/>
              </a:ext>
            </a:extLst>
          </p:cNvPr>
          <p:cNvSpPr txBox="1"/>
          <p:nvPr/>
        </p:nvSpPr>
        <p:spPr>
          <a:xfrm>
            <a:off x="597694" y="3639954"/>
            <a:ext cx="1992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Mejora del prompt</a:t>
            </a:r>
          </a:p>
        </p:txBody>
      </p:sp>
    </p:spTree>
    <p:extLst>
      <p:ext uri="{BB962C8B-B14F-4D97-AF65-F5344CB8AC3E}">
        <p14:creationId xmlns:p14="http://schemas.microsoft.com/office/powerpoint/2010/main" val="3739733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figura-u1-s01-validacion-ia.png">
            <a:extLst>
              <a:ext uri="{FF2B5EF4-FFF2-40B4-BE49-F238E27FC236}">
                <a16:creationId xmlns:a16="http://schemas.microsoft.com/office/drawing/2014/main" id="{6AAEBD9F-85AE-BFEF-E3AE-526CA405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89" y="1191181"/>
            <a:ext cx="8535492" cy="458782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375B"/>
                </a:solidFill>
                <a:latin typeface="Aptos"/>
              </a:rPr>
              <a:t>Antes de usar una respuesta de IA: entender → probar → contrastar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8285" y="2523064"/>
            <a:ext cx="2935995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18375B"/>
                </a:solidFill>
                <a:latin typeface="Aptos"/>
              </a:rPr>
              <a:t>Un </a:t>
            </a:r>
            <a:r>
              <a:rPr sz="1500" b="1" dirty="0" err="1">
                <a:solidFill>
                  <a:srgbClr val="18375B"/>
                </a:solidFill>
                <a:latin typeface="Aptos"/>
              </a:rPr>
              <a:t>buen</a:t>
            </a:r>
            <a:r>
              <a:rPr sz="1500" b="1" dirty="0">
                <a:solidFill>
                  <a:srgbClr val="18375B"/>
                </a:solidFill>
                <a:latin typeface="Aptos"/>
              </a:rPr>
              <a:t> prompt </a:t>
            </a:r>
            <a:r>
              <a:rPr sz="1500" b="1" dirty="0" err="1">
                <a:solidFill>
                  <a:srgbClr val="18375B"/>
                </a:solidFill>
                <a:latin typeface="Aptos"/>
              </a:rPr>
              <a:t>mejora</a:t>
            </a:r>
            <a:r>
              <a:rPr sz="1500" b="1" dirty="0">
                <a:solidFill>
                  <a:srgbClr val="18375B"/>
                </a:solidFill>
                <a:latin typeface="Aptos"/>
              </a:rPr>
              <a:t> la </a:t>
            </a:r>
            <a:r>
              <a:rPr sz="1500" b="1" dirty="0" err="1">
                <a:solidFill>
                  <a:srgbClr val="18375B"/>
                </a:solidFill>
                <a:latin typeface="Aptos"/>
              </a:rPr>
              <a:t>respuesta</a:t>
            </a:r>
            <a:r>
              <a:rPr sz="1500" b="1" dirty="0">
                <a:solidFill>
                  <a:srgbClr val="18375B"/>
                </a:solidFill>
                <a:latin typeface="Aptos"/>
              </a:rPr>
              <a:t>; la </a:t>
            </a:r>
            <a:r>
              <a:rPr sz="1500" b="1" dirty="0" err="1">
                <a:solidFill>
                  <a:srgbClr val="18375B"/>
                </a:solidFill>
                <a:latin typeface="Aptos"/>
              </a:rPr>
              <a:t>validación</a:t>
            </a:r>
            <a:r>
              <a:rPr sz="1500" b="1" dirty="0">
                <a:solidFill>
                  <a:srgbClr val="18375B"/>
                </a:solidFill>
                <a:latin typeface="Aptos"/>
              </a:rPr>
              <a:t> posterior </a:t>
            </a:r>
            <a:r>
              <a:rPr sz="1500" b="1" dirty="0" err="1">
                <a:solidFill>
                  <a:srgbClr val="18375B"/>
                </a:solidFill>
                <a:latin typeface="Aptos"/>
              </a:rPr>
              <a:t>sigue</a:t>
            </a:r>
            <a:r>
              <a:rPr sz="15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8375B"/>
                </a:solidFill>
                <a:latin typeface="Aptos"/>
              </a:rPr>
              <a:t>siendo</a:t>
            </a:r>
            <a:r>
              <a:rPr sz="1500" b="1" dirty="0">
                <a:solidFill>
                  <a:srgbClr val="18375B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8375B"/>
                </a:solidFill>
                <a:latin typeface="Aptos"/>
              </a:rPr>
              <a:t>obligatoria</a:t>
            </a:r>
            <a:r>
              <a:rPr sz="1500" b="1" dirty="0">
                <a:solidFill>
                  <a:srgbClr val="18375B"/>
                </a:solidFill>
                <a:latin typeface="Apto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980176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Si la IA propone lo mismo que tú hiciste a mano, ¿eso demuestra que ambos están bien?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980176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¿Qué tendría que quedar escrito para que otra persona entienda por qué aceptaste una respuesta de IA?</a:t>
            </a:r>
          </a:p>
        </p:txBody>
      </p:sp>
      <p:sp>
        <p:nvSpPr>
          <p:cNvPr id="26" name="AutoShape 2" descr="Imagen generada: Bitácora de IA: flujo de verificación y decisión">
            <a:extLst>
              <a:ext uri="{FF2B5EF4-FFF2-40B4-BE49-F238E27FC236}">
                <a16:creationId xmlns:a16="http://schemas.microsoft.com/office/drawing/2014/main" id="{56DDA10C-5CEE-5629-43E3-702CD62413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75" y="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9EE8A98-937F-3221-1316-B6098EFEB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52" y="406280"/>
            <a:ext cx="10821987" cy="60906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2 — </a:t>
            </a:r>
            <a:r>
              <a:rPr lang="es-MX" sz="2400" b="1" dirty="0">
                <a:solidFill>
                  <a:srgbClr val="18375B"/>
                </a:solidFill>
                <a:latin typeface="Aptos"/>
              </a:rPr>
              <a:t>Poner a prueba nuestra estrategia con apoyo de IA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09983"/>
            <a:ext cx="106070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1400" b="1" dirty="0"/>
              <a:t>La estrategia ya es nuestra. Ahora usaremos IA para cuestionarla y buscar posibles problemas.</a:t>
            </a:r>
            <a:endParaRPr sz="1300" b="0" dirty="0">
              <a:solidFill>
                <a:srgbClr val="5C6670"/>
              </a:solidFill>
              <a:latin typeface="Apto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E1C127-0374-948E-213A-394F6080AA80}"/>
              </a:ext>
            </a:extLst>
          </p:cNvPr>
          <p:cNvSpPr txBox="1"/>
          <p:nvPr/>
        </p:nvSpPr>
        <p:spPr>
          <a:xfrm>
            <a:off x="548640" y="1604619"/>
            <a:ext cx="602979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/>
              <a:t>Ya tenemos:</a:t>
            </a:r>
            <a:endParaRPr lang="es-MX" sz="1600" dirty="0"/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protocolo.md </a:t>
            </a:r>
            <a:r>
              <a:rPr lang="es-MX" sz="1600" dirty="0"/>
              <a:t>→ qué queremos saber</a:t>
            </a:r>
            <a:br>
              <a:rPr lang="es-MX" sz="1600" dirty="0"/>
            </a:b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genes_ecoli.gff </a:t>
            </a:r>
            <a:r>
              <a:rPr lang="es-MX" sz="1600" dirty="0"/>
              <a:t>→ los datos</a:t>
            </a:r>
            <a:br>
              <a:rPr lang="es-MX" sz="1600" dirty="0"/>
            </a:b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genes_ecoli-metadatos.md </a:t>
            </a:r>
            <a:r>
              <a:rPr lang="es-MX" sz="1600" dirty="0"/>
              <a:t>→ qué son y de dónde provienen</a:t>
            </a:r>
          </a:p>
          <a:p>
            <a:endParaRPr lang="es-MX" sz="1600" dirty="0"/>
          </a:p>
          <a:p>
            <a:r>
              <a:rPr lang="es-MX" sz="1600" dirty="0"/>
              <a:t>La pregunta central sigue siendo:</a:t>
            </a:r>
          </a:p>
          <a:p>
            <a:endParaRPr lang="es-MX" sz="1600" dirty="0"/>
          </a:p>
          <a:p>
            <a:endParaRPr lang="es-MX" sz="1600" dirty="0"/>
          </a:p>
          <a:p>
            <a:endParaRPr lang="es-MX" sz="1600" dirty="0"/>
          </a:p>
          <a:p>
            <a:r>
              <a:rPr lang="es-MX" sz="1600" dirty="0"/>
              <a:t>Y nuestra estrategia inicial para responderla:</a:t>
            </a:r>
          </a:p>
          <a:p>
            <a:endParaRPr lang="es-MX" sz="16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7AF8A62-39CA-3017-4729-8F1DA47BB05B}"/>
              </a:ext>
            </a:extLst>
          </p:cNvPr>
          <p:cNvSpPr txBox="1"/>
          <p:nvPr/>
        </p:nvSpPr>
        <p:spPr>
          <a:xfrm>
            <a:off x="1244379" y="3191675"/>
            <a:ext cx="846481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dirty="0"/>
              <a:t>¿Cuántos genes tiene el genoma de </a:t>
            </a:r>
            <a:r>
              <a:rPr lang="es-MX" i="1" dirty="0"/>
              <a:t>E. coli</a:t>
            </a:r>
            <a:r>
              <a:rPr lang="es-MX" dirty="0"/>
              <a:t> K-12 y cómo se distribuyen en el cromosoma?</a:t>
            </a: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CDD9BEC6-DC52-674C-92B1-52BAA6D31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448944"/>
              </p:ext>
            </p:extLst>
          </p:nvPr>
        </p:nvGraphicFramePr>
        <p:xfrm>
          <a:off x="1155921" y="4114779"/>
          <a:ext cx="9849677" cy="2051423"/>
        </p:xfrm>
        <a:graphic>
          <a:graphicData uri="http://schemas.openxmlformats.org/drawingml/2006/table">
            <a:tbl>
              <a:tblPr/>
              <a:tblGrid>
                <a:gridCol w="1478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1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2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Subpregunta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Evidencia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Dato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Operación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¿Cómo comprobar?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2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Tamaño del genoma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sz="1300" kern="1200" dirty="0">
                          <a:solidFill>
                            <a:srgbClr val="24364B"/>
                          </a:solidFill>
                          <a:latin typeface="Aptos" pitchFamily="34" charset="0"/>
                        </a:rPr>
                        <a:t>Longitud de la secuencia de referencia</a:t>
                      </a:r>
                      <a:endParaRPr lang="en-US" sz="1300" kern="1200" dirty="0">
                        <a:solidFill>
                          <a:srgbClr val="24364B"/>
                        </a:solidFill>
                        <a:latin typeface="Aptos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FASTA o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metadatos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de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referencia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sz="1400" dirty="0"/>
                        <a:t>Obtener la longitud total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Contrastar con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una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fuente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original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Número de genes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Registros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de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tipo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“gene”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sz="1400" dirty="0"/>
                        <a:t>Seleccionar registros </a:t>
                      </a:r>
                      <a:r>
                        <a:rPr lang="es-MX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</a:t>
                      </a:r>
                      <a:r>
                        <a:rPr lang="es-MX" sz="1400" dirty="0"/>
                        <a:t> y contar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Comparar con referencia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12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Genes </a:t>
                      </a:r>
                      <a:r>
                        <a:rPr lang="en-US" sz="1300" kern="12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</a:t>
                      </a:r>
                      <a:r>
                        <a:rPr lang="en-US" sz="1300" kern="12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1300" kern="12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hebra</a:t>
                      </a:r>
                      <a:endParaRPr lang="en-US" sz="1300" kern="1200" dirty="0">
                        <a:solidFill>
                          <a:srgbClr val="24364B"/>
                        </a:solidFill>
                        <a:latin typeface="Aptos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MX" sz="1300" kern="1200" dirty="0">
                          <a:solidFill>
                            <a:srgbClr val="24364B"/>
                          </a:solidFill>
                          <a:latin typeface="Aptos" pitchFamily="34" charset="0"/>
                        </a:rPr>
                        <a:t>Registros </a:t>
                      </a:r>
                      <a:r>
                        <a:rPr lang="es-MX" sz="1300" kern="1200" dirty="0">
                          <a:solidFill>
                            <a:srgbClr val="24364B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</a:t>
                      </a:r>
                      <a:r>
                        <a:rPr lang="es-MX" sz="1300" kern="1200" dirty="0">
                          <a:solidFill>
                            <a:srgbClr val="24364B"/>
                          </a:solidFill>
                          <a:latin typeface="Aptos" pitchFamily="34" charset="0"/>
                        </a:rPr>
                        <a:t> con + o −</a:t>
                      </a:r>
                      <a:endParaRPr lang="en-US" sz="1300" kern="1200" dirty="0">
                        <a:solidFill>
                          <a:srgbClr val="24364B"/>
                        </a:solidFill>
                        <a:latin typeface="Aptos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Agrupar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hebra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y contar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 y − deben sumar </a:t>
                      </a:r>
                      <a:r>
                        <a:rPr lang="en-US" sz="1300" dirty="0" err="1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</a:t>
                      </a: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total de genes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2 — </a:t>
            </a:r>
            <a:r>
              <a:rPr lang="es-MX" sz="2400" b="1" dirty="0">
                <a:solidFill>
                  <a:srgbClr val="18375B"/>
                </a:solidFill>
                <a:latin typeface="Aptos"/>
              </a:rPr>
              <a:t>Poner a prueba nuestra estrategia con apoyo de IA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E1C127-0374-948E-213A-394F6080AA80}"/>
              </a:ext>
            </a:extLst>
          </p:cNvPr>
          <p:cNvSpPr txBox="1"/>
          <p:nvPr/>
        </p:nvSpPr>
        <p:spPr>
          <a:xfrm>
            <a:off x="548640" y="1604619"/>
            <a:ext cx="10437024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1 · Pide a la IA que critique nuestra estrategia</a:t>
            </a:r>
          </a:p>
          <a:p>
            <a:endParaRPr lang="es-MX" sz="16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s-MX" sz="16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Construye un prompt para que la IA evalúe si la estrategia permite responder la pregunta con los datos que tenemos.</a:t>
            </a:r>
          </a:p>
          <a:p>
            <a:endParaRPr lang="es-MX" sz="16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s-MX" sz="16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Recordatorio:</a:t>
            </a:r>
          </a:p>
          <a:p>
            <a:pPr lvl="1"/>
            <a:endParaRPr lang="es-MX" sz="16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1"/>
            <a:r>
              <a:rPr lang="es-MX" sz="1600" b="1" dirty="0">
                <a:latin typeface="Aptos" panose="020B0004020202020204" pitchFamily="34" charset="0"/>
              </a:rPr>
              <a:t>CONTEXTO</a:t>
            </a:r>
            <a:r>
              <a:rPr lang="es-MX" sz="1600" dirty="0">
                <a:latin typeface="Aptos" panose="020B0004020202020204" pitchFamily="34" charset="0"/>
              </a:rPr>
              <a:t> → ¿Qué necesita saber la IA?</a:t>
            </a:r>
            <a:br>
              <a:rPr lang="es-MX" sz="1600" dirty="0">
                <a:latin typeface="Aptos" panose="020B0004020202020204" pitchFamily="34" charset="0"/>
              </a:rPr>
            </a:br>
            <a:r>
              <a:rPr lang="es-MX" sz="1600" b="1" dirty="0">
                <a:latin typeface="Aptos" panose="020B0004020202020204" pitchFamily="34" charset="0"/>
              </a:rPr>
              <a:t>OBJETIVO</a:t>
            </a:r>
            <a:r>
              <a:rPr lang="es-MX" sz="1600" dirty="0">
                <a:latin typeface="Aptos" panose="020B0004020202020204" pitchFamily="34" charset="0"/>
              </a:rPr>
              <a:t> → ¿Qué quiero que haga?</a:t>
            </a:r>
            <a:br>
              <a:rPr lang="es-MX" sz="1600" dirty="0">
                <a:latin typeface="Aptos" panose="020B0004020202020204" pitchFamily="34" charset="0"/>
              </a:rPr>
            </a:br>
            <a:r>
              <a:rPr lang="es-MX" sz="1600" b="1" dirty="0">
                <a:latin typeface="Aptos" panose="020B0004020202020204" pitchFamily="34" charset="0"/>
              </a:rPr>
              <a:t>FORMATO</a:t>
            </a:r>
            <a:r>
              <a:rPr lang="es-MX" sz="1600" dirty="0">
                <a:latin typeface="Aptos" panose="020B0004020202020204" pitchFamily="34" charset="0"/>
              </a:rPr>
              <a:t> → ¿Cómo quiero la respuesta?</a:t>
            </a:r>
            <a:br>
              <a:rPr lang="es-MX" sz="1600" dirty="0">
                <a:latin typeface="Aptos" panose="020B0004020202020204" pitchFamily="34" charset="0"/>
              </a:rPr>
            </a:br>
            <a:r>
              <a:rPr lang="es-MX" sz="1600" b="1" dirty="0">
                <a:latin typeface="Aptos" panose="020B0004020202020204" pitchFamily="34" charset="0"/>
              </a:rPr>
              <a:t>RESTRICCIONES</a:t>
            </a:r>
            <a:r>
              <a:rPr lang="es-MX" sz="1600" dirty="0">
                <a:latin typeface="Aptos" panose="020B0004020202020204" pitchFamily="34" charset="0"/>
              </a:rPr>
              <a:t> → ¿Qué debe o no debe hacer?</a:t>
            </a:r>
            <a:endParaRPr lang="es-MX" sz="16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endParaRPr lang="es-MX" sz="16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s-MX"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Nota: No le pidas una estrategia nueva todavía. Primero pídele que evalúe la nuestra.</a:t>
            </a:r>
            <a:endParaRPr lang="es-MX" sz="16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endParaRPr lang="es-MX" sz="16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594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2 — </a:t>
            </a:r>
            <a:r>
              <a:rPr lang="es-MX" sz="2400" b="1" dirty="0">
                <a:solidFill>
                  <a:srgbClr val="18375B"/>
                </a:solidFill>
                <a:latin typeface="Aptos"/>
              </a:rPr>
              <a:t>Poner a prueba nuestra estrategia con apoyo de IA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E1C127-0374-948E-213A-394F6080AA80}"/>
              </a:ext>
            </a:extLst>
          </p:cNvPr>
          <p:cNvSpPr txBox="1"/>
          <p:nvPr/>
        </p:nvSpPr>
        <p:spPr>
          <a:xfrm>
            <a:off x="548641" y="1604619"/>
            <a:ext cx="1001665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>
                <a:latin typeface="Aptos" panose="020B0004020202020204" pitchFamily="34" charset="0"/>
              </a:rPr>
              <a:t>Contexto:</a:t>
            </a:r>
            <a:r>
              <a:rPr lang="es-MX" sz="1600" dirty="0">
                <a:latin typeface="Aptos" panose="020B0004020202020204" pitchFamily="34" charset="0"/>
              </a:rPr>
              <a:t> Estoy investigando cuántos genes tiene el genoma de </a:t>
            </a:r>
            <a:r>
              <a:rPr lang="es-MX" sz="1600" i="1" dirty="0">
                <a:latin typeface="Aptos" panose="020B0004020202020204" pitchFamily="34" charset="0"/>
              </a:rPr>
              <a:t>E. coli</a:t>
            </a:r>
            <a:r>
              <a:rPr lang="es-MX" sz="1600" dirty="0">
                <a:latin typeface="Aptos" panose="020B0004020202020204" pitchFamily="34" charset="0"/>
              </a:rPr>
              <a:t> K-12 y cómo se distribuyen en el cromosoma. Ya elaboré una estrategia inicial y tengo un archivo genes_ecoli.gff junto con su ficha de metadatos.</a:t>
            </a:r>
          </a:p>
          <a:p>
            <a:pPr algn="just"/>
            <a:endParaRPr lang="es-MX" sz="1600" b="1" dirty="0">
              <a:latin typeface="Aptos" panose="020B0004020202020204" pitchFamily="34" charset="0"/>
            </a:endParaRPr>
          </a:p>
          <a:p>
            <a:pPr algn="just"/>
            <a:r>
              <a:rPr lang="es-MX" sz="1600" b="1" dirty="0">
                <a:latin typeface="Aptos" panose="020B0004020202020204" pitchFamily="34" charset="0"/>
              </a:rPr>
              <a:t>Objetivo:</a:t>
            </a:r>
            <a:r>
              <a:rPr lang="es-MX" sz="1600" dirty="0">
                <a:latin typeface="Aptos" panose="020B0004020202020204" pitchFamily="34" charset="0"/>
              </a:rPr>
              <a:t> Evalúa mi estrategia. Para cada subpregunta, indica si la evidencia, el dato y la operación propuesta son adecuados para responderla. Identifica posibles problemas o información que haga falta.</a:t>
            </a:r>
          </a:p>
          <a:p>
            <a:pPr algn="just"/>
            <a:endParaRPr lang="es-MX" sz="1600" b="1" dirty="0">
              <a:latin typeface="Aptos" panose="020B0004020202020204" pitchFamily="34" charset="0"/>
            </a:endParaRPr>
          </a:p>
          <a:p>
            <a:pPr algn="just"/>
            <a:r>
              <a:rPr lang="es-MX" sz="1600" b="1" dirty="0">
                <a:latin typeface="Aptos" panose="020B0004020202020204" pitchFamily="34" charset="0"/>
              </a:rPr>
              <a:t>Formato:</a:t>
            </a:r>
            <a:r>
              <a:rPr lang="es-MX" sz="1600" dirty="0">
                <a:latin typeface="Aptos" panose="020B0004020202020204" pitchFamily="34" charset="0"/>
              </a:rPr>
              <a:t> Presenta tu evaluación en una tabla con las columnas: subpregunta, qué está bien, qué revisar y por qué.</a:t>
            </a:r>
          </a:p>
          <a:p>
            <a:pPr algn="just"/>
            <a:endParaRPr lang="es-MX" sz="1600" b="1" dirty="0">
              <a:latin typeface="Aptos" panose="020B0004020202020204" pitchFamily="34" charset="0"/>
            </a:endParaRPr>
          </a:p>
          <a:p>
            <a:pPr algn="just"/>
            <a:r>
              <a:rPr lang="es-MX" sz="1600" b="1" dirty="0">
                <a:latin typeface="Aptos" panose="020B0004020202020204" pitchFamily="34" charset="0"/>
              </a:rPr>
              <a:t>Restricciones:</a:t>
            </a:r>
            <a:r>
              <a:rPr lang="es-MX" sz="1600" dirty="0">
                <a:latin typeface="Aptos" panose="020B0004020202020204" pitchFamily="34" charset="0"/>
              </a:rPr>
              <a:t> No proporciones comandos. No sustituyas mi estrategia por una nueva. No asumas información que no esté en los materiales proporcionados. Si necesitas información adicional para evaluar algo, indícalo explícitamente.</a:t>
            </a:r>
          </a:p>
          <a:p>
            <a:pPr algn="just"/>
            <a:endParaRPr lang="es-MX" sz="16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2BCF24-9690-2F59-8967-F9A0FD9CD526}"/>
              </a:ext>
            </a:extLst>
          </p:cNvPr>
          <p:cNvSpPr txBox="1"/>
          <p:nvPr/>
        </p:nvSpPr>
        <p:spPr>
          <a:xfrm>
            <a:off x="594360" y="4829693"/>
            <a:ext cx="5501640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ptos" panose="020B0004020202020204" pitchFamily="34" charset="0"/>
              </a:rPr>
              <a:t>Y junto al prompt </a:t>
            </a:r>
            <a:r>
              <a:rPr lang="es-MX" sz="1600" b="1" dirty="0">
                <a:latin typeface="Aptos" panose="020B0004020202020204" pitchFamily="34" charset="0"/>
              </a:rPr>
              <a:t>adjuntar</a:t>
            </a:r>
            <a:r>
              <a:rPr lang="es-MX" sz="1600" dirty="0">
                <a:latin typeface="Aptos" panose="020B0004020202020204" pitchFamily="34" charset="0"/>
              </a:rPr>
              <a:t>:</a:t>
            </a:r>
          </a:p>
          <a:p>
            <a:r>
              <a:rPr lang="es-MX" sz="1600" dirty="0">
                <a:latin typeface="Aptos" panose="020B0004020202020204" pitchFamily="34" charset="0"/>
              </a:rPr>
              <a:t>- 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protocolo.md 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 genes_ecoli.gff </a:t>
            </a: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 genes_ecoli-metadatos.md</a:t>
            </a:r>
          </a:p>
          <a:p>
            <a:endParaRPr lang="es-MX" sz="1600" dirty="0">
              <a:latin typeface="Aptos" panose="020B00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85F6442-90A2-CBD8-C887-CE5E75234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695" y="4897828"/>
            <a:ext cx="4479236" cy="109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689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DB99BB3-1729-731E-8AC0-D9EB7CCD440D}"/>
              </a:ext>
            </a:extLst>
          </p:cNvPr>
          <p:cNvSpPr txBox="1"/>
          <p:nvPr/>
        </p:nvSpPr>
        <p:spPr>
          <a:xfrm>
            <a:off x="795130" y="1769165"/>
            <a:ext cx="10038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Verificación solicitada a la IA:</a:t>
            </a:r>
            <a:r>
              <a:rPr lang="es-MX" dirty="0"/>
              <a:t> </a:t>
            </a:r>
          </a:p>
          <a:p>
            <a:endParaRPr lang="es-MX" dirty="0"/>
          </a:p>
          <a:p>
            <a:r>
              <a:rPr lang="es-MX" b="1" dirty="0"/>
              <a:t>VERIFICABILIDAD: </a:t>
            </a:r>
            <a:r>
              <a:rPr lang="es-MX" dirty="0"/>
              <a:t>Para cada problema que identifiques, indica qué parte de los archivos proporcionados sustenta tu observación. Si no puedes comprobarlo con esos archivos, indícalo.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369BF7-6FFD-07BC-38AF-8B41877A3290}"/>
              </a:ext>
            </a:extLst>
          </p:cNvPr>
          <p:cNvSpPr txBox="1"/>
          <p:nvPr/>
        </p:nvSpPr>
        <p:spPr>
          <a:xfrm>
            <a:off x="874643" y="3607904"/>
            <a:ext cx="9253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Verificación del estudiante:</a:t>
            </a:r>
            <a:r>
              <a:rPr lang="es-MX" dirty="0"/>
              <a:t> comprobar si lo que afirma la IA realmente está sustentado por protocolo.md, genes_ecoli.gff, genes_ecoli-metadatos.md o por una fuente externa confiable.</a:t>
            </a:r>
          </a:p>
        </p:txBody>
      </p:sp>
    </p:spTree>
    <p:extLst>
      <p:ext uri="{BB962C8B-B14F-4D97-AF65-F5344CB8AC3E}">
        <p14:creationId xmlns:p14="http://schemas.microsoft.com/office/powerpoint/2010/main" val="1519808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2 — </a:t>
            </a:r>
            <a:r>
              <a:rPr lang="es-MX" sz="2400" b="1" dirty="0">
                <a:solidFill>
                  <a:srgbClr val="18375B"/>
                </a:solidFill>
                <a:latin typeface="Aptos"/>
              </a:rPr>
              <a:t>Poner a prueba nuestra estrategia con apoyo de IA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E1C127-0374-948E-213A-394F6080AA80}"/>
              </a:ext>
            </a:extLst>
          </p:cNvPr>
          <p:cNvSpPr txBox="1"/>
          <p:nvPr/>
        </p:nvSpPr>
        <p:spPr>
          <a:xfrm>
            <a:off x="548641" y="1604619"/>
            <a:ext cx="1001665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ptos" panose="020B0004020202020204" pitchFamily="34" charset="0"/>
              </a:rPr>
              <a:t>2 · Ahora evalúa tú a la IA</a:t>
            </a:r>
          </a:p>
          <a:p>
            <a:endParaRPr lang="es-MX" sz="1600" dirty="0">
              <a:latin typeface="Aptos" panose="020B0004020202020204" pitchFamily="34" charset="0"/>
            </a:endParaRPr>
          </a:p>
          <a:p>
            <a:r>
              <a:rPr lang="es-MX" sz="1600" dirty="0">
                <a:latin typeface="Aptos" panose="020B0004020202020204" pitchFamily="34" charset="0"/>
              </a:rPr>
              <a:t>Aquí ocurre la parte científicamente interesante:</a:t>
            </a:r>
          </a:p>
          <a:p>
            <a:endParaRPr lang="es-MX" sz="1600" dirty="0">
              <a:latin typeface="Aptos" panose="020B0004020202020204" pitchFamily="34" charset="0"/>
            </a:endParaRPr>
          </a:p>
          <a:p>
            <a:pPr lvl="1"/>
            <a:r>
              <a:rPr lang="es-MX" sz="1600" dirty="0">
                <a:latin typeface="Aptos" panose="020B0004020202020204" pitchFamily="34" charset="0"/>
              </a:rPr>
              <a:t>¿La crítica es válida?</a:t>
            </a:r>
            <a:br>
              <a:rPr lang="es-MX" sz="1600" dirty="0">
                <a:latin typeface="Aptos" panose="020B0004020202020204" pitchFamily="34" charset="0"/>
              </a:rPr>
            </a:br>
            <a:r>
              <a:rPr lang="es-MX" sz="1600" dirty="0">
                <a:latin typeface="Aptos" panose="020B0004020202020204" pitchFamily="34" charset="0"/>
              </a:rPr>
              <a:t>¿En qué evidencia se basa?</a:t>
            </a:r>
            <a:br>
              <a:rPr lang="es-MX" sz="1600" dirty="0">
                <a:latin typeface="Aptos" panose="020B0004020202020204" pitchFamily="34" charset="0"/>
              </a:rPr>
            </a:br>
            <a:r>
              <a:rPr lang="es-MX" sz="1600" dirty="0">
                <a:latin typeface="Aptos" panose="020B0004020202020204" pitchFamily="34" charset="0"/>
              </a:rPr>
              <a:t>¿La podemos comprobar con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genes_ecoli.gff </a:t>
            </a:r>
            <a:r>
              <a:rPr lang="es-MX" sz="1600" dirty="0">
                <a:latin typeface="Aptos" panose="020B0004020202020204" pitchFamily="34" charset="0"/>
              </a:rPr>
              <a:t>o sus metadatos?</a:t>
            </a:r>
            <a:br>
              <a:rPr lang="es-MX" sz="1600" dirty="0">
                <a:latin typeface="Aptos" panose="020B0004020202020204" pitchFamily="34" charset="0"/>
              </a:rPr>
            </a:br>
            <a:r>
              <a:rPr lang="es-MX" sz="1600" dirty="0">
                <a:latin typeface="Aptos" panose="020B0004020202020204" pitchFamily="34" charset="0"/>
              </a:rPr>
              <a:t>¿Está suponiendo algo?</a:t>
            </a:r>
          </a:p>
          <a:p>
            <a:pPr lvl="1"/>
            <a:endParaRPr lang="es-MX" sz="1600" dirty="0">
              <a:latin typeface="Aptos" panose="020B0004020202020204" pitchFamily="34" charset="0"/>
            </a:endParaRPr>
          </a:p>
          <a:p>
            <a:pPr lvl="1"/>
            <a:r>
              <a:rPr lang="es-MX" sz="1600" dirty="0">
                <a:latin typeface="Aptos" panose="020B0004020202020204" pitchFamily="34" charset="0"/>
              </a:rPr>
              <a:t>→ </a:t>
            </a:r>
            <a:r>
              <a:rPr lang="es-MX" sz="1600" b="1" dirty="0">
                <a:latin typeface="Aptos" panose="020B0004020202020204" pitchFamily="34" charset="0"/>
              </a:rPr>
              <a:t>ACEPTO · RECHAZO · FALTA VERIFICAR</a:t>
            </a:r>
          </a:p>
          <a:p>
            <a:pPr lvl="1"/>
            <a:endParaRPr lang="es-MX" sz="1600" b="1" dirty="0">
              <a:latin typeface="Aptos" panose="020B0004020202020204" pitchFamily="34" charset="0"/>
            </a:endParaRPr>
          </a:p>
          <a:p>
            <a:pPr lvl="1"/>
            <a:endParaRPr lang="es-MX" sz="1600" dirty="0">
              <a:latin typeface="Aptos" panose="020B0004020202020204" pitchFamily="34" charset="0"/>
            </a:endParaRPr>
          </a:p>
          <a:p>
            <a:r>
              <a:rPr lang="es-MX" sz="1600" b="1" dirty="0">
                <a:latin typeface="Aptos" panose="020B0004020202020204" pitchFamily="34" charset="0"/>
              </a:rPr>
              <a:t>3 · Decide si modificarías la estrategia</a:t>
            </a:r>
          </a:p>
          <a:p>
            <a:endParaRPr lang="es-MX" sz="1600" dirty="0">
              <a:latin typeface="Aptos" panose="020B0004020202020204" pitchFamily="34" charset="0"/>
            </a:endParaRPr>
          </a:p>
          <a:p>
            <a:r>
              <a:rPr lang="es-MX" sz="1600" dirty="0">
                <a:latin typeface="Aptos" panose="020B0004020202020204" pitchFamily="34" charset="0"/>
              </a:rPr>
              <a:t>No cambies tu estrategia porque la IA lo dijo. Cámbiala solamente si puedes justificar por qué.</a:t>
            </a:r>
          </a:p>
          <a:p>
            <a:pPr lvl="1"/>
            <a:endParaRPr lang="es-MX" sz="1600" dirty="0">
              <a:latin typeface="Aptos" panose="020B0004020202020204" pitchFamily="34" charset="0"/>
            </a:endParaRPr>
          </a:p>
          <a:p>
            <a:pPr algn="just"/>
            <a:endParaRPr lang="es-MX" sz="16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8301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50979"/>
            <a:ext cx="107899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18375B"/>
                </a:solidFill>
                <a:latin typeface="Aptos"/>
              </a:rPr>
              <a:t>Práctica</a:t>
            </a:r>
            <a:r>
              <a:rPr sz="2400" b="1" dirty="0">
                <a:solidFill>
                  <a:srgbClr val="18375B"/>
                </a:solidFill>
                <a:latin typeface="Aptos"/>
              </a:rPr>
              <a:t> 2 — </a:t>
            </a:r>
            <a:r>
              <a:rPr lang="es-MX" sz="2400" b="1" dirty="0">
                <a:solidFill>
                  <a:srgbClr val="18375B"/>
                </a:solidFill>
                <a:latin typeface="Aptos"/>
              </a:rPr>
              <a:t>Poner a prueba nuestra estrategia con apoyo de IA</a:t>
            </a:r>
            <a:endParaRPr sz="2400" b="1" dirty="0">
              <a:solidFill>
                <a:srgbClr val="18375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E1C127-0374-948E-213A-394F6080AA80}"/>
              </a:ext>
            </a:extLst>
          </p:cNvPr>
          <p:cNvSpPr txBox="1"/>
          <p:nvPr/>
        </p:nvSpPr>
        <p:spPr>
          <a:xfrm>
            <a:off x="548641" y="1604619"/>
            <a:ext cx="100166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ptos" panose="020B0004020202020204" pitchFamily="34" charset="0"/>
              </a:rPr>
              <a:t>4 · Deja evidencia</a:t>
            </a:r>
          </a:p>
          <a:p>
            <a:endParaRPr lang="es-MX" sz="1600" dirty="0">
              <a:latin typeface="Aptos" panose="020B0004020202020204" pitchFamily="34" charset="0"/>
            </a:endParaRPr>
          </a:p>
          <a:p>
            <a:r>
              <a:rPr lang="es-MX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bitacora-ia.md</a:t>
            </a:r>
          </a:p>
          <a:p>
            <a:endParaRPr lang="es-MX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MX" sz="1600" dirty="0">
                <a:latin typeface="Aptos" panose="020B0004020202020204" pitchFamily="34" charset="0"/>
              </a:rPr>
              <a:t>	estrategia inicial → prompt → crítica de IA → comprobación → decisión → cambio, si lo hubo</a:t>
            </a:r>
          </a:p>
          <a:p>
            <a:endParaRPr lang="es-MX" sz="1600" dirty="0">
              <a:latin typeface="Aptos" panose="020B0004020202020204" pitchFamily="34" charset="0"/>
            </a:endParaRPr>
          </a:p>
          <a:p>
            <a:endParaRPr lang="es-MX" sz="1600" dirty="0">
              <a:latin typeface="Aptos" panose="020B0004020202020204" pitchFamily="34" charset="0"/>
            </a:endParaRPr>
          </a:p>
          <a:p>
            <a:r>
              <a:rPr lang="es-MX" sz="1600" b="1" dirty="0">
                <a:latin typeface="Aptos" panose="020B0004020202020204" pitchFamily="34" charset="0"/>
              </a:rPr>
              <a:t>	Humano propone → IA cuestiona → humano verifica → humano decide → documenta</a:t>
            </a:r>
            <a:endParaRPr lang="es-MX" sz="1600" dirty="0">
              <a:latin typeface="Aptos" panose="020B0004020202020204" pitchFamily="34" charset="0"/>
            </a:endParaRPr>
          </a:p>
          <a:p>
            <a:pPr algn="just"/>
            <a:endParaRPr lang="es-MX" sz="16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85B6BCC-8566-8CDA-A06C-2F0A8FED68D2}"/>
              </a:ext>
            </a:extLst>
          </p:cNvPr>
          <p:cNvSpPr txBox="1"/>
          <p:nvPr/>
        </p:nvSpPr>
        <p:spPr>
          <a:xfrm>
            <a:off x="787201" y="4420282"/>
            <a:ext cx="9539535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protocolo.md </a:t>
            </a:r>
            <a:r>
              <a:rPr lang="es-MX" dirty="0">
                <a:latin typeface="Aptos" panose="020B0004020202020204" pitchFamily="34" charset="0"/>
              </a:rPr>
              <a:t>= qué decidimos hacer</a:t>
            </a:r>
            <a:br>
              <a:rPr lang="es-MX" dirty="0">
                <a:latin typeface="Aptos" panose="020B0004020202020204" pitchFamily="34" charset="0"/>
              </a:rPr>
            </a:b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genes_ecoli-metadatos.md </a:t>
            </a:r>
            <a:r>
              <a:rPr lang="es-MX" dirty="0">
                <a:latin typeface="Aptos" panose="020B0004020202020204" pitchFamily="34" charset="0"/>
              </a:rPr>
              <a:t>= qué sabemos del dato</a:t>
            </a:r>
            <a:br>
              <a:rPr lang="es-MX" dirty="0">
                <a:latin typeface="Aptos" panose="020B0004020202020204" pitchFamily="34" charset="0"/>
              </a:rPr>
            </a:b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bitacora-ia.md </a:t>
            </a:r>
            <a:r>
              <a:rPr lang="es-MX" dirty="0">
                <a:latin typeface="Aptos" panose="020B0004020202020204" pitchFamily="34" charset="0"/>
              </a:rPr>
              <a:t>= cómo intervino la IA y por qué aceptamos o rechazamos sus propuestas</a:t>
            </a:r>
          </a:p>
        </p:txBody>
      </p:sp>
    </p:spTree>
    <p:extLst>
      <p:ext uri="{BB962C8B-B14F-4D97-AF65-F5344CB8AC3E}">
        <p14:creationId xmlns:p14="http://schemas.microsoft.com/office/powerpoint/2010/main" val="34529675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REGLA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375B"/>
                </a:solidFill>
                <a:latin typeface="Aptos"/>
              </a:rPr>
              <a:t>La IA puede proponer; el criterio científico no se delega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9192"/>
            <a:ext cx="21945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228984"/>
                </a:solidFill>
                <a:latin typeface="Aptos"/>
              </a:rPr>
              <a:t>PERMITIDO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6766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8375B"/>
                </a:solidFill>
                <a:latin typeface="Aptos"/>
              </a:rPr>
              <a:t>entender · explicar · sugerir · revisar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2192"/>
            <a:ext cx="21945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Aptos"/>
              </a:rPr>
              <a:t>NO PERMITIDO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88920"/>
            <a:ext cx="6766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8375B"/>
                </a:solidFill>
                <a:latin typeface="Aptos"/>
              </a:rPr>
              <a:t>entregar sin comprender o validar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5192"/>
            <a:ext cx="21945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70589B"/>
                </a:solidFill>
                <a:latin typeface="Aptos"/>
              </a:rPr>
              <a:t>RESPONSABILIDAD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931920"/>
            <a:ext cx="6766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 err="1">
                <a:solidFill>
                  <a:srgbClr val="18375B"/>
                </a:solidFill>
                <a:latin typeface="Aptos"/>
              </a:rPr>
              <a:t>validar</a:t>
            </a:r>
            <a:r>
              <a:rPr sz="1300" b="0" dirty="0">
                <a:solidFill>
                  <a:srgbClr val="18375B"/>
                </a:solidFill>
                <a:latin typeface="Aptos"/>
              </a:rPr>
              <a:t> · </a:t>
            </a:r>
            <a:r>
              <a:rPr sz="1300" b="0" dirty="0" err="1">
                <a:solidFill>
                  <a:srgbClr val="18375B"/>
                </a:solidFill>
                <a:latin typeface="Aptos"/>
              </a:rPr>
              <a:t>corregir</a:t>
            </a:r>
            <a:r>
              <a:rPr sz="1300" b="0" dirty="0">
                <a:solidFill>
                  <a:srgbClr val="18375B"/>
                </a:solidFill>
                <a:latin typeface="Aptos"/>
              </a:rPr>
              <a:t> · registrar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8375B"/>
                </a:solidFill>
                <a:latin typeface="Aptos"/>
              </a:rPr>
              <a:t>Datos sensibles o no públicos: no se comparten con un asistente.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533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CA9718"/>
                </a:solidFill>
                <a:latin typeface="Aptos"/>
              </a:rPr>
              <a:t>PREGUNTA AL GRUPO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980176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¿Qué cambia cuando la respuesta de IA termina formando parte de una entrega?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375B"/>
                </a:solidFill>
                <a:latin typeface="Aptos"/>
              </a:rPr>
              <a:t>Quédate con 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17320"/>
            <a:ext cx="292608" cy="292608"/>
          </a:xfrm>
          <a:prstGeom prst="ellipse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822960" y="1394347"/>
            <a:ext cx="29260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57771"/>
            <a:ext cx="8961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Organizar también es hacer ciencia.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039112"/>
            <a:ext cx="292608" cy="292608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822960" y="2016139"/>
            <a:ext cx="29260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79563"/>
            <a:ext cx="8961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Un dato sin contexto pierde valor.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660904"/>
            <a:ext cx="292608" cy="292608"/>
          </a:xfrm>
          <a:prstGeom prst="ellipse">
            <a:avLst/>
          </a:prstGeom>
          <a:solidFill>
            <a:srgbClr val="2F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822960" y="2637931"/>
            <a:ext cx="29260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01355"/>
            <a:ext cx="8961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8375B"/>
                </a:solidFill>
                <a:latin typeface="Aptos"/>
              </a:rPr>
              <a:t>No </a:t>
            </a:r>
            <a:r>
              <a:rPr sz="1600" b="1" dirty="0" err="1">
                <a:solidFill>
                  <a:srgbClr val="18375B"/>
                </a:solidFill>
                <a:latin typeface="Aptos"/>
              </a:rPr>
              <a:t>inventes</a:t>
            </a:r>
            <a:r>
              <a:rPr sz="1600" b="1" dirty="0">
                <a:solidFill>
                  <a:srgbClr val="18375B"/>
                </a:solidFill>
                <a:latin typeface="Aptos"/>
              </a:rPr>
              <a:t> lo que no sabes.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282696"/>
            <a:ext cx="292608" cy="292608"/>
          </a:xfrm>
          <a:prstGeom prst="ellipse">
            <a:avLst/>
          </a:prstGeom>
          <a:solidFill>
            <a:srgbClr val="CA9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822960" y="3259723"/>
            <a:ext cx="29260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23147"/>
            <a:ext cx="8961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El original se conserva intacto.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04488"/>
            <a:ext cx="292608" cy="292608"/>
          </a:xfrm>
          <a:prstGeom prst="ellipse">
            <a:avLst/>
          </a:prstGeom>
          <a:solidFill>
            <a:srgbClr val="705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22960" y="3881515"/>
            <a:ext cx="29260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44939"/>
            <a:ext cx="8961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FAIR se construye durante el proceso.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526280"/>
            <a:ext cx="292608" cy="292608"/>
          </a:xfrm>
          <a:prstGeom prst="ellipse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822960" y="4503307"/>
            <a:ext cx="29260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66731"/>
            <a:ext cx="8961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La IA propone; tú debes comprobar.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349240"/>
            <a:ext cx="10058400" cy="18288"/>
          </a:xfrm>
          <a:prstGeom prst="rect">
            <a:avLst/>
          </a:prstGeom>
          <a:solidFill>
            <a:srgbClr val="CA9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241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C6670"/>
                </a:solidFill>
                <a:latin typeface="Aptos"/>
              </a:rPr>
              <a:t>Semáforo de salida:  VERDE · AMARILLO · ROJO  + una duda para S3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A9718"/>
                </a:solidFill>
                <a:latin typeface="Aptos"/>
              </a:rPr>
              <a:t>GUÍA DOCENTE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01168"/>
            <a:ext cx="411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Aptos"/>
              </a:rPr>
              <a:t>S2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375B"/>
                </a:solidFill>
                <a:latin typeface="Aptos"/>
              </a:rPr>
              <a:t>Antes de cerrar la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C6670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17320"/>
            <a:ext cx="274320" cy="274320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822960" y="1385203"/>
            <a:ext cx="274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57771"/>
            <a:ext cx="1417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FAIR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57771"/>
            <a:ext cx="7863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C6670"/>
                </a:solidFill>
                <a:latin typeface="Aptos"/>
              </a:rPr>
              <a:t>Pueden explicar por qué FAIR no equivale a “abierto”.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075688"/>
            <a:ext cx="274320" cy="274320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822960" y="2043571"/>
            <a:ext cx="274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16139"/>
            <a:ext cx="1417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METADATOS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016139"/>
            <a:ext cx="7863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C6670"/>
                </a:solidFill>
                <a:latin typeface="Aptos"/>
              </a:rPr>
              <a:t>Marcaron lo desconocido sin inventarlo.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734056"/>
            <a:ext cx="274320" cy="274320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822960" y="2701939"/>
            <a:ext cx="274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74507"/>
            <a:ext cx="1417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74507"/>
            <a:ext cx="7863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C6670"/>
                </a:solidFill>
                <a:latin typeface="Aptos"/>
              </a:rPr>
              <a:t>Separaron source, processed, src, results y doc.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392424"/>
            <a:ext cx="274320" cy="274320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22960" y="3360307"/>
            <a:ext cx="274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332875"/>
            <a:ext cx="1417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332875"/>
            <a:ext cx="7863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C6670"/>
                </a:solidFill>
                <a:latin typeface="Aptos"/>
              </a:rPr>
              <a:t>Formularon un prompt y detectaron una respuesta dudosa.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050791"/>
            <a:ext cx="274320" cy="274320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822960" y="4018674"/>
            <a:ext cx="274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991242"/>
            <a:ext cx="1417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VALIDACIÓN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91242"/>
            <a:ext cx="7863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C6670"/>
                </a:solidFill>
                <a:latin typeface="Aptos"/>
              </a:rPr>
              <a:t>Usaron entender → probar → contrastar.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709159"/>
            <a:ext cx="274320" cy="274320"/>
          </a:xfrm>
          <a:prstGeom prst="ellipse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822960" y="4677042"/>
            <a:ext cx="274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649610"/>
            <a:ext cx="1417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EVIDENCIA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649610"/>
            <a:ext cx="7863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C6670"/>
                </a:solidFill>
                <a:latin typeface="Aptos"/>
              </a:rPr>
              <a:t>Dejaron registro en bitacora-ia.md.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715000"/>
            <a:ext cx="3291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CA9718"/>
                </a:solidFill>
                <a:latin typeface="Aptos"/>
              </a:rPr>
              <a:t>Siguiente: S3 · shell y acceso remoto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73F9ED9-C53E-9758-12A2-B68EE1B8EBBD}"/>
              </a:ext>
            </a:extLst>
          </p:cNvPr>
          <p:cNvSpPr txBox="1"/>
          <p:nvPr/>
        </p:nvSpPr>
        <p:spPr>
          <a:xfrm>
            <a:off x="2812774" y="2256183"/>
            <a:ext cx="117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53640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5235</Words>
  <Application>Microsoft Macintosh PowerPoint</Application>
  <PresentationFormat>Panorámica</PresentationFormat>
  <Paragraphs>697</Paragraphs>
  <Slides>45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1" baseType="lpstr">
      <vt:lpstr>Aptos</vt:lpstr>
      <vt:lpstr>Aptos Mono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Microsoft Office User</cp:lastModifiedBy>
  <cp:revision>87</cp:revision>
  <dcterms:created xsi:type="dcterms:W3CDTF">2013-01-27T09:14:16Z</dcterms:created>
  <dcterms:modified xsi:type="dcterms:W3CDTF">2026-09-04T19:16:45Z</dcterms:modified>
  <cp:category/>
</cp:coreProperties>
</file>