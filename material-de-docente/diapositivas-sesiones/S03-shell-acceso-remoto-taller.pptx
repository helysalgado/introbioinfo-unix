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94360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2B49"/>
                </a:solidFill>
                <a:latin typeface="Aptos"/>
              </a:rPr>
              <a:t>Introducción a la
Bioinformática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83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LCG · UNAM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59B27"/>
                </a:solidFill>
                <a:latin typeface="Aptos"/>
              </a:rPr>
              <a:t>Unidad 2 · Sesión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16352"/>
            <a:ext cx="62179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Conectar: shell,
acceso remoto y transferencia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8795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Aula invertida · Taller práctico de 2 horas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920240"/>
            <a:ext cx="18288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2148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59B27"/>
                </a:solidFill>
                <a:latin typeface="Aptos"/>
              </a:rPr>
              <a:t>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65176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002B49"/>
                </a:solidFill>
                <a:latin typeface="Aptos"/>
              </a:rPr>
              <a:t>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920240"/>
            <a:ext cx="18288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55480" y="2148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59B27"/>
                </a:solidFill>
                <a:latin typeface="Aptos"/>
              </a:rPr>
              <a:t>REMOTO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27614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2B49"/>
                </a:solidFill>
                <a:latin typeface="Aptos"/>
              </a:rPr>
              <a:t>SERVIDOR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0" y="2834640"/>
            <a:ext cx="777240" cy="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58200" y="239572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ptos"/>
              </a:rPr>
              <a:t>SSH / SFTP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251960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2B49"/>
                </a:solidFill>
                <a:latin typeface="Aptos"/>
              </a:rPr>
              <a:t>datos + metadatos + evidencia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¿Qué queremos lograr hoy?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49808" y="1920240"/>
            <a:ext cx="475488" cy="475488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029968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7" y="26060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ENTRAR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7" y="29260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 Mono"/>
              </a:rPr>
              <a:t>SSH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50008" y="2157984"/>
            <a:ext cx="3931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990088" y="1920240"/>
            <a:ext cx="475488" cy="475488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8" y="2029968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6060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UBICARSE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9260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 Mono"/>
              </a:rPr>
              <a:t>hostname · whoami · pwd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90288" y="2157984"/>
            <a:ext cx="3931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230368" y="1920240"/>
            <a:ext cx="475488" cy="475488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0368" y="2029968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6060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PEDIR AYUDA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9260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 Mono"/>
              </a:rPr>
              <a:t>man · Tab · history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30568" y="2157984"/>
            <a:ext cx="3931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70648" y="1920240"/>
            <a:ext cx="475488" cy="475488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70648" y="2029968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26060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TRANSFERIR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7" y="29260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 Mono"/>
              </a:rPr>
              <a:t>SFTP / FileZilla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70848" y="2157984"/>
            <a:ext cx="3931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710928" y="1920240"/>
            <a:ext cx="475488" cy="475488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10928" y="2029968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8" y="26060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COMPROBAR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8" y="29260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 Mono"/>
              </a:rPr>
              <a:t>SHA-256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16052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F172A"/>
                </a:solidFill>
                <a:latin typeface="Aptos"/>
              </a:rPr>
              <a:t>Meta: llevar pacientes.md y sus metadatos al servidor, demostrar que llegaron intactos y documentarlo.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evidencia demostraría que una transferencia realmente fue correcta?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RESUMEN DE LA LECTURA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S3 en una sola mirada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6002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"/>
              </a:rPr>
              <a:t>El problema conductor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02B49"/>
                </a:solidFill>
                <a:latin typeface="Aptos"/>
              </a:rPr>
              <a:t>Mover datos a otra computadora
sin perder contexto ni confianza.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563624"/>
            <a:ext cx="256032" cy="25603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39712" y="153619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2B49"/>
                </a:solidFill>
                <a:latin typeface="Aptos"/>
              </a:rPr>
              <a:t>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53619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tengo los archivos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194560"/>
            <a:ext cx="256032" cy="256032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39712" y="2167128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2B49"/>
                </a:solidFill>
                <a:latin typeface="Aptos"/>
              </a:rPr>
              <a:t>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671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entro al servidor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825495"/>
            <a:ext cx="256032" cy="256032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9712" y="2798063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2B49"/>
                </a:solidFill>
                <a:latin typeface="Aptos"/>
              </a:rPr>
              <a:t>REMOTO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98063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reconozco dónde estoy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3456432"/>
            <a:ext cx="256032" cy="25603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39712" y="342900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2B49"/>
                </a:solidFill>
                <a:latin typeface="Aptos"/>
              </a:rPr>
              <a:t>SFTP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290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transfiero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087368"/>
            <a:ext cx="256032" cy="256032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39712" y="4059935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2B49"/>
                </a:solidFill>
                <a:latin typeface="Aptos"/>
              </a:rPr>
              <a:t>SHA-256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059935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compruebo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4718304"/>
            <a:ext cx="256032" cy="25603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39712" y="469087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2B49"/>
                </a:solidFill>
                <a:latin typeface="Aptos"/>
              </a:rPr>
              <a:t>PROTOCOLO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69087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documento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¿Cuál es el error más peligroso aquí: no saber un comando o no saber en qué computadora estás?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CONEXIÓN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La historia viene de la Unidad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8288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59B27"/>
                </a:solidFill>
                <a:latin typeface="Aptos"/>
              </a:rPr>
              <a:t>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2B49"/>
                </a:solidFill>
                <a:latin typeface="Aptos"/>
              </a:rPr>
              <a:t>DOCUMENTAR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 Mono"/>
              </a:rPr>
              <a:t>protocolo.md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2450592"/>
            <a:ext cx="777240" cy="0"/>
          </a:xfrm>
          <a:prstGeom prst="line">
            <a:avLst/>
          </a:prstGeom>
          <a:ln w="3175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17720" y="18288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59B27"/>
                </a:solidFill>
                <a:latin typeface="Aptos"/>
              </a:rPr>
              <a:t>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6771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2B49"/>
                </a:solidFill>
                <a:latin typeface="Aptos"/>
              </a:rPr>
              <a:t>ORGANIZAR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974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 Mono"/>
              </a:rPr>
              <a:t>datos + metadatos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78040" y="2450592"/>
            <a:ext cx="777239" cy="0"/>
          </a:xfrm>
          <a:prstGeom prst="line">
            <a:avLst/>
          </a:prstGeom>
          <a:ln w="3175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21040" y="18288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59B27"/>
                </a:solidFill>
                <a:latin typeface="Aptos"/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6771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2B49"/>
                </a:solidFill>
                <a:latin typeface="Aptos"/>
              </a:rPr>
              <a:t>CONECTAR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974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 Mono"/>
              </a:rPr>
              <a:t>local → servidor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840480"/>
            <a:ext cx="100584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4142232"/>
            <a:ext cx="9509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ptos"/>
              </a:rPr>
              <a:t>Los datos originales siguen sin modificarse; ahora cambia el lugar donde trabajaremos.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tres archivos deben estar listos antes de empezar el taller?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REPASO CONCEPTUAL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GUI y CLI: no es una competencia de “mejor interfaz”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691640"/>
            <a:ext cx="475488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2B49"/>
                </a:solidFill>
                <a:latin typeface="Aptos"/>
              </a:rPr>
              <a:t>GUI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514600"/>
            <a:ext cx="3977639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28803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📁 pacientes.md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251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clic · arrastrar · menús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2B49"/>
                </a:solidFill>
                <a:latin typeface="Aptos"/>
              </a:rPr>
              <a:t>CLI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514600"/>
            <a:ext cx="4663440" cy="1508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11112" y="2642616"/>
            <a:ext cx="91440" cy="9144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12279" y="2642616"/>
            <a:ext cx="91440" cy="9144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013448" y="2642616"/>
            <a:ext cx="91440" cy="91440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59" y="2606040"/>
            <a:ext cx="3703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 Mono"/>
              </a:rPr>
              <a:t>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53512"/>
            <a:ext cx="4160520" cy="941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Mono"/>
              </a:rPr>
              <a:t>$ ls -l pacientes.md
-rw-r--r-- ... pacientes.md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5196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texto que puede guardarse y repetirse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956048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C59B27"/>
                </a:solidFill>
                <a:latin typeface="Aptos"/>
              </a:rPr>
              <a:t>La ventaja que nos importa hoy: reproducibilidad.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¿Por qué un comando escrito deja una evidencia más fácil de revisar que una secuencia de clics?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MODELO 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Terminal ≠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828800"/>
            <a:ext cx="4023360" cy="2468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59B27"/>
                </a:solidFill>
                <a:latin typeface="Aptos"/>
              </a:rPr>
              <a:t>TERMINAL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7860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2B49"/>
                </a:solidFill>
                <a:latin typeface="Aptos"/>
              </a:rPr>
              <a:t>la ventana / contenedor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154680"/>
            <a:ext cx="2194560" cy="685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334670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 Mono"/>
              </a:rPr>
              <a:t>$ comando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66360" y="3063240"/>
            <a:ext cx="1417320" cy="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12280" y="1828800"/>
            <a:ext cx="4023360" cy="2468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0" y="21488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59B27"/>
                </a:solidFill>
                <a:latin typeface="Aptos"/>
              </a:rPr>
              <a:t>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57860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2B49"/>
                </a:solidFill>
                <a:latin typeface="Aptos"/>
              </a:rPr>
              <a:t>interpreta lo que escribes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2461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 Mono"/>
              </a:rPr>
              <a:t>bash · zsh · tcsh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Cuando te conectas por SSH, ¿qué cambia: la terminal o el shell que responde?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REPASO CONCEPTUAL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Un comando tiene una anatomía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78103" y="1787702"/>
            <a:ext cx="73152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>
                <a:solidFill>
                  <a:srgbClr val="002B49"/>
                </a:solidFill>
                <a:latin typeface="Aptos Mono"/>
              </a:rPr>
              <a:t>ls  </a:t>
            </a:r>
            <a:r>
              <a:rPr lang="es-ES" sz="3400" b="1" dirty="0">
                <a:solidFill>
                  <a:srgbClr val="002B49"/>
                </a:solidFill>
                <a:latin typeface="Aptos Mono"/>
              </a:rPr>
              <a:t>  </a:t>
            </a:r>
            <a:r>
              <a:rPr sz="3400" b="1" dirty="0">
                <a:solidFill>
                  <a:srgbClr val="002B49"/>
                </a:solidFill>
                <a:latin typeface="Aptos Mono"/>
              </a:rPr>
              <a:t> -l  </a:t>
            </a:r>
            <a:r>
              <a:rPr lang="es-ES" sz="3400" b="1" dirty="0">
                <a:solidFill>
                  <a:srgbClr val="002B49"/>
                </a:solidFill>
                <a:latin typeface="Aptos Mono"/>
              </a:rPr>
              <a:t> </a:t>
            </a:r>
            <a:r>
              <a:rPr sz="3400" b="1" dirty="0">
                <a:solidFill>
                  <a:srgbClr val="002B49"/>
                </a:solidFill>
                <a:latin typeface="Aptos Mono"/>
              </a:rPr>
              <a:t> </a:t>
            </a:r>
            <a:r>
              <a:rPr sz="3400" b="1" dirty="0" err="1">
                <a:solidFill>
                  <a:srgbClr val="002B49"/>
                </a:solidFill>
                <a:latin typeface="Aptos Mono"/>
              </a:rPr>
              <a:t>pacientes.md</a:t>
            </a:r>
            <a:endParaRPr sz="3400" b="1" dirty="0">
              <a:solidFill>
                <a:srgbClr val="002B49"/>
              </a:solidFill>
              <a:latin typeface="Aptos Mono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417320" y="2578608"/>
            <a:ext cx="0" cy="347472"/>
          </a:xfrm>
          <a:prstGeom prst="line">
            <a:avLst/>
          </a:prstGeom>
          <a:ln w="1905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03580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C59B27"/>
                </a:solidFill>
                <a:latin typeface="Aptos"/>
              </a:rPr>
              <a:t>COMANDO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00404" y="2574498"/>
            <a:ext cx="0" cy="347472"/>
          </a:xfrm>
          <a:prstGeom prst="line">
            <a:avLst/>
          </a:prstGeom>
          <a:ln w="1905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97484" y="303169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C59B27"/>
                </a:solidFill>
                <a:latin typeface="Aptos"/>
              </a:rPr>
              <a:t>OPCIÓN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55080" y="2578608"/>
            <a:ext cx="0" cy="347472"/>
          </a:xfrm>
          <a:prstGeom prst="line">
            <a:avLst/>
          </a:prstGeom>
          <a:ln w="1905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60" y="303580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C59B27"/>
                </a:solidFill>
                <a:latin typeface="Aptos"/>
              </a:rPr>
              <a:t>ARGUMENTO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¿qué herramienta?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3164" y="365349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¿cómo cambia?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6576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¿sobre qué actúa?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874519"/>
            <a:ext cx="2286000" cy="2194560"/>
          </a:xfrm>
          <a:prstGeom prst="roundRect">
            <a:avLst/>
          </a:prstGeom>
          <a:solidFill>
            <a:srgbClr val="FFF7ED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64040" y="214884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59B27"/>
                </a:solidFill>
                <a:latin typeface="Aptos"/>
              </a:rPr>
              <a:t>TIP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651760"/>
            <a:ext cx="1737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Si entiendes la estructura,
puedes interpretar
comandos nuevos.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En ssh usuario@servidor, ¿cuál es el comando y cuál es el argumento?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Cliente, servidor y protocolo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1874519"/>
            <a:ext cx="2377440" cy="205740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59B27"/>
                </a:solidFill>
                <a:latin typeface="Aptos"/>
              </a:rPr>
              <a:t>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2B49"/>
                </a:solidFill>
                <a:latin typeface="Aptos"/>
              </a:rPr>
              <a:t>tu computadora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874519"/>
            <a:ext cx="2377440" cy="205740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21488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59B27"/>
                </a:solidFill>
                <a:latin typeface="Aptos"/>
              </a:rPr>
              <a:t>SERVIDOR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7889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2B49"/>
                </a:solidFill>
                <a:latin typeface="Aptos"/>
              </a:rPr>
              <a:t>computadora remota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29000" y="2423160"/>
            <a:ext cx="5303520" cy="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429000" y="3246120"/>
            <a:ext cx="5303520" cy="0"/>
          </a:xfrm>
          <a:prstGeom prst="line">
            <a:avLst/>
          </a:prstGeom>
          <a:ln w="38100">
            <a:solidFill>
              <a:srgbClr val="00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0" y="1975104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2B49"/>
                </a:solidFill>
                <a:latin typeface="Aptos"/>
              </a:rPr>
              <a:t>SSH · trabajar en una terminal remota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401568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2B49"/>
                </a:solidFill>
                <a:latin typeface="Aptos"/>
              </a:rPr>
              <a:t>SFTP · transferir archivos sobre SSH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348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91C1C"/>
                </a:solidFill>
                <a:latin typeface="Aptos"/>
              </a:rPr>
              <a:t>FTP plano: sin cifrado → no lo usamos.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problema resuelve SSH y qué problema resuelve SFTP?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La primera conexión exige verificar identidad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627632"/>
            <a:ext cx="6400800" cy="3337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" y="1755648"/>
            <a:ext cx="91440" cy="9144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1755648"/>
            <a:ext cx="91440" cy="9144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4168" y="1755648"/>
            <a:ext cx="91440" cy="91440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1719072"/>
            <a:ext cx="5440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 Mono"/>
              </a:rPr>
              <a:t>[LOCAL]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066543"/>
            <a:ext cx="5897880" cy="2770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Mono"/>
              </a:rPr>
              <a:t>$ ssh [USUARIO]@[SERVIDOR]
The authenticity of host ... can't be established.
ED25519 key fingerprint is SHA256:...
Are you sure you want to continue connecting?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783080"/>
            <a:ext cx="3474720" cy="26974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2084831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59B27"/>
                </a:solidFill>
                <a:latin typeface="Aptos"/>
              </a:rPr>
              <a:t>HUELLA DEL SERVIDOR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6974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2B49"/>
                </a:solidFill>
                <a:latin typeface="Aptos"/>
              </a:rPr>
              <a:t>¿Coincide con la oficial?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337560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SÍ → continuar
NO → detenerse y consultar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¿Aceptar la huella sustituye la contraseña? ¿Qué está verificando realmente?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VAMOS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Práctica 1 — Entrar al servidor, reconocer el entorno y salir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627632"/>
            <a:ext cx="1065276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ptos"/>
              </a:rPr>
              <a:t>Primera conexión acompañada · 10–25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80360"/>
            <a:ext cx="4754880" cy="20574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3008376"/>
            <a:ext cx="91440" cy="9144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80160" y="3008376"/>
            <a:ext cx="91440" cy="9144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481328" y="3008376"/>
            <a:ext cx="91440" cy="91440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91640" y="2971800"/>
            <a:ext cx="3794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 Mono"/>
              </a:rPr>
              <a:t>[LOCAL] → [REMOTO]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319272"/>
            <a:ext cx="4251960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Mono"/>
              </a:rPr>
              <a:t>$ ssh [USUARIO]@[SERVIDOR]
...
$ hostname
$ whoami
$ pwd
$ exit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90779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59B27"/>
                </a:solidFill>
                <a:latin typeface="Aptos"/>
              </a:rPr>
              <a:t>EL DOCENTE OBSERVA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3401568"/>
            <a:ext cx="146304" cy="146304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3346704"/>
            <a:ext cx="3931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huella verificada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3749040"/>
            <a:ext cx="146304" cy="146304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3694176"/>
            <a:ext cx="3931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contraseña no se muestra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4096512"/>
            <a:ext cx="146304" cy="146304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041648"/>
            <a:ext cx="3931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cambio del prompt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4443984"/>
            <a:ext cx="146304" cy="146304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4389120"/>
            <a:ext cx="3931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hostname · whoami · pwd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4791456"/>
            <a:ext cx="146304" cy="146304"/>
          </a:xfrm>
          <a:prstGeom prst="ellipse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4736592"/>
            <a:ext cx="3931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exit vuelve a LOCAL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Al terminar: ¿qué cambió en el prompt y cómo sabes en qué máquina estás?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VAMOS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Práctica 2 — Entrar, salir y volver a entrar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627632"/>
            <a:ext cx="1065276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ptos"/>
              </a:rPr>
              <a:t>La conexión se vuelve habilidad mediante repetición · 25–35 min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620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974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2B49"/>
                </a:solidFill>
                <a:latin typeface="Aptos"/>
              </a:rPr>
              <a:t>RONDA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9067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acompañada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86200" y="2999232"/>
            <a:ext cx="45720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617720" y="2743200"/>
            <a:ext cx="502920" cy="50292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8620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6974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2B49"/>
                </a:solidFill>
                <a:latin typeface="Aptos"/>
              </a:rPr>
              <a:t>RONDA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09067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con tus notas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0" y="2999232"/>
            <a:ext cx="457200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321040" y="2743200"/>
            <a:ext cx="502920" cy="502920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8620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6974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2B49"/>
                </a:solidFill>
                <a:latin typeface="Aptos"/>
              </a:rPr>
              <a:t>RONDA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09067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sin pasos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160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 Mono"/>
              </a:rPr>
              <a:t>ciclo:  ssh → hostname → whoami → pwd → exit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te costó al principio y qué ya haces casi sin pensar?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VAMOS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Práctica 3 — Reconocer archivos y consultar ayuda en el servidor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627632"/>
            <a:ext cx="1065276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ptos"/>
              </a:rPr>
              <a:t>Autonomía: observar, consultar y recuperar comandos · 35–55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7552" y="2916936"/>
            <a:ext cx="91440" cy="9144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88720" y="2916936"/>
            <a:ext cx="91440" cy="9144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89888" y="2916936"/>
            <a:ext cx="91440" cy="91440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2880360"/>
            <a:ext cx="4251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 Mono"/>
              </a:rPr>
              <a:t>[REMOTO]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227832"/>
            <a:ext cx="4709160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Mono"/>
              </a:rPr>
              <a:t>$ pwd
$ ls
$ ls -l
$ man ls
$ ls -lh
$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8892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 Mono"/>
              </a:rPr>
              <a:t>pwd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78892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evita trabajar en el lugar equivocado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91839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 Mono"/>
              </a:rPr>
              <a:t>ls -lh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291839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existencia + tamaño legible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9476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 Mono"/>
              </a:rPr>
              <a:t>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79476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resuelve dudas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9768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 Mono"/>
              </a:rPr>
              <a:t>↑ /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29768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recupera lo ejecutado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diferencia observas entre ls y ls -l? ¿Dónde encontraste -h?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MICROHABILIDADES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Tab y Ctrl-C reducen errores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1783080"/>
            <a:ext cx="4800600" cy="288036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031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59B27"/>
                </a:solidFill>
                <a:latin typeface="Aptos"/>
              </a:rPr>
              <a:t>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060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2B49"/>
                </a:solidFill>
                <a:latin typeface="Aptos"/>
              </a:rPr>
              <a:t>autocompleta nombres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 Mono"/>
              </a:rPr>
              <a:t>pacien + Tab  →  pacientes.md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862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menos errores de escritura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783080"/>
            <a:ext cx="4800600" cy="288036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1031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59B27"/>
                </a:solidFill>
                <a:latin typeface="Aptos Mono"/>
              </a:rPr>
              <a:t>Ctrl-C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606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2B49"/>
                </a:solidFill>
                <a:latin typeface="Aptos"/>
              </a:rPr>
              <a:t>interrumpe un proceso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1546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Mono"/>
              </a:rPr>
              <a:t>$ sleep 30
^C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3375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recupera la terminal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¿En qué situación real preferirías detener un proceso antes de que termine?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MODELO 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LOCAL, REMOTO y SFTP son contextos distintos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1828800"/>
            <a:ext cx="3154680" cy="242316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21408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C59B27"/>
                </a:solidFill>
                <a:latin typeface="Aptos Mono"/>
              </a:rPr>
              <a:t>[LOCAL]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2B49"/>
                </a:solidFill>
                <a:latin typeface="Aptos"/>
              </a:rPr>
              <a:t>hostname = tu equipo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archivos locales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154680" cy="242316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2121408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C59B27"/>
                </a:solidFill>
                <a:latin typeface="Aptos Mono"/>
              </a:rPr>
              <a:t>[REMOTO]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74320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2B49"/>
                </a:solidFill>
                <a:latin typeface="Aptos"/>
              </a:rPr>
              <a:t>hostname = servidor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310128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archivos/procesos remotos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1828800"/>
            <a:ext cx="3154680" cy="242316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19" y="2121408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C59B27"/>
                </a:solidFill>
                <a:latin typeface="Aptos Mono"/>
              </a:rPr>
              <a:t>[SFTP]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74320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2B49"/>
                </a:solidFill>
                <a:latin typeface="Aptos"/>
              </a:rPr>
              <a:t>prompt = sftp&gt;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310128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transferencia entre lados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70916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B91C1C"/>
                </a:solidFill>
                <a:latin typeface="Aptos Mono"/>
              </a:rPr>
              <a:t>Ante la duda: hostname · whoami · pwd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señal inequívoca te dice que estás dentro de una sesión SFTP?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TRANSFERENCIA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S3 usa SFTP / FileZilla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15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737360"/>
            <a:ext cx="3931920" cy="3063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59B27"/>
                </a:solidFill>
                <a:latin typeface="Aptos"/>
              </a:rPr>
              <a:t>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B49"/>
                </a:solidFill>
                <a:latin typeface="Aptos Mono"/>
              </a:rPr>
              <a:t>pacientes.md
pacientes-metadatos.md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737360"/>
            <a:ext cx="3931920" cy="3063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79" y="201168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59B27"/>
                </a:solidFill>
                <a:latin typeface="Aptos"/>
              </a:rPr>
              <a:t>REMOTO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65176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B49"/>
                </a:solidFill>
                <a:latin typeface="Aptos"/>
              </a:rPr>
              <a:t>ubicación inicial
del servidor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92040" y="3017520"/>
            <a:ext cx="2377440" cy="0"/>
          </a:xfrm>
          <a:prstGeom prst="line">
            <a:avLst/>
          </a:prstGeom>
          <a:ln w="381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74920" y="25786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75569"/>
                </a:solidFill>
                <a:latin typeface="Aptos"/>
              </a:rPr>
              <a:t>put / arrastrar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5074920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 Mono"/>
              </a:rPr>
              <a:t>SFTP: lpwd / lls = local    ·    pwd / ls = remoto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¿Por qué en S3 no cambiamos de directorio mientras transferimos?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VAMOS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Práctica 4 — Transferir los datos y sus metadatos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627632"/>
            <a:ext cx="1065276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584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dirty="0">
                <a:solidFill>
                  <a:srgbClr val="0F172A"/>
                </a:solidFill>
                <a:latin typeface="Aptos"/>
              </a:rPr>
              <a:t>Corazón del </a:t>
            </a:r>
            <a:r>
              <a:rPr sz="1700" b="1" dirty="0" err="1">
                <a:solidFill>
                  <a:srgbClr val="0F172A"/>
                </a:solidFill>
                <a:latin typeface="Aptos"/>
              </a:rPr>
              <a:t>caso</a:t>
            </a:r>
            <a:r>
              <a:rPr sz="1700" b="1" dirty="0">
                <a:solidFill>
                  <a:srgbClr val="0F172A"/>
                </a:solidFill>
                <a:latin typeface="Aptos"/>
              </a:rPr>
              <a:t>: </a:t>
            </a:r>
            <a:r>
              <a:rPr sz="1700" b="1" dirty="0" err="1">
                <a:solidFill>
                  <a:srgbClr val="0F172A"/>
                </a:solidFill>
                <a:latin typeface="Aptos"/>
              </a:rPr>
              <a:t>dato</a:t>
            </a:r>
            <a:r>
              <a:rPr sz="1700" b="1" dirty="0">
                <a:solidFill>
                  <a:srgbClr val="0F172A"/>
                </a:solidFill>
                <a:latin typeface="Aptos"/>
              </a:rPr>
              <a:t> + </a:t>
            </a:r>
            <a:r>
              <a:rPr sz="1700" b="1" dirty="0" err="1">
                <a:solidFill>
                  <a:srgbClr val="0F172A"/>
                </a:solidFill>
                <a:latin typeface="Aptos"/>
              </a:rPr>
              <a:t>contexto</a:t>
            </a:r>
            <a:r>
              <a:rPr sz="17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F172A"/>
                </a:solidFill>
                <a:latin typeface="Aptos"/>
              </a:rPr>
              <a:t>deben</a:t>
            </a:r>
            <a:r>
              <a:rPr sz="17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F172A"/>
                </a:solidFill>
                <a:latin typeface="Aptos"/>
              </a:rPr>
              <a:t>viajar</a:t>
            </a:r>
            <a:r>
              <a:rPr sz="17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F172A"/>
                </a:solidFill>
                <a:latin typeface="Aptos"/>
              </a:rPr>
              <a:t>juntos</a:t>
            </a:r>
            <a:r>
              <a:rPr sz="1700" b="1" dirty="0">
                <a:solidFill>
                  <a:srgbClr val="0F172A"/>
                </a:solidFill>
                <a:latin typeface="Aptos"/>
              </a:rPr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846320" cy="23317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7552" y="2871216"/>
            <a:ext cx="91440" cy="9144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88720" y="2871216"/>
            <a:ext cx="91440" cy="9144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89888" y="2871216"/>
            <a:ext cx="91440" cy="91440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2834640"/>
            <a:ext cx="3886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 Mono"/>
              </a:rPr>
              <a:t>[LOCAL] → [SFTP]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182112"/>
            <a:ext cx="4343400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Mono"/>
              </a:rPr>
              <a:t>$ sftp [USUARIO]@[SERVIDOR]
sftp&gt; lpwd
sftp&gt; pwd
sftp&gt; put pacientes.md
sftp&gt; put pacientes-metadatos.md
sftp&gt; exit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7432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59B27"/>
                </a:solidFill>
                <a:latin typeface="Aptos"/>
              </a:rPr>
              <a:t>DESPUÉS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127248"/>
            <a:ext cx="4663440" cy="13258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565392" y="3255264"/>
            <a:ext cx="91440" cy="9144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766559" y="3255264"/>
            <a:ext cx="91440" cy="9144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67728" y="3255264"/>
            <a:ext cx="91440" cy="91440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78040" y="3218688"/>
            <a:ext cx="3703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 Mono"/>
              </a:rPr>
              <a:t>[REMOTO]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3566160"/>
            <a:ext cx="41605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Mono"/>
              </a:rPr>
              <a:t>$ ssh [USUARIO]@[SERVIDOR]
$ ls -lh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61772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91C1C"/>
                </a:solidFill>
                <a:latin typeface="Aptos"/>
              </a:rPr>
              <a:t>Confirmar presencia ≠ confirmar integridad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5708116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¿Cómo distinguieron el lado local del remoto? ¿Por qué subimos también los metadatos?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Ver que el archivo “está” no basta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17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1828800"/>
            <a:ext cx="3931920" cy="2468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031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"/>
              </a:rPr>
              <a:t>ORIGEN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432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2B49"/>
                </a:solidFill>
                <a:latin typeface="Aptos Mono"/>
              </a:rPr>
              <a:t>pacientes.md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606040"/>
            <a:ext cx="1280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 Mono"/>
              </a:rPr>
              <a:t>SHA-256
abc123…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828800"/>
            <a:ext cx="3931920" cy="2468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21031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"/>
              </a:rPr>
              <a:t>DESTINO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7432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2B49"/>
                </a:solidFill>
                <a:latin typeface="Aptos Mono"/>
              </a:rPr>
              <a:t>pacientes.md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606040"/>
            <a:ext cx="1280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 Mono"/>
              </a:rPr>
              <a:t>SHA-256
abc123…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83480" y="3063240"/>
            <a:ext cx="2194560" cy="0"/>
          </a:xfrm>
          <a:prstGeom prst="line">
            <a:avLst/>
          </a:prstGeom>
          <a:ln w="3810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57800" y="26517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66534"/>
                </a:solidFill>
                <a:latin typeface="Aptos"/>
              </a:rPr>
              <a:t>COINCIDEN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6634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2B49"/>
                </a:solidFill>
                <a:latin typeface="Aptos"/>
              </a:rPr>
              <a:t>checksum = huella del contenido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¿Por qué el tamaño o el nombre del archivo no demuestran que el contenido sea idéntico?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VAMOS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Práctica 5 — Comprobar que los archivos llegaron intactos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627632"/>
            <a:ext cx="1065276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ptos"/>
              </a:rPr>
              <a:t>Comparar SHA-256 en origen y destino · 80–95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5029200" cy="19202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 Mono"/>
              </a:rPr>
              <a:t>[LOCAL]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56432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 Mono"/>
              </a:rPr>
              <a:t>macOS: shasum -a 256 archivo
Linux/WSL/Git Bash: sha256sum archivo
PowerShell: Get-FileHash ... -Algorithm SHA256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743200"/>
            <a:ext cx="4846320" cy="19202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971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59B27"/>
                </a:solidFill>
                <a:latin typeface="Aptos Mono"/>
              </a:rPr>
              <a:t>[REMOTO]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6616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Aptos Mono"/>
              </a:rPr>
              <a:t>sha256sum pacientes.md
sha256sum pacientes-metadatos.md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95604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91C1C"/>
                </a:solidFill>
                <a:latin typeface="Aptos"/>
              </a:rPr>
              <a:t>Si NO coinciden → no uses el archivo.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cadena comparas exactamente: el nombre, el tamaño o la huella?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CIERRE DEL TALLER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La evidencia termina en protocolo.md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19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1874519"/>
            <a:ext cx="457200" cy="45720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75104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RECUPERA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comandos reales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2103120"/>
            <a:ext cx="3931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926080" y="1874519"/>
            <a:ext cx="457200" cy="45720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1975104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514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DISTINGUE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83464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LOCAL · REMOTO · SFTP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26280" y="2103120"/>
            <a:ext cx="3931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166360" y="1874519"/>
            <a:ext cx="457200" cy="45720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60" y="1975104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514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REGISTRA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3464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checksums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66560" y="2103120"/>
            <a:ext cx="3931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06640" y="1874519"/>
            <a:ext cx="457200" cy="45720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1975104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514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EXPLICA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83464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qué evidencia sustenta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06840" y="2103120"/>
            <a:ext cx="3931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46920" y="1874519"/>
            <a:ext cx="457200" cy="45720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46920" y="1975104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514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TRANSFIERE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83464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protocolo.md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886200"/>
            <a:ext cx="1005840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88720" y="4187952"/>
            <a:ext cx="9509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No reconstruyas de memoria. Documenta lo que realmente hiciste y nunca incluyas credenciales.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debe contener la afirmación “los archivos llegaron intactos” para que sea defendible?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VAMOS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Cierre de S3 — Actualiza y transfiere tu protocolo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627632"/>
            <a:ext cx="1065276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584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F172A"/>
                </a:solidFill>
                <a:latin typeface="Aptos"/>
              </a:rPr>
              <a:t>tercer</a:t>
            </a:r>
            <a:r>
              <a:rPr sz="1700" b="1" dirty="0">
                <a:solidFill>
                  <a:srgbClr val="0F172A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0F172A"/>
                </a:solidFill>
                <a:latin typeface="Aptos"/>
              </a:rPr>
              <a:t>archivo</a:t>
            </a:r>
            <a:r>
              <a:rPr sz="1700" b="1" dirty="0">
                <a:solidFill>
                  <a:srgbClr val="0F172A"/>
                </a:solidFill>
                <a:latin typeface="Aptos"/>
              </a:rPr>
              <a:t>: </a:t>
            </a:r>
            <a:r>
              <a:rPr sz="1700" b="1" dirty="0" err="1">
                <a:solidFill>
                  <a:srgbClr val="0F172A"/>
                </a:solidFill>
                <a:latin typeface="Aptos"/>
              </a:rPr>
              <a:t>protocolo.md</a:t>
            </a:r>
            <a:endParaRPr sz="1700" b="1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399" y="2743200"/>
            <a:ext cx="4633645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02B49"/>
                </a:solidFill>
                <a:latin typeface="Aptos"/>
              </a:rPr>
              <a:t>Al </a:t>
            </a:r>
            <a:r>
              <a:rPr sz="1600" b="1" dirty="0" err="1">
                <a:solidFill>
                  <a:srgbClr val="002B49"/>
                </a:solidFill>
                <a:latin typeface="Aptos"/>
              </a:rPr>
              <a:t>terminar</a:t>
            </a:r>
            <a:r>
              <a:rPr sz="1600" b="1" dirty="0">
                <a:solidFill>
                  <a:srgbClr val="002B49"/>
                </a:solidFill>
                <a:latin typeface="Aptos"/>
              </a:rPr>
              <a:t>, </a:t>
            </a:r>
            <a:r>
              <a:rPr sz="1600" b="1" dirty="0" err="1">
                <a:solidFill>
                  <a:srgbClr val="002B49"/>
                </a:solidFill>
                <a:latin typeface="Aptos"/>
              </a:rPr>
              <a:t>el</a:t>
            </a:r>
            <a:r>
              <a:rPr sz="1600" b="1" dirty="0">
                <a:solidFill>
                  <a:srgbClr val="002B4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2B49"/>
                </a:solidFill>
                <a:latin typeface="Aptos"/>
              </a:rPr>
              <a:t>servidor</a:t>
            </a:r>
            <a:r>
              <a:rPr sz="1600" b="1" dirty="0">
                <a:solidFill>
                  <a:srgbClr val="002B4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2B49"/>
                </a:solidFill>
                <a:latin typeface="Aptos"/>
              </a:rPr>
              <a:t>debe</a:t>
            </a:r>
            <a:r>
              <a:rPr sz="1600" b="1" dirty="0">
                <a:solidFill>
                  <a:srgbClr val="002B4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2B49"/>
                </a:solidFill>
                <a:latin typeface="Aptos"/>
              </a:rPr>
              <a:t>contener</a:t>
            </a:r>
            <a:r>
              <a:rPr sz="1600" b="1" dirty="0">
                <a:solidFill>
                  <a:srgbClr val="002B49"/>
                </a:solidFill>
                <a:latin typeface="Aptos"/>
              </a:rPr>
              <a:t>: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337560"/>
            <a:ext cx="164592" cy="16459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32644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Mono"/>
              </a:rPr>
              <a:t>pacientes.md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26440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datos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840480"/>
            <a:ext cx="164592" cy="16459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376732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Mono"/>
              </a:rPr>
              <a:t>pacientes-metadatos.md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7673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contexto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343400"/>
            <a:ext cx="164592" cy="164592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42702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Mono"/>
              </a:rPr>
              <a:t>protocolo.md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2702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procedimiento reproducible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2743200"/>
            <a:ext cx="4297680" cy="19202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931152" y="2871216"/>
            <a:ext cx="91440" cy="9144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32320" y="2871216"/>
            <a:ext cx="91440" cy="91440"/>
          </a:xfrm>
          <a:prstGeom prst="ellipse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33488" y="2871216"/>
            <a:ext cx="91440" cy="91440"/>
          </a:xfrm>
          <a:prstGeom prst="ellipse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43800" y="2834640"/>
            <a:ext cx="3337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 Mono"/>
              </a:rPr>
              <a:t>transferencia + verificación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3182112"/>
            <a:ext cx="3794760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Mono"/>
              </a:rPr>
              <a:t>sftp&gt; put protocolo.md
sftp&gt; exit
$ ls -lh pacientes.md pacientes-metadatos.md protocolo.md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Antes de sobrescribir protocolo.md en el servidor, ¿qué deberías comprobar?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El error exacto es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572768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  <a:latin typeface="Aptos Mono"/>
              </a:rPr>
              <a:t>contraseña “no se ve”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51960" y="1700784"/>
            <a:ext cx="548640" cy="0"/>
          </a:xfrm>
          <a:prstGeom prst="line">
            <a:avLst/>
          </a:prstGeom>
          <a:ln w="2032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0" y="157276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normal en SSH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  <a:latin typeface="Aptos Mono"/>
              </a:rPr>
              <a:t>Could not resolve hostname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51960" y="2340864"/>
            <a:ext cx="548640" cy="0"/>
          </a:xfrm>
          <a:prstGeom prst="line">
            <a:avLst/>
          </a:prstGeom>
          <a:ln w="2032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0" y="221284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host / red / VPN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52928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  <a:latin typeface="Aptos Mono"/>
              </a:rPr>
              <a:t>Permission denied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51960" y="2980944"/>
            <a:ext cx="548640" cy="0"/>
          </a:xfrm>
          <a:prstGeom prst="line">
            <a:avLst/>
          </a:prstGeom>
          <a:ln w="2032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0" y="285292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usuario / contraseña / autenticación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93007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  <a:latin typeface="Aptos Mono"/>
              </a:rPr>
              <a:t>huella no coincide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51960" y="3621023"/>
            <a:ext cx="548640" cy="0"/>
          </a:xfrm>
          <a:prstGeom prst="line">
            <a:avLst/>
          </a:prstGeom>
          <a:ln w="2032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0" y="3493007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NO aceptar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33087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  <a:latin typeface="Aptos Mono"/>
              </a:rPr>
              <a:t>No such file or directory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51960" y="4261103"/>
            <a:ext cx="548640" cy="0"/>
          </a:xfrm>
          <a:prstGeom prst="line">
            <a:avLst/>
          </a:prstGeom>
          <a:ln w="2032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0" y="4133087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contexto + nombre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73168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  <a:latin typeface="Aptos Mono"/>
              </a:rPr>
              <a:t>checksums distintos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51960" y="4901183"/>
            <a:ext cx="548640" cy="0"/>
          </a:xfrm>
          <a:prstGeom prst="line">
            <a:avLst/>
          </a:prstGeom>
          <a:ln w="2032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0" y="477316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no usar; repetir transferencia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información mínima pedirías a un estudiante que dice solamente “no funciona”?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DESPUÉS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IA: revisora de documentación, no operadora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22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828800"/>
            <a:ext cx="18288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084831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TU 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protocolo escrito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487168"/>
            <a:ext cx="320040" cy="0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1828800"/>
            <a:ext cx="18288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2084831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ANONIMIZA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542032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[SERVIDOR] · [USUARIO]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80" y="2487168"/>
            <a:ext cx="320040" cy="0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1828800"/>
            <a:ext cx="18288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76088" y="2084831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IA REVISA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542032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ambigüedad / faltantes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95160" y="2487168"/>
            <a:ext cx="320040" cy="0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06640" y="1828800"/>
            <a:ext cx="18288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2084831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VERIFICA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542032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lección + evidencia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35440" y="2487168"/>
            <a:ext cx="320040" cy="0"/>
          </a:xfrm>
          <a:prstGeom prst="line">
            <a:avLst/>
          </a:prstGeom>
          <a:ln w="25400">
            <a:solidFill>
              <a:srgbClr val="C5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46920" y="1828800"/>
            <a:ext cx="18288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56648" y="2084831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2B49"/>
                </a:solidFill>
                <a:latin typeface="Aptos"/>
              </a:rPr>
              <a:t>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648" y="2542032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acepta / rechaza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3840480"/>
            <a:ext cx="10058400" cy="914400"/>
          </a:xfrm>
          <a:prstGeom prst="roundRect">
            <a:avLst/>
          </a:prstGeom>
          <a:solidFill>
            <a:srgbClr val="FEF2F2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4142232"/>
            <a:ext cx="9509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91C1C"/>
                </a:solidFill>
                <a:latin typeface="Aptos"/>
              </a:rPr>
              <a:t>Nunca compartir: contraseña · IP · huella institucional · llave privada · token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5687568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5806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59B27"/>
                </a:solidFill>
                <a:latin typeface="Aptos"/>
              </a:rPr>
              <a:t>PREGUNTA AL GRUPO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575157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Aptos"/>
              </a:rPr>
              <a:t>¿Qué debe hacer el estudiante si la IA propone un comando nuevo que no ejecutó en clase?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GUÍA DOCENTE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Mapa del taller de 2 horas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23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46304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 Mono"/>
              </a:rPr>
              <a:t>0–10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Recuperación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463040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Unix · CLI · caso pacientes.md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10512"/>
            <a:ext cx="1010412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196596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 Mono"/>
              </a:rPr>
              <a:t>10–25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659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PRÁCTICA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965960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primera conexión SSH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2313432"/>
            <a:ext cx="1010412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46888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 Mono"/>
              </a:rPr>
              <a:t>25–35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4688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PRÁCTICA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468880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tres ciclos entrar/salir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2816352"/>
            <a:ext cx="1010412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29718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 Mono"/>
              </a:rPr>
              <a:t>35–55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9718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PRÁCTICA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971800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comandos · ayuda · Tab · Ctrl-C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3319272"/>
            <a:ext cx="1010412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34747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 Mono"/>
              </a:rPr>
              <a:t>55–80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4747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PRÁCTICA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474720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SFTP / FileZilla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3822192"/>
            <a:ext cx="1010412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3977639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 Mono"/>
              </a:rPr>
              <a:t>80–95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977639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PRÁCTICA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977639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checksums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240" y="4325112"/>
            <a:ext cx="1010412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7240" y="448056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 Mono"/>
              </a:rPr>
              <a:t>95–110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4805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CIERRE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480560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actualizar + transferir protocolo.md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4828032"/>
            <a:ext cx="1010412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498348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59B27"/>
                </a:solidFill>
                <a:latin typeface="Aptos Mono"/>
              </a:rPr>
              <a:t>110–120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9834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2B49"/>
                </a:solidFill>
                <a:latin typeface="Aptos"/>
              </a:rPr>
              <a:t>Diagnóstico + salida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4983480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confirmar 3 archivos · semáforo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7240" y="5330952"/>
            <a:ext cx="1010412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0" y="55321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Las diapositivas de práctica están marcadas explícitamente con “VAMOS A LA PRÁCTICA”.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59B27"/>
                </a:solidFill>
                <a:latin typeface="Aptos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2B49"/>
                </a:solidFill>
                <a:latin typeface="Aptos"/>
              </a:rPr>
              <a:t>Quédate con 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84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S3 ·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43584"/>
            <a:ext cx="11000232" cy="0"/>
          </a:xfrm>
          <a:prstGeom prst="line">
            <a:avLst/>
          </a:prstGeom>
          <a:ln w="190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536192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B49"/>
                </a:solidFill>
                <a:latin typeface="Aptos"/>
              </a:rPr>
              <a:t>1  CLI favorece la reproducibilidad porque deja instrucciones explícitas.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2  Terminal es la ventana; shell interpreta los comandos.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3  SSH permite trabajar de forma cifrada en una máquina remota.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99815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B49"/>
                </a:solidFill>
                <a:latin typeface="Aptos"/>
              </a:rPr>
              <a:t>4  Antes de actuar, distingue LOCAL · REMOTO · SFTP.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21024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5  Dato y metadatos viajan juntos.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42231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B49"/>
                </a:solidFill>
                <a:latin typeface="Aptos"/>
              </a:rPr>
              <a:t>6  Presencia no significa integridad: compara SHA-256.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2B49"/>
                </a:solidFill>
                <a:latin typeface="Aptos"/>
              </a:rPr>
              <a:t>7  El protocolo registra lo que realmente hiciste, sin credenciales.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1324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59B27"/>
                </a:solidFill>
                <a:latin typeface="Aptos"/>
              </a:rPr>
              <a:t>Semáforo:  VERDE · AMARILLO · ROJO  +  una duda que llevas a S4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28816"/>
            <a:ext cx="5120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Introducción a la Bioinformática · LCG UNAM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1954</Words>
  <Application>Microsoft Macintosh PowerPoint</Application>
  <PresentationFormat>Panorámica</PresentationFormat>
  <Paragraphs>378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Aptos</vt:lpstr>
      <vt:lpstr>Aptos Mono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2026-08-26T18:30:17Z</dcterms:modified>
  <cp:category/>
</cp:coreProperties>
</file>