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89" r:id="rId5"/>
    <p:sldId id="283" r:id="rId6"/>
    <p:sldId id="284" r:id="rId7"/>
    <p:sldId id="285" r:id="rId8"/>
    <p:sldId id="286" r:id="rId9"/>
    <p:sldId id="287" r:id="rId10"/>
    <p:sldId id="288" r:id="rId11"/>
    <p:sldId id="282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7883"/>
  </p:normalViewPr>
  <p:slideViewPr>
    <p:cSldViewPr snapToGrid="0" snapToObjects="1">
      <p:cViewPr varScale="1">
        <p:scale>
          <a:sx n="114" d="100"/>
          <a:sy n="114" d="100"/>
        </p:scale>
        <p:origin x="10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098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Proposito: presentar al docente una secuencia operativa para demostrar en vivo como pasar de archivos sueltos a un proyecto reproducible y verificable.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 de contenido: sesión S4 del curso, especialmente la nota de aula invertida y el objetivo del taller. https://helysalgado.github.io/introbioinfo-unix/u2-s4-sistema-archivos.html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la sesión S4 define el problema de pasar de archivos transferidos en el home a una estructura de proyecto verificable. https://helysalgado.github.io/introbioinfo-unix/u2-s4-sistema-archivos.html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la sesión S4 solicita comprobar contexto con hostname, whoami y pwd antes de operar archivos. https://helysalgado.github.io/introbioinfo-unix/u2-s4-sistema-archivos.html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la sesión S4 distingue rutas absolutas y relativas y enfatiza que la ruta relativa parte del directorio actual. https://helysalgado.github.io/introbioinfo-unix/u2-s4-sistema-archivos.html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la sesión S4 propone una estructura canónica con data/source, data/processed, src, results y doc, y promueve verificar y documentar la organización. https://helysalgado.github.io/introbioinfo-unix/u2-s4-sistema-archivos.html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la sesión S4 incluye verificación de estructura con tree/ls -R, integridad con checksum y documentación en protocolo.md. https://helysalgado.github.io/introbioinfo-unix/u2-s4-sistema-archivos.html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sugerido: pedir a cada estudiante que indique su semaforo y una duda. Si la duda es sobre rutas, pedirle que diga desde donde estaba parado.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512064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Bioinformatica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8580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LCG · UNAM ·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475488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2 · Sesion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548640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docente en vivo: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 el proyecto E. coli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4389120"/>
            <a:ext cx="5943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archivos · rutas · verificacion · documentacion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19608" y="1581717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9DEE7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56768" y="1718877"/>
            <a:ext cx="2011680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5515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archivos sueltos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5515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genes_ecoli.gff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5515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protocolo.md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5515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bitacora-ia.md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42768" y="2313237"/>
            <a:ext cx="6858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474288" y="1307397"/>
            <a:ext cx="2049618" cy="2103120"/>
          </a:xfrm>
          <a:prstGeom prst="roundRect">
            <a:avLst>
              <a:gd name="adj" fmla="val 5405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02888" y="1471989"/>
            <a:ext cx="123444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verificable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702888" y="1764597"/>
            <a:ext cx="204961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proyecto-ecoli/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data/source/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data/processed/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src/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results/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└── doc/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se quiere lograr en la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02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1069848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final de la demostracion, el grupo debe poder explicar y repetir como organizar archivos de E. coli en una estructura verificable, sin perder datos fuente y dejando evidencia del proceso.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49808" y="2743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A227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880360"/>
            <a:ext cx="2286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21208" y="3429000"/>
            <a:ext cx="1005840" cy="210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Ubicarse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" y="3767328"/>
            <a:ext cx="1600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servidor · usuario · ruta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89888" y="2999232"/>
            <a:ext cx="12801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81528" y="2743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314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2880360"/>
            <a:ext cx="2286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852928" y="3429000"/>
            <a:ext cx="1005840" cy="210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78608" y="3767328"/>
            <a:ext cx="1600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proyecto-ecoli/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21608" y="2999232"/>
            <a:ext cx="12801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13248" y="2743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314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0408" y="2880360"/>
            <a:ext cx="2286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84648" y="3429000"/>
            <a:ext cx="1005840" cy="210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Colocar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0328" y="3767328"/>
            <a:ext cx="1600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datos, documentacion y bitacora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53328" y="2999232"/>
            <a:ext cx="12801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44968" y="2743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314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2128" y="2880360"/>
            <a:ext cx="2286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516368" y="3429000"/>
            <a:ext cx="1005840" cy="210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42048" y="3767328"/>
            <a:ext cx="1600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arbol + checksum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385048" y="2999232"/>
            <a:ext cx="12801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76688" y="2743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314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13848" y="2880360"/>
            <a:ext cx="2286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848088" y="3429000"/>
            <a:ext cx="1005840" cy="210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73768" y="3767328"/>
            <a:ext cx="1600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+ protocolo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68680" y="489204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3272" y="5029200"/>
            <a:ext cx="1009497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33272" y="5276088"/>
            <a:ext cx="1009497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demo no busca memorizar comandos; busca practicar decisiones reproducibles: donde vivo, que cambio, como lo compruebo y como lo registro.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empezar: que seria una evidencia suficiente de que el proyecto quedo bien organizado?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GUION DE USO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paso debe tener accion y comprobacion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314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1828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960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DONDE ESTOY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" y="2852928"/>
            <a:ext cx="13258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o servidor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actual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1207008" y="2057400"/>
            <a:ext cx="130759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26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314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965960"/>
            <a:ext cx="1828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2514600"/>
            <a:ext cx="960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QUIERO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4600" y="2852928"/>
            <a:ext cx="13258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accion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diapositiva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3493008" y="2057400"/>
            <a:ext cx="130759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12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9A227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965960"/>
            <a:ext cx="1828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514600"/>
            <a:ext cx="960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EJECUTO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2852928"/>
            <a:ext cx="13258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comando visible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breve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779008" y="2057400"/>
            <a:ext cx="130759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98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314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1965960"/>
            <a:ext cx="1828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69480" y="2514600"/>
            <a:ext cx="960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OBSERVO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86600" y="2852928"/>
            <a:ext cx="13258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esperada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cambio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8065008" y="2057400"/>
            <a:ext cx="130759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784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314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21240" y="1965960"/>
            <a:ext cx="1828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55480" y="2514600"/>
            <a:ext cx="960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COMPRUEBO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372600" y="2852928"/>
            <a:ext cx="13258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antes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continuar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1188720" y="3977640"/>
            <a:ext cx="4572000" cy="1463040"/>
          </a:xfrm>
          <a:prstGeom prst="roundRect">
            <a:avLst>
              <a:gd name="adj" fmla="val 7500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417320" y="41422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patron de la demo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463040" y="4507992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comando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observar salida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comando_de_comprobacion</a:t>
            </a:r>
            <a:endParaRPr lang="en-US" sz="1520" dirty="0"/>
          </a:p>
        </p:txBody>
      </p:sp>
      <p:sp>
        <p:nvSpPr>
          <p:cNvPr id="34" name="Shape 32"/>
          <p:cNvSpPr/>
          <p:nvPr/>
        </p:nvSpPr>
        <p:spPr>
          <a:xfrm>
            <a:off x="6400800" y="397764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4114800"/>
            <a:ext cx="415137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565392" y="4361688"/>
            <a:ext cx="4151376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 continua: no basta con ejecutar. En buenas practicas, cada cambio importante debe ser verificable por otra persona.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que momento debe el docente detenerse para que el alumno prediga lo que pasara?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513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A029"/>
                </a:solidFill>
              </a:rPr>
              <a:t>AULA INVERTIDA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334D"/>
                </a:solidFill>
              </a:rPr>
              <a:t>Sondeo inicial: ¿qué quedó de la lectura?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097280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656832"/>
            <a:ext cx="3291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292840" y="219456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S4 · lectura 01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A6573"/>
                </a:solidFill>
              </a:rPr>
              <a:t>No buscamos que memoricen comandos. Buscamos detectar ideas previas, dudas y riesgos antes de la demostración.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80160" y="2423160"/>
            <a:ext cx="640080" cy="640080"/>
          </a:xfrm>
          <a:prstGeom prst="ellipse">
            <a:avLst/>
          </a:prstGeom>
          <a:solidFill>
            <a:srgbClr val="C6A029"/>
          </a:solidFill>
          <a:ln w="12700">
            <a:solidFill>
              <a:srgbClr val="C6A029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0" y="2596896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3246120"/>
            <a:ext cx="2057400" cy="1170432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0160">
            <a:solidFill>
              <a:srgbClr val="D7DEE8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33272" y="3410712"/>
            <a:ext cx="1728216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334D"/>
                </a:solidFill>
              </a:rPr>
              <a:t>1. Explica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33272" y="3749040"/>
            <a:ext cx="1728216" cy="53035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¿Qué problema resuelve S4?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03320" y="2423160"/>
            <a:ext cx="640080" cy="640080"/>
          </a:xfrm>
          <a:prstGeom prst="ellipse">
            <a:avLst/>
          </a:prstGeom>
          <a:solidFill>
            <a:srgbClr val="07334D"/>
          </a:solidFill>
          <a:ln w="12700">
            <a:solidFill>
              <a:srgbClr val="07334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03320" y="2596896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246120"/>
            <a:ext cx="2057400" cy="1170432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0160">
            <a:solidFill>
              <a:srgbClr val="D7DEE8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56432" y="3410712"/>
            <a:ext cx="1728216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334D"/>
                </a:solidFill>
              </a:rPr>
              <a:t>2. Predice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56432" y="3749040"/>
            <a:ext cx="1728216" cy="53035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¿Dónde viviría cada archivo?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0" y="2423160"/>
            <a:ext cx="640080" cy="640080"/>
          </a:xfrm>
          <a:prstGeom prst="ellipse">
            <a:avLst/>
          </a:prstGeom>
          <a:solidFill>
            <a:srgbClr val="07334D"/>
          </a:solidFill>
          <a:ln w="12700">
            <a:solidFill>
              <a:srgbClr val="07334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2596896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15000" y="3246120"/>
            <a:ext cx="2057400" cy="1170432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0160">
            <a:solidFill>
              <a:srgbClr val="D7DEE8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79592" y="3410712"/>
            <a:ext cx="1728216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334D"/>
                </a:solidFill>
              </a:rPr>
              <a:t>3. Comprueba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79592" y="3749040"/>
            <a:ext cx="1728216" cy="53035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¿Qué evidencia demuestra que funcionó?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49640" y="2423160"/>
            <a:ext cx="640080" cy="640080"/>
          </a:xfrm>
          <a:prstGeom prst="ellipse">
            <a:avLst/>
          </a:prstGeom>
          <a:solidFill>
            <a:srgbClr val="07334D"/>
          </a:solidFill>
          <a:ln w="12700">
            <a:solidFill>
              <a:srgbClr val="07334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49640" y="2596896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3246120"/>
            <a:ext cx="2057400" cy="1170432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0160">
            <a:solidFill>
              <a:srgbClr val="D7DEE8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02752" y="3410712"/>
            <a:ext cx="1728216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334D"/>
                </a:solidFill>
              </a:rPr>
              <a:t>4. Corrige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02752" y="3749040"/>
            <a:ext cx="1728216" cy="53035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¿Qué harías si algo falla?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5840" y="5166360"/>
            <a:ext cx="10149840" cy="438912"/>
          </a:xfrm>
          <a:prstGeom prst="roundRect">
            <a:avLst>
              <a:gd name="adj" fmla="val 14583"/>
            </a:avLst>
          </a:prstGeom>
          <a:solidFill>
            <a:srgbClr val="FFF5D7"/>
          </a:solidFill>
          <a:ln w="8890">
            <a:solidFill>
              <a:srgbClr val="E0C566"/>
            </a:solidFill>
            <a:prstDash val="solid"/>
          </a:ln>
          <a:effectLst>
            <a:outerShdw blurRad="1905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52144" y="5294376"/>
            <a:ext cx="9857232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FAIR / buenas prácticas: antes de ejecutar, explicar el propósito; después de ejecutar, conservar evidencia.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2920" y="621792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C6A029"/>
                </a:solidFill>
              </a:rPr>
              <a:t>PREGUNTA AL GRUPO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1828800" y="6153912"/>
            <a:ext cx="9326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7334D"/>
                </a:solidFill>
              </a:rPr>
              <a:t>¿Qué parte de la lectura te pareció más clara y cuál te dejó más dudas?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A029"/>
                </a:solidFill>
              </a:rPr>
              <a:t>SONDEO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334D"/>
                </a:solidFill>
              </a:rPr>
              <a:t>¿Qué problema resuelve S4?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097280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656832"/>
            <a:ext cx="3291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292840" y="219456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S4 · lectura 02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573"/>
                </a:solidFill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301752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0160">
            <a:solidFill>
              <a:srgbClr val="D7DEE8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2221992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334D"/>
                </a:solidFill>
              </a:rPr>
              <a:t>Situación inicial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560320"/>
            <a:ext cx="2688336" cy="11887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Archivos sueltos del proyecto de E. coli en el home del servidor: genes_ecoli.gff, metadatos y protocolo.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60520" y="2743200"/>
            <a:ext cx="685800" cy="411480"/>
          </a:xfrm>
          <a:prstGeom prst="rightArrow">
            <a:avLst/>
          </a:prstGeom>
          <a:solidFill>
            <a:srgbClr val="C6A029"/>
          </a:solidFill>
          <a:ln w="12700">
            <a:solidFill>
              <a:srgbClr val="C6A0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205740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FFF9E6"/>
          </a:solidFill>
          <a:ln w="10160">
            <a:solidFill>
              <a:srgbClr val="E5CB6B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30952" y="222199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334D"/>
                </a:solidFill>
              </a:rPr>
              <a:t>Meta de S4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30952" y="2560320"/>
            <a:ext cx="2505456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Convertir archivos sueltos en una estructura de proyecto verificable y documentada.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21040" y="2743200"/>
            <a:ext cx="685800" cy="411480"/>
          </a:xfrm>
          <a:prstGeom prst="rightArrow">
            <a:avLst/>
          </a:prstGeom>
          <a:solidFill>
            <a:srgbClr val="C6A029"/>
          </a:solidFill>
          <a:ln w="12700">
            <a:solidFill>
              <a:srgbClr val="C6A0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9720" y="205740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0160">
            <a:solidFill>
              <a:srgbClr val="D7DEE8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54312" y="2221992"/>
            <a:ext cx="2002536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334D"/>
                </a:solidFill>
              </a:rPr>
              <a:t>Evidencia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54312" y="2560320"/>
            <a:ext cx="2002536" cy="11887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Árbol del proyecto, ubicación de archivos, checksum y protocolo actualizado.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4846321"/>
            <a:ext cx="10515600" cy="850392"/>
          </a:xfrm>
          <a:prstGeom prst="roundRect">
            <a:avLst>
              <a:gd name="adj" fmla="val 16799"/>
            </a:avLst>
          </a:prstGeom>
          <a:solidFill>
            <a:srgbClr val="FFF5D7"/>
          </a:solidFill>
          <a:ln w="8890">
            <a:solidFill>
              <a:srgbClr val="E0C566"/>
            </a:solidFill>
            <a:prstDash val="solid"/>
          </a:ln>
          <a:effectLst>
            <a:outerShdw blurRad="1905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60704" y="5202936"/>
            <a:ext cx="10131552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FAIR: la organización vuelve los datos más encontrables y reutilizables dentro del proyecto; la evidencia permite auditar el proceso.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21792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C6A029"/>
                </a:solidFill>
              </a:rPr>
              <a:t>PREGUNTA AL GRUPO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828800" y="6153912"/>
            <a:ext cx="9326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7334D"/>
                </a:solidFill>
              </a:rPr>
              <a:t>Completa la frase: “S4 no trata solo de comandos; trata de…”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A029"/>
                </a:solidFill>
              </a:rPr>
              <a:t>SONDEO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334D"/>
                </a:solidFill>
              </a:rPr>
              <a:t>Antes de actuar: ¿dónde estoy y con qué usuario?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097280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656832"/>
            <a:ext cx="3291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292840" y="219456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S4 · lectura 03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EAF4FA"/>
          </a:solidFill>
          <a:ln w="6350">
            <a:solidFill>
              <a:srgbClr val="D7E7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90472"/>
            <a:ext cx="1956816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334D"/>
                </a:solidFill>
              </a:rPr>
              <a:t>servidor o local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80360" y="141732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EAF4FA"/>
          </a:solidFill>
          <a:ln w="6350">
            <a:solidFill>
              <a:srgbClr val="D7E7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1490472"/>
            <a:ext cx="1865376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334D"/>
                </a:solidFill>
              </a:rPr>
              <a:t>usuario correcto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141732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EAF4FA"/>
          </a:solidFill>
          <a:ln w="6350">
            <a:solidFill>
              <a:srgbClr val="D7E7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2352" y="1490472"/>
            <a:ext cx="1865376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334D"/>
                </a:solidFill>
              </a:rPr>
              <a:t>directorio actual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78040" y="141732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EAF4FA"/>
          </a:solidFill>
          <a:ln w="6350">
            <a:solidFill>
              <a:srgbClr val="D7E7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51192" y="1490472"/>
            <a:ext cx="1865376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334D"/>
                </a:solidFill>
              </a:rPr>
              <a:t>archivos visibles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2057400"/>
            <a:ext cx="4023360" cy="2468880"/>
          </a:xfrm>
          <a:prstGeom prst="roundRect">
            <a:avLst>
              <a:gd name="adj" fmla="val 2222"/>
            </a:avLst>
          </a:prstGeom>
          <a:solidFill>
            <a:srgbClr val="0E1628"/>
          </a:solidFill>
          <a:ln w="12700">
            <a:solidFill>
              <a:srgbClr val="0E1628"/>
            </a:solidFill>
            <a:prstDash val="solid"/>
          </a:ln>
          <a:effectLst>
            <a:outerShdw blurRad="2286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24128" y="2286000"/>
            <a:ext cx="3621024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hostname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whoami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pwd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-lah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77840" y="2057400"/>
            <a:ext cx="5303520" cy="246888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0160">
            <a:solidFill>
              <a:srgbClr val="D7DEE8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42432" y="2221992"/>
            <a:ext cx="4974336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334D"/>
                </a:solidFill>
              </a:rPr>
              <a:t>Lee la salida, no solo el comando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42432" y="2560320"/>
            <a:ext cx="4974336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Si no sabes en qué máquina o carpeta estás, una ruta relativa puede apuntar a otro lugar y un mv/rm puede afectar lo equivocado.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5074920"/>
            <a:ext cx="10424160" cy="438912"/>
          </a:xfrm>
          <a:prstGeom prst="roundRect">
            <a:avLst>
              <a:gd name="adj" fmla="val 14583"/>
            </a:avLst>
          </a:prstGeom>
          <a:solidFill>
            <a:srgbClr val="FFF5D7"/>
          </a:solidFill>
          <a:ln w="8890">
            <a:solidFill>
              <a:srgbClr val="E0C566"/>
            </a:solidFill>
            <a:prstDash val="solid"/>
          </a:ln>
          <a:effectLst>
            <a:outerShdw blurRad="1905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60704" y="5202936"/>
            <a:ext cx="10131552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Buena práctica: comprobar contexto antes de crear, copiar, mover o borrar reduce errores y hace la sesión reproducible.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C6A029"/>
                </a:solidFill>
              </a:rPr>
              <a:t>PREGUNTA AL GRUPO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828800" y="6153912"/>
            <a:ext cx="9326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7334D"/>
                </a:solidFill>
              </a:rPr>
              <a:t>¿Cuál de estos comandos te dice el punto de partida de una ruta relativa?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A029"/>
                </a:solidFill>
              </a:rPr>
              <a:t>SONDEO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334D"/>
                </a:solidFill>
              </a:rPr>
              <a:t>Rutas: el mismo texto puede significar otra cosa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097280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656832"/>
            <a:ext cx="3291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292840" y="219456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S4 · lectura 04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1FAF2"/>
          </a:solidFill>
          <a:ln w="10160">
            <a:solidFill>
              <a:srgbClr val="B7D7B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993392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334D"/>
                </a:solidFill>
              </a:rPr>
              <a:t>Caso A: estoy en proyecto-ecoli/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2331720"/>
            <a:ext cx="2962656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data/source/ apunta a: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proyecto-ecoli/data/source/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✓ correcto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1F0"/>
          </a:solidFill>
          <a:ln w="10160">
            <a:solidFill>
              <a:srgbClr val="F0B8B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9432" y="1993392"/>
            <a:ext cx="3145536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334D"/>
                </a:solidFill>
              </a:rPr>
              <a:t>Caso B: estoy en proyecto-ecoli/doc/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331720"/>
            <a:ext cx="3145536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data/source/ apunta a: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proyecto-ecoli/doc/data/source/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✗ no existe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75320" y="1828800"/>
            <a:ext cx="2971800" cy="1920240"/>
          </a:xfrm>
          <a:prstGeom prst="roundRect">
            <a:avLst>
              <a:gd name="adj" fmla="val 3810"/>
            </a:avLst>
          </a:prstGeom>
          <a:solidFill>
            <a:srgbClr val="FFF9E6"/>
          </a:solidFill>
          <a:ln w="10160">
            <a:solidFill>
              <a:srgbClr val="E5CB6B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9912" y="1993392"/>
            <a:ext cx="2642616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334D"/>
                </a:solidFill>
              </a:rPr>
              <a:t>Ruta correcta desde doc/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9912" y="2331720"/>
            <a:ext cx="2642616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../data/source/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A6573"/>
                </a:solidFill>
              </a:rPr>
              <a:t>Sube un nivel con .. y luego baja por data/source/.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462272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A029"/>
                </a:solidFill>
              </a:rPr>
              <a:t>Idea clave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57400" y="4334256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334D"/>
                </a:solidFill>
              </a:rPr>
              <a:t>Una ruta relativa depende del directorio actual. Por eso pwd es una herramienta de razonamiento, no solo de consulta.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21792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C6A029"/>
                </a:solidFill>
              </a:rPr>
              <a:t>PREGUNTA AL GRUPO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828800" y="6153912"/>
            <a:ext cx="9326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7334D"/>
                </a:solidFill>
              </a:rPr>
              <a:t>Si estás en doc/, ¿por qué data/source/ no llega al GFF?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A029"/>
                </a:solidFill>
              </a:rPr>
              <a:t>SONDEO 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334D"/>
                </a:solidFill>
              </a:rPr>
              <a:t>¿Dónde vive cada cosa? Organización con criterio FAIR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097280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656832"/>
            <a:ext cx="3291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292840" y="219456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S4 · lectura 05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27889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7620" dist="381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618488"/>
            <a:ext cx="251460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0E1B2B"/>
                </a:solidFill>
              </a:rPr>
              <a:t>genes_ecoli.gff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3703320" y="1700784"/>
            <a:ext cx="640080" cy="0"/>
          </a:xfrm>
          <a:prstGeom prst="line">
            <a:avLst/>
          </a:prstGeom>
          <a:noFill/>
          <a:ln w="15240">
            <a:solidFill>
              <a:srgbClr val="C6A02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80560" y="1508760"/>
            <a:ext cx="2057400" cy="384048"/>
          </a:xfrm>
          <a:prstGeom prst="roundRect">
            <a:avLst>
              <a:gd name="adj" fmla="val 9524"/>
            </a:avLst>
          </a:prstGeom>
          <a:solidFill>
            <a:srgbClr val="FFF5D7"/>
          </a:solidFill>
          <a:ln w="12700">
            <a:solidFill>
              <a:srgbClr val="E5C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18488"/>
            <a:ext cx="1783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7334D"/>
                </a:solidFill>
              </a:rPr>
              <a:t>data/source/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6903720" y="160020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A6573"/>
                </a:solidFill>
              </a:rPr>
              <a:t>dato original: no editar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7240" y="2167128"/>
            <a:ext cx="27889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7620" dist="381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276856"/>
            <a:ext cx="251460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0E1B2B"/>
                </a:solidFill>
              </a:rPr>
              <a:t>genes_ecoli-metadatos.md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3703320" y="2359152"/>
            <a:ext cx="640080" cy="0"/>
          </a:xfrm>
          <a:prstGeom prst="line">
            <a:avLst/>
          </a:prstGeom>
          <a:noFill/>
          <a:ln w="15240">
            <a:solidFill>
              <a:srgbClr val="C6A02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80560" y="2167128"/>
            <a:ext cx="2057400" cy="384048"/>
          </a:xfrm>
          <a:prstGeom prst="roundRect">
            <a:avLst>
              <a:gd name="adj" fmla="val 9524"/>
            </a:avLst>
          </a:prstGeom>
          <a:solidFill>
            <a:srgbClr val="FFF5D7"/>
          </a:solidFill>
          <a:ln w="12700">
            <a:solidFill>
              <a:srgbClr val="E5C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276856"/>
            <a:ext cx="1783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7334D"/>
                </a:solidFill>
              </a:rPr>
              <a:t>data/source/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6903720" y="2258568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A6573"/>
                </a:solidFill>
              </a:rPr>
              <a:t>contexto del dato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77240" y="2825496"/>
            <a:ext cx="27889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7620" dist="381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2935224"/>
            <a:ext cx="251460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0E1B2B"/>
                </a:solidFill>
              </a:rPr>
              <a:t>protocolo.md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3703320" y="3017520"/>
            <a:ext cx="640080" cy="0"/>
          </a:xfrm>
          <a:prstGeom prst="line">
            <a:avLst/>
          </a:prstGeom>
          <a:noFill/>
          <a:ln w="15240">
            <a:solidFill>
              <a:srgbClr val="C6A02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80560" y="2825496"/>
            <a:ext cx="2057400" cy="384048"/>
          </a:xfrm>
          <a:prstGeom prst="roundRect">
            <a:avLst>
              <a:gd name="adj" fmla="val 9524"/>
            </a:avLst>
          </a:prstGeom>
          <a:solidFill>
            <a:srgbClr val="FFF5D7"/>
          </a:solidFill>
          <a:ln w="12700">
            <a:solidFill>
              <a:srgbClr val="E5C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935224"/>
            <a:ext cx="1783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7334D"/>
                </a:solidFill>
              </a:rPr>
              <a:t>doc/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6903720" y="2916936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A6573"/>
                </a:solidFill>
              </a:rPr>
              <a:t>decisiones y evidencia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77240" y="3483864"/>
            <a:ext cx="27889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7620" dist="381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3593592"/>
            <a:ext cx="251460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0E1B2B"/>
                </a:solidFill>
              </a:rPr>
              <a:t>README.md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3703320" y="3675888"/>
            <a:ext cx="640080" cy="0"/>
          </a:xfrm>
          <a:prstGeom prst="line">
            <a:avLst/>
          </a:prstGeom>
          <a:noFill/>
          <a:ln w="15240">
            <a:solidFill>
              <a:srgbClr val="C6A029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480560" y="3483864"/>
            <a:ext cx="2057400" cy="384048"/>
          </a:xfrm>
          <a:prstGeom prst="roundRect">
            <a:avLst>
              <a:gd name="adj" fmla="val 9524"/>
            </a:avLst>
          </a:prstGeom>
          <a:solidFill>
            <a:srgbClr val="FFF5D7"/>
          </a:solidFill>
          <a:ln w="12700">
            <a:solidFill>
              <a:srgbClr val="E5C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593592"/>
            <a:ext cx="1783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7334D"/>
                </a:solidFill>
              </a:rPr>
              <a:t>raíz del proyecto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6903720" y="3575304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A6573"/>
                </a:solidFill>
              </a:rPr>
              <a:t>portada y guía del proyecto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77240" y="4142232"/>
            <a:ext cx="27889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7620" dist="381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4251960"/>
            <a:ext cx="251460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0E1B2B"/>
                </a:solidFill>
              </a:rPr>
              <a:t>resultados futuros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3703320" y="4334256"/>
            <a:ext cx="640080" cy="0"/>
          </a:xfrm>
          <a:prstGeom prst="line">
            <a:avLst/>
          </a:prstGeom>
          <a:noFill/>
          <a:ln w="15240">
            <a:solidFill>
              <a:srgbClr val="C6A029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480560" y="4142232"/>
            <a:ext cx="2057400" cy="384048"/>
          </a:xfrm>
          <a:prstGeom prst="roundRect">
            <a:avLst>
              <a:gd name="adj" fmla="val 9524"/>
            </a:avLst>
          </a:prstGeom>
          <a:solidFill>
            <a:srgbClr val="FFF5D7"/>
          </a:solidFill>
          <a:ln w="12700">
            <a:solidFill>
              <a:srgbClr val="E5C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4251960"/>
            <a:ext cx="1783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7334D"/>
                </a:solidFill>
              </a:rPr>
              <a:t>results/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6903720" y="4233672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A6573"/>
                </a:solidFill>
              </a:rPr>
              <a:t>salidas derivadas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14400" y="5349240"/>
            <a:ext cx="10424160" cy="438912"/>
          </a:xfrm>
          <a:prstGeom prst="roundRect">
            <a:avLst>
              <a:gd name="adj" fmla="val 14583"/>
            </a:avLst>
          </a:prstGeom>
          <a:solidFill>
            <a:srgbClr val="FFF5D7"/>
          </a:solidFill>
          <a:ln w="8890">
            <a:solidFill>
              <a:srgbClr val="E0C566"/>
            </a:solidFill>
            <a:prstDash val="solid"/>
          </a:ln>
          <a:effectLst>
            <a:outerShdw blurRad="1905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60704" y="5477256"/>
            <a:ext cx="1013155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A6573"/>
                </a:solidFill>
              </a:rPr>
              <a:t>FAIR aplicado: datos fuente separados, metadatos junto al dato, documentación visible y resultados derivados fuera de source/.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" y="621792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C6A029"/>
                </a:solidFill>
              </a:rPr>
              <a:t>PREGUNTA AL GRUPO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1828800" y="6153912"/>
            <a:ext cx="9326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7334D"/>
                </a:solidFill>
              </a:rPr>
              <a:t>¿Cuál archivo sería más peligroso editar directamente y por qué?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A029"/>
                </a:solidFill>
              </a:rPr>
              <a:t>SONDEO 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7334D"/>
                </a:solidFill>
              </a:rPr>
              <a:t>¿Qué evidencia pedirías antes de decir “quedó bien”?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097280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656832"/>
            <a:ext cx="3291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292840" y="219456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S4 · lectura 06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7FAFC"/>
          </a:solidFill>
          <a:ln w="10160">
            <a:solidFill>
              <a:srgbClr val="D7DEE8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41832" y="1856232"/>
            <a:ext cx="213969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7334D"/>
                </a:solidFill>
              </a:rPr>
              <a:t>1. Ubicación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41832" y="2194560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573"/>
                </a:solidFill>
              </a:rPr>
              <a:t>tree o ls -R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573"/>
                </a:solidFill>
              </a:rPr>
              <a:t>¿El archivo quedó en la carpeta correcta?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66160" y="16916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FF9E6"/>
          </a:solidFill>
          <a:ln w="10160">
            <a:solidFill>
              <a:srgbClr val="E5CB6B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30752" y="1856232"/>
            <a:ext cx="213969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7334D"/>
                </a:solidFill>
              </a:rPr>
              <a:t>2. Integridad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30752" y="2194560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573"/>
                </a:solidFill>
              </a:rPr>
              <a:t>sha256sum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573"/>
                </a:solidFill>
              </a:rPr>
              <a:t>¿El contenido del GFF se conserva igual?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7FAFC"/>
          </a:solidFill>
          <a:ln w="10160">
            <a:solidFill>
              <a:srgbClr val="D7DEE8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1856232"/>
            <a:ext cx="213969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7334D"/>
                </a:solidFill>
              </a:rPr>
              <a:t>3. Documentación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9672" y="2194560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573"/>
                </a:solidFill>
              </a:rPr>
              <a:t>protocolo.md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573"/>
                </a:solidFill>
              </a:rPr>
              <a:t>¿Qué hiciste, qué falló y cómo lo comprobaste?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0" y="16916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FF1F0"/>
          </a:solidFill>
          <a:ln w="10160">
            <a:solidFill>
              <a:srgbClr val="F0B8B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08592" y="1856232"/>
            <a:ext cx="20025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7334D"/>
                </a:solidFill>
              </a:rPr>
              <a:t>4. Corrección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08592" y="2194560"/>
            <a:ext cx="2002536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573"/>
                </a:solidFill>
              </a:rPr>
              <a:t>mensaje de error + decisión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573"/>
                </a:solidFill>
              </a:rPr>
              <a:t>Un error leído también es evidencia.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977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334D"/>
                </a:solidFill>
              </a:rPr>
              <a:t>No basta con “lo ejecuté”. En S4 aprendemos a transformar una acción en evidencia verificable.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5074920"/>
            <a:ext cx="10424160" cy="438912"/>
          </a:xfrm>
          <a:prstGeom prst="roundRect">
            <a:avLst>
              <a:gd name="adj" fmla="val 14583"/>
            </a:avLst>
          </a:prstGeom>
          <a:solidFill>
            <a:srgbClr val="FFF5D7"/>
          </a:solidFill>
          <a:ln w="8890">
            <a:solidFill>
              <a:srgbClr val="E0C566"/>
            </a:solidFill>
            <a:prstDash val="solid"/>
          </a:ln>
          <a:effectLst>
            <a:outerShdw blurRad="1905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60704" y="5202936"/>
            <a:ext cx="1013155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A6573"/>
                </a:solidFill>
              </a:rPr>
              <a:t>Buena práctica: cada acción importante debería tener una comprobación y, si hubo error, una explicación registrada.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621792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C6A029"/>
                </a:solidFill>
              </a:rPr>
              <a:t>PREGUNTA AL GRUPO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828800" y="6153912"/>
            <a:ext cx="9326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7334D"/>
                </a:solidFill>
              </a:rPr>
              <a:t>¿Qué demuestra un checksum que no demuestra un árbol de carpetas?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623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PARTIDA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 de E. coli todavia estan sueltos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04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4206240" cy="2834640"/>
          </a:xfrm>
          <a:prstGeom prst="roundRect">
            <a:avLst>
              <a:gd name="adj" fmla="val 3226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764792"/>
            <a:ext cx="374904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37490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~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genes_ecoli.gff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genes_ecoli-metadatos.md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protocolo.md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└── bitacora-ia.md  (local)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303520" y="2926080"/>
            <a:ext cx="9144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0" y="141732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581912"/>
            <a:ext cx="33832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1874520"/>
            <a:ext cx="338328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proyecto-ecoli/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README.md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data/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│   ├── source/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│   └── processed/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src/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results/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└── doc/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8680" y="4892039"/>
            <a:ext cx="9831746" cy="944537"/>
          </a:xfrm>
          <a:prstGeom prst="roundRect">
            <a:avLst>
              <a:gd name="adj" fmla="val 10667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5029200"/>
            <a:ext cx="936345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33272" y="5276088"/>
            <a:ext cx="936345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empieza antes del analisis: separar datos fuente, datos procesados, codigo, resultados y documentacion facilita encontrar, entender y reutilizar el trabajo.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comandos: donde pondrias el GFF, los metadatos, el protocolo y la bitacora?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 contexto antes de cambiar archivos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05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servidor · ~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confirmar identidad y ruta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hostname / whoami / pwd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salidas coherentes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377440"/>
            <a:ext cx="5120640" cy="2468880"/>
          </a:xfrm>
          <a:prstGeom prst="roundRect">
            <a:avLst>
              <a:gd name="adj" fmla="val 4444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25420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terminal remota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2907792"/>
            <a:ext cx="45720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hostname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whoami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~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pwd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-lah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629400" y="2514600"/>
            <a:ext cx="420624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651760"/>
            <a:ext cx="3931920" cy="1691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crear, copiar o borrar: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servidor correcto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usuario correcto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carpeta correcta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29400" y="4800600"/>
            <a:ext cx="4206240" cy="996696"/>
          </a:xfrm>
          <a:prstGeom prst="roundRect">
            <a:avLst>
              <a:gd name="adj" fmla="val 11429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93992" y="4937760"/>
            <a:ext cx="387705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793992" y="5184648"/>
            <a:ext cx="387705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Buena practica: registrar el contexto reduce errores y ayuda a interpretar rutas relativas.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salida demuestra que estas en el servidor y no en tu computadora local?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construir: mira si ya existe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06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servidor · ~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evitar duplicados o sobrescrituras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si proyecto-ecoli ya existe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4846320" cy="2194560"/>
          </a:xfrm>
          <a:prstGeom prst="roundRect">
            <a:avLst>
              <a:gd name="adj" fmla="val 5000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25420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terminal remota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05840" y="2907792"/>
            <a:ext cx="42976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~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-R proyecto-ecoli  # solo si existe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583680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antes de actuar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92240" y="28346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EAF7E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existe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inspeccionar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0" y="28346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EAF2F8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existe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crear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75320" y="3246120"/>
            <a:ext cx="7772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37959" y="4434839"/>
            <a:ext cx="4746125" cy="822935"/>
          </a:xfrm>
          <a:prstGeom prst="roundRect">
            <a:avLst>
              <a:gd name="adj" fmla="val 9412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02552" y="4572000"/>
            <a:ext cx="405993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02552" y="4818888"/>
            <a:ext cx="405993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Buena practica: no ejecutar comandos destructivos ni repetidos sin saber el estado inicial.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problema puede ocurrir si creas proyecto-ecoli dentro de otro proyecto-ecoli?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 la carpeta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07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servidor · ~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crear contenedor principal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mkdir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aparece proyecto-ecoli/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240280"/>
            <a:ext cx="4297680" cy="1737360"/>
          </a:xfrm>
          <a:prstGeom prst="roundRect">
            <a:avLst>
              <a:gd name="adj" fmla="val 6316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2404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ejecuta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2770632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mkdir proyecto-ecoli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5852160" y="2057400"/>
            <a:ext cx="4023360" cy="2148840"/>
          </a:xfrm>
          <a:prstGeom prst="roundRect">
            <a:avLst>
              <a:gd name="adj" fmla="val 4255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2221992"/>
            <a:ext cx="35661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2514600"/>
            <a:ext cx="35661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~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genes_ecoli.gff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genes_ecoli-metadatos.md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protocolo.md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└── proyecto-ecoli/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60120" y="4892040"/>
            <a:ext cx="9326880" cy="685800"/>
          </a:xfrm>
          <a:prstGeom prst="roundRect">
            <a:avLst>
              <a:gd name="adj" fmla="val 10667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4712" y="5029200"/>
            <a:ext cx="899769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4712" y="5276088"/>
            <a:ext cx="899769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carpeta principal funciona como limite del proyecto: todo lo necesario para entender el analisis debe quedar dentro o documentado.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compruebas que se creo exactamente donde querias?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al proyecto y fija el contexto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08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servidor · ~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moverse al proyecto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cd / pwd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ruta actual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240280"/>
            <a:ext cx="4937760" cy="1600200"/>
          </a:xfrm>
          <a:prstGeom prst="roundRect">
            <a:avLst>
              <a:gd name="adj" fmla="val 6857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240487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ejecuta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2770632"/>
            <a:ext cx="4389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proyecto-ecoli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pwd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/home/alumno/proyecto-ecoli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44805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aqui, rutas como data/source/ se interpretan dentro de proyecto-ecoli.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388620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4023360"/>
            <a:ext cx="387705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656832" y="4270248"/>
            <a:ext cx="3877056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Principio operativo: las rutas relativas dependen de donde estas. pwd da contexto a todo lo que sigue.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conviene ejecutar pwd despues de cd?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Construye la estructura 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09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servidor · ~/proyecto-ecoli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crear carpetas de trabajo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mkdir -p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carpetas esperadas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21488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3134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ejecuta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2679192"/>
            <a:ext cx="4846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mkdir -p data/source data/processed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mkdir src results doc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touch README.md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492240" y="1828800"/>
            <a:ext cx="3657600" cy="2834640"/>
          </a:xfrm>
          <a:prstGeom prst="roundRect">
            <a:avLst>
              <a:gd name="adj" fmla="val 3226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993392"/>
            <a:ext cx="32004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buscada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2286000"/>
            <a:ext cx="320040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proyecto-ecoli/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README.md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data/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│   ├── processed/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│   └── source/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doc/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results/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└── src/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68680" y="5074920"/>
            <a:ext cx="10104120" cy="896112"/>
          </a:xfrm>
          <a:prstGeom prst="roundRect">
            <a:avLst>
              <a:gd name="adj" fmla="val 12308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5212080"/>
            <a:ext cx="954633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33272" y="5458968"/>
            <a:ext cx="9546336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FAIR: una estructura consistente mejora Findability interna y Reusability, porque otras personas entienden donde buscar datos, codigo y resultados.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no mezclar datos, scripts, resultados y documentacion en una sola carpeta?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Comprueba el arbol antes de seguir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servidor · ~/proyecto-ecoli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ver estructura completa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tree o ls -R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coincide con el plan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2402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24048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comprueba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05840" y="2770632"/>
            <a:ext cx="36576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tree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si no existe tree: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-R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5760720" y="1828800"/>
            <a:ext cx="4297680" cy="2560320"/>
          </a:xfrm>
          <a:prstGeom prst="roundRect">
            <a:avLst>
              <a:gd name="adj" fmla="val 3571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993392"/>
            <a:ext cx="38404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esperada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2286000"/>
            <a:ext cx="38404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.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README.md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data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│   ├── processed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│   └── source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doc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results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└── src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715000" y="4709159"/>
            <a:ext cx="4469860" cy="1146891"/>
          </a:xfrm>
          <a:prstGeom prst="roundRect">
            <a:avLst>
              <a:gd name="adj" fmla="val 9412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9592" y="4846320"/>
            <a:ext cx="405993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79592" y="5093208"/>
            <a:ext cx="405993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Buena practica: primero se valida la estructura vacia; despues se colocan archivos. Asi es mas facil detectar errores.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revisas en esta salida: nombres, niveles o ambas cosas?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 FAIR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data/source y data/processed no significan lo mismo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05840" y="18745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AF7E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011680"/>
            <a:ext cx="374904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data/source/</a:t>
            </a:r>
            <a:endParaRPr lang="en-US" sz="1700" dirty="0"/>
          </a:p>
          <a:p>
            <a:pPr marL="0" indent="0" algn="ctr">
              <a:buNone/>
            </a:pP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6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originales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6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editar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6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Ejemplo: genes_ecoli.gff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75120" y="18745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AF2F8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2011680"/>
            <a:ext cx="374904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data/processed/</a:t>
            </a:r>
            <a:endParaRPr lang="en-US" sz="1700" dirty="0"/>
          </a:p>
          <a:p>
            <a:pPr marL="0" indent="0" algn="ctr">
              <a:buNone/>
            </a:pP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derivados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pueden regenerar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Ejemplo: conteo_por_hebra.tsv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212080" y="2834640"/>
            <a:ext cx="11887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188720" y="4343400"/>
            <a:ext cx="97840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 es: el dato fuente se conserva; cualquier transformacion debe producir un nuevo archivo.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editar directamente genes_ecoli.gff podria afectar la reproducibilidad?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ruta relativa parte de donde estas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servidor · ~/proyecto-ecoli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llegar a data/source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cd data/source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si funciona, pwd cambia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1965960"/>
            <a:ext cx="4480560" cy="2560320"/>
          </a:xfrm>
          <a:prstGeom prst="roundRect">
            <a:avLst>
              <a:gd name="adj" fmla="val 3571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130552"/>
            <a:ext cx="40233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mental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2423160"/>
            <a:ext cx="40233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proyecto-ecoli/   ← estoy aqui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data/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│   └── source/  ← quiero llegar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└── doc/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0" y="1965960"/>
            <a:ext cx="4663440" cy="2560320"/>
          </a:xfrm>
          <a:prstGeom prst="roundRect">
            <a:avLst>
              <a:gd name="adj" fmla="val 4286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21305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ejecuta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0" y="2496312"/>
            <a:ext cx="411480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pwd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/home/alumno/proyecto-ecoli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data/source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pwd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/home/alumno/proyecto-ecoli/data/source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1005840" y="4983480"/>
            <a:ext cx="9692640" cy="594360"/>
          </a:xfrm>
          <a:prstGeom prst="roundRect">
            <a:avLst>
              <a:gd name="adj" fmla="val 12308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5120640"/>
            <a:ext cx="936345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70432" y="5367528"/>
            <a:ext cx="9363456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Buena practica: antes de copiar o mover, confirma desde donde se interpreta la ruta.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significa data/source cuando estas parado en ~/proyecto-ecoli?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cambias de lugar, cambia el significado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13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servidor · ~/proyecto-ecoli/doc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entender error de ruta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cd data/source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intenta buscar dentro de doc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201168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176272"/>
            <a:ext cx="34747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2468880"/>
            <a:ext cx="34747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proyecto-ecoli/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data/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│   └── source/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└── doc/  ← estoy aqui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94960" y="192024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23560" y="208483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predice y ejecuta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0" y="2450592"/>
            <a:ext cx="47548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pwd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/home/alumno/proyecto-ecoli/doc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data/source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bash: cd: data/source: No such file or directory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5486400" y="416052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4297680"/>
            <a:ext cx="484632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Unix intento buscar: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~/proyecto-ecoli/doc/data/source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 esa ruta no existe.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doc/, que ruta relativa te llevaria a data/source/?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Diferentes rutas pueden llegar al mismo destino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14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servidor · ~/proyecto-ecoli/doc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comparar rutas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pwd + cd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mismo destino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19202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20848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dos opciones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51560" y="2450592"/>
            <a:ext cx="45720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opcion A: relativa desde doc/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../data/source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opcion B: desde cualquier lugar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~/proyecto-ecoli/data/source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400800" y="1828800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993392"/>
            <a:ext cx="35661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2286000"/>
            <a:ext cx="35661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proyecto-ecoli/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data/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│   └── source/  ← destino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└── doc/         ← inicio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14400" y="461772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754880"/>
            <a:ext cx="963777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78992" y="5001768"/>
            <a:ext cx="9637776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 se expande al home del usuario. Para principiantes: usarlo como atajo seguro al home, no confundirlo con la raiz / del sistema.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Cual ruta depende de donde estas y cual funciona desde casi cualquier lugar?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Copia el GFF y sus metadatos a data/source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servidor · ~/proyecto-ecoli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conservar datos fuente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cp -i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original y copia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2057400"/>
            <a:ext cx="5577840" cy="1417320"/>
          </a:xfrm>
          <a:prstGeom prst="roundRect">
            <a:avLst>
              <a:gd name="adj" fmla="val 7742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22199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ejecuta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2587752"/>
            <a:ext cx="5029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cp -i ~/genes_ecoli.gff data/source/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cp -i ~/genes_ecoli-metadatos.md data/source/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629400" y="196596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130552"/>
            <a:ext cx="32004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2423160"/>
            <a:ext cx="3200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data/source/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genes_ecoli.gff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└── genes_ecoli-metadatos.md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14400" y="4160520"/>
            <a:ext cx="9692640" cy="777240"/>
          </a:xfrm>
          <a:prstGeom prst="roundRect">
            <a:avLst>
              <a:gd name="adj" fmla="val 9412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297680"/>
            <a:ext cx="936345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78992" y="4544568"/>
            <a:ext cx="936345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integridad: cp -i es prudente porque conserva el original hasta comprobar que la copia esta bien. No editar el GFF fuente.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aqui copiar es mas prudente que mover?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 que los datos quedaron donde corresponde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16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servidor · ~/proyecto-ecoli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comprobar ubicacion y tamano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ls -lh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archivos visibles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2148840"/>
            <a:ext cx="5303520" cy="1600200"/>
          </a:xfrm>
          <a:prstGeom prst="roundRect">
            <a:avLst>
              <a:gd name="adj" fmla="val 6857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231343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comprueba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2679192"/>
            <a:ext cx="47548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-lh data/source/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-rw-r--r--  genes_ecoli.gff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-rw-r--r--  genes_ecoli-metadatos.md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400800" y="2331720"/>
            <a:ext cx="5193792" cy="91731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728"/>
                </a:solidFill>
                <a:latin typeface="Courier New" panose="02070309020205020404" pitchFamily="49" charset="0"/>
                <a:ea typeface="Aptos" pitchFamily="34" charset="-122"/>
                <a:cs typeface="Courier New" panose="02070309020205020404" pitchFamily="49" charset="0"/>
              </a:rPr>
              <a:t>ls</a:t>
            </a:r>
            <a:r>
              <a:rPr lang="en-US" sz="2000" b="1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responde: ¿donde quedo y que tamano tiene?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Todavia no responde: ¿el contenido es identico?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46520" y="4023359"/>
            <a:ext cx="4645152" cy="1042417"/>
          </a:xfrm>
          <a:prstGeom prst="roundRect">
            <a:avLst>
              <a:gd name="adj" fmla="val 9412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4160520"/>
            <a:ext cx="392277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611112" y="4407408"/>
            <a:ext cx="392277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Buena practica: distingue entre ubicacion, </a:t>
            </a:r>
            <a:r>
              <a:rPr lang="en-US" sz="1250" dirty="0" err="1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tamaño</a:t>
            </a: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integridad. Son evidencias distintas.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cosa importante NO demuestra todavia esta salida?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Mueve la documentacion al lugar correcto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17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servidor · ~/proyecto-ecoli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colocar protocolo en doc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mv -i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ya no queda en ~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2148840"/>
            <a:ext cx="4846320" cy="1600200"/>
          </a:xfrm>
          <a:prstGeom prst="roundRect">
            <a:avLst>
              <a:gd name="adj" fmla="val 6857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23134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ejecuta y comprueba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51560" y="2679192"/>
            <a:ext cx="42976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mv -i ~/protocolo.md doc/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doc/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protocolo.md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400800" y="22402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5515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ORIGEN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5515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~/protocolo.md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66760" y="2606040"/>
            <a:ext cx="9144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464040" y="22402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5D6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7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DESTINO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B17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doc/protocolo.md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397764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4114800"/>
            <a:ext cx="451713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565392" y="4361688"/>
            <a:ext cx="451713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Documentacion: el protocolo debe viajar con el proyecto porque explica decisiones, comandos, problemas y evidencias.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cambia aqui: el nombre del archivo, su ubicacion o ambas cosas?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Transfiere la bitacora que esta en la computadora local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18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LOCAL · carpeta de descargas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enviar bitacora al servidor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scp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archivo llega a doc/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057400"/>
            <a:ext cx="6035040" cy="2057400"/>
          </a:xfrm>
          <a:prstGeom prst="roundRect">
            <a:avLst>
              <a:gd name="adj" fmla="val 5333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2219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terminal local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2587752"/>
            <a:ext cx="54864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pwd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/Users/alumna/Downloads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bitacora-ia.md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scp bitacora-ia.md usuario@servidor:~/proyecto-ecoli/doc/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7223760" y="219456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LOCAL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bitacora-ia.md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2651760"/>
            <a:ext cx="868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12680" y="219456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0B1326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0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SERVIDOR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~/proyecto-ecoli/doc/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489204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5029200"/>
            <a:ext cx="972921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33272" y="5276088"/>
            <a:ext cx="972921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Seguridad: nunca pegar contrasenas, llaves SSH, rutas personales sensibles o nombres de servidores reales en herramientas externas.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dos cosas debes saber antes de usar scp?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Vuelve al servidor y comprueba la transferencia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19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servidor · ~/proyecto-ecoli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verificar doc/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ls -lh doc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bitacora visible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2057400"/>
            <a:ext cx="4846320" cy="1828800"/>
          </a:xfrm>
          <a:prstGeom prst="roundRect">
            <a:avLst>
              <a:gd name="adj" fmla="val 6000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22219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terminal remota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2587752"/>
            <a:ext cx="4297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~/proyecto-ecoli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-lh doc/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protocolo.md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bitacora-ia.md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400800" y="201168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176272"/>
            <a:ext cx="34747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2468880"/>
            <a:ext cx="34747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proyecto-ecoli/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doc/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├── protocolo.md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B17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└── bitacora-ia.md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0" y="4251960"/>
            <a:ext cx="4297680" cy="777240"/>
          </a:xfrm>
          <a:prstGeom prst="roundRect">
            <a:avLst>
              <a:gd name="adj" fmla="val 9412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4389120"/>
            <a:ext cx="396849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65392" y="4636008"/>
            <a:ext cx="396849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Buena practica: una transferencia no termina cuando scp termina; termina cuando verificas en el destino.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no basta con que scp no muestre error?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 README.md como portada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20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servidor · ~/proyecto-ecoli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documentar proposito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nano README.md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contenido guardado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2057400"/>
            <a:ext cx="5852160" cy="2148840"/>
          </a:xfrm>
          <a:prstGeom prst="roundRect">
            <a:avLst>
              <a:gd name="adj" fmla="val 5106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221992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edita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2587752"/>
            <a:ext cx="530352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nano README.md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dentro de nano: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Proyecto E. coli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Datos fuente: data/source/genes_ecoli.gff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Pregunta: cuantos genes hay por hebra?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7132320" y="224028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5D6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2377440"/>
            <a:ext cx="320040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 de edicion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→ editar → guardar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salir → comprobar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132319" y="4069080"/>
            <a:ext cx="3587561" cy="1133856"/>
          </a:xfrm>
          <a:prstGeom prst="roundRect">
            <a:avLst>
              <a:gd name="adj" fmla="val 9412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4206240"/>
            <a:ext cx="314553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296912" y="4453128"/>
            <a:ext cx="314553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Documentacion minima: que contiene el proyecto, de donde vienen los datos y cual es la pregunta biologica.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informacion deberia tener README.md para que otra persona entienda el proyecto?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no es lo mismo que verificar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21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servidor · ~/proyecto-ecoli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comprobar fuera de nano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cat / less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texto visible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2103120"/>
            <a:ext cx="4937760" cy="1737360"/>
          </a:xfrm>
          <a:prstGeom prst="roundRect">
            <a:avLst>
              <a:gd name="adj" fmla="val 6316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226771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comprueba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2633472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-l README.md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cat README.md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o si es largo: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less README.md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675120" y="2148840"/>
            <a:ext cx="356616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“Lo guarde”</a:t>
            </a:r>
            <a:endParaRPr lang="en-US" sz="2900" dirty="0"/>
          </a:p>
          <a:p>
            <a:pPr marL="0" indent="0" algn="ctr">
              <a:buNone/>
            </a:pPr>
            <a:r>
              <a:rPr lang="en-US" sz="29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900" dirty="0"/>
          </a:p>
          <a:p>
            <a:pPr marL="0" indent="0" algn="ctr">
              <a:buNone/>
            </a:pPr>
            <a:r>
              <a:rPr lang="en-US" sz="29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“Lo comprobe”</a:t>
            </a:r>
            <a:endParaRPr lang="en-US" sz="2900" dirty="0"/>
          </a:p>
        </p:txBody>
      </p:sp>
      <p:sp>
        <p:nvSpPr>
          <p:cNvPr id="16" name="Shape 14"/>
          <p:cNvSpPr/>
          <p:nvPr/>
        </p:nvSpPr>
        <p:spPr>
          <a:xfrm>
            <a:off x="6400800" y="3977640"/>
            <a:ext cx="4357991" cy="1005840"/>
          </a:xfrm>
          <a:prstGeom prst="roundRect">
            <a:avLst>
              <a:gd name="adj" fmla="val 9412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4114800"/>
            <a:ext cx="405993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65392" y="4361688"/>
            <a:ext cx="405993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Buena practica: la evidencia aparece fuera del editor. Si no puedes mostrarla, todavia no esta verificada.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diferencia hay entre guardar y verificar?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Comprueba integridad del GFF con checksum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22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local + servidor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comparar contenido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sha256sum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hash identico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205740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2219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local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258775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LOCAL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sha256sum genes_ecoli.gff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abc123...  genes_ecoli.gff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492240" y="205740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22219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servidor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66560" y="258775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SERVIDOR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sha256sum data/source/genes_ecoli.gff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abc123...  data/source/genes_ecoli.gff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3977640" y="379476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EAF7E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3931920"/>
            <a:ext cx="4023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abc123... = abc123...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6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mismo contenido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4400" y="489204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5029200"/>
            <a:ext cx="954633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8992" y="5276088"/>
            <a:ext cx="9546336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integridad: el checksum permite evidenciar que el dato fuente copiado no cambio durante transferencia o copia.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demuestra sha256sum que ls no puede demostrar?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la evidencia en protocolo.md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23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" y="1353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8890">
            <a:solidFill>
              <a:srgbClr val="B7C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servidor · ~/proyecto-ecoli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82112" y="1435608"/>
            <a:ext cx="34747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dejar historia verificable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85432" y="1435608"/>
            <a:ext cx="2240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💻 nano doc/protocolo.md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62872" y="1435608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 decisiones + comandos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1965960"/>
            <a:ext cx="6035040" cy="2240280"/>
          </a:xfrm>
          <a:prstGeom prst="roundRect">
            <a:avLst>
              <a:gd name="adj" fmla="val 4898"/>
            </a:avLst>
          </a:prstGeom>
          <a:solidFill>
            <a:srgbClr val="0B1326"/>
          </a:solidFill>
          <a:ln w="12700">
            <a:solidFill>
              <a:srgbClr val="0B1326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13055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documenta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2496312"/>
            <a:ext cx="54864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nano doc/protocolo.md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Organizacion S4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Cree proyecto-ecoli/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Copie GFF a data/source/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Verifique arbol con tree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Verifique integridad con sha256sum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7132320" y="21488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2286000"/>
            <a:ext cx="329184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entrega no es una captura final.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contar: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hice · desde dónde · qué salió · cómo corregí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32320" y="429768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4434840"/>
            <a:ext cx="323697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296912" y="4681728"/>
            <a:ext cx="323697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Reproducibilidad: los comandos y sus salidas clave convierten una actividad en una historia que otra persona puede revisar.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informacion se perderia si solo entregaras una captura final?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DURANTE LA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algo falla, lee antes de repetir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24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29260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such file or directory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69080" y="1810512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892040" y="1691640"/>
            <a:ext cx="5303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pwd + ls + revisa la ruta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mkdir falla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69080" y="2496312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892040" y="2377440"/>
            <a:ext cx="5303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¿falta el padre? usa -p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063240"/>
            <a:ext cx="29260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 “desaparecio”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69080" y="3182112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892040" y="3063240"/>
            <a:ext cx="5303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origen y destino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checksum distinto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69080" y="3867912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892040" y="3749040"/>
            <a:ext cx="5303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 original y vuelve a copiar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434840"/>
            <a:ext cx="29260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scp raro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69080" y="4553712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892040" y="4434840"/>
            <a:ext cx="5303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¿estas local? ¿ruta remota correcta?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0120" y="5394960"/>
            <a:ext cx="9692640" cy="594360"/>
          </a:xfrm>
          <a:prstGeom prst="roundRect">
            <a:avLst>
              <a:gd name="adj" fmla="val 12308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4712" y="5532120"/>
            <a:ext cx="936345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4712" y="5779008"/>
            <a:ext cx="9363456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Buena practica: el mensaje de error tambien es evidencia. Leerlo evita repetir el mismo error y ayuda a documentar la correccion.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0352" y="6199632"/>
            <a:ext cx="1463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011680" y="6163056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es peor: que un comando falle o repetirlo sin leer por que fallo?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Clasificacion de los comandos de S4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EAF2F8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192024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Ubicarse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563624"/>
            <a:ext cx="69494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B17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 · whoami · pwd · cd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112264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5F7FA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249424"/>
            <a:ext cx="192024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167128"/>
            <a:ext cx="69494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B17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 · tree · cat · less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2715768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FF5D6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852928"/>
            <a:ext cx="192024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estructura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770632"/>
            <a:ext cx="69494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B17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· mkdir -p · touch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3319272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EAF7E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456432"/>
            <a:ext cx="192024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Colocar archivos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374136"/>
            <a:ext cx="69494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B17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cp -i · mv -i · scp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68680" y="3922776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EAF2F8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059936"/>
            <a:ext cx="192024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3977640"/>
            <a:ext cx="69494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B17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 -lh · tree · sha256sum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68680" y="452628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5F7FA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663440"/>
            <a:ext cx="192024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Editar / documentar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4581144"/>
            <a:ext cx="69494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B17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nano · cat · less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68680" y="5129784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DECEC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266944"/>
            <a:ext cx="192024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Limpiar con cuidado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5184648"/>
            <a:ext cx="69494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B17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rm -i · rmdir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14400" y="566928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FFF5D6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5806440"/>
            <a:ext cx="954633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/ BUENAS PRACTICAS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8992" y="6053328"/>
            <a:ext cx="9546336" cy="45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clave: no clasifiques solo por nombre del comando; clasifica por la pregunta que responde: ¿donde estoy?, ¿que existe?, ¿que cambio?, ¿como verifico?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Recuerda esto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06424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Introduccion a la Bioinformatica · LCG UNAM · 2026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091672" y="3200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 · 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3200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508760"/>
            <a:ext cx="96926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pwd da contexto a todas las rutas relativas.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3200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075688"/>
            <a:ext cx="96926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data/source conserva datos originales; data/processed guarda derivados.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2642616"/>
            <a:ext cx="3200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642616"/>
            <a:ext cx="96926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Copia antes de mover; verifica antes de borrar.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3209544"/>
            <a:ext cx="3200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209544"/>
            <a:ext cx="96926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arbol correcto demuestra ubicacion, no integridad.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3776472"/>
            <a:ext cx="3200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3776472"/>
            <a:ext cx="96926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checksum evidencia que el contenido no cambio.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0120" y="4343400"/>
            <a:ext cx="3200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343400"/>
            <a:ext cx="96926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y protocolo hacen visible la historia del proyecto.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0120" y="4910328"/>
            <a:ext cx="3200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910328"/>
            <a:ext cx="96926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errores leidos y corregidos tambien son evidencia.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14400" y="5687568"/>
            <a:ext cx="102412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5897880"/>
            <a:ext cx="7589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Semaforo de salida: VERDE · AMARILLO · ROJO + una duda para S5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8467</TotalTime>
  <Words>4131</Words>
  <Application>Microsoft Macintosh PowerPoint</Application>
  <PresentationFormat>Panorámica</PresentationFormat>
  <Paragraphs>716</Paragraphs>
  <Slides>34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0" baseType="lpstr">
      <vt:lpstr>Aptos</vt:lpstr>
      <vt:lpstr>Aptos Mono</vt:lpstr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S04 Demo docente: sistema de archivos</dc:title>
  <dc:subject>S04 demo docente E. coli paso a paso</dc:subject>
  <dc:creator>Introduccion a la Bioinformatica - LCG UNAM</dc:creator>
  <cp:lastModifiedBy>Microsoft Office User</cp:lastModifiedBy>
  <cp:revision>4</cp:revision>
  <dcterms:created xsi:type="dcterms:W3CDTF">2026-09-09T23:03:28Z</dcterms:created>
  <dcterms:modified xsi:type="dcterms:W3CDTF">2026-09-15T20:25:12Z</dcterms:modified>
</cp:coreProperties>
</file>