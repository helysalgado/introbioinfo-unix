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94360"/>
            <a:ext cx="5943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2B49"/>
                </a:solidFill>
                <a:latin typeface="Aptos"/>
              </a:rPr>
              <a:t>Introducción a la
Bioinformática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830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LCG · UNAM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59B27"/>
                </a:solidFill>
                <a:latin typeface="Aptos"/>
              </a:rPr>
              <a:t>Unidad 2 · Sesión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16352"/>
            <a:ext cx="65836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Aptos"/>
              </a:rPr>
              <a:t>Gestionar archivos,
permisos y procesos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33087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Aula invertida · Taller práctico de 2 horas</a:t>
            </a:r>
          </a:p>
        </p:txBody>
      </p:sp>
      <p:sp>
        <p:nvSpPr>
          <p:cNvPr id="7" name="Oval 6"/>
          <p:cNvSpPr/>
          <p:nvPr/>
        </p:nvSpPr>
        <p:spPr>
          <a:xfrm>
            <a:off x="6812280" y="2926080"/>
            <a:ext cx="502920" cy="50292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3063240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archivo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24344" y="3182112"/>
            <a:ext cx="256032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616952" y="2926080"/>
            <a:ext cx="502920" cy="502920"/>
          </a:xfrm>
          <a:prstGeom prst="ellipse">
            <a:avLst/>
          </a:prstGeom>
          <a:solidFill>
            <a:srgbClr val="002B49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71232" y="3063240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contenido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29016" y="3182112"/>
            <a:ext cx="256032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421624" y="2926080"/>
            <a:ext cx="502920" cy="502920"/>
          </a:xfrm>
          <a:prstGeom prst="ellipse">
            <a:avLst/>
          </a:prstGeom>
          <a:solidFill>
            <a:srgbClr val="002B49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75904" y="3063240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.gz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33688" y="3182112"/>
            <a:ext cx="256032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26296" y="2926080"/>
            <a:ext cx="502920" cy="50292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0576" y="3063240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rwx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38360" y="3182112"/>
            <a:ext cx="256032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030968" y="2926080"/>
            <a:ext cx="502920" cy="502920"/>
          </a:xfrm>
          <a:prstGeom prst="ellipse">
            <a:avLst/>
          </a:prstGeom>
          <a:solidFill>
            <a:srgbClr val="002B49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85248" y="3063240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PID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43032" y="3182112"/>
            <a:ext cx="256032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835640" y="2926080"/>
            <a:ext cx="502920" cy="50292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0" y="3063240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749039"/>
            <a:ext cx="4892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reconocer → inspeccionar → almacenar → autorizar → ejecutar → controlar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5720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2B49"/>
                </a:solidFill>
                <a:latin typeface="Aptos"/>
              </a:rPr>
              <a:t>De un archivo guardado a un proceso bajo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¿Qué queremos lograr hoy?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7" y="26517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RECONOCER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" y="297180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objeto y contenido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58568" y="2240280"/>
            <a:ext cx="457200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990088" y="1965960"/>
            <a:ext cx="502920" cy="50292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088" y="2084831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26517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INSPECCIONAR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5496" y="297180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sin modificar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71416" y="2240280"/>
            <a:ext cx="457200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202936" y="1965960"/>
            <a:ext cx="502920" cy="50292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02936" y="2084831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8344" y="26517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PROTEGER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8344" y="297180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copias · gzip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84264" y="2240280"/>
            <a:ext cx="457200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15783" y="1965960"/>
            <a:ext cx="502920" cy="50292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15783" y="2084831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26517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AUTORIZAR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297180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permiso mínimo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97112" y="2240280"/>
            <a:ext cx="457200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28632" y="1965960"/>
            <a:ext cx="502920" cy="50292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28632" y="2084831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6517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CONTROLAR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297180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trabajo · PID · señales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1605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F172A"/>
                </a:solidFill>
                <a:latin typeface="Aptos"/>
              </a:rPr>
              <a:t>Meta: conservar el control del análisis desde el archivo hasta que termina su ejecución.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¿Cuál de estas acciones parece más fácil de hacer… pero también más fácil de hacer mal?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RESUMEN DE LA LECTURA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S5 en una sola mirada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60020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La historia de hoy empieza con una pregunta: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52120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02B49"/>
                </a:solidFill>
                <a:latin typeface="Aptos"/>
              </a:rPr>
              <a:t>¿Cómo trabajo con archivos y procesos
sin perder el control ni poner en riesgo los datos?</a:t>
            </a:r>
          </a:p>
        </p:txBody>
      </p:sp>
      <p:sp>
        <p:nvSpPr>
          <p:cNvPr id="8" name="Oval 7"/>
          <p:cNvSpPr/>
          <p:nvPr/>
        </p:nvSpPr>
        <p:spPr>
          <a:xfrm>
            <a:off x="6446520" y="1609344"/>
            <a:ext cx="274320" cy="27432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03720" y="1572768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¿Qué tengo?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1572768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 Mono"/>
              </a:rPr>
              <a:t>ls -l · file</a:t>
            </a:r>
          </a:p>
        </p:txBody>
      </p:sp>
      <p:sp>
        <p:nvSpPr>
          <p:cNvPr id="11" name="Oval 10"/>
          <p:cNvSpPr/>
          <p:nvPr/>
        </p:nvSpPr>
        <p:spPr>
          <a:xfrm>
            <a:off x="6446520" y="2267712"/>
            <a:ext cx="274320" cy="27432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2231136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¿Cómo lo miro?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231136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 Mono"/>
              </a:rPr>
              <a:t>head · tail · less</a:t>
            </a:r>
          </a:p>
        </p:txBody>
      </p:sp>
      <p:sp>
        <p:nvSpPr>
          <p:cNvPr id="14" name="Oval 13"/>
          <p:cNvSpPr/>
          <p:nvPr/>
        </p:nvSpPr>
        <p:spPr>
          <a:xfrm>
            <a:off x="6446520" y="2926080"/>
            <a:ext cx="274320" cy="27432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03720" y="2889504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¿Cómo lo guardo?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2889504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 Mono"/>
              </a:rPr>
              <a:t>gzip · gunzip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3584448"/>
            <a:ext cx="274320" cy="27432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3547872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¿Quién puede usarlo?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3547872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 Mono"/>
              </a:rPr>
              <a:t>chmod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4242816"/>
            <a:ext cx="274320" cy="27432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03720" y="4206240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¿Qué está corriendo?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4206240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 Mono"/>
              </a:rPr>
              <a:t>jobs · ps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901183"/>
            <a:ext cx="274320" cy="27432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03720" y="4864607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¿Cómo lo controlo?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4864607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 Mono"/>
              </a:rPr>
              <a:t>fg · bg · señales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Sin mirar la lectura: ¿qué problema intenta resolver S5?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CONEXIÓN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La historia viene de 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874519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59B27"/>
                </a:solidFill>
                <a:latin typeface="Aptos"/>
              </a:rPr>
              <a:t>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58568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DOCUMENTAR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96896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pregunta → evidencia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5728" y="2359152"/>
            <a:ext cx="347472" cy="0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26080" y="1874519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59B27"/>
                </a:solidFill>
                <a:latin typeface="Aptos"/>
              </a:rPr>
              <a:t>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58568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DISEÑAR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96896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organización → FAIR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63440" y="2359152"/>
            <a:ext cx="347472" cy="0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93792" y="1874519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59B27"/>
                </a:solidFill>
                <a:latin typeface="Aptos"/>
              </a:rP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258568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TRANSFERIR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2596896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local ↔ remoto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31152" y="2359152"/>
            <a:ext cx="347471" cy="0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61504" y="1874519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59B27"/>
                </a:solidFill>
                <a:latin typeface="Aptos"/>
              </a:rPr>
              <a:t>S4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4" y="2258568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ORGANIZAR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2596896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estructura → verificación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98864" y="2359152"/>
            <a:ext cx="347472" cy="0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729216" y="1874519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59B27"/>
                </a:solidFill>
                <a:latin typeface="Aptos"/>
              </a:rPr>
              <a:t>S5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9216" y="2258568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GESTIONAR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6" y="2596896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archivo → proceso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77639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S5 no reinicia el proyecto: trabaja sobre la estructura y las evidencias que ya existen.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productos de S4 necesitamos conservar intactos hoy?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IDEA GUÍA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No memorices comandos: conserva el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1965960"/>
            <a:ext cx="475488" cy="475488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RECONOCER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¿qué objeto es?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2212848"/>
            <a:ext cx="411480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926080" y="1965960"/>
            <a:ext cx="475488" cy="475488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2075688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6974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INSPECCIONAR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01752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¿qué contiene?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26280" y="2212848"/>
            <a:ext cx="411480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166360" y="1965960"/>
            <a:ext cx="475488" cy="475488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6360" y="2075688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6974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DECIDIR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01752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¿qué cambio necesito?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66560" y="2212848"/>
            <a:ext cx="411480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06640" y="1965960"/>
            <a:ext cx="475488" cy="475488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2075688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6974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EJECUTAR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01752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haz el cambio mínimo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06840" y="2212848"/>
            <a:ext cx="411480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46920" y="1965960"/>
            <a:ext cx="475488" cy="475488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46920" y="2075688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6974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VERIFICAR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01752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¿qué evidencia quedó?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16052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91C1C"/>
                </a:solidFill>
                <a:latin typeface="Aptos"/>
              </a:rPr>
              <a:t>Un comando exitoso puede no imprimir nada.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526280"/>
            <a:ext cx="7498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ptos"/>
              </a:rPr>
              <a:t>Silencio ≠ evidencia de que obtuviste el resultado deseado.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Después de un comando silencioso, ¿qué deberías comprobar?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Los originales no son zona de práctica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16916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2B49"/>
                </a:solidFill>
                <a:latin typeface="Aptos Mono"/>
              </a:rPr>
              <a:t>~/proyecto/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3749039" cy="21698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├── </a:t>
            </a:r>
            <a:r>
              <a:rPr sz="1500" b="0" dirty="0" err="1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r>
              <a:rPr sz="15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
├── data/
│   └── source/
│       ├── </a:t>
            </a:r>
            <a:r>
              <a:rPr sz="1500" b="0" dirty="0" err="1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pacientes.md</a:t>
            </a:r>
            <a:r>
              <a:rPr sz="15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
│       └── </a:t>
            </a:r>
            <a:r>
              <a:rPr sz="1500" b="0" dirty="0" err="1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pacientes-metadatos.md</a:t>
            </a:r>
            <a:r>
              <a:rPr sz="15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
├── </a:t>
            </a:r>
            <a:r>
              <a:rPr sz="1500" b="0" dirty="0" err="1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sz="1500" b="0" dirty="0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
├── results/
└── doc/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828800"/>
            <a:ext cx="2606040" cy="2103120"/>
          </a:xfrm>
          <a:prstGeom prst="roundRect">
            <a:avLst/>
          </a:prstGeom>
          <a:solidFill>
            <a:srgbClr val="FFF7ED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57800" y="214884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B91C1C"/>
                </a:solidFill>
                <a:latin typeface="Aptos"/>
              </a:rPr>
              <a:t>NO TOCAR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697480"/>
            <a:ext cx="19202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Aptos"/>
              </a:rPr>
              <a:t>data/source/
no editar
no comprimir
no chmod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18120" y="2880360"/>
            <a:ext cx="822960" cy="0"/>
          </a:xfrm>
          <a:prstGeom prst="line">
            <a:avLst/>
          </a:prstGeom>
          <a:ln w="3175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23960" y="1828800"/>
            <a:ext cx="2377440" cy="2103120"/>
          </a:xfrm>
          <a:prstGeom prst="roundRect">
            <a:avLst/>
          </a:prstGeom>
          <a:solidFill>
            <a:srgbClr val="F0FDF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0" y="214884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66534"/>
                </a:solidFill>
                <a:latin typeface="Aptos"/>
              </a:rPr>
              <a:t>ZONA SEGURA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651760"/>
            <a:ext cx="2011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Aptos"/>
              </a:rPr>
              <a:t>results/s5-pruebas/
src/practica-s5/
copias y objetos
creados para practicar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¿Por qué practicar sobre una copia es parte de la reproducibilidad y no solo “tener cuidado”?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“Tipo de archivo” puede significar dos cosas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1691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C59B27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19072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2B49"/>
                </a:solidFill>
                <a:latin typeface="Aptos"/>
              </a:rPr>
              <a:t>¿Qué tipo de objeto 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4709160" cy="1508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1" y="2459736"/>
            <a:ext cx="91440" cy="9144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34439" y="2459736"/>
            <a:ext cx="91440" cy="9144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435607" y="2459736"/>
            <a:ext cx="91440" cy="91440"/>
          </a:xfrm>
          <a:prstGeom prst="ellipse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19" y="2423160"/>
            <a:ext cx="3749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 Mono"/>
              </a:rPr>
              <a:t>terminal remota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2770632"/>
            <a:ext cx="420624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 Mono"/>
              </a:rPr>
              <a:t>$ ls -ld README.md data/
-rw-r--r-- ... README.md
drwxr-xr-x ... data/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438912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475569"/>
                </a:solidFill>
                <a:latin typeface="Aptos"/>
              </a:rPr>
              <a:t>primer </a:t>
            </a:r>
            <a:r>
              <a:rPr sz="1300" b="0" dirty="0" err="1">
                <a:solidFill>
                  <a:srgbClr val="475569"/>
                </a:solidFill>
                <a:latin typeface="Aptos"/>
              </a:rPr>
              <a:t>carácter</a:t>
            </a:r>
            <a:r>
              <a:rPr sz="1300" b="0" dirty="0">
                <a:solidFill>
                  <a:srgbClr val="475569"/>
                </a:solidFill>
                <a:latin typeface="Aptos"/>
              </a:rPr>
              <a:t>:  </a:t>
            </a:r>
            <a:endParaRPr lang="es-ES" sz="1300" b="0" dirty="0">
              <a:solidFill>
                <a:srgbClr val="475569"/>
              </a:solidFill>
              <a:latin typeface="Aptos"/>
            </a:endParaRPr>
          </a:p>
          <a:p>
            <a:pPr algn="l"/>
            <a:r>
              <a:rPr lang="es-MX" sz="1300" dirty="0">
                <a:solidFill>
                  <a:srgbClr val="475569"/>
                </a:solidFill>
                <a:latin typeface="Aptos"/>
              </a:rPr>
              <a:t>               </a:t>
            </a:r>
            <a:r>
              <a:rPr sz="1300" b="0" dirty="0">
                <a:solidFill>
                  <a:srgbClr val="475569"/>
                </a:solidFill>
                <a:latin typeface="Aptos"/>
              </a:rPr>
              <a:t>-  </a:t>
            </a:r>
            <a:r>
              <a:rPr sz="1300" b="0" dirty="0" err="1">
                <a:solidFill>
                  <a:srgbClr val="475569"/>
                </a:solidFill>
                <a:latin typeface="Aptos"/>
              </a:rPr>
              <a:t>archivo</a:t>
            </a:r>
            <a:r>
              <a:rPr sz="1300" b="0" dirty="0">
                <a:solidFill>
                  <a:srgbClr val="475569"/>
                </a:solidFill>
                <a:latin typeface="Aptos"/>
              </a:rPr>
              <a:t> regular   </a:t>
            </a:r>
            <a:endParaRPr lang="es-ES" sz="1300" b="0" dirty="0">
              <a:solidFill>
                <a:srgbClr val="475569"/>
              </a:solidFill>
              <a:latin typeface="Aptos"/>
            </a:endParaRPr>
          </a:p>
          <a:p>
            <a:pPr algn="l"/>
            <a:r>
              <a:rPr lang="es-MX" sz="1300" dirty="0">
                <a:solidFill>
                  <a:srgbClr val="475569"/>
                </a:solidFill>
                <a:latin typeface="Aptos"/>
              </a:rPr>
              <a:t>           </a:t>
            </a:r>
            <a:r>
              <a:rPr sz="1300" b="0" dirty="0">
                <a:solidFill>
                  <a:srgbClr val="475569"/>
                </a:solidFill>
                <a:latin typeface="Aptos"/>
              </a:rPr>
              <a:t>   d  </a:t>
            </a:r>
            <a:r>
              <a:rPr sz="1300" b="0" dirty="0" err="1">
                <a:solidFill>
                  <a:srgbClr val="475569"/>
                </a:solidFill>
                <a:latin typeface="Aptos"/>
              </a:rPr>
              <a:t>directorio</a:t>
            </a:r>
            <a:endParaRPr sz="1300" b="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C59B27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719072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2B49"/>
                </a:solidFill>
                <a:latin typeface="Aptos"/>
              </a:rPr>
              <a:t>¿Qué contenido parece tener?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331720"/>
            <a:ext cx="4709160" cy="1508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28231" y="2459736"/>
            <a:ext cx="91440" cy="9144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29399" y="2459736"/>
            <a:ext cx="91440" cy="9144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830568" y="2459736"/>
            <a:ext cx="91440" cy="91440"/>
          </a:xfrm>
          <a:prstGeom prst="ellipse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79" y="2423160"/>
            <a:ext cx="3749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 Mono"/>
              </a:rPr>
              <a:t>terminal remota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2770632"/>
            <a:ext cx="420624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 Mono"/>
              </a:rPr>
              <a:t>$ file README.md
README.md: UTF-8 text
$ file muestra.gz
muestra.gz: gzip compressed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69080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file examina el contenido; no depende únicamente de la extensión.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Si renombramos README.md como README.sin-extension, ¿qué esperarías que diga file?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La herramienta depende de la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413248" y="2240280"/>
            <a:ext cx="1371600" cy="1371600"/>
          </a:xfrm>
          <a:prstGeom prst="ellipse">
            <a:avLst/>
          </a:prstGeom>
          <a:solidFill>
            <a:srgbClr val="002B49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13248" y="272491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ARCHIVO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91640"/>
            <a:ext cx="246888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856232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59B27"/>
                </a:solidFill>
                <a:latin typeface="Aptos Mono"/>
              </a:rPr>
              <a:t>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194560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¿cómo empieza?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3280" y="2221992"/>
            <a:ext cx="2029968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3794760"/>
            <a:ext cx="246888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959352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59B27"/>
                </a:solidFill>
                <a:latin typeface="Aptos Mono"/>
              </a:rPr>
              <a:t>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297680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¿cómo termina?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3280" y="4325112"/>
            <a:ext cx="2029968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23960" y="1691640"/>
            <a:ext cx="246888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88552" y="1856232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59B27"/>
                </a:solidFill>
                <a:latin typeface="Aptos Mono"/>
              </a:rPr>
              <a:t>less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194560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¿quiero navegar?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13248" y="2221992"/>
            <a:ext cx="3410712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823960" y="3794760"/>
            <a:ext cx="246888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88552" y="3959352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59B27"/>
                </a:solidFill>
                <a:latin typeface="Aptos Mono"/>
              </a:rPr>
              <a:t>cat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4297680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¿es pequeño y quiero todo?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13248" y="4325112"/>
            <a:ext cx="3410712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60520" y="425196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2B49"/>
                </a:solidFill>
                <a:latin typeface="Aptos"/>
              </a:rPr>
              <a:t>Inspeccionar = observar sin editar.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Quieres revisar si el final de un archivo contiene un diccionario de variables. ¿Qué elegirías y por qué?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Comprimir no es lo mismo que empaquetar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60120" y="17373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2B49"/>
                </a:solidFill>
                <a:latin typeface="Aptos Mono"/>
              </a:rPr>
              <a:t>gzip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un archivo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97480"/>
            <a:ext cx="448056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691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 err="1">
                <a:solidFill>
                  <a:srgbClr val="0F172A"/>
                </a:solidFill>
                <a:latin typeface="Aptos Mono"/>
              </a:rPr>
              <a:t>muestra.fastq</a:t>
            </a:r>
            <a:endParaRPr sz="1400" b="1" dirty="0">
              <a:solidFill>
                <a:srgbClr val="0F172A"/>
              </a:solidFill>
              <a:latin typeface="Aptos Mono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788920" y="3273552"/>
            <a:ext cx="640080" cy="0"/>
          </a:xfrm>
          <a:prstGeom prst="line">
            <a:avLst/>
          </a:prstGeom>
          <a:ln w="3175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61362" y="3132011"/>
            <a:ext cx="196595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 err="1">
                <a:solidFill>
                  <a:srgbClr val="0F172A"/>
                </a:solidFill>
                <a:latin typeface="Aptos Mono"/>
              </a:rPr>
              <a:t>muestra.fastq.gz</a:t>
            </a:r>
            <a:endParaRPr sz="1400" b="1" dirty="0">
              <a:solidFill>
                <a:srgbClr val="0F172A"/>
              </a:solidFill>
              <a:latin typeface="Aptos Mon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reduce tamaño cuando el contenido es compresible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2B49"/>
                </a:solidFill>
                <a:latin typeface="Aptos Mono"/>
              </a:rPr>
              <a:t>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varios elementos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697480"/>
            <a:ext cx="457200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2926080"/>
            <a:ext cx="1371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scripts/
metadatos/
resultados/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83879" y="3273552"/>
            <a:ext cx="548641" cy="0"/>
          </a:xfrm>
          <a:prstGeom prst="line">
            <a:avLst/>
          </a:prstGeom>
          <a:ln w="3175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87967" y="3154680"/>
            <a:ext cx="186907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 err="1">
                <a:solidFill>
                  <a:srgbClr val="0F172A"/>
                </a:solidFill>
                <a:latin typeface="Aptos Mono"/>
              </a:rPr>
              <a:t>paquete.tar.gz</a:t>
            </a:r>
            <a:endParaRPr sz="1400" b="1" dirty="0">
              <a:solidFill>
                <a:srgbClr val="0F172A"/>
              </a:solidFill>
              <a:latin typeface="Aptos Mon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6520" y="44348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reúne y conserva la organización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Si un programa acepta FASTQ.gz, ¿por qué descomprimirlo podría ser una mala decisión?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PREDICE PRIMERO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gzip cambia el nombre presente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6276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59B27"/>
                </a:solidFill>
                <a:latin typeface="Aptos"/>
              </a:rPr>
              <a:t>Trabajamos sobre una COPIA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437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02B49"/>
                </a:solidFill>
                <a:latin typeface="Aptos Mono"/>
              </a:rPr>
              <a:t>README-</a:t>
            </a:r>
            <a:r>
              <a:rPr sz="1800" b="1" dirty="0" err="1">
                <a:solidFill>
                  <a:srgbClr val="002B49"/>
                </a:solidFill>
                <a:latin typeface="Aptos Mono"/>
              </a:rPr>
              <a:t>copia.md</a:t>
            </a:r>
            <a:endParaRPr sz="1800" b="1" dirty="0">
              <a:solidFill>
                <a:srgbClr val="002B49"/>
              </a:solidFill>
              <a:latin typeface="Aptos Mono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2971800" y="2514600"/>
            <a:ext cx="1097280" cy="0"/>
          </a:xfrm>
          <a:prstGeom prst="line">
            <a:avLst/>
          </a:prstGeom>
          <a:ln w="381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73552" y="212140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 Mono"/>
              </a:rPr>
              <a:t>gzip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5897" y="2331720"/>
            <a:ext cx="291601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02B49"/>
                </a:solidFill>
                <a:latin typeface="Aptos Mono"/>
              </a:rPr>
              <a:t>README-</a:t>
            </a:r>
            <a:r>
              <a:rPr sz="1800" b="1" dirty="0" err="1">
                <a:solidFill>
                  <a:srgbClr val="002B49"/>
                </a:solidFill>
                <a:latin typeface="Aptos Mono"/>
              </a:rPr>
              <a:t>copia.md.gz</a:t>
            </a:r>
            <a:endParaRPr sz="1800" b="1" dirty="0">
              <a:solidFill>
                <a:srgbClr val="002B49"/>
              </a:solidFill>
              <a:latin typeface="Aptos Mono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7224272" y="2514600"/>
            <a:ext cx="1097280" cy="0"/>
          </a:xfrm>
          <a:prstGeom prst="line">
            <a:avLst/>
          </a:prstGeom>
          <a:ln w="381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07152" y="2121408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 Mono"/>
              </a:rPr>
              <a:t>gunzip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4432" y="23317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2B49"/>
                </a:solidFill>
                <a:latin typeface="Aptos Mono"/>
              </a:rPr>
              <a:t>README-copia.md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794760"/>
            <a:ext cx="996696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40690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SHA-256 inicial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402336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59B27"/>
                </a:solidFill>
                <a:latin typeface="Aptos"/>
              </a:rPr>
              <a:t>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0690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SHA-256 restaurado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0F172A"/>
                </a:solidFill>
                <a:latin typeface="Aptos"/>
              </a:rPr>
              <a:t>¿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Qué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nombres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esperas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ver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antes de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gzip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después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gzip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y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después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gunzip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Lee permisos sin perder el primer carácter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3028" y="1635092"/>
            <a:ext cx="4572000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000" b="1" dirty="0">
                <a:solidFill>
                  <a:srgbClr val="002B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sz="5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rwx</a:t>
            </a:r>
            <a:r>
              <a:rPr sz="5000" b="1" dirty="0" err="1">
                <a:solidFill>
                  <a:srgbClr val="002B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r-x</a:t>
            </a:r>
            <a:r>
              <a:rPr sz="5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sz="5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70085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59B27"/>
                </a:solidFill>
                <a:latin typeface="Aptos"/>
              </a:rPr>
              <a:t>tipo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097280" y="2458605"/>
            <a:ext cx="0" cy="182880"/>
          </a:xfrm>
          <a:prstGeom prst="line">
            <a:avLst/>
          </a:prstGeom>
          <a:ln w="1905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71599" y="2870085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 err="1">
                <a:solidFill>
                  <a:srgbClr val="C59B27"/>
                </a:solidFill>
                <a:latin typeface="Aptos"/>
              </a:rPr>
              <a:t>dueño</a:t>
            </a:r>
            <a:r>
              <a:rPr sz="1200" b="1" dirty="0">
                <a:solidFill>
                  <a:srgbClr val="C59B27"/>
                </a:solidFill>
                <a:latin typeface="Aptos"/>
              </a:rPr>
              <a:t> · u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965959" y="2458605"/>
            <a:ext cx="0" cy="182880"/>
          </a:xfrm>
          <a:prstGeom prst="line">
            <a:avLst/>
          </a:prstGeom>
          <a:ln w="1905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40280" y="28803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59B27"/>
                </a:solidFill>
                <a:latin typeface="Aptos"/>
              </a:rPr>
              <a:t>grupo · g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834640" y="2468880"/>
            <a:ext cx="0" cy="182880"/>
          </a:xfrm>
          <a:prstGeom prst="line">
            <a:avLst/>
          </a:prstGeom>
          <a:ln w="1905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17361" y="28803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59B27"/>
                </a:solidFill>
                <a:latin typeface="Aptos"/>
              </a:rPr>
              <a:t>otros · o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111721" y="2468880"/>
            <a:ext cx="0" cy="182880"/>
          </a:xfrm>
          <a:prstGeom prst="line">
            <a:avLst/>
          </a:prstGeom>
          <a:ln w="1905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12280" y="18288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2B49"/>
                </a:solidFill>
                <a:latin typeface="Aptos"/>
              </a:rPr>
              <a:t>r = leer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423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2B49"/>
                </a:solidFill>
                <a:latin typeface="Aptos"/>
              </a:rPr>
              <a:t>w = escribir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01752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2B49"/>
                </a:solidFill>
                <a:latin typeface="Aptos"/>
              </a:rPr>
              <a:t>x = ejecutar / atravesar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840480"/>
            <a:ext cx="4297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El significado de x cambia según sea archivo o directorio.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En -rwxr-xr--, ¿qué carácter NO pertenece a los nueve permisos?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COMPARACIÓN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El permiso x no significa lo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8680" y="1783080"/>
            <a:ext cx="4800600" cy="288036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9B27"/>
                </a:solidFill>
                <a:latin typeface="Aptos"/>
              </a:rPr>
              <a:t>ARCHIVO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7860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02B49"/>
                </a:solidFill>
                <a:latin typeface="Aptos Mono"/>
              </a:rPr>
              <a:t>prueba.sh</a:t>
            </a:r>
          </a:p>
        </p:txBody>
      </p:sp>
      <p:sp>
        <p:nvSpPr>
          <p:cNvPr id="10" name="Oval 9"/>
          <p:cNvSpPr/>
          <p:nvPr/>
        </p:nvSpPr>
        <p:spPr>
          <a:xfrm>
            <a:off x="4206240" y="2514599"/>
            <a:ext cx="594360" cy="59436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0" y="2450592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10128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permite solicitar su ejecución
como programa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83080"/>
            <a:ext cx="4800600" cy="288036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20574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9B27"/>
                </a:solidFill>
                <a:latin typeface="Aptos"/>
              </a:rPr>
              <a:t>DIRECTORIO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578607"/>
            <a:ext cx="310896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 err="1">
                <a:solidFill>
                  <a:srgbClr val="002B49"/>
                </a:solidFill>
                <a:latin typeface="Aptos Mono"/>
              </a:rPr>
              <a:t>directorio-permisos</a:t>
            </a:r>
            <a:r>
              <a:rPr sz="1900" b="1" dirty="0">
                <a:solidFill>
                  <a:srgbClr val="002B49"/>
                </a:solidFill>
                <a:latin typeface="Aptos Mono"/>
              </a:rPr>
              <a:t>/</a:t>
            </a:r>
          </a:p>
        </p:txBody>
      </p:sp>
      <p:sp>
        <p:nvSpPr>
          <p:cNvPr id="15" name="Oval 14"/>
          <p:cNvSpPr/>
          <p:nvPr/>
        </p:nvSpPr>
        <p:spPr>
          <a:xfrm>
            <a:off x="9829800" y="2404872"/>
            <a:ext cx="594360" cy="594360"/>
          </a:xfrm>
          <a:prstGeom prst="ellipse">
            <a:avLst/>
          </a:prstGeom>
          <a:solidFill>
            <a:srgbClr val="002B49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29800" y="2402302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310128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permite atravesarlo y acceder
a entradas conocidas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¿Por qué quitar x a un directorio puede impedir cd aunque todavía tenga 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Cambia solo lo necesario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9164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 Mono"/>
              </a:rPr>
              <a:t>-rw-r-----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94760" y="2359152"/>
            <a:ext cx="1005840" cy="0"/>
          </a:xfrm>
          <a:prstGeom prst="line">
            <a:avLst/>
          </a:prstGeom>
          <a:ln w="381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89780" y="2734057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 err="1">
                <a:solidFill>
                  <a:srgbClr val="C59B27"/>
                </a:solidFill>
                <a:latin typeface="Aptos Mono"/>
              </a:rPr>
              <a:t>chmod</a:t>
            </a:r>
            <a:r>
              <a:rPr sz="1600" b="1" dirty="0">
                <a:solidFill>
                  <a:srgbClr val="C59B27"/>
                </a:solidFill>
                <a:latin typeface="Aptos Mono"/>
              </a:rPr>
              <a:t> </a:t>
            </a:r>
            <a:r>
              <a:rPr sz="1600" b="1" dirty="0" err="1">
                <a:solidFill>
                  <a:srgbClr val="C59B27"/>
                </a:solidFill>
                <a:latin typeface="Aptos Mono"/>
              </a:rPr>
              <a:t>u+x</a:t>
            </a:r>
            <a:r>
              <a:rPr sz="1600" b="1" dirty="0">
                <a:solidFill>
                  <a:srgbClr val="C59B27"/>
                </a:solidFill>
                <a:latin typeface="Aptos Mono"/>
              </a:rPr>
              <a:t> </a:t>
            </a:r>
            <a:r>
              <a:rPr sz="1600" b="1" dirty="0" err="1">
                <a:solidFill>
                  <a:srgbClr val="C59B27"/>
                </a:solidFill>
                <a:latin typeface="Aptos Mono"/>
              </a:rPr>
              <a:t>prueba.sh</a:t>
            </a:r>
            <a:endParaRPr sz="1600" b="1" dirty="0">
              <a:solidFill>
                <a:srgbClr val="C59B27"/>
              </a:solidFill>
              <a:latin typeface="Aptos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DESPUÉS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2B49"/>
                </a:solidFill>
                <a:latin typeface="Aptos Mono"/>
              </a:rPr>
              <a:t>-rwxr-----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3246120"/>
            <a:ext cx="1965960" cy="1143000"/>
          </a:xfrm>
          <a:prstGeom prst="roundRect">
            <a:avLst/>
          </a:prstGeom>
          <a:solidFill>
            <a:srgbClr val="FEF2F2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08592" y="349300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91C1C"/>
                </a:solidFill>
                <a:latin typeface="Aptos Mono"/>
              </a:rPr>
              <a:t>chmod 777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3822191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NO es una solución
a Permission denied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Cambio mínimo: solo aparece x para el dueño.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Si solo el dueño necesita ejecutar el script, ¿qué permiso exacto debe cambiar?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PREDICE PRIMERO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Permission denied es información, no una invitación a 777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645920"/>
            <a:ext cx="5074920" cy="3154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1832" y="1773936"/>
            <a:ext cx="91440" cy="9144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" y="1773936"/>
            <a:ext cx="91440" cy="9144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4168" y="1773936"/>
            <a:ext cx="91440" cy="91440"/>
          </a:xfrm>
          <a:prstGeom prst="ellipse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1737360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 Mono"/>
              </a:rPr>
              <a:t>terminal remota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084832"/>
            <a:ext cx="45720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 Mono"/>
              </a:rPr>
              <a:t>$ chmod u-x prueba.sh
$ ls -l prueba.sh
-rw-r--r-- ... prueba.sh
$ ./prueba.sh
bash: ./prueba.sh: Permission denied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72200" y="3063240"/>
            <a:ext cx="731520" cy="0"/>
          </a:xfrm>
          <a:prstGeom prst="line">
            <a:avLst/>
          </a:prstGeom>
          <a:ln w="381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32320" y="1783080"/>
            <a:ext cx="3931920" cy="26974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59B27"/>
                </a:solidFill>
                <a:latin typeface="Aptos"/>
              </a:rPr>
              <a:t>DIAGNÓSTICO</a:t>
            </a:r>
          </a:p>
        </p:txBody>
      </p:sp>
      <p:sp>
        <p:nvSpPr>
          <p:cNvPr id="15" name="Oval 14"/>
          <p:cNvSpPr/>
          <p:nvPr/>
        </p:nvSpPr>
        <p:spPr>
          <a:xfrm>
            <a:off x="7452360" y="2606040"/>
            <a:ext cx="164592" cy="164592"/>
          </a:xfrm>
          <a:prstGeom prst="ellipse">
            <a:avLst/>
          </a:prstGeom>
          <a:solidFill>
            <a:srgbClr val="002B49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90688" y="2551176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¿ruta correcta?</a:t>
            </a:r>
          </a:p>
        </p:txBody>
      </p:sp>
      <p:sp>
        <p:nvSpPr>
          <p:cNvPr id="17" name="Oval 16"/>
          <p:cNvSpPr/>
          <p:nvPr/>
        </p:nvSpPr>
        <p:spPr>
          <a:xfrm>
            <a:off x="7452360" y="3035808"/>
            <a:ext cx="164592" cy="164592"/>
          </a:xfrm>
          <a:prstGeom prst="ellipse">
            <a:avLst/>
          </a:prstGeom>
          <a:solidFill>
            <a:srgbClr val="002B49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2980944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¿x para el dueño?</a:t>
            </a:r>
          </a:p>
        </p:txBody>
      </p:sp>
      <p:sp>
        <p:nvSpPr>
          <p:cNvPr id="19" name="Oval 18"/>
          <p:cNvSpPr/>
          <p:nvPr/>
        </p:nvSpPr>
        <p:spPr>
          <a:xfrm>
            <a:off x="7452360" y="3465576"/>
            <a:ext cx="164592" cy="164592"/>
          </a:xfrm>
          <a:prstGeom prst="ellipse">
            <a:avLst/>
          </a:prstGeom>
          <a:solidFill>
            <a:srgbClr val="002B49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90688" y="3410712"/>
            <a:ext cx="25603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0F172A"/>
                </a:solidFill>
                <a:latin typeface="Aptos"/>
              </a:rPr>
              <a:t>¿shebang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válido</a:t>
            </a:r>
            <a:r>
              <a:rPr lang="es-ES" sz="1300" b="0" dirty="0">
                <a:solidFill>
                  <a:srgbClr val="0F172A"/>
                </a:solidFill>
                <a:latin typeface="Aptos"/>
              </a:rPr>
              <a:t>  (</a:t>
            </a:r>
            <a:r>
              <a:rPr lang="es-MX" sz="1400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#!)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?</a:t>
            </a:r>
          </a:p>
        </p:txBody>
      </p:sp>
      <p:sp>
        <p:nvSpPr>
          <p:cNvPr id="21" name="Oval 20"/>
          <p:cNvSpPr/>
          <p:nvPr/>
        </p:nvSpPr>
        <p:spPr>
          <a:xfrm>
            <a:off x="7452360" y="3895344"/>
            <a:ext cx="164592" cy="164592"/>
          </a:xfrm>
          <a:prstGeom prst="ellipse">
            <a:avLst/>
          </a:prstGeom>
          <a:solidFill>
            <a:srgbClr val="002B49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384048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¿contenido legible?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revisarías antes de cambiar cualquier otro permiso?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Un programa guardado no es un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15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8680" y="1828800"/>
            <a:ext cx="2743200" cy="205740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9B27"/>
                </a:solidFill>
                <a:latin typeface="Aptos"/>
              </a:rPr>
              <a:t>PROGRAMA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61488"/>
            <a:ext cx="2103634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 err="1">
                <a:solidFill>
                  <a:srgbClr val="002B49"/>
                </a:solidFill>
                <a:latin typeface="Aptos Mono"/>
              </a:rPr>
              <a:t>prueba.sh</a:t>
            </a:r>
            <a:endParaRPr sz="2200" b="1" dirty="0">
              <a:solidFill>
                <a:srgbClr val="002B49"/>
              </a:solidFill>
              <a:latin typeface="Aptos Mon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instrucciones almacenadas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40480" y="2788920"/>
            <a:ext cx="960120" cy="0"/>
          </a:xfrm>
          <a:prstGeom prst="line">
            <a:avLst/>
          </a:prstGeom>
          <a:ln w="381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77638" y="2395727"/>
            <a:ext cx="822961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 err="1">
                <a:solidFill>
                  <a:srgbClr val="475569"/>
                </a:solidFill>
                <a:latin typeface="Aptos"/>
              </a:rPr>
              <a:t>ejecutar</a:t>
            </a:r>
            <a:endParaRPr sz="1100" b="1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74920" y="1600200"/>
            <a:ext cx="3017520" cy="2514600"/>
          </a:xfrm>
          <a:prstGeom prst="roundRect">
            <a:avLst/>
          </a:prstGeom>
          <a:solidFill>
            <a:srgbClr val="F8FAFC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94960" y="1938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9B27"/>
                </a:solidFill>
                <a:latin typeface="Aptos"/>
              </a:rPr>
              <a:t>PROCESO</a:t>
            </a:r>
          </a:p>
        </p:txBody>
      </p:sp>
      <p:sp>
        <p:nvSpPr>
          <p:cNvPr id="14" name="Oval 13"/>
          <p:cNvSpPr/>
          <p:nvPr/>
        </p:nvSpPr>
        <p:spPr>
          <a:xfrm>
            <a:off x="6044184" y="2308860"/>
            <a:ext cx="960120" cy="960120"/>
          </a:xfrm>
          <a:prstGeom prst="ellipse">
            <a:avLst/>
          </a:prstGeom>
          <a:solidFill>
            <a:srgbClr val="002B49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44184" y="261061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ptos"/>
              </a:rPr>
              <a:t>PID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7820" y="33695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dirty="0" err="1">
                <a:solidFill>
                  <a:srgbClr val="475569"/>
                </a:solidFill>
                <a:latin typeface="Aptos"/>
              </a:rPr>
              <a:t>instancia</a:t>
            </a:r>
            <a:r>
              <a:rPr sz="1300" b="0" dirty="0">
                <a:solidFill>
                  <a:srgbClr val="4755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ptos"/>
              </a:rPr>
              <a:t>en</a:t>
            </a:r>
            <a:r>
              <a:rPr sz="1300" b="0" dirty="0">
                <a:solidFill>
                  <a:srgbClr val="4755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ptos"/>
              </a:rPr>
              <a:t>ejecución</a:t>
            </a:r>
            <a:endParaRPr sz="1300" b="0" dirty="0">
              <a:solidFill>
                <a:srgbClr val="475569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8366760" y="2788920"/>
            <a:ext cx="822960" cy="0"/>
          </a:xfrm>
          <a:prstGeom prst="line">
            <a:avLst/>
          </a:prstGeom>
          <a:ln w="381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85632" y="2395727"/>
            <a:ext cx="822960" cy="2615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75569"/>
                </a:solidFill>
                <a:latin typeface="Aptos"/>
              </a:rPr>
              <a:t>termina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487167"/>
            <a:ext cx="2556724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 err="1">
                <a:solidFill>
                  <a:srgbClr val="002B49"/>
                </a:solidFill>
                <a:latin typeface="Aptos"/>
              </a:rPr>
              <a:t>ya</a:t>
            </a:r>
            <a:r>
              <a:rPr sz="1800" b="1" dirty="0">
                <a:solidFill>
                  <a:srgbClr val="002B49"/>
                </a:solidFill>
                <a:latin typeface="Aptos"/>
              </a:rPr>
              <a:t> no </a:t>
            </a:r>
            <a:r>
              <a:rPr sz="1800" b="1" dirty="0" err="1">
                <a:solidFill>
                  <a:srgbClr val="002B49"/>
                </a:solidFill>
                <a:latin typeface="Aptos"/>
              </a:rPr>
              <a:t>aparece</a:t>
            </a:r>
            <a:r>
              <a:rPr sz="1800" b="1" dirty="0">
                <a:solidFill>
                  <a:srgbClr val="002B49"/>
                </a:solidFill>
                <a:latin typeface="Aptos"/>
              </a:rPr>
              <a:t>
</a:t>
            </a:r>
            <a:r>
              <a:rPr sz="1800" b="1" dirty="0" err="1">
                <a:solidFill>
                  <a:srgbClr val="002B49"/>
                </a:solidFill>
                <a:latin typeface="Aptos"/>
              </a:rPr>
              <a:t>en</a:t>
            </a:r>
            <a:r>
              <a:rPr sz="1800" b="1" dirty="0">
                <a:solidFill>
                  <a:srgbClr val="002B4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002B49"/>
                </a:solidFill>
                <a:latin typeface="Aptos"/>
              </a:rPr>
              <a:t>ps</a:t>
            </a:r>
            <a:endParaRPr sz="1800" b="1" dirty="0">
              <a:solidFill>
                <a:srgbClr val="002B49"/>
              </a:solidFill>
              <a:latin typeface="Aptos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existe solo mientras el programa está ejecutándose?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OBSERVAR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ps es una fotografía del momento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600200"/>
            <a:ext cx="5486400" cy="32461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1832" y="1728216"/>
            <a:ext cx="91440" cy="9144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" y="1728216"/>
            <a:ext cx="91440" cy="9144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4168" y="1728216"/>
            <a:ext cx="91440" cy="91440"/>
          </a:xfrm>
          <a:prstGeom prst="ellipse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1691640"/>
            <a:ext cx="4526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 Mono"/>
              </a:rPr>
              <a:t>terminal remota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039112"/>
            <a:ext cx="49834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 Mono"/>
              </a:rPr>
              <a:t>$ ps -o pid,stat,cmd -p 24680
    PID STAT CMD
  24680 S    sleep 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7830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3" name="Oval 12"/>
          <p:cNvSpPr/>
          <p:nvPr/>
        </p:nvSpPr>
        <p:spPr>
          <a:xfrm>
            <a:off x="6903720" y="1719072"/>
            <a:ext cx="640080" cy="640080"/>
          </a:xfrm>
          <a:prstGeom prst="ellipse">
            <a:avLst/>
          </a:prstGeom>
          <a:solidFill>
            <a:srgbClr val="002B49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190195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2B49"/>
                </a:solidFill>
                <a:latin typeface="Aptos"/>
              </a:rPr>
              <a:t>esperando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743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16" name="Oval 15"/>
          <p:cNvSpPr/>
          <p:nvPr/>
        </p:nvSpPr>
        <p:spPr>
          <a:xfrm>
            <a:off x="6903720" y="2679192"/>
            <a:ext cx="640080" cy="64008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86207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2B49"/>
                </a:solidFill>
                <a:latin typeface="Aptos"/>
              </a:rPr>
              <a:t>detenido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70332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9" name="Oval 18"/>
          <p:cNvSpPr/>
          <p:nvPr/>
        </p:nvSpPr>
        <p:spPr>
          <a:xfrm>
            <a:off x="6903720" y="3639312"/>
            <a:ext cx="640080" cy="640080"/>
          </a:xfrm>
          <a:prstGeom prst="ellipse">
            <a:avLst/>
          </a:prstGeom>
          <a:solidFill>
            <a:srgbClr val="166534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3822191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2B49"/>
                </a:solidFill>
                <a:latin typeface="Aptos"/>
              </a:rPr>
              <a:t>ejecutando / listo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5720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“Running” en jobs no significa usar CPU continuamente.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Si sleep 300 está activo, ¿esperas consumo continuo de CPU? ¿Qué estado sería razonable?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DOS IDENTIFICADORES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Trabajo del shell ≠ PID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17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828800"/>
            <a:ext cx="4297680" cy="233172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1488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9B27"/>
                </a:solidFill>
                <a:latin typeface="Aptos"/>
              </a:rPr>
              <a:t>TRABAJO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4320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2B49"/>
                </a:solidFill>
                <a:latin typeface="Aptos Mono"/>
              </a:rPr>
              <a:t>%1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670048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solo en el shell actual
lo usan fg y bg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4297680" cy="233172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21488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9B27"/>
                </a:solidFill>
                <a:latin typeface="Aptos"/>
              </a:rPr>
              <a:t>PROCESO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74320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2B49"/>
                </a:solidFill>
                <a:latin typeface="Aptos Mono"/>
              </a:rPr>
              <a:t>24680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70048"/>
            <a:ext cx="2011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PID del sistema
lo muestran ps y jobs -l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57200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91C1C"/>
                </a:solidFill>
                <a:latin typeface="Aptos"/>
              </a:rPr>
              <a:t>jobs solo conoce los trabajos de ESA sesión del shell.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Si abres otra terminal, ¿esperas que jobs muestre el mismo %1? ¿Y ps podría ver el PID?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RELACIÓN CON LA TERMINAL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Primer plano y segundo plano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459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9B27"/>
                </a:solidFill>
                <a:latin typeface="Aptos"/>
              </a:rPr>
              <a:t>PRIMER PLANO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443484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33271" y="2185416"/>
            <a:ext cx="91440" cy="9144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34439" y="2185416"/>
            <a:ext cx="91440" cy="9144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35607" y="2185416"/>
            <a:ext cx="91440" cy="91440"/>
          </a:xfrm>
          <a:prstGeom prst="ellipse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19" y="2148840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 Mono"/>
              </a:rPr>
              <a:t>terminal ocupada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496312"/>
            <a:ext cx="3931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 Mono"/>
              </a:rPr>
              <a:t>$ sleep 300
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34840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ptos"/>
              </a:rPr>
              <a:t>sin nuevo prompt
recibe entrada de la terminal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9B27"/>
                </a:solidFill>
                <a:latin typeface="Aptos"/>
              </a:rPr>
              <a:t>SEGUNDO PLANO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57400"/>
            <a:ext cx="443484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565392" y="2185416"/>
            <a:ext cx="91440" cy="9144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766559" y="2185416"/>
            <a:ext cx="91440" cy="9144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67728" y="2185416"/>
            <a:ext cx="91440" cy="91440"/>
          </a:xfrm>
          <a:prstGeom prst="ellipse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78040" y="2148840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 Mono"/>
              </a:rPr>
              <a:t>terminal disponible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2496312"/>
            <a:ext cx="3931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 Mono"/>
              </a:rPr>
              <a:t>$ sleep 300 &amp;
[1] 24680
$ 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434840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ptos"/>
              </a:rPr>
              <a:t>el prompt regresa
el trabajo puede continuar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¿Segundo plano significa que el proceso está usando CPU?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Ctrl-C y Ctrl-Z no hacen lo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19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8680" y="2194560"/>
            <a:ext cx="1920240" cy="411480"/>
          </a:xfrm>
          <a:prstGeom prst="round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258568"/>
            <a:ext cx="1773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primer plano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2194560"/>
            <a:ext cx="1828800" cy="411480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48072" y="2258568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59B27"/>
                </a:solidFill>
                <a:latin typeface="Aptos"/>
              </a:rPr>
              <a:t>detenido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194560"/>
            <a:ext cx="2011680" cy="411480"/>
          </a:xfrm>
          <a:prstGeom prst="round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08592" y="2258568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segundo plano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40" y="2395728"/>
            <a:ext cx="2057400" cy="0"/>
          </a:xfrm>
          <a:prstGeom prst="line">
            <a:avLst/>
          </a:prstGeom>
          <a:ln w="3175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01568" y="199339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C59B27"/>
                </a:solidFill>
                <a:latin typeface="Aptos Mono"/>
              </a:rPr>
              <a:t>Ctrl-Z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2395728"/>
            <a:ext cx="2103120" cy="0"/>
          </a:xfrm>
          <a:prstGeom prst="line">
            <a:avLst/>
          </a:prstGeom>
          <a:ln w="3175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89520" y="1993392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C59B27"/>
                </a:solidFill>
                <a:latin typeface="Aptos Mono"/>
              </a:rPr>
              <a:t>bg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12680" y="2788920"/>
            <a:ext cx="0" cy="100584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828800" y="3794760"/>
            <a:ext cx="81838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28800" y="2788920"/>
            <a:ext cx="0" cy="100584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0" y="3886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Aptos Mono"/>
              </a:rPr>
              <a:t>fg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83080" y="2697480"/>
            <a:ext cx="0" cy="2011680"/>
          </a:xfrm>
          <a:prstGeom prst="line">
            <a:avLst/>
          </a:prstGeom>
          <a:ln w="3175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965960" y="3977639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  <a:latin typeface="Aptos Mono"/>
              </a:rPr>
              <a:t>Ctrl-C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89204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B91C1C"/>
                </a:solidFill>
                <a:latin typeface="Aptos"/>
              </a:rPr>
              <a:t>interrumpe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tecla usarías si quieres pausar un trabajo para reanudarlo después?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kill envía una señal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178308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59B27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1051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IDENTIFICA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48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 Mono"/>
              </a:rPr>
              <a:t>jobs -l + 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46120" y="2148840"/>
            <a:ext cx="640080" cy="0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69080" y="178308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59B27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81051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CONFIRMA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PID + comando + usuario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86600" y="2148840"/>
            <a:ext cx="640079" cy="0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09560" y="178308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59B27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81051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SOLICITA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48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 Mono"/>
              </a:rPr>
              <a:t>kill -TERM PID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154680"/>
            <a:ext cx="9966960" cy="1051560"/>
          </a:xfrm>
          <a:prstGeom prst="roundRect">
            <a:avLst/>
          </a:prstGeom>
          <a:solidFill>
            <a:srgbClr val="FEF2F2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3474720"/>
            <a:ext cx="9509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91C1C"/>
                </a:solidFill>
                <a:latin typeface="Aptos"/>
              </a:rPr>
              <a:t>No pruebes PIDs al azar. No uses kill -9 como primera opción.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61772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2B49"/>
                </a:solidFill>
                <a:latin typeface="Aptos"/>
              </a:rPr>
              <a:t>4  VERIFICA: ps ya no debe mostrar una fila para ese PID.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tres cosas debes confirmar antes de enviar SIGTERM?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GUÍA DOCENTE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¿Dónde entra la práctica?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60020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59B27"/>
                </a:solidFill>
                <a:latin typeface="Aptos"/>
              </a:rPr>
              <a:t>ACT.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60020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INSPECCIONAR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002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file · head · tail · less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6002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checksum del original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2167128"/>
            <a:ext cx="101041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2532888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59B27"/>
                </a:solidFill>
                <a:latin typeface="Aptos"/>
              </a:rPr>
              <a:t>ACT.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53288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COMPRIMIR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3288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gzip · gunzip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5328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SHA-256 antes/después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099816"/>
            <a:ext cx="101041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3465576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59B27"/>
                </a:solidFill>
                <a:latin typeface="Aptos"/>
              </a:rPr>
              <a:t>ACT. 3–4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465576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PERMISOS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46557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ls -l · chmod u+x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65576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cambio mínimo + x en directorio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32504"/>
            <a:ext cx="101041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4398264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59B27"/>
                </a:solidFill>
                <a:latin typeface="Aptos"/>
              </a:rPr>
              <a:t>ACT.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39826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2B49"/>
                </a:solidFill>
                <a:latin typeface="Aptos"/>
              </a:rPr>
              <a:t>PROCESOS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398264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jobs · ps · fg · bg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3982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Ctrl-C · Ctrl-Z · SIGTERM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4965192"/>
            <a:ext cx="101041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528523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La presentación orienta; la práctica es donde el estudiante predice, ejecuta, observa, explica y verifica.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¿En qué momento conviene dejar de explicar y pedir que el alumno pruebe?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DEPURACIÓN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Cuando algo falla, lee antes de corregir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22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55448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  <a:latin typeface="Aptos Mono"/>
              </a:rPr>
              <a:t>Permission denied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46120" y="1700784"/>
            <a:ext cx="548640" cy="0"/>
          </a:xfrm>
          <a:prstGeom prst="line">
            <a:avLst/>
          </a:prstGeom>
          <a:ln w="2286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977639" y="1554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ls -l · ruta · shebang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5544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no 777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  <a:latin typeface="Aptos Mono"/>
              </a:rPr>
              <a:t>gzip “desapareció”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2450592"/>
            <a:ext cx="548640" cy="0"/>
          </a:xfrm>
          <a:prstGeom prst="line">
            <a:avLst/>
          </a:prstGeom>
          <a:ln w="2286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77639" y="230428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pwd · ls ·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30428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busca .gz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54096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  <a:latin typeface="Aptos Mono"/>
              </a:rPr>
              <a:t>jobs no muestra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46120" y="3200400"/>
            <a:ext cx="548640" cy="0"/>
          </a:xfrm>
          <a:prstGeom prst="line">
            <a:avLst/>
          </a:prstGeom>
          <a:ln w="2286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77639" y="305409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mismo shell · ¿ya terminó?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05409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contrasta con 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0390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  <a:latin typeface="Aptos Mono"/>
              </a:rPr>
              <a:t>fg %1 falla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46120" y="3950208"/>
            <a:ext cx="548640" cy="0"/>
          </a:xfrm>
          <a:prstGeom prst="line">
            <a:avLst/>
          </a:prstGeom>
          <a:ln w="2286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977639" y="380390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jobs -l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80390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usa el número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537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  <a:latin typeface="Aptos Mono"/>
              </a:rPr>
              <a:t>checksum distinto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46120" y="4700016"/>
            <a:ext cx="548640" cy="0"/>
          </a:xfrm>
          <a:prstGeom prst="line">
            <a:avLst/>
          </a:prstGeom>
          <a:ln w="2286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977639" y="455371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 Mono"/>
              </a:rPr>
              <a:t>detente · revisa rutas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455371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no “arregles” el original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sería peor: que un comando falle o cambiar cosas al azar sin entender el mensaje?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USO CRÍTICO DE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IA después: revisora, no operadora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23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2938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TU SOLUCIÓN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ya ejecutada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2057400"/>
            <a:ext cx="3931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926080" y="1828800"/>
            <a:ext cx="457200" cy="45720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192938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51460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ANONIMIZA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83464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[SERVIDOR] · [PID]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26280" y="2057400"/>
            <a:ext cx="3931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166360" y="1828800"/>
            <a:ext cx="457200" cy="45720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6360" y="192938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51460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IA REVISA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3464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riesgos y omisiones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66560" y="2057400"/>
            <a:ext cx="3931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06640" y="1828800"/>
            <a:ext cx="457200" cy="45720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192938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51460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VALIDA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83464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man · help · prueba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06840" y="2057400"/>
            <a:ext cx="3931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46920" y="1828800"/>
            <a:ext cx="457200" cy="45720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46920" y="192938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51460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83464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acepta o rechaza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3977639"/>
            <a:ext cx="9875520" cy="822960"/>
          </a:xfrm>
          <a:prstGeom prst="roundRect">
            <a:avLst/>
          </a:prstGeom>
          <a:solidFill>
            <a:srgbClr val="FFF7ED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34440" y="4261104"/>
            <a:ext cx="9418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Nunca: contraseñas · llaves SSH · IP · tokens · procesos ajenos · PIDs inventados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sugerencia de IA debería hacerte desconfiar inmediatamente en esta sesión?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EVIDENCIA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La entrega debe demostrar decisiones, no solo comandos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68680" y="1737360"/>
            <a:ext cx="329184" cy="329184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ORIGINAL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39" y="169164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checksum de pacientes.md coincide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16352"/>
            <a:ext cx="329184" cy="329184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77063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COMPRESIÓN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770632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SHA-256 antes = después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95344"/>
            <a:ext cx="329184" cy="329184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84962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PERMISOS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3849624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ls -l antes/después + por qué u+x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1737360"/>
            <a:ext cx="329184" cy="329184"/>
          </a:xfrm>
          <a:prstGeom prst="ellipse">
            <a:avLst/>
          </a:prstGeom>
          <a:solidFill>
            <a:srgbClr val="002B49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169164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PROCESO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69164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trabajo · PID · estado · señal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816352"/>
            <a:ext cx="329184" cy="329184"/>
          </a:xfrm>
          <a:prstGeom prst="ellipse">
            <a:avLst/>
          </a:prstGeom>
          <a:solidFill>
            <a:srgbClr val="002B49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03720" y="277063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CIERRE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770632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ps confirma que terminó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3895344"/>
            <a:ext cx="329184" cy="329184"/>
          </a:xfrm>
          <a:prstGeom prst="ellipse">
            <a:avLst/>
          </a:prstGeom>
          <a:solidFill>
            <a:srgbClr val="002B49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03720" y="384962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DIAGNÓSTICO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849624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un problema/duda y cómo se resolvió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doc/protocolo.md = predicción + salida real + explicación + verificación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" y="5715000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" y="58338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5779008"/>
            <a:ext cx="9098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información se perdería si el estudiante entregara solo capturas de pantalla?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Quédate con 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S5 · 25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60120" y="1572768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2B49"/>
                </a:solidFill>
                <a:latin typeface="Aptos"/>
              </a:rPr>
              <a:t>1  file y ls -l responden preguntas distintas.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ptos"/>
              </a:rPr>
              <a:t>2  Inspeccionar no significa editar.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33472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ptos"/>
              </a:rPr>
              <a:t>3  gzip cambia el nombre presente; el checksum comprueba la restauración.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63824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2B49"/>
                </a:solidFill>
                <a:latin typeface="Aptos"/>
              </a:rPr>
              <a:t>4  Los permisos se cambian con el mínimo necesario.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9417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2B49"/>
                </a:solidFill>
                <a:latin typeface="Aptos"/>
              </a:rPr>
              <a:t>5  Trabajo del shell y PID no son lo mismo.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24528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ptos"/>
              </a:rPr>
              <a:t>6  Ctrl-C interrumpe; Ctrl-Z detiene temporalmente.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54879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2B49"/>
                </a:solidFill>
                <a:latin typeface="Aptos"/>
              </a:rPr>
              <a:t>7  Antes de enviar una señal: identifica, confirma y verifica.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44068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C59B27"/>
                </a:solidFill>
                <a:latin typeface="Aptos"/>
              </a:rPr>
              <a:t>Semáforo de salida:  VERDE · AMARILLO · ROJO  +  una duda para la Unidad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3796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2116</Words>
  <Application>Microsoft Macintosh PowerPoint</Application>
  <PresentationFormat>Panorámica</PresentationFormat>
  <Paragraphs>418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Aptos</vt:lpstr>
      <vt:lpstr>Aptos Mono</vt:lpstr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2026-08-26T18:17:48Z</dcterms:modified>
  <cp:category/>
</cp:coreProperties>
</file>