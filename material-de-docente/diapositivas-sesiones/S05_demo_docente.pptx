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6218"/>
  </p:normalViewPr>
  <p:slideViewPr>
    <p:cSldViewPr snapToGrid="0" snapToObjects="1">
      <p:cViewPr varScale="1">
        <p:scale>
          <a:sx n="104" d="100"/>
          <a:sy n="104" d="100"/>
        </p:scale>
        <p:origin x="23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88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¿Qué tipo de objeto representa esta entrada dentro del sistema de archivos?</a:t>
            </a:r>
            <a:r>
              <a:rPr lang="es-MX" dirty="0"/>
              <a:t> ls -l lo indica con el primer carácter: - para un archivo regular, d para un directorio y l para un enlace simbólico, entre otros tipos menos frecuentes. </a:t>
            </a:r>
            <a:r>
              <a:rPr lang="es-MX" b="1" dirty="0"/>
              <a:t>¿Qué clase de contenido parece contener?</a:t>
            </a:r>
            <a:r>
              <a:rPr lang="es-MX" dirty="0"/>
              <a:t> file examina características y firmas del contenido y produce una descripción como “texto”, “datos comprimidos con gzip” o “imagen PNG”. No depende únicamente de la extensión, pero su resultado es una identificación basada en reglas y puede variar entre sistemas.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</a:t>
            </a:r>
          </a:p>
          <a:p>
            <a:r>
              <a:rPr lang="en-US" dirty="0"/>
              <a:t>Tail</a:t>
            </a:r>
          </a:p>
          <a:p>
            <a:r>
              <a:rPr lang="en-US" dirty="0"/>
              <a:t>Less</a:t>
            </a:r>
          </a:p>
          <a:p>
            <a:r>
              <a:rPr lang="en-US" dirty="0"/>
              <a:t>Cat</a:t>
            </a:r>
          </a:p>
          <a:p>
            <a:r>
              <a:rPr lang="en-US" dirty="0" err="1"/>
              <a:t>Zcat</a:t>
            </a:r>
            <a:r>
              <a:rPr lang="en-US" dirty="0"/>
              <a:t> – </a:t>
            </a:r>
            <a:r>
              <a:rPr lang="en-US" dirty="0" err="1"/>
              <a:t>archivos</a:t>
            </a:r>
            <a:r>
              <a:rPr lang="en-US" dirty="0"/>
              <a:t> </a:t>
            </a:r>
            <a:r>
              <a:rPr lang="en-US" dirty="0" err="1"/>
              <a:t>comprimidos</a:t>
            </a:r>
            <a:endParaRPr lang="en-US" dirty="0"/>
          </a:p>
          <a:p>
            <a:r>
              <a:rPr lang="en-US" dirty="0" err="1"/>
              <a:t>Zless</a:t>
            </a:r>
            <a:r>
              <a:rPr lang="en-US" dirty="0"/>
              <a:t>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Concede lectura, escritura y ejecución a dueño, grupo y demás usuarios. No es una solución apropiada a Permission denied: oculta la causa y concede permisos excesivos. Primero inspecciona el objeto, el directorio, el intérprete y el permiso realmente 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Proceso:</a:t>
            </a:r>
            <a:r>
              <a:rPr lang="es-MX" dirty="0"/>
              <a:t> un programa que está ejecutándose en el sistema. </a:t>
            </a:r>
          </a:p>
          <a:p>
            <a:r>
              <a:rPr lang="es-MX" b="1" dirty="0"/>
              <a:t>PID (Process ID):</a:t>
            </a:r>
            <a:r>
              <a:rPr lang="es-MX" dirty="0"/>
              <a:t> número único que el sistema asigna a ese proceso para identificarlo. </a:t>
            </a:r>
          </a:p>
          <a:p>
            <a:r>
              <a:rPr lang="es-MX" b="1" dirty="0"/>
              <a:t>Trabajo del shell (job):</a:t>
            </a:r>
            <a:r>
              <a:rPr lang="es-MX" dirty="0"/>
              <a:t> proceso o conjunto de procesos que </a:t>
            </a:r>
            <a:r>
              <a:rPr lang="es-MX" b="1" dirty="0"/>
              <a:t>tu shell está gestionando</a:t>
            </a:r>
            <a:r>
              <a:rPr lang="es-MX" dirty="0"/>
              <a:t> y que puedes controlar con jobs, fg o bg.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27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3558"/>
                </a:solidFill>
              </a:rPr>
              <a:t>Introducción a la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B3558"/>
                </a:solidFill>
              </a:rPr>
              <a:t>Bioinformática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49808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LCG · UNAM ·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4663440" cy="0"/>
          </a:xfrm>
          <a:prstGeom prst="line">
            <a:avLst/>
          </a:prstGeom>
          <a:noFill/>
          <a:ln w="38100">
            <a:solidFill>
              <a:srgbClr val="C99B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B1D"/>
                </a:solidFill>
              </a:rPr>
              <a:t>Unidad 2 · Sesión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</a:rPr>
              <a:t>Inspeccionar, proteger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52033"/>
                </a:solidFill>
              </a:rPr>
              <a:t>y controlar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4069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Archivos · compresión · permisos · procesos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5156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84848" y="12161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ARCHIVO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4848" y="1618488"/>
            <a:ext cx="39867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genes_ecoli.gff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33172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84848" y="24963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</a:rPr>
              <a:t>PERMISOS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84848" y="2898648"/>
            <a:ext cx="39867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src/practica-s5/prueba.sh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61188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37764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7A3B"/>
                </a:solidFill>
              </a:rPr>
              <a:t>PROCESO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84848" y="4178808"/>
            <a:ext cx="39867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sleep → PID →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5074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558"/>
                </a:solidFill>
              </a:rPr>
              <a:t>reconocer → inspeccionar → almacenar → autorizar → ejecutar → controlar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¿Qué queremos lograr hoy?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3152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875"/>
                </a:solidFill>
              </a:rPr>
              <a:t>Al terminar la sesión, el estudiante podrá…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34440" y="210312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3444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RECONOCER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310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875"/>
                </a:solidFill>
              </a:rPr>
              <a:t>objeto y contenido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97180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INSPECCIONAR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71800" y="3310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875"/>
                </a:solidFill>
              </a:rPr>
              <a:t>sin modificar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15000" y="210312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1500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1208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PROTEGER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12080" y="3310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875"/>
                </a:solidFill>
              </a:rPr>
              <a:t>copias y permisos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0" y="210312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5528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5236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CONTROLAR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52360" y="3310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875"/>
                </a:solidFill>
              </a:rPr>
              <a:t>procesos propios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195560" y="2103120"/>
            <a:ext cx="640080" cy="640080"/>
          </a:xfrm>
          <a:prstGeom prst="ellipse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19556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9264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DOCUMENTAR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692640" y="3310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875"/>
                </a:solidFill>
              </a:rPr>
              <a:t>evidencia verificable</a:t>
            </a:r>
            <a:endParaRPr lang="en-US" sz="1200" dirty="0"/>
          </a:p>
        </p:txBody>
      </p:sp>
      <p:sp>
        <p:nvSpPr>
          <p:cNvPr id="7" name="Shape 34">
            <a:extLst>
              <a:ext uri="{FF2B5EF4-FFF2-40B4-BE49-F238E27FC236}">
                <a16:creationId xmlns:a16="http://schemas.microsoft.com/office/drawing/2014/main" id="{6CB16F1C-AEF3-0844-C5C3-8E261470E007}"/>
              </a:ext>
            </a:extLst>
          </p:cNvPr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676A2E32-EE21-5604-2290-9A3CC0F85306}"/>
              </a:ext>
            </a:extLst>
          </p:cNvPr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FAIR + REPRODUCIBILIDAD</a:t>
            </a:r>
            <a:endParaRPr lang="en-US" sz="1000" dirty="0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54466E45-D839-3C1F-1D32-E848647A6376}"/>
              </a:ext>
            </a:extLst>
          </p:cNvPr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Preservar originales, registrar cambios y verificar resultados hace el flujo más trazable y reutilizable.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¿Qué recuerdas de la lectura?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97280" y="1828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558"/>
                </a:solidFill>
              </a:rPr>
              <a:t>No buscamos memorizar comandos.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280160" y="2560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E6875"/>
                </a:solidFill>
              </a:rPr>
              <a:t>Queremos recuperar las ideas que usaremos en la demostración.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108960" y="3794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B1D"/>
                </a:solidFill>
              </a:rPr>
              <a:t>Explica · predice · justifica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concepto de la lectura te pareció más útil o más confuso?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¿Qué diferencia hay entre “tipo de objeto” y “tipo de contenido”?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875"/>
                </a:solidFill>
              </a:rPr>
              <a:t>Piensa en lo que muestran ls -l y file.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200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→ Explica con tus palabras. No necesitas recordar la sintaxis exacta.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ejemplo del proyecto de E. coli usarías para explicarlo?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¿Cómo inspeccionarías un GFF sin abrirlo en un editor?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875"/>
                </a:solidFill>
              </a:rPr>
              <a:t>La herramienta depende de la pregunta: inicio, final o navegación.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200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→ Explica con tus palabras. No necesitas recordar la sintaxis exacta.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ejemplo del proyecto de E. coli usarías para explicarlo?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¿Comprimir y empaquetar significan lo mismo?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875"/>
                </a:solidFill>
              </a:rPr>
              <a:t>Piensa en gzip frente a tar.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200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→ Explica con tus palabras. No necesitas recordar la sintaxis exacta.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ejemplo del proyecto de E. coli usarías para explicarlo?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¿Por qué no usarías chmod 777 como </a:t>
            </a:r>
            <a:r>
              <a:rPr lang="en-US" sz="2500" b="1" dirty="0" err="1">
                <a:solidFill>
                  <a:srgbClr val="0B3558"/>
                </a:solidFill>
              </a:rPr>
              <a:t>solución</a:t>
            </a:r>
            <a:r>
              <a:rPr lang="en-US" sz="2500" b="1" dirty="0">
                <a:solidFill>
                  <a:srgbClr val="0B3558"/>
                </a:solidFill>
              </a:rPr>
              <a:t> </a:t>
            </a:r>
            <a:r>
              <a:rPr lang="en-US" sz="2500" b="1" dirty="0" err="1">
                <a:solidFill>
                  <a:srgbClr val="0B3558"/>
                </a:solidFill>
              </a:rPr>
              <a:t>rápida</a:t>
            </a:r>
            <a:r>
              <a:rPr lang="en-US" sz="2500" b="1" dirty="0">
                <a:solidFill>
                  <a:srgbClr val="0B3558"/>
                </a:solidFill>
              </a:rPr>
              <a:t> para </a:t>
            </a:r>
            <a:r>
              <a:rPr lang="en-US" sz="2500" b="1" dirty="0" err="1">
                <a:solidFill>
                  <a:srgbClr val="0B3558"/>
                </a:solidFill>
              </a:rPr>
              <a:t>dar</a:t>
            </a:r>
            <a:r>
              <a:rPr lang="en-US" sz="2500" b="1" dirty="0">
                <a:solidFill>
                  <a:srgbClr val="0B3558"/>
                </a:solidFill>
              </a:rPr>
              <a:t> </a:t>
            </a:r>
            <a:r>
              <a:rPr lang="en-US" sz="2500" b="1" dirty="0" err="1">
                <a:solidFill>
                  <a:srgbClr val="0B3558"/>
                </a:solidFill>
              </a:rPr>
              <a:t>permisos</a:t>
            </a:r>
            <a:r>
              <a:rPr lang="en-US" sz="2500" b="1" dirty="0">
                <a:solidFill>
                  <a:srgbClr val="0B3558"/>
                </a:solidFill>
              </a:rPr>
              <a:t>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875"/>
                </a:solidFill>
              </a:rPr>
              <a:t>El permiso mínimo necesario es una mejor práctica.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200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→ Explica con tus palabras. No necesitas recordar la sintaxis exacta.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ejemplo del proyecto de E. coli usarías para explicarlo?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¿Qué diferencia hay entre un proceso, un PID y un trabajo del shell?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875"/>
                </a:solidFill>
              </a:rPr>
              <a:t>No son sinónimos, aunque están relacionados.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32004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→ Explica con tus palabras. No necesitas recordar la sintaxis exacta.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ejemplo del proyecto de E. coli usarías para explicarlo?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Punto de partida: el proyecto de E. coli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44805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tree -L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16002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proyecto-ecoli </a:t>
            </a: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README.md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├── source/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│   ├── genes_ecoli.gff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│   └── genes_ecoli-metadatos.md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│   └── processed/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src/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52033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FAIR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data/source/ contiene los originales: se inspeccionan, pero no se editan, comprimen ni cambian permisos.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archivos de esta estructura deberían considerarse inmutables?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 · RECONOCER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Objeto del sistema ≠ contenido del archivo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852160" cy="3246120"/>
          </a:xfrm>
          <a:prstGeom prst="roundRect">
            <a:avLst>
              <a:gd name="adj" fmla="val 2254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987552" y="171907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5321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</a:t>
            </a: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-ld README.md data data/source/</a:t>
            </a:r>
            <a:r>
              <a:rPr lang="en-US" sz="16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genes_ecoli.gff</a:t>
            </a:r>
            <a:endParaRPr lang="en-US" sz="1600" dirty="0">
              <a:solidFill>
                <a:srgbClr val="FFFFFF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FFFFFF"/>
              </a:solidFill>
              <a:latin typeface="Aptos Mono" pitchFamily="34" charset="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file README.md data/source/genes_ecoli.gff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95160" y="164592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96328" y="181051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8"/>
                </a:solidFill>
              </a:rPr>
              <a:t>ls -l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96328" y="2212848"/>
            <a:ext cx="37581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Primer carácter: - archivo regular · d directorio · l enlace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95160" y="315468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96328" y="331927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B1D"/>
                </a:solidFill>
              </a:rPr>
              <a:t>file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96328" y="3721608"/>
            <a:ext cx="37581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Estima el tipo de contenido; no depende solo de la extensión.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Si renombramos una copia del GFF sin extensión, ¿esperas que file deje de reconocerlo como texto?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 · INSPECCIONAR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Observar sin modificar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6035040" cy="3474720"/>
          </a:xfrm>
          <a:prstGeom prst="roundRect">
            <a:avLst>
              <a:gd name="adj" fmla="val 2105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" y="2035159"/>
            <a:ext cx="5916168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head -n 5 data/source/genes_ecoli.gff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tail -n 5 data/source/genes_ecoli-metadatos.md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less data/source/genes_ecoli.gff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86600" y="16002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87768" y="17647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8"/>
                </a:solidFill>
              </a:rPr>
              <a:t>head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87768" y="2167128"/>
            <a:ext cx="36210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¿Cómo comienza?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7432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87768" y="29077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8"/>
                </a:solidFill>
              </a:rPr>
              <a:t>tail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87768" y="3310128"/>
            <a:ext cx="36210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¿Cómo termina?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8862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87768" y="40507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B1D"/>
                </a:solidFill>
              </a:rPr>
              <a:t>less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87768" y="4453128"/>
            <a:ext cx="36210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¿Cómo navego sin editar?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BUENA PRÁCTICA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Para archivos grandes, evita cat si solo necesitas inspeccionar una parte.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Si quieres revisar el encabezado del GFF, ¿qué herramienta elegirías y por qué?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 · PROTEGER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Crea una zona segura para experimentar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6492240" cy="3429000"/>
          </a:xfrm>
          <a:prstGeom prst="roundRect">
            <a:avLst>
              <a:gd name="adj" fmla="val 2133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" y="2066544"/>
            <a:ext cx="65151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mkdir -p results/s5-pruebas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cp -i README.md results/s5-pruebas/README-copia.md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results/s5-pruebas/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89520" y="239572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8"/>
                </a:solidFill>
              </a:rPr>
              <a:t>ORIGINAL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2898647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033"/>
                </a:solidFill>
              </a:rPr>
              <a:t>README.md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070848" y="2926079"/>
            <a:ext cx="347472" cy="411480"/>
          </a:xfrm>
          <a:prstGeom prst="chevron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29800" y="239572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B1D"/>
                </a:solidFill>
              </a:rPr>
              <a:t>COPIA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09760" y="2807207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33"/>
                </a:solidFill>
              </a:rPr>
              <a:t>results/s5-pruebas/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2033"/>
                </a:solidFill>
              </a:rPr>
              <a:t>README-copia.md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FAIR / TRAZABILIDAD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Las operaciones destructivas o reversibles se prueban sobre copias; los originales permanecen intactos.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¿Por qué no comprimimos directamente genes_ecoli.gff en data/source/?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 · ALMACENAR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gzip cambia el nombre que existe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02920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~/proyecto/results/s5-pruebas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README-copia.md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gzip README-copia.md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1737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875"/>
                </a:solidFill>
              </a:rPr>
              <a:t>ANTES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210312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13448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README-copia.md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13448" y="2670048"/>
            <a:ext cx="15179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existe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15400" y="2304288"/>
            <a:ext cx="502920" cy="365760"/>
          </a:xfrm>
          <a:prstGeom prst="chevron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55480" y="1737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875"/>
                </a:solidFill>
              </a:rPr>
              <a:t>DESPUÉS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418320" y="210312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19488" y="22677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</a:rPr>
              <a:t>README-copia.md.gz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19488" y="2670048"/>
            <a:ext cx="16550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existe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3337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558"/>
                </a:solidFill>
              </a:rPr>
              <a:t>gzip reduce bytes cuando el contenido es compresible; no es un checksum ni un respaldo.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Después de gzip, ¿qué nombre esperas que haya desaparecido?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5 · VERIFICAR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Restaurar no basta: comprueba el contenido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577840" cy="3337560"/>
          </a:xfrm>
          <a:prstGeom prst="roundRect">
            <a:avLst>
              <a:gd name="adj" fmla="val 2192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493776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gunzip README-copia.md.gz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README-copia.md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494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8"/>
                </a:solidFill>
              </a:rPr>
              <a:t>SHA-256 antes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abc123…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942832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7A3B"/>
                </a:solidFill>
              </a:rPr>
              <a:t>=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2354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8"/>
                </a:solidFill>
              </a:rPr>
              <a:t>SHA-256 después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2354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abc123…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REPRODUCIBILIDAD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La verificación transforma “parece igual” en evidencia comprobable.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demuestra el checksum que no demuestra ls -l?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6 · AUTORIZAR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500" b="1" dirty="0">
                <a:solidFill>
                  <a:srgbClr val="0B3558"/>
                </a:solidFill>
              </a:rPr>
              <a:t>Crea un archivo de prueba para experimentar con seguridad</a:t>
            </a:r>
            <a:endParaRPr lang="en-US" sz="2500" b="1" dirty="0">
              <a:solidFill>
                <a:srgbClr val="0B3558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486400" cy="1757868"/>
          </a:xfrm>
          <a:prstGeom prst="roundRect">
            <a:avLst>
              <a:gd name="adj" fmla="val 3333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987552" y="17190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48463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</a:t>
            </a:r>
            <a:r>
              <a:rPr lang="es-MX" sz="1400" dirty="0">
                <a:solidFill>
                  <a:schemeClr val="bg1">
                    <a:lumMod val="95000"/>
                  </a:scheme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</a:t>
            </a:r>
            <a:r>
              <a:rPr lang="es-MX" sz="1400" dirty="0">
                <a:solidFill>
                  <a:schemeClr val="bg1">
                    <a:lumMod val="95000"/>
                  </a:schemeClr>
                </a:solidFill>
              </a:rPr>
              <a:t>ano 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~/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src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</a:t>
            </a:r>
            <a:r>
              <a:rPr lang="es-MX" sz="1400" dirty="0">
                <a:solidFill>
                  <a:schemeClr val="bg1">
                    <a:lumMod val="95000"/>
                  </a:schemeClr>
                </a:solidFill>
              </a:rPr>
              <a:t>prueba.sh</a:t>
            </a:r>
          </a:p>
          <a:p>
            <a:pPr marL="0" indent="0">
              <a:buNone/>
            </a:pPr>
            <a:endParaRPr lang="es-MX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17830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800" dirty="0"/>
              <a:t>Ctrl + O → Enter → Ctrl + X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595286" y="3641969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dirty="0"/>
              <a:t>Comprueba que existe y tiene contenido con: </a:t>
            </a:r>
          </a:p>
          <a:p>
            <a:pPr marL="0" indent="0">
              <a:buNone/>
            </a:pPr>
            <a:r>
              <a:rPr lang="es-MX" sz="1400" dirty="0"/>
              <a:t>	ls –l</a:t>
            </a:r>
          </a:p>
          <a:p>
            <a:pPr marL="0" indent="0">
              <a:buNone/>
            </a:pPr>
            <a:r>
              <a:rPr lang="es-MX" sz="1400" dirty="0"/>
              <a:t>	cat 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>
                <a:solidFill>
                  <a:srgbClr val="FF0000"/>
                </a:solidFill>
              </a:rPr>
              <a:t>Cuida las rutas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939114" y="5578701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Estamos </a:t>
            </a:r>
            <a:r>
              <a:rPr lang="en-US" sz="1150" b="1" dirty="0" err="1">
                <a:solidFill>
                  <a:srgbClr val="152033"/>
                </a:solidFill>
              </a:rPr>
              <a:t>creando</a:t>
            </a:r>
            <a:r>
              <a:rPr lang="en-US" sz="1150" b="1" dirty="0">
                <a:solidFill>
                  <a:srgbClr val="152033"/>
                </a:solidFill>
              </a:rPr>
              <a:t> un archive que </a:t>
            </a:r>
            <a:r>
              <a:rPr lang="en-US" sz="1150" b="1" dirty="0" err="1">
                <a:solidFill>
                  <a:srgbClr val="152033"/>
                </a:solidFill>
              </a:rPr>
              <a:t>contiene</a:t>
            </a:r>
            <a:r>
              <a:rPr lang="en-US" sz="1150" b="1" dirty="0">
                <a:solidFill>
                  <a:srgbClr val="152033"/>
                </a:solidFill>
              </a:rPr>
              <a:t> </a:t>
            </a:r>
            <a:r>
              <a:rPr lang="en-US" sz="1150" b="1" dirty="0" err="1">
                <a:solidFill>
                  <a:srgbClr val="152033"/>
                </a:solidFill>
              </a:rPr>
              <a:t>comandos</a:t>
            </a:r>
            <a:r>
              <a:rPr lang="en-US" sz="1150" b="1" dirty="0">
                <a:solidFill>
                  <a:srgbClr val="152033"/>
                </a:solidFill>
              </a:rPr>
              <a:t>, y que se </a:t>
            </a:r>
            <a:r>
              <a:rPr lang="en-US" sz="1150" b="1" dirty="0" err="1">
                <a:solidFill>
                  <a:srgbClr val="152033"/>
                </a:solidFill>
              </a:rPr>
              <a:t>puede</a:t>
            </a:r>
            <a:r>
              <a:rPr lang="en-US" sz="1150" b="1" dirty="0">
                <a:solidFill>
                  <a:srgbClr val="152033"/>
                </a:solidFill>
              </a:rPr>
              <a:t> </a:t>
            </a:r>
            <a:r>
              <a:rPr lang="en-US" sz="1150" b="1" dirty="0" err="1">
                <a:solidFill>
                  <a:srgbClr val="152033"/>
                </a:solidFill>
              </a:rPr>
              <a:t>ejecutar</a:t>
            </a:r>
            <a:r>
              <a:rPr lang="en-US" sz="1150" b="1" dirty="0">
                <a:solidFill>
                  <a:srgbClr val="152033"/>
                </a:solidFill>
              </a:rPr>
              <a:t> (scripts lo </a:t>
            </a:r>
            <a:r>
              <a:rPr lang="en-US" sz="1150" b="1" dirty="0" err="1">
                <a:solidFill>
                  <a:srgbClr val="152033"/>
                </a:solidFill>
              </a:rPr>
              <a:t>veremos</a:t>
            </a:r>
            <a:r>
              <a:rPr lang="en-US" sz="1150" b="1" dirty="0">
                <a:solidFill>
                  <a:srgbClr val="152033"/>
                </a:solidFill>
              </a:rPr>
              <a:t> mas Adelante).</a:t>
            </a:r>
            <a:endParaRPr lang="en-US" sz="11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48E26C-6B2D-ECA9-39A9-ECE41C38F377}"/>
              </a:ext>
            </a:extLst>
          </p:cNvPr>
          <p:cNvSpPr txBox="1"/>
          <p:nvPr/>
        </p:nvSpPr>
        <p:spPr>
          <a:xfrm>
            <a:off x="939114" y="4053015"/>
            <a:ext cx="6010326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 echo 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"Iniciando prueba..." 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sleep 120 &amp; 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echo "Prueba terminada."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D59EFF9-6C2D-9318-2EC8-2BF7F0B83637}"/>
              </a:ext>
            </a:extLst>
          </p:cNvPr>
          <p:cNvSpPr txBox="1"/>
          <p:nvPr/>
        </p:nvSpPr>
        <p:spPr>
          <a:xfrm>
            <a:off x="621792" y="3641969"/>
            <a:ext cx="1656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Dentro de nano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6 · AUTORIZAR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Leer permisos: primero el objeto, luego rwx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48463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~/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proyecto-ecoli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src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prueba.sh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1783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5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rw- r-- r--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949440" y="256032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│   │   └─ otros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│   └──── grupo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└──────── dueño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└─────────── tipo de objeto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BUENA PRÁCTICA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No confundas el primer carácter con los nueve permisos.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parte de -rw-r--r-- corresponde al dueño del archivo?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634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7 · PERMISO MÍNIMO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Concede solo lo que necesita el script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760720" cy="3337560"/>
          </a:xfrm>
          <a:prstGeom prst="roundRect">
            <a:avLst>
              <a:gd name="adj" fmla="val 2192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1206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~/proyecto/</a:t>
            </a:r>
            <a:r>
              <a:rPr lang="en-US" sz="16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src</a:t>
            </a: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chmod u+x prueba.sh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prueba.sh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./prueba.sh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95160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6875"/>
                </a:solidFill>
              </a:rPr>
              <a:t>ANTES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5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-rw-r--r--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796528" y="2267712"/>
            <a:ext cx="292608" cy="347472"/>
          </a:xfrm>
          <a:prstGeom prst="chevron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7260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6875"/>
                </a:solidFill>
              </a:rPr>
              <a:t>DESPUÉS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897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7A3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-rwxr--r--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FAIR / SEGURIDAD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Permiso mínimo: hacer ejecutable el script para su dueño, no abrir permisos innecesarios con chmod 777.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cambió exactamente con u+x?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8 · EJECUTAR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Cuando un programa corre, aparece un proceso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1206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sleep 120 &amp;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[1] 24831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ps -u "$USER" -o pid,stat,cmd | grep sleep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16459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50608" y="181051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PROCESO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50608" y="2212848"/>
            <a:ext cx="37124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Instancia de un programa en ejecución.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49440" y="27889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50608" y="295351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</a:rPr>
              <a:t>PID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50608" y="3355848"/>
            <a:ext cx="37124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Identificador numérico del proceso.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39319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50608" y="409651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7A3B"/>
                </a:solidFill>
              </a:rPr>
              <a:t>ESTADO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50608" y="4498848"/>
            <a:ext cx="371246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875"/>
                </a:solidFill>
              </a:rPr>
              <a:t>Información sobre lo que hace ahora.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dato usarías para distinguir este sleep de otro proceso?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9 · TRABAJOS DEL SHELL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Proceso y trabajo del shell no son lo mismo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212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jobs -l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[1]+ 24831 Running    sleep 120 &amp;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558"/>
                </a:solidFill>
              </a:rPr>
              <a:t>TRABAJO DEL SHELL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2423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[1]  ↔  PID 24831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949440" y="3246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875"/>
                </a:solidFill>
              </a:rPr>
              <a:t>El número de trabajo [1] pertenece a este shell.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E6875"/>
                </a:solidFill>
              </a:rPr>
              <a:t>El PID identifica el proceso en el sistema.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¿Por qué [1] y 24831 no significan lo mismo?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10 · CONTROLAR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Ctrl-C y Ctrl-Z no hacen lo mismo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22960" y="1645920"/>
            <a:ext cx="4937760" cy="2468880"/>
          </a:xfrm>
          <a:prstGeom prst="roundRect">
            <a:avLst>
              <a:gd name="adj" fmla="val 2222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4128" y="181051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Ctrl-C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2212848"/>
            <a:ext cx="4535424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E6875"/>
                </a:solidFill>
              </a:rPr>
              <a:t>Envía una interrupción al proceso en primer plano. En la práctica, suele terminar el proceso.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400800" y="1645920"/>
            <a:ext cx="4937760" cy="2468880"/>
          </a:xfrm>
          <a:prstGeom prst="roundRect">
            <a:avLst>
              <a:gd name="adj" fmla="val 2222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01968" y="181051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</a:rPr>
              <a:t>Ctrl-Z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1968" y="2212848"/>
            <a:ext cx="4535424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E6875"/>
                </a:solidFill>
              </a:rPr>
              <a:t>Suspende el trabajo en primer plano. No lo termina: queda detenido y puede reanudarse.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17520" y="4480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3558"/>
                </a:solidFill>
              </a:rPr>
              <a:t>TERMINAR  ≠  SUSPENDER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Si quieres continuar después con el mismo trabajo, ¿cuál de las dos acciones tiene sentido?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11 · CONTROLAR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Reanudar, traer al frente o terminar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5448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0192D"/>
          </a:solidFill>
          <a:ln w="12700">
            <a:solidFill>
              <a:srgbClr val="10192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7190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C4"/>
                </a:solidFill>
              </a:rPr>
              <a:t>●  ●  ●   terminal remota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121408"/>
            <a:ext cx="502920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bg %1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jobs -l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fg %1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Ctrl-Z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kill -TERM 24831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ps -p 24831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160020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04888" y="176479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8"/>
                </a:solidFill>
              </a:rPr>
              <a:t>bg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04888" y="2167128"/>
            <a:ext cx="3758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875"/>
                </a:solidFill>
              </a:rPr>
              <a:t>reanuda en segundo plano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03720" y="265176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04888" y="281635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fg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04888" y="3218688"/>
            <a:ext cx="3758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875"/>
                </a:solidFill>
              </a:rPr>
              <a:t>trae al primer plano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03720" y="370332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04888" y="386791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kill -TERM PID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04888" y="4270248"/>
            <a:ext cx="3758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875"/>
                </a:solidFill>
              </a:rPr>
              <a:t>solicita terminación ordenada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628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SEGURIDAD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Solo envía señales a procesos que tú hayas iniciado para la práctica.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Después de kill, ¿cómo comprobarías que el proceso realmente terminó?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Documenta decisiones, no solo comandos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188720" y="1828800"/>
            <a:ext cx="566928" cy="566928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19933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558"/>
                </a:solidFill>
              </a:rPr>
              <a:t>PREDICCIÓN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qué esperabas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828800"/>
            <a:ext cx="566928" cy="566928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74720" y="19933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558"/>
                </a:solidFill>
              </a:rPr>
              <a:t>ACCIÓN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88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qué ejecutaste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1828800"/>
            <a:ext cx="566928" cy="566928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19933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749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558"/>
                </a:solidFill>
              </a:rPr>
              <a:t>OBSERVACIÓN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74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qué ocurrió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46720" y="1828800"/>
            <a:ext cx="566928" cy="566928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46720" y="19933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609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558"/>
                </a:solidFill>
              </a:rPr>
              <a:t>VERIFICACIÓN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60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cómo lo comprobaste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332720" y="1828800"/>
            <a:ext cx="566928" cy="566928"/>
          </a:xfrm>
          <a:prstGeom prst="ellipse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332720" y="19933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469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558"/>
                </a:solidFill>
              </a:rPr>
              <a:t>DECISIÓN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646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qué concluyes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FAIR / TRAZABILIDAD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doc/protocolo.md registra el razonamiento y la evidencia; doc/bitacora-ia.md registra la revisión crítica con IA.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se perdería si solo anotaras el comando final que funcionó?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CRÍTICO DE 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IA después: revisora, no operadora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417320" y="182880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17320" y="2011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558"/>
                </a:solidFill>
              </a:rPr>
              <a:t>TU SOLUCIÓN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ya ejecutada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640080" cy="640080"/>
          </a:xfrm>
          <a:prstGeom prst="ellipse">
            <a:avLst/>
          </a:prstGeom>
          <a:solidFill>
            <a:srgbClr val="C99B1D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60520" y="2011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558"/>
                </a:solidFill>
              </a:rPr>
              <a:t>IA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61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revisa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182880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2011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558"/>
                </a:solidFill>
              </a:rPr>
              <a:t>CONTRASTA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man + evidencia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646920" y="1828800"/>
            <a:ext cx="640080" cy="640080"/>
          </a:xfrm>
          <a:prstGeom prst="ellipse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646920" y="2011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525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558"/>
                </a:solidFill>
              </a:rPr>
              <a:t>DECIDE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525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875"/>
                </a:solidFill>
              </a:rPr>
              <a:t>acepta/rechaza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2960" y="5230368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FF9E7"/>
          </a:solidFill>
          <a:ln w="12700">
            <a:solidFill>
              <a:srgbClr val="C99B1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51560" y="5394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</a:rPr>
              <a:t>PRIVACIDAD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697480" y="53400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3"/>
                </a:solidFill>
              </a:rPr>
              <a:t>No compartas contraseñas, llaves SSH, rutas sensibles ni información institucional innecesaria.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evidencia exigirías antes de aceptar una recomendación de IA sobre permisos o procesos?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Clasificación de los comandos de S5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08760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RECONOCER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14600" y="1627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 · file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06440" y="162763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¿qué objeto/contenido tengo?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2121408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INSPECCIONAR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4600" y="2240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head · tail · less · cat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06440" y="224028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¿qué contiene sin editar?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2734056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8529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ALMACENAR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14600" y="2852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gzip · gunzip · tar*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06440" y="28529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¿cómo lo conservo o agrupo?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3346704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465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AUTORIZAR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14600" y="3465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chmod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806440" y="34655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¿qué permiso mínimo necesita?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0782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OBSERVAR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14600" y="4078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· jobs -l · top*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806440" y="407822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¿qué está ejecutándose?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" y="4572000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690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CONTROLAR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514600" y="4690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Ctrl-C · Ctrl-Z · bg · fg · kill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806440" y="46908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¿cómo lo suspendo, reanudo o termino?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31520" y="5184648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303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558"/>
                </a:solidFill>
              </a:rPr>
              <a:t>VERIFICAR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514600" y="5303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sha256sum · ls · ps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806440" y="530352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875"/>
                </a:solidFill>
              </a:rPr>
              <a:t>¿el resultado es el esperado?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68680" y="58704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875"/>
                </a:solidFill>
              </a:rPr>
              <a:t>* consulta/ampliación; no es necesario memorizarlo.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categoría describe mejor una acción: el nombre del comando o la pregunta que quieres responder?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Recuerda esto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14400" y="1463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8"/>
                </a:solidFill>
              </a:rPr>
              <a:t>1  Inspeccionar no significa editar.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029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8"/>
                </a:solidFill>
              </a:rPr>
              <a:t>2  data/source/ conserva los originales: trabaja sobre copias.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5968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033"/>
                </a:solidFill>
              </a:rPr>
              <a:t>3  Comprimir no es verificar ni respaldar.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1638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8"/>
                </a:solidFill>
              </a:rPr>
              <a:t>4  Los permisos deben ser los mínimos necesarios.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7307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033"/>
                </a:solidFill>
              </a:rPr>
              <a:t>5  Proceso, PID y trabajo del shell son conceptos relacionados, no equivalentes.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033"/>
                </a:solidFill>
              </a:rPr>
              <a:t>6  Controlar un proceso incluye observarlo y comprobar cómo terminó.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8646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8"/>
                </a:solidFill>
              </a:rPr>
              <a:t>7  Una buena práctica deja evidencia: predicción → acción → verificación → decisión.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14400" y="5715000"/>
            <a:ext cx="10058400" cy="0"/>
          </a:xfrm>
          <a:prstGeom prst="line">
            <a:avLst/>
          </a:prstGeom>
          <a:noFill/>
          <a:ln w="31750">
            <a:solidFill>
              <a:srgbClr val="C99B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5897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033"/>
                </a:solidFill>
              </a:rPr>
              <a:t>Semáforo de salida:  VERDE · AMARILLO · ROJO  +  una duda para S6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2877</Words>
  <Application>Microsoft Macintosh PowerPoint</Application>
  <PresentationFormat>Panorámica</PresentationFormat>
  <Paragraphs>444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LCG 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S5 — Archivos, permisos y procesos</dc:title>
  <dc:subject>S5 docente - Intro Bioinfo Unix</dc:subject>
  <dc:creator>OpenAI</dc:creator>
  <cp:lastModifiedBy>Microsoft Office User</cp:lastModifiedBy>
  <cp:revision>3</cp:revision>
  <dcterms:created xsi:type="dcterms:W3CDTF">2026-09-15T18:32:56Z</dcterms:created>
  <dcterms:modified xsi:type="dcterms:W3CDTF">2026-09-15T20:24:16Z</dcterms:modified>
</cp:coreProperties>
</file>