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83" r:id="rId18"/>
    <p:sldId id="272" r:id="rId19"/>
    <p:sldId id="273" r:id="rId20"/>
    <p:sldId id="274" r:id="rId21"/>
    <p:sldId id="275" r:id="rId22"/>
    <p:sldId id="276" r:id="rId23"/>
    <p:sldId id="281" r:id="rId24"/>
    <p:sldId id="280" r:id="rId25"/>
    <p:sldId id="284" r:id="rId26"/>
    <p:sldId id="286" r:id="rId2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1758"/>
  </p:normalViewPr>
  <p:slideViewPr>
    <p:cSldViewPr snapToGrid="0" snapToObjects="1">
      <p:cViewPr varScale="1">
        <p:scale>
          <a:sx n="106" d="100"/>
          <a:sy n="106" d="100"/>
        </p:scale>
        <p:origin x="133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42065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Guía docente: presente la sesión como una historia única: de un archivo del proyecto de E. coli a un proceso controlado. Aclare que se usará el proyecto real ~/proyecto-ecoli y que data/source/ se preserva.
[Sources]
- https://helysalgado.github.io/introbioinfo-unix/u2-s5-archivos-permisos-procesos.html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Respuesta/guía: esta diapositiva establece el propósito, no es una lista de comandos. Enfatice que el objetivo es razonar: ¿qué tengo?, ¿cómo lo observo sin dañarlo?, ¿cómo hago cambios sobre copias?, ¿cómo verifico?, ¿cómo documento? Conecte con FAIR: data/source/ preserva datos originales y la documentación permite trazabilidad.
[Sources]
- https://helysalgado.github.io/introbioinfo-unix/u2-s5-archivos-permisos-procesos.html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Guía docente: use esta diapositiva para bajar la ansiedad. No pida sintaxis exacta. Escuche palabras clave: tipo de archivo, inspeccionar sin editar, gzip/gunzip, permisos, proceso, PID, jobs, Ctrl-C, Ctrl-Z, kill. Si hay silencio, pida que relacionen un concepto con el proyecto de E. coli.
[Sources]
- https://helysalgado.github.io/introbioinfo-unix/u2-s5-archivos-permisos-procesos.html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 esperada: ls -l ayuda a ver el tipo de objeto dentro del sistema de archivos: archivo regular (-), directorio (d), enlace simbólico (l), etc. file estima el tipo de contenido examinando el archivo: texto, gzip, imagen, etc. Error común: creer que file solo mira la extensión. Seguimiento: “¿Qué esperas para data/ y para genes_ecoli.gff?”
[Sources]
- https://helysalgado.github.io/introbioinfo-unix/u2-s5-archivos-permisos-procesos.html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 esperada: usar head para revisar el inicio, tail para el final y less para navegar sin editar. cat solo para archivos pequeños. Para un GFF de E. coli, usar head ayuda a ver encabezados o primeras líneas, less permite explorar sin modificar. Error común: abrir con nano por costumbre y arriesgar cambios accidentales.
[Sources]
- https://helysalgado.github.io/introbioinfo-unix/u2-s5-archivos-permisos-procesos.html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 esperada: comprimir reduce o transforma el tamaño de un archivo; gzip opera sobre un archivo y produce .gz. Empaquetar reúne varios archivos o directorios en un contenedor, como tar. Un .tar.gz combina ambas ideas. En S5 usamos gzip/gunzip sobre una copia de README.md; no sobre data/source/.
[Sources]
- https://helysalgado.github.io/introbioinfo-unix/u2-s5-archivos-permisos-procesos.html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 esperada: chmod 777 concede lectura, escritura y ejecución a dueño, grupo y otros; suele dar más acceso del necesario y puede convertir archivos no ejecutables en ejecutables. Para un script propio, normalmente basta chmod u+x. Para genes_ecoli.gff no tiene sentido permiso de ejecución. Seguimiento: “¿quién necesita hacer qué con prueba.sh?”
[Sources]
- https://helysalgado.github.io/introbioinfo-unix/u2-s5-archivos-permisos-procesos.html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 esperada: proceso = programa en ejecución; PID = identificador numérico asignado por el sistema; job = proceso o conjunto de procesos que el shell actual administra con jobs, fg y bg. Use la frase: “proceso es lo que corre; PID es cómo lo identifica el sistema; job es cómo lo controla mi shell”.
[Sources]
- https://helysalgado.github.io/introbioinfo-unix/u2-s5-archivos-permisos-procesos.html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 esperada: genes_ecoli.gff y genes_ecoli-metadatos.md dentro de data/source/ se tratan como originales. README.md y protocolo.md pueden documentar cambios; results/ y src/ se usan para productos y scripts. Guía: verifique verbalmente el nombre del proyecto: ~/proyecto-ecoli. Si alguien tiene ~/proyecto por error, corregir antes de continuar.
[Sources]
- https://helysalgado.github.io/introbioinfo-unix/u2-s5-archivos-permisos-procesos.html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 esperada: no necesariamente. file inspecciona el contenido y firmas del archivo, por lo que puede seguir reconociéndolo como texto aunque cambie la extensión. Señale que la salida exacta puede variar entre sistemas. Compruebe que el comando usa ~/proyecto-ecoli.
[Sources]
- https://helysalgado.github.io/introbioinfo-unix/u2-s5-archivos-permisos-procesos.html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 esperada: head, porque permite ver las primeras líneas sin editar ni imprimir todo el archivo. Si quieren navegar, less. Refuerce que inspeccionar no es editar. Para less, recuerde q para salir.
[Sources]
- https://helysalgado.github.io/introbioinfo-unix/u2-s5-archivos-permisos-procesos.html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 esperada: porque data/source/ conserva originales. gzip reemplaza el archivo por una versión .gz, así que cambiaría el nombre que existe y modificaría el estado del dato fuente. La práctica usa README-copia.md en results/s5-pruebas/.
[Sources]
- https://helysalgado.github.io/introbioinfo-unix/u2-s5-archivos-permisos-procesos.html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 esperada: desaparece README-copia.md y aparece README-copia.md.gz. gzip normalmente reemplaza el archivo original por el comprimido. Señale que el checksum previo se guarda para comparar tras restaurar.
[Sources]
- https://helysalgado.github.io/introbioinfo-unix/u2-s5-archivos-permisos-procesos.html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 esperada: ls -l muestra nombre, tamaño, permisos, fecha, pero no demuestra por sí solo que el contenido restaurado es idéntico. El checksum igual antes/después indica que el contenido coincide. Si el checksum difiere, no asumir que está bien.
[Sources]
- https://helysalgado.github.io/introbioinfo-unix/u2-s5-archivos-permisos-procesos.html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Guía docente: aquí se crea el script explícitamente para que no aparezca “mágicamente”. Respuesta a posibles dudas: el símbolo &amp; NO va dentro del script. Va al ejecutarlo en la terminal si queremos segundo plano. El contenido correcto es shebang, echo inicial, sleep 120, echo final. Después de nano, comprobar con ls -l src/prueba.sh y cat src/prueba.sh.
[Sources]
- https://helysalgado.github.io/introbioinfo-unix/u2-s5-archivos-permisos-procesos.html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 esperada: rw- es el bloque del dueño; indica lectura y escritura, pero no ejecución. El primer carácter “-” indica tipo de objeto, archivo regular. Los bloques siguientes son dueño, grupo y otros.
[Sources]
- https://helysalgado.github.io/introbioinfo-unix/u2-s5-archivos-permisos-procesos.html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 esperada: rw- es el bloque del dueño; indica lectura y escritura, pero no ejecución. El primer carácter “-” indica tipo de objeto, archivo regular. Los bloques siguientes son dueño, grupo y otros.
[Sources]
- https://helysalgado.github.io/introbioinfo-unix/u2-s5-archivos-permisos-procesos.html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11316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 esperada: se agregó x solo al bloque del dueño (u), por eso pasa de rw- a rwx para el propietario. No se cambiaron permisos de grupo ni otros. No ejecutar aquí todavía: la ejecución ocurre en la siguiente diapositiva.
[Sources]
- https://helysalgado.github.io/introbioinfo-unix/u2-s5-archivos-permisos-procesos.html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 esperada: el PID. La línea [1] 24831 muestra el job [1] del shell y el PID 24831. “Iniciando prueba...” aparece por el echo del script. El &amp; se usa en la terminal para dejar el proceso en segundo plano. Si el proceso termina antes de explicar, vuelva a ejecutar ./prueba.sh &amp;.
[Sources]
- https://helysalgado.github.io/introbioinfo-unix/u2-s5-archivos-permisos-procesos.html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 esperada: [1] es el número de job asignado por el shell actual; 24831 es el PID del proceso en el sistema. Si abres otra terminal, los jobs pueden ser distintos o no aparecer, pero el PID sigue siendo del sistema mientras el proceso exista.
[Sources]
- https://helysalgado.github.io/introbioinfo-unix/u2-s5-archivos-permisos-procesos.html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 esperada: Ctrl-Z si se quiere suspender y continuar después; Ctrl-C si se quiere interrumpir/terminar. Guía: para usar Ctrl-Z, primero traer al frente con fg %1. Después comprobar con jobs -l que está Stopped.
[Sources]
- https://helysalgado.github.io/introbioinfo-unix/u2-s5-archivos-permisos-procesos.html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 esperada: usar jobs -l y/o ps -p PID. Si ps no muestra el proceso, probablemente terminó. Si jobs reporta Terminated o ya no aparece, también es evidencia. No enviar kill a procesos ajenos ni a procesos que no se entienden.
[Sources]
- https://helysalgado.github.io/introbioinfo-unix/u2-s5-archivos-permisos-procesos.html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https://helysalgado.github.io/introbioinfo-unix/u2-s5-archivos-permisos-procesos.html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Guía docente: cierre en 2 minutos. Pida que cada estudiante escriba un semáforo y una duda. Si hay tiempo, pida un ejemplo de evidencia verificable producida hoy.
[Sources]
- https://helysalgado.github.io/introbioinfo-unix/u2-s5-archivos-permisos-procesos.html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Guía docente: use esta diapositiva solo si hay tiempo. El objetivo no es memorizar opciones de tar, sino distinguir empaquetar de comprimir. Trabaje dentro de results/s5-pruebas/ para no modificar data/source/. Antes de ejecutar tar, confirme que README-copia.md existe; si ya fue restaurado en el paso anterior, debería estar disponible. Se copia genes_ecoli-metadatos.md a la zona de pruebas para que el empaquetado tenga sentido con dos archivos.
Respuesta esperada: tar -cvf crea documentos.tar reuniendo los dos archivos; los archivos de entrada permanecen. tar -tf permite listar el contenido del paquete sin extraerlo. gzip documentos.tar comprime después el paquete y produce documentos.tar.gz. Recalque: tar = empaquetar; gzip = comprimir.
No profundizar aquí en -x, -z ni otras combinaciones si no hay tiempo; tar es una ampliación guiada en S5.
[Sources]
- https://helysalgado.github.io/introbioinfo-unix/u2-s5-archivos-permisos-procesos.html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Guía docente: esta diapositiva es una ampliación opcional, solo si hay tiempo. Ejecute top después de haber trabajado ps y procesos. No intente explicar todas las columnas ni las teclas interactivas. Pida que identifiquen PID, USER, %CPU, %MEM y COMMAND, y después salga con q.
Respuesta esperada: ps muestra una instantánea de los procesos en el momento de ejecutar el comando; top presenta una vista que se actualiza periódicamente y permite observar cambios en los procesos y en el uso de recursos. La salida exacta y el orden pueden variar según el sistema.
Conexión con S5: top amplía la idea de OBSERVAR procesos. No es necesario memorizarlo ni usarlo en la práctica evaluada si se mantiene como contenido de consulta/ampliación.
[Sources]
- https://helysalgado.github.io/introbioinfo-unix/u2-s5-archivos-permisos-procesos.html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94944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73553"/>
                </a:solidFill>
              </a:rPr>
              <a:t>Introducción a la</a:t>
            </a:r>
            <a:endParaRPr lang="en-US" sz="2700" dirty="0"/>
          </a:p>
          <a:p>
            <a:pPr marL="0" indent="0">
              <a:buNone/>
            </a:pPr>
            <a:r>
              <a:rPr lang="en-US" sz="2700" b="1" dirty="0">
                <a:solidFill>
                  <a:srgbClr val="073553"/>
                </a:solidFill>
              </a:rPr>
              <a:t>Bioinformática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176479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675"/>
                </a:solidFill>
              </a:rPr>
              <a:t>LCG · UNAM · 2026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66928" y="2084832"/>
            <a:ext cx="3749040" cy="0"/>
          </a:xfrm>
          <a:prstGeom prst="line">
            <a:avLst/>
          </a:prstGeom>
          <a:noFill/>
          <a:ln w="38100">
            <a:solidFill>
              <a:srgbClr val="C49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242316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9A1A"/>
                </a:solidFill>
              </a:rPr>
              <a:t>Unidad 2 · Sesión 5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2816352"/>
            <a:ext cx="4754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D1B2A"/>
                </a:solidFill>
              </a:rPr>
              <a:t>Inspeccionar, proteger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0D1B2A"/>
                </a:solidFill>
              </a:rPr>
              <a:t>y controlar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382219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675"/>
                </a:solidFill>
              </a:rPr>
              <a:t>Archivos · compresión · permisos · procesos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08192" y="1389888"/>
            <a:ext cx="585216" cy="585216"/>
          </a:xfrm>
          <a:prstGeom prst="ellipse">
            <a:avLst/>
          </a:prstGeom>
          <a:solidFill>
            <a:srgbClr val="C49A1A"/>
          </a:solidFill>
          <a:ln w="12700">
            <a:solidFill>
              <a:srgbClr val="C49A1A"/>
            </a:solidFill>
            <a:prstDash val="solid"/>
          </a:ln>
          <a:effectLst>
            <a:outerShdw blurRad="19050" dist="127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309360" y="1563624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577840" y="217627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3553"/>
                </a:solidFill>
              </a:rPr>
              <a:t>ARCHIVO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577840" y="253288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5B6675"/>
                </a:solidFill>
              </a:rPr>
              <a:t>genes_ecoli.gff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287768" y="1563624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49A1A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074152" y="1389888"/>
            <a:ext cx="585216" cy="585216"/>
          </a:xfrm>
          <a:prstGeom prst="ellipse">
            <a:avLst/>
          </a:prstGeom>
          <a:solidFill>
            <a:srgbClr val="073553"/>
          </a:solidFill>
          <a:ln w="12700">
            <a:solidFill>
              <a:srgbClr val="073553"/>
            </a:solidFill>
            <a:prstDash val="solid"/>
          </a:ln>
          <a:effectLst>
            <a:outerShdw blurRad="19050" dist="127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75320" y="1563624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543800" y="217627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3553"/>
                </a:solidFill>
              </a:rPr>
              <a:t>PERMISOS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543800" y="253288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5B6675"/>
                </a:solidFill>
              </a:rPr>
              <a:t>src/prueba.sh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9253728" y="1563624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49A1A"/>
                </a:solidFill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0040112" y="1389888"/>
            <a:ext cx="585216" cy="585216"/>
          </a:xfrm>
          <a:prstGeom prst="ellipse">
            <a:avLst/>
          </a:prstGeom>
          <a:solidFill>
            <a:srgbClr val="073553"/>
          </a:solidFill>
          <a:ln w="12700">
            <a:solidFill>
              <a:srgbClr val="073553"/>
            </a:solidFill>
            <a:prstDash val="solid"/>
          </a:ln>
          <a:effectLst>
            <a:outerShdw blurRad="19050" dist="127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0241280" y="1563624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509760" y="217627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3553"/>
                </a:solidFill>
              </a:rPr>
              <a:t>PROCESO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509760" y="253288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5B6675"/>
                </a:solidFill>
              </a:rPr>
              <a:t>script → PID → control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577840" y="3913632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73553"/>
                </a:solidFill>
              </a:rPr>
              <a:t>reconocer → inspeccionar → almacenar → autorizar → ejecutar → controlar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49A1A"/>
                </a:solidFill>
              </a:rPr>
              <a:t>OBJETIVO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55680" y="21945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675"/>
                </a:solidFill>
              </a:rPr>
              <a:t>S5 · 02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9494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73553"/>
                </a:solidFill>
              </a:rPr>
              <a:t>¿Qué queremos lograr hoy?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408176"/>
            <a:ext cx="10789920" cy="0"/>
          </a:xfrm>
          <a:prstGeom prst="line">
            <a:avLst/>
          </a:prstGeom>
          <a:noFill/>
          <a:ln w="13970">
            <a:solidFill>
              <a:srgbClr val="D7DE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6916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675"/>
                </a:solidFill>
              </a:rPr>
              <a:t>Al terminar la sesión, el estudiante podrá…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435608" y="2240280"/>
            <a:ext cx="585216" cy="585216"/>
          </a:xfrm>
          <a:prstGeom prst="ellipse">
            <a:avLst/>
          </a:prstGeom>
          <a:solidFill>
            <a:srgbClr val="C49A1A"/>
          </a:solidFill>
          <a:ln w="12700">
            <a:solidFill>
              <a:srgbClr val="C49A1A"/>
            </a:solidFill>
            <a:prstDash val="solid"/>
          </a:ln>
          <a:effectLst>
            <a:outerShdw blurRad="19050" dist="127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636776" y="2414016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3026664"/>
            <a:ext cx="1901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3553"/>
                </a:solidFill>
              </a:rPr>
              <a:t>RECONOCER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3383280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5B6675"/>
                </a:solidFill>
              </a:rPr>
              <a:t>objeto y contenido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743200" y="2414016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49A1A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657600" y="2240280"/>
            <a:ext cx="585216" cy="585216"/>
          </a:xfrm>
          <a:prstGeom prst="ellipse">
            <a:avLst/>
          </a:prstGeom>
          <a:solidFill>
            <a:srgbClr val="073553"/>
          </a:solidFill>
          <a:ln w="12700">
            <a:solidFill>
              <a:srgbClr val="073553"/>
            </a:solidFill>
            <a:prstDash val="solid"/>
          </a:ln>
          <a:effectLst>
            <a:outerShdw blurRad="19050" dist="127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858768" y="2414016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999232" y="3026664"/>
            <a:ext cx="1901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3553"/>
                </a:solidFill>
              </a:rPr>
              <a:t>INSPECCIONAR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999232" y="3383280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5B6675"/>
                </a:solidFill>
              </a:rPr>
              <a:t>sin modificar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965192" y="2414016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49A1A"/>
                </a:solidFill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879592" y="2240280"/>
            <a:ext cx="585216" cy="585216"/>
          </a:xfrm>
          <a:prstGeom prst="ellipse">
            <a:avLst/>
          </a:prstGeom>
          <a:solidFill>
            <a:srgbClr val="073553"/>
          </a:solidFill>
          <a:ln w="12700">
            <a:solidFill>
              <a:srgbClr val="073553"/>
            </a:solidFill>
            <a:prstDash val="solid"/>
          </a:ln>
          <a:effectLst>
            <a:outerShdw blurRad="19050" dist="127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080760" y="2414016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221224" y="3026664"/>
            <a:ext cx="1901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3553"/>
                </a:solidFill>
              </a:rPr>
              <a:t>PROTEGER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221224" y="3383280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5B6675"/>
                </a:solidFill>
              </a:rPr>
              <a:t>copias y permisos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7187184" y="2414016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49A1A"/>
                </a:solidFill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101584" y="2240280"/>
            <a:ext cx="585216" cy="585216"/>
          </a:xfrm>
          <a:prstGeom prst="ellipse">
            <a:avLst/>
          </a:prstGeom>
          <a:solidFill>
            <a:srgbClr val="073553"/>
          </a:solidFill>
          <a:ln w="12700">
            <a:solidFill>
              <a:srgbClr val="073553"/>
            </a:solidFill>
            <a:prstDash val="solid"/>
          </a:ln>
          <a:effectLst>
            <a:outerShdw blurRad="19050" dist="127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302752" y="2414016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443216" y="3026664"/>
            <a:ext cx="1901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3553"/>
                </a:solidFill>
              </a:rPr>
              <a:t>CONTROLAR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443216" y="3383280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5B6675"/>
                </a:solidFill>
              </a:rPr>
              <a:t>procesos propios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9409176" y="2414016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49A1A"/>
                </a:solidFill>
              </a:rPr>
              <a:t>→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0323576" y="2240280"/>
            <a:ext cx="585216" cy="585216"/>
          </a:xfrm>
          <a:prstGeom prst="ellipse">
            <a:avLst/>
          </a:prstGeom>
          <a:solidFill>
            <a:srgbClr val="073553"/>
          </a:solidFill>
          <a:ln w="12700">
            <a:solidFill>
              <a:srgbClr val="073553"/>
            </a:solidFill>
            <a:prstDash val="solid"/>
          </a:ln>
          <a:effectLst>
            <a:outerShdw blurRad="19050" dist="127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10524744" y="2414016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665208" y="3026664"/>
            <a:ext cx="1901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3553"/>
                </a:solidFill>
              </a:rPr>
              <a:t>DOCUMENTAR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665208" y="3383280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5B6675"/>
                </a:solidFill>
              </a:rPr>
              <a:t>evidencia verificable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841248" y="5230368"/>
            <a:ext cx="10515600" cy="640080"/>
          </a:xfrm>
          <a:prstGeom prst="roundRect">
            <a:avLst>
              <a:gd name="adj" fmla="val 8571"/>
            </a:avLst>
          </a:prstGeom>
          <a:solidFill>
            <a:srgbClr val="FFF7DC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05840" y="539496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C49A1A"/>
                </a:solidFill>
              </a:rPr>
              <a:t>FAIR + REPRODUCIBILIDAD</a:t>
            </a:r>
            <a:endParaRPr lang="en-US" sz="880" dirty="0"/>
          </a:p>
        </p:txBody>
      </p:sp>
      <p:sp>
        <p:nvSpPr>
          <p:cNvPr id="33" name="Text 31"/>
          <p:cNvSpPr/>
          <p:nvPr/>
        </p:nvSpPr>
        <p:spPr>
          <a:xfrm>
            <a:off x="2807208" y="5358384"/>
            <a:ext cx="8366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0D1B2A"/>
                </a:solidFill>
              </a:rPr>
              <a:t>Preservar originales, registrar cambios y verificar resultados hace el flujo más trazable y reutilizable.</a:t>
            </a:r>
            <a:endParaRPr lang="en-US" sz="10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49A1A"/>
                </a:solidFill>
              </a:rPr>
              <a:t>ANTES DE EMPEZAR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55680" y="21945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675"/>
                </a:solidFill>
              </a:rPr>
              <a:t>S5 · 03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9494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73553"/>
                </a:solidFill>
              </a:rPr>
              <a:t>¿Qué recuerdas de la lectura?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408176"/>
            <a:ext cx="10789920" cy="0"/>
          </a:xfrm>
          <a:prstGeom prst="line">
            <a:avLst/>
          </a:prstGeom>
          <a:noFill/>
          <a:ln w="13970">
            <a:solidFill>
              <a:srgbClr val="D7DE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92024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73553"/>
                </a:solidFill>
              </a:rPr>
              <a:t>No buscamos memorizar comandos.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14400" y="260604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5B6675"/>
                </a:solidFill>
              </a:rPr>
              <a:t>Queremos recuperar las ideas que usaremos en la demostración.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11880" y="32461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49A1A"/>
                </a:solidFill>
              </a:rPr>
              <a:t>Explica · predice · justifica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920" y="623620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C49A1A"/>
                </a:solidFill>
              </a:rPr>
              <a:t>PREGUNTA AL GRUPO</a:t>
            </a:r>
            <a:endParaRPr lang="en-US" sz="720" dirty="0"/>
          </a:p>
        </p:txBody>
      </p:sp>
      <p:sp>
        <p:nvSpPr>
          <p:cNvPr id="10" name="Text 8"/>
          <p:cNvSpPr/>
          <p:nvPr/>
        </p:nvSpPr>
        <p:spPr>
          <a:xfrm>
            <a:off x="2057400" y="6199632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073553"/>
                </a:solidFill>
              </a:rPr>
              <a:t>¿Qué concepto de la lectura te pareció más útil o más confuso?</a:t>
            </a:r>
            <a:endParaRPr lang="en-US" sz="11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49A1A"/>
                </a:solidFill>
              </a:rPr>
              <a:t>ANTES DE EMPEZAR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55680" y="21945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675"/>
                </a:solidFill>
              </a:rPr>
              <a:t>S5 · 04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9494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73553"/>
                </a:solidFill>
              </a:rPr>
              <a:t>¿Qué diferencia hay entre “tipo de objeto” y “tipo de contenido”?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408176"/>
            <a:ext cx="10789920" cy="0"/>
          </a:xfrm>
          <a:prstGeom prst="line">
            <a:avLst/>
          </a:prstGeom>
          <a:noFill/>
          <a:ln w="13970">
            <a:solidFill>
              <a:srgbClr val="D7DE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1901952"/>
            <a:ext cx="10698480" cy="2286000"/>
          </a:xfrm>
          <a:prstGeom prst="roundRect">
            <a:avLst>
              <a:gd name="adj" fmla="val 2800"/>
            </a:avLst>
          </a:prstGeom>
          <a:solidFill>
            <a:srgbClr val="F4F7FA"/>
          </a:solidFill>
          <a:ln w="12700">
            <a:solidFill>
              <a:srgbClr val="D7DE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267712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73553"/>
                </a:solidFill>
              </a:rPr>
              <a:t>Piensa en lo que muestran ls -l y file.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035808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49A1A"/>
                </a:solidFill>
              </a:rPr>
              <a:t>Explica · predice · justifica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623620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C49A1A"/>
                </a:solidFill>
              </a:rPr>
              <a:t>PREGUNTA AL GRUPO</a:t>
            </a:r>
            <a:endParaRPr lang="en-US" sz="720" dirty="0"/>
          </a:p>
        </p:txBody>
      </p:sp>
      <p:sp>
        <p:nvSpPr>
          <p:cNvPr id="10" name="Text 8"/>
          <p:cNvSpPr/>
          <p:nvPr/>
        </p:nvSpPr>
        <p:spPr>
          <a:xfrm>
            <a:off x="2057400" y="6199632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073553"/>
                </a:solidFill>
              </a:rPr>
              <a:t>¿Qué ejemplo del proyecto de E. coli usarías para explicarlo?</a:t>
            </a:r>
            <a:endParaRPr lang="en-US" sz="116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49A1A"/>
                </a:solidFill>
              </a:rPr>
              <a:t>ANTES DE EMPEZAR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55680" y="21945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675"/>
                </a:solidFill>
              </a:rPr>
              <a:t>S5 · 05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9494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73553"/>
                </a:solidFill>
              </a:rPr>
              <a:t>¿Cómo inspeccionarías un GFF sin abrirlo en un editor?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408176"/>
            <a:ext cx="10789920" cy="0"/>
          </a:xfrm>
          <a:prstGeom prst="line">
            <a:avLst/>
          </a:prstGeom>
          <a:noFill/>
          <a:ln w="13970">
            <a:solidFill>
              <a:srgbClr val="D7DE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1901952"/>
            <a:ext cx="10698480" cy="2286000"/>
          </a:xfrm>
          <a:prstGeom prst="roundRect">
            <a:avLst>
              <a:gd name="adj" fmla="val 2800"/>
            </a:avLst>
          </a:prstGeom>
          <a:solidFill>
            <a:srgbClr val="F4F7FA"/>
          </a:solidFill>
          <a:ln w="12700">
            <a:solidFill>
              <a:srgbClr val="D7DE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267712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73553"/>
                </a:solidFill>
              </a:rPr>
              <a:t>La herramienta depende de la pregunta: inicio, final o navegación.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035808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49A1A"/>
                </a:solidFill>
              </a:rPr>
              <a:t>Explica · predice · justifica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623620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C49A1A"/>
                </a:solidFill>
              </a:rPr>
              <a:t>PREGUNTA AL GRUPO</a:t>
            </a:r>
            <a:endParaRPr lang="en-US" sz="720" dirty="0"/>
          </a:p>
        </p:txBody>
      </p:sp>
      <p:sp>
        <p:nvSpPr>
          <p:cNvPr id="10" name="Text 8"/>
          <p:cNvSpPr/>
          <p:nvPr/>
        </p:nvSpPr>
        <p:spPr>
          <a:xfrm>
            <a:off x="2057400" y="6199632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073553"/>
                </a:solidFill>
              </a:rPr>
              <a:t>¿Qué ejemplo del proyecto de E. coli usarías para explicarlo?</a:t>
            </a:r>
            <a:endParaRPr lang="en-US" sz="116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49A1A"/>
                </a:solidFill>
              </a:rPr>
              <a:t>ANTES DE EMPEZAR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55680" y="21945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675"/>
                </a:solidFill>
              </a:rPr>
              <a:t>S5 · 06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9494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73553"/>
                </a:solidFill>
              </a:rPr>
              <a:t>¿Comprimir y empaquetar significan lo mismo?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408176"/>
            <a:ext cx="10789920" cy="0"/>
          </a:xfrm>
          <a:prstGeom prst="line">
            <a:avLst/>
          </a:prstGeom>
          <a:noFill/>
          <a:ln w="13970">
            <a:solidFill>
              <a:srgbClr val="D7DE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1901952"/>
            <a:ext cx="10698480" cy="2286000"/>
          </a:xfrm>
          <a:prstGeom prst="roundRect">
            <a:avLst>
              <a:gd name="adj" fmla="val 2800"/>
            </a:avLst>
          </a:prstGeom>
          <a:solidFill>
            <a:srgbClr val="F4F7FA"/>
          </a:solidFill>
          <a:ln w="12700">
            <a:solidFill>
              <a:srgbClr val="D7DE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267712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s-MX" dirty="0"/>
              <a:t>¿Qué diferencia esperas entre reducir el tamaño de un archivo y reunir varios archivos en uno?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035808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49A1A"/>
                </a:solidFill>
              </a:rPr>
              <a:t>Explica · predice · justifica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623620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C49A1A"/>
                </a:solidFill>
              </a:rPr>
              <a:t>PREGUNTA AL GRUPO</a:t>
            </a:r>
            <a:endParaRPr lang="en-US" sz="720" dirty="0"/>
          </a:p>
        </p:txBody>
      </p:sp>
      <p:sp>
        <p:nvSpPr>
          <p:cNvPr id="10" name="Text 8"/>
          <p:cNvSpPr/>
          <p:nvPr/>
        </p:nvSpPr>
        <p:spPr>
          <a:xfrm>
            <a:off x="2057400" y="6199632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073553"/>
                </a:solidFill>
              </a:rPr>
              <a:t>¿Qué ejemplo del proyecto de E. coli usarías para explicarlo?</a:t>
            </a:r>
            <a:endParaRPr lang="en-US" sz="116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49A1A"/>
                </a:solidFill>
              </a:rPr>
              <a:t>ANTES DE EMPEZAR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55680" y="21945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675"/>
                </a:solidFill>
              </a:rPr>
              <a:t>S5 · 07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9494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73553"/>
                </a:solidFill>
              </a:rPr>
              <a:t>¿Por qué no usarías chmod 777 como solución rápida?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408176"/>
            <a:ext cx="10789920" cy="0"/>
          </a:xfrm>
          <a:prstGeom prst="line">
            <a:avLst/>
          </a:prstGeom>
          <a:noFill/>
          <a:ln w="13970">
            <a:solidFill>
              <a:srgbClr val="D7DE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1901952"/>
            <a:ext cx="10698480" cy="2286000"/>
          </a:xfrm>
          <a:prstGeom prst="roundRect">
            <a:avLst>
              <a:gd name="adj" fmla="val 2800"/>
            </a:avLst>
          </a:prstGeom>
          <a:solidFill>
            <a:srgbClr val="F4F7FA"/>
          </a:solidFill>
          <a:ln w="12700">
            <a:solidFill>
              <a:srgbClr val="D7DE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267712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73553"/>
                </a:solidFill>
              </a:rPr>
              <a:t>El permiso mínimo necesario es una mejor práctica.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035808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49A1A"/>
                </a:solidFill>
              </a:rPr>
              <a:t>Explica · predice · justifica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623620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C49A1A"/>
                </a:solidFill>
              </a:rPr>
              <a:t>PREGUNTA AL GRUPO</a:t>
            </a:r>
            <a:endParaRPr lang="en-US" sz="720" dirty="0"/>
          </a:p>
        </p:txBody>
      </p:sp>
      <p:sp>
        <p:nvSpPr>
          <p:cNvPr id="10" name="Text 8"/>
          <p:cNvSpPr/>
          <p:nvPr/>
        </p:nvSpPr>
        <p:spPr>
          <a:xfrm>
            <a:off x="2057400" y="6199632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073553"/>
                </a:solidFill>
              </a:rPr>
              <a:t>¿Qué ejemplo del proyecto de E. coli usarías para explicarlo?</a:t>
            </a:r>
            <a:endParaRPr lang="en-US" sz="116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49A1A"/>
                </a:solidFill>
              </a:rPr>
              <a:t>ANTES DE EMPEZAR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55680" y="21945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675"/>
                </a:solidFill>
              </a:rPr>
              <a:t>S5 · 08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9494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73553"/>
                </a:solidFill>
              </a:rPr>
              <a:t>¿Qué diferencia hay entre un proceso, un PID y un trabajo del shell?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408176"/>
            <a:ext cx="10789920" cy="0"/>
          </a:xfrm>
          <a:prstGeom prst="line">
            <a:avLst/>
          </a:prstGeom>
          <a:noFill/>
          <a:ln w="13970">
            <a:solidFill>
              <a:srgbClr val="D7DE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1901952"/>
            <a:ext cx="10698480" cy="2286000"/>
          </a:xfrm>
          <a:prstGeom prst="roundRect">
            <a:avLst>
              <a:gd name="adj" fmla="val 2800"/>
            </a:avLst>
          </a:prstGeom>
          <a:solidFill>
            <a:srgbClr val="F4F7FA"/>
          </a:solidFill>
          <a:ln w="12700">
            <a:solidFill>
              <a:srgbClr val="D7DE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267712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73553"/>
                </a:solidFill>
              </a:rPr>
              <a:t>No son sinónimos, aunque están relacionados.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035808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49A1A"/>
                </a:solidFill>
              </a:rPr>
              <a:t>Explica · predice · justifica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623620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C49A1A"/>
                </a:solidFill>
              </a:rPr>
              <a:t>PREGUNTA AL GRUPO</a:t>
            </a:r>
            <a:endParaRPr lang="en-US" sz="720" dirty="0"/>
          </a:p>
        </p:txBody>
      </p:sp>
      <p:sp>
        <p:nvSpPr>
          <p:cNvPr id="10" name="Text 8"/>
          <p:cNvSpPr/>
          <p:nvPr/>
        </p:nvSpPr>
        <p:spPr>
          <a:xfrm>
            <a:off x="2057400" y="6199632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073553"/>
                </a:solidFill>
              </a:rPr>
              <a:t>¿Qué ejemplo del proyecto de E. coli usarías para explicarlo?</a:t>
            </a:r>
            <a:endParaRPr lang="en-US" sz="11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49A1A"/>
                </a:solidFill>
              </a:rPr>
              <a:t>DEMO EN VIVO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55680" y="21945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675"/>
                </a:solidFill>
              </a:rPr>
              <a:t>S5 · 09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9494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73553"/>
                </a:solidFill>
              </a:rPr>
              <a:t>Punto de partida: el proyecto de E. coli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408176"/>
            <a:ext cx="10789920" cy="0"/>
          </a:xfrm>
          <a:prstGeom prst="line">
            <a:avLst/>
          </a:prstGeom>
          <a:noFill/>
          <a:ln w="13970">
            <a:solidFill>
              <a:srgbClr val="D7DE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691640"/>
            <a:ext cx="5760720" cy="3931920"/>
          </a:xfrm>
          <a:prstGeom prst="roundRect">
            <a:avLst>
              <a:gd name="adj" fmla="val 2791"/>
            </a:avLst>
          </a:prstGeom>
          <a:solidFill>
            <a:srgbClr val="0D172B"/>
          </a:solidFill>
          <a:ln w="12700">
            <a:solidFill>
              <a:srgbClr val="0D172B"/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59536" y="1938528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9C3D1"/>
                </a:solidFill>
              </a:rPr>
              <a:t>●  ●  ●   terminal remota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50976" y="2377440"/>
            <a:ext cx="5074920" cy="3063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cd ~/proyecto-ecoli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pwd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/home/alumna/proyecto-ecoli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tree -L 3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proyecto-ecoli/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README.md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data/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source/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├── genes_ecoli.gff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└── genes_ecoli-metadatos.md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processed/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doc/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protocolo.md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results/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src/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629400" y="1828800"/>
            <a:ext cx="4937760" cy="1097280"/>
          </a:xfrm>
          <a:prstGeom prst="roundRect">
            <a:avLst>
              <a:gd name="adj" fmla="val 4167"/>
            </a:avLst>
          </a:prstGeom>
          <a:solidFill>
            <a:srgbClr val="F4F7FA"/>
          </a:solidFill>
          <a:ln w="12700">
            <a:solidFill>
              <a:srgbClr val="D7DE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48856" y="2075688"/>
            <a:ext cx="4498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B81E25"/>
                </a:solidFill>
              </a:rPr>
              <a:t>REFERENCIA ÚNICA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48856" y="2542032"/>
            <a:ext cx="44988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B6675"/>
                </a:solidFill>
              </a:rPr>
              <a:t>Durante toda la S5 usaremos ~/proyecto-ecoli. Evita alternar con ~/proyecto para no romper la secuencia.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629400" y="3246120"/>
            <a:ext cx="4937760" cy="1097280"/>
          </a:xfrm>
          <a:prstGeom prst="roundRect">
            <a:avLst>
              <a:gd name="adj" fmla="val 4167"/>
            </a:avLst>
          </a:prstGeom>
          <a:solidFill>
            <a:srgbClr val="F4F7FA"/>
          </a:solidFill>
          <a:ln w="12700">
            <a:solidFill>
              <a:srgbClr val="D7DE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48856" y="3493008"/>
            <a:ext cx="4498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0833C"/>
                </a:solidFill>
              </a:rPr>
              <a:t>DATOS FUENTE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48856" y="3959352"/>
            <a:ext cx="44988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B6675"/>
                </a:solidFill>
              </a:rPr>
              <a:t>data/source/ contiene originales: se inspeccionan, pero no se editan ni se comprimen directamente.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" y="623620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C49A1A"/>
                </a:solidFill>
              </a:rPr>
              <a:t>PREGUNTA AL GRUPO</a:t>
            </a:r>
            <a:endParaRPr lang="en-US" sz="720" dirty="0"/>
          </a:p>
        </p:txBody>
      </p:sp>
      <p:sp>
        <p:nvSpPr>
          <p:cNvPr id="16" name="Text 14"/>
          <p:cNvSpPr/>
          <p:nvPr/>
        </p:nvSpPr>
        <p:spPr>
          <a:xfrm>
            <a:off x="2057400" y="6199632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073553"/>
                </a:solidFill>
              </a:rPr>
              <a:t>¿Qué archivos de esta estructura deberían considerarse inmutables?</a:t>
            </a:r>
            <a:endParaRPr lang="en-US" sz="116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49A1A"/>
                </a:solidFill>
              </a:rPr>
              <a:t>PASO 1 · RECONOCER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55680" y="21945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675"/>
                </a:solidFill>
              </a:rPr>
              <a:t>S5 · 10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9494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73553"/>
                </a:solidFill>
              </a:rPr>
              <a:t>Objeto del sistema ≠ contenido del archivo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408176"/>
            <a:ext cx="10789920" cy="0"/>
          </a:xfrm>
          <a:prstGeom prst="line">
            <a:avLst/>
          </a:prstGeom>
          <a:noFill/>
          <a:ln w="13970">
            <a:solidFill>
              <a:srgbClr val="D7DE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755648"/>
            <a:ext cx="6035040" cy="2286000"/>
          </a:xfrm>
          <a:prstGeom prst="roundRect">
            <a:avLst>
              <a:gd name="adj" fmla="val 4800"/>
            </a:avLst>
          </a:prstGeom>
          <a:solidFill>
            <a:srgbClr val="0D172B"/>
          </a:solidFill>
          <a:ln w="12700">
            <a:solidFill>
              <a:srgbClr val="0D172B"/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59536" y="2002536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9C3D1"/>
                </a:solidFill>
              </a:rPr>
              <a:t>●  ●  ●   terminal remota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50976" y="2441448"/>
            <a:ext cx="534924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6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cd ~/proyecto-ecoli</a:t>
            </a: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ls -ld README.md data data/source/genes_ecoli.gff</a:t>
            </a: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file README.md data/source/genes_ecoli.gff</a:t>
            </a:r>
            <a:endParaRPr lang="en-US" sz="1360" dirty="0"/>
          </a:p>
        </p:txBody>
      </p:sp>
      <p:sp>
        <p:nvSpPr>
          <p:cNvPr id="9" name="Shape 7"/>
          <p:cNvSpPr/>
          <p:nvPr/>
        </p:nvSpPr>
        <p:spPr>
          <a:xfrm>
            <a:off x="6995160" y="1810512"/>
            <a:ext cx="4389120" cy="960120"/>
          </a:xfrm>
          <a:prstGeom prst="roundRect">
            <a:avLst>
              <a:gd name="adj" fmla="val 4762"/>
            </a:avLst>
          </a:prstGeom>
          <a:solidFill>
            <a:srgbClr val="F4F7FA"/>
          </a:solidFill>
          <a:ln w="12700">
            <a:solidFill>
              <a:srgbClr val="D7DE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214616" y="2057400"/>
            <a:ext cx="3950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73553"/>
                </a:solidFill>
              </a:rPr>
              <a:t>ls -l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214616" y="2523744"/>
            <a:ext cx="39502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B6675"/>
                </a:solidFill>
              </a:rPr>
              <a:t>Primer carácter: - archivo regular · d directorio · l enlace.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995160" y="3035808"/>
            <a:ext cx="4389120" cy="960120"/>
          </a:xfrm>
          <a:prstGeom prst="roundRect">
            <a:avLst>
              <a:gd name="adj" fmla="val 4762"/>
            </a:avLst>
          </a:prstGeom>
          <a:solidFill>
            <a:srgbClr val="F4F7FA"/>
          </a:solidFill>
          <a:ln w="12700">
            <a:solidFill>
              <a:srgbClr val="D7DE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14616" y="3282696"/>
            <a:ext cx="3950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73553"/>
                </a:solidFill>
              </a:rPr>
              <a:t>FILE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214616" y="3749040"/>
            <a:ext cx="39502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B6675"/>
                </a:solidFill>
              </a:rPr>
              <a:t>Estima el tipo de contenido; no depende solo de la extensión.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" y="623620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C49A1A"/>
                </a:solidFill>
              </a:rPr>
              <a:t>PREGUNTA AL GRUPO</a:t>
            </a:r>
            <a:endParaRPr lang="en-US" sz="720" dirty="0"/>
          </a:p>
        </p:txBody>
      </p:sp>
      <p:sp>
        <p:nvSpPr>
          <p:cNvPr id="16" name="Text 14"/>
          <p:cNvSpPr/>
          <p:nvPr/>
        </p:nvSpPr>
        <p:spPr>
          <a:xfrm>
            <a:off x="2057400" y="6199632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073553"/>
                </a:solidFill>
              </a:rPr>
              <a:t>Si renombramos una copia del GFF sin extensión, ¿esperas que file deje de reconocerlo como texto?</a:t>
            </a:r>
            <a:endParaRPr lang="en-US" sz="116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49A1A"/>
                </a:solidFill>
              </a:rPr>
              <a:t>PASO 2 · INSPECCIONAR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55680" y="21945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675"/>
                </a:solidFill>
              </a:rPr>
              <a:t>S5 · 11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9494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73553"/>
                </a:solidFill>
              </a:rPr>
              <a:t>Observar sin modificar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408176"/>
            <a:ext cx="10789920" cy="0"/>
          </a:xfrm>
          <a:prstGeom prst="line">
            <a:avLst/>
          </a:prstGeom>
          <a:noFill/>
          <a:ln w="13970">
            <a:solidFill>
              <a:srgbClr val="D7DE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755648"/>
            <a:ext cx="6035040" cy="2743200"/>
          </a:xfrm>
          <a:prstGeom prst="roundRect">
            <a:avLst>
              <a:gd name="adj" fmla="val 4000"/>
            </a:avLst>
          </a:prstGeom>
          <a:solidFill>
            <a:srgbClr val="0D172B"/>
          </a:solidFill>
          <a:ln w="12700">
            <a:solidFill>
              <a:srgbClr val="0D172B"/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59536" y="2002536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9C3D1"/>
                </a:solidFill>
              </a:rPr>
              <a:t>●  ●  ●   terminal remota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50976" y="2441448"/>
            <a:ext cx="5349240" cy="1874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cd ~/proyecto-ecoli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head -n 5 data/source/genes_ecoli.gff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tail -n 5 data/source/genes_ecoli-metadatos.md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less data/source/genes_ecoli.gff</a:t>
            </a:r>
            <a:endParaRPr lang="en-US" sz="1320" dirty="0"/>
          </a:p>
        </p:txBody>
      </p:sp>
      <p:sp>
        <p:nvSpPr>
          <p:cNvPr id="9" name="Shape 7"/>
          <p:cNvSpPr/>
          <p:nvPr/>
        </p:nvSpPr>
        <p:spPr>
          <a:xfrm>
            <a:off x="6903720" y="1737360"/>
            <a:ext cx="4114800" cy="731520"/>
          </a:xfrm>
          <a:prstGeom prst="roundRect">
            <a:avLst>
              <a:gd name="adj" fmla="val 6250"/>
            </a:avLst>
          </a:prstGeom>
          <a:solidFill>
            <a:srgbClr val="F4F7FA"/>
          </a:solidFill>
          <a:ln w="12700">
            <a:solidFill>
              <a:srgbClr val="D7DE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23176" y="1936120"/>
            <a:ext cx="3675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73553"/>
                </a:solidFill>
              </a:rPr>
              <a:t>HEAD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123176" y="2294176"/>
            <a:ext cx="3675888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B6675"/>
                </a:solidFill>
              </a:rPr>
              <a:t>¿Cómo comienza?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903720" y="2633472"/>
            <a:ext cx="4114800" cy="731520"/>
          </a:xfrm>
          <a:prstGeom prst="roundRect">
            <a:avLst>
              <a:gd name="adj" fmla="val 6250"/>
            </a:avLst>
          </a:prstGeom>
          <a:solidFill>
            <a:srgbClr val="F4F7FA"/>
          </a:solidFill>
          <a:ln w="12700">
            <a:solidFill>
              <a:srgbClr val="D7DE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23176" y="2832232"/>
            <a:ext cx="3675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73553"/>
                </a:solidFill>
              </a:rPr>
              <a:t>TAIL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123176" y="3178256"/>
            <a:ext cx="3675888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B6675"/>
                </a:solidFill>
              </a:rPr>
              <a:t>¿Cómo termina?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903720" y="3529584"/>
            <a:ext cx="4114800" cy="731520"/>
          </a:xfrm>
          <a:prstGeom prst="roundRect">
            <a:avLst>
              <a:gd name="adj" fmla="val 6250"/>
            </a:avLst>
          </a:prstGeom>
          <a:solidFill>
            <a:srgbClr val="F4F7FA"/>
          </a:solidFill>
          <a:ln w="12700">
            <a:solidFill>
              <a:srgbClr val="D7DE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23176" y="3728344"/>
            <a:ext cx="3675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73553"/>
                </a:solidFill>
              </a:rPr>
              <a:t>LESS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123176" y="4062336"/>
            <a:ext cx="3675888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B6675"/>
                </a:solidFill>
              </a:rPr>
              <a:t>¿Cómo navego sin editar? Salir con q.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22960" y="4983480"/>
            <a:ext cx="10424160" cy="530352"/>
          </a:xfrm>
          <a:prstGeom prst="roundRect">
            <a:avLst>
              <a:gd name="adj" fmla="val 10345"/>
            </a:avLst>
          </a:prstGeom>
          <a:solidFill>
            <a:srgbClr val="FFF7DC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7552" y="514807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C49A1A"/>
                </a:solidFill>
              </a:rPr>
              <a:t>BUENA PRÁCTICA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2788920" y="5111496"/>
            <a:ext cx="8275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0D1B2A"/>
                </a:solidFill>
              </a:rPr>
              <a:t>Para archivos grandes, evita cat si solo necesitas inspeccionar una parte.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502920" y="623620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C49A1A"/>
                </a:solidFill>
              </a:rPr>
              <a:t>PREGUNTA AL GRUPO</a:t>
            </a:r>
            <a:endParaRPr lang="en-US" sz="720" dirty="0"/>
          </a:p>
        </p:txBody>
      </p:sp>
      <p:sp>
        <p:nvSpPr>
          <p:cNvPr id="22" name="Text 20"/>
          <p:cNvSpPr/>
          <p:nvPr/>
        </p:nvSpPr>
        <p:spPr>
          <a:xfrm>
            <a:off x="2057400" y="6199632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073553"/>
                </a:solidFill>
              </a:rPr>
              <a:t>Si quieres revisar el encabezado del GFF, ¿qué herramienta elegirías y por qué?</a:t>
            </a:r>
            <a:endParaRPr lang="en-US" sz="116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49A1A"/>
                </a:solidFill>
              </a:rPr>
              <a:t>PASO 3 · PROTEGER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55680" y="21945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675"/>
                </a:solidFill>
              </a:rPr>
              <a:t>S5 · 12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9494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73553"/>
                </a:solidFill>
              </a:rPr>
              <a:t>Crea una zona segura para experimentar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408176"/>
            <a:ext cx="10789920" cy="0"/>
          </a:xfrm>
          <a:prstGeom prst="line">
            <a:avLst/>
          </a:prstGeom>
          <a:noFill/>
          <a:ln w="13970">
            <a:solidFill>
              <a:srgbClr val="D7DE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737360"/>
            <a:ext cx="6035040" cy="2743200"/>
          </a:xfrm>
          <a:prstGeom prst="roundRect">
            <a:avLst>
              <a:gd name="adj" fmla="val 4000"/>
            </a:avLst>
          </a:prstGeom>
          <a:solidFill>
            <a:srgbClr val="0D172B"/>
          </a:solidFill>
          <a:ln w="12700">
            <a:solidFill>
              <a:srgbClr val="0D172B"/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59536" y="1984248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9C3D1"/>
                </a:solidFill>
              </a:rPr>
              <a:t>●  ●  ●   terminal remota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50976" y="2423160"/>
            <a:ext cx="5349240" cy="1874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cd ~/proyecto-ecoli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mkdir -p results/s5-pruebas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cp -i README.md results/s5-pruebas/README-copia.md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ls -l results/s5-pruebas/</a:t>
            </a:r>
            <a:endParaRPr lang="en-US" sz="1320" dirty="0"/>
          </a:p>
        </p:txBody>
      </p:sp>
      <p:sp>
        <p:nvSpPr>
          <p:cNvPr id="9" name="Text 7"/>
          <p:cNvSpPr/>
          <p:nvPr/>
        </p:nvSpPr>
        <p:spPr>
          <a:xfrm>
            <a:off x="6903720" y="163677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49A1A"/>
                </a:solidFill>
              </a:rPr>
              <a:t>ORIGINAL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903720" y="1874520"/>
            <a:ext cx="4023360" cy="566928"/>
          </a:xfrm>
          <a:prstGeom prst="roundRect">
            <a:avLst>
              <a:gd name="adj" fmla="val 6452"/>
            </a:avLst>
          </a:prstGeom>
          <a:solidFill>
            <a:srgbClr val="F4F7FA"/>
          </a:solidFill>
          <a:ln w="12700">
            <a:solidFill>
              <a:srgbClr val="D7DE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68312" y="2020824"/>
            <a:ext cx="3694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README.md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903720" y="277977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49A1A"/>
                </a:solidFill>
              </a:rPr>
              <a:t>COPIA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903720" y="3017520"/>
            <a:ext cx="4023360" cy="868680"/>
          </a:xfrm>
          <a:prstGeom prst="roundRect">
            <a:avLst>
              <a:gd name="adj" fmla="val 4211"/>
            </a:avLst>
          </a:prstGeom>
          <a:solidFill>
            <a:srgbClr val="F4F7FA"/>
          </a:solidFill>
          <a:ln w="12700">
            <a:solidFill>
              <a:srgbClr val="D7DE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68312" y="3163824"/>
            <a:ext cx="36941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results/s5-pruebas/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README-copia.md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22960" y="5047488"/>
            <a:ext cx="10424160" cy="530352"/>
          </a:xfrm>
          <a:prstGeom prst="roundRect">
            <a:avLst>
              <a:gd name="adj" fmla="val 10345"/>
            </a:avLst>
          </a:prstGeom>
          <a:solidFill>
            <a:srgbClr val="FFF7DC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7552" y="521208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C49A1A"/>
                </a:solidFill>
              </a:rPr>
              <a:t>TRAZABILIDAD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2788920" y="5175504"/>
            <a:ext cx="8275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0D1B2A"/>
                </a:solidFill>
              </a:rPr>
              <a:t>Las operaciones que cambian archivos se prueban sobre copias; los originales permanecen intactos.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502920" y="623620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C49A1A"/>
                </a:solidFill>
              </a:rPr>
              <a:t>PREGUNTA AL GRUPO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2057400" y="6199632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073553"/>
                </a:solidFill>
              </a:rPr>
              <a:t>¿Por qué no comprimimos directamente genes_ecoli.gff en data/source/?</a:t>
            </a:r>
            <a:endParaRPr lang="en-US" sz="116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49A1A"/>
                </a:solidFill>
              </a:rPr>
              <a:t>PASO 4 · ALMACENAR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55680" y="21945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675"/>
                </a:solidFill>
              </a:rPr>
              <a:t>S5 · 13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9494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73553"/>
                </a:solidFill>
              </a:rPr>
              <a:t>gzip cambia el nombre que existe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408176"/>
            <a:ext cx="10789920" cy="0"/>
          </a:xfrm>
          <a:prstGeom prst="line">
            <a:avLst/>
          </a:prstGeom>
          <a:noFill/>
          <a:ln w="13970">
            <a:solidFill>
              <a:srgbClr val="D7DE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737360"/>
            <a:ext cx="6126480" cy="2743200"/>
          </a:xfrm>
          <a:prstGeom prst="roundRect">
            <a:avLst>
              <a:gd name="adj" fmla="val 4000"/>
            </a:avLst>
          </a:prstGeom>
          <a:solidFill>
            <a:srgbClr val="0D172B"/>
          </a:solidFill>
          <a:ln w="12700">
            <a:solidFill>
              <a:srgbClr val="0D172B"/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59536" y="19842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9C3D1"/>
                </a:solidFill>
              </a:rPr>
              <a:t>●  ●  ●   terminal remota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50976" y="2423160"/>
            <a:ext cx="5440680" cy="1874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cd ~/proyecto-ecoli/results/s5-pruebas</a:t>
            </a: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sha256sum README-copia.md</a:t>
            </a: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gzip README-copia.md</a:t>
            </a: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ls -lh</a:t>
            </a:r>
            <a:endParaRPr lang="en-US" sz="1280" dirty="0"/>
          </a:p>
        </p:txBody>
      </p:sp>
      <p:sp>
        <p:nvSpPr>
          <p:cNvPr id="9" name="Text 7"/>
          <p:cNvSpPr/>
          <p:nvPr/>
        </p:nvSpPr>
        <p:spPr>
          <a:xfrm>
            <a:off x="6995160" y="172821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49A1A"/>
                </a:solidFill>
              </a:rPr>
              <a:t>ANTES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995160" y="1965960"/>
            <a:ext cx="2011680" cy="914400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 w="12700">
            <a:solidFill>
              <a:srgbClr val="D7DE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59752" y="2112264"/>
            <a:ext cx="16824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README-copia.md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existe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235440" y="224028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C49A1A"/>
                </a:solidFill>
              </a:rPr>
              <a:t>→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9646920" y="172821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49A1A"/>
                </a:solidFill>
              </a:rPr>
              <a:t>DESPUÉS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9646920" y="1965960"/>
            <a:ext cx="2011680" cy="914400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 w="12700">
            <a:solidFill>
              <a:srgbClr val="D7DE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11512" y="2112264"/>
            <a:ext cx="16824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README-copia.md.gz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existe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858000" y="38862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B6675"/>
                </a:solidFill>
              </a:rPr>
              <a:t>gzip reduce bytes cuando el contenido es compresible; no es un checksum ni un respaldo.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623620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C49A1A"/>
                </a:solidFill>
              </a:rPr>
              <a:t>PREGUNTA AL GRUPO</a:t>
            </a:r>
            <a:endParaRPr lang="en-US" sz="720" dirty="0"/>
          </a:p>
        </p:txBody>
      </p:sp>
      <p:sp>
        <p:nvSpPr>
          <p:cNvPr id="18" name="Text 16"/>
          <p:cNvSpPr/>
          <p:nvPr/>
        </p:nvSpPr>
        <p:spPr>
          <a:xfrm>
            <a:off x="2057400" y="6199632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073553"/>
                </a:solidFill>
              </a:rPr>
              <a:t>Después de gzip, ¿qué nombre esperas que haya desaparecido?</a:t>
            </a:r>
            <a:endParaRPr lang="en-US" sz="116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49A1A"/>
                </a:solidFill>
              </a:rPr>
              <a:t>PASO 5 · VERIFICAR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55680" y="21945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675"/>
                </a:solidFill>
              </a:rPr>
              <a:t>S5 · 14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9494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73553"/>
                </a:solidFill>
              </a:rPr>
              <a:t>Restaurar no basta: comprueba el contenido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408176"/>
            <a:ext cx="10789920" cy="0"/>
          </a:xfrm>
          <a:prstGeom prst="line">
            <a:avLst/>
          </a:prstGeom>
          <a:noFill/>
          <a:ln w="13970">
            <a:solidFill>
              <a:srgbClr val="D7DE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737360"/>
            <a:ext cx="6126480" cy="2377440"/>
          </a:xfrm>
          <a:prstGeom prst="roundRect">
            <a:avLst>
              <a:gd name="adj" fmla="val 4615"/>
            </a:avLst>
          </a:prstGeom>
          <a:solidFill>
            <a:srgbClr val="0D172B"/>
          </a:solidFill>
          <a:ln w="12700">
            <a:solidFill>
              <a:srgbClr val="0D172B"/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59536" y="19842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9C3D1"/>
                </a:solidFill>
              </a:rPr>
              <a:t>●  ●  ●   terminal remota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50976" y="2423160"/>
            <a:ext cx="5440680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gunzip README-copia.md.gz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sha256sum README-copia.md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ls -lh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949440" y="177393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49A1A"/>
                </a:solidFill>
              </a:rPr>
              <a:t>SHA-256 ANTES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949440" y="2011680"/>
            <a:ext cx="1828800" cy="658368"/>
          </a:xfrm>
          <a:prstGeom prst="roundRect">
            <a:avLst>
              <a:gd name="adj" fmla="val 5556"/>
            </a:avLst>
          </a:prstGeom>
          <a:solidFill>
            <a:srgbClr val="F4F7FA"/>
          </a:solidFill>
          <a:ln w="12700">
            <a:solidFill>
              <a:srgbClr val="D7DE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14032" y="2157984"/>
            <a:ext cx="1499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abc123…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235440" y="214884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0833C"/>
                </a:solidFill>
              </a:rPr>
              <a:t>=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9646920" y="177393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49A1A"/>
                </a:solidFill>
              </a:rPr>
              <a:t>SHA-256 DESPUÉS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9646920" y="2011680"/>
            <a:ext cx="1828800" cy="658368"/>
          </a:xfrm>
          <a:prstGeom prst="roundRect">
            <a:avLst>
              <a:gd name="adj" fmla="val 5556"/>
            </a:avLst>
          </a:prstGeom>
          <a:solidFill>
            <a:srgbClr val="F4F7FA"/>
          </a:solidFill>
          <a:ln w="12700">
            <a:solidFill>
              <a:srgbClr val="D7DE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11512" y="2157984"/>
            <a:ext cx="1499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abc123…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" y="4828032"/>
            <a:ext cx="10424160" cy="530352"/>
          </a:xfrm>
          <a:prstGeom prst="roundRect">
            <a:avLst>
              <a:gd name="adj" fmla="val 10345"/>
            </a:avLst>
          </a:prstGeom>
          <a:solidFill>
            <a:srgbClr val="FFF7DC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7552" y="4992624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C49A1A"/>
                </a:solidFill>
              </a:rPr>
              <a:t>REPRODUCIBILIDAD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2788920" y="4956048"/>
            <a:ext cx="8275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0D1B2A"/>
                </a:solidFill>
              </a:rPr>
              <a:t>La verificación transforma “parece igual” en evidencia comprobable.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502920" y="623620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C49A1A"/>
                </a:solidFill>
              </a:rPr>
              <a:t>PREGUNTA AL GRUPO</a:t>
            </a:r>
            <a:endParaRPr lang="en-US" sz="720" dirty="0"/>
          </a:p>
        </p:txBody>
      </p:sp>
      <p:sp>
        <p:nvSpPr>
          <p:cNvPr id="20" name="Text 18"/>
          <p:cNvSpPr/>
          <p:nvPr/>
        </p:nvSpPr>
        <p:spPr>
          <a:xfrm>
            <a:off x="2057400" y="6199632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073553"/>
                </a:solidFill>
              </a:rPr>
              <a:t>¿Qué demuestra el checksum que no demuestra ls -l?</a:t>
            </a:r>
            <a:endParaRPr lang="en-US" sz="116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49A1A"/>
                </a:solidFill>
              </a:rPr>
              <a:t>PASO 6 · PREPARAR SCRIPT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55680" y="21945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675"/>
                </a:solidFill>
              </a:rPr>
              <a:t>S5 · 15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9494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73553"/>
                </a:solidFill>
              </a:rPr>
              <a:t>Crea un archivo de prueba para experimentar con seguridad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408176"/>
            <a:ext cx="10789920" cy="0"/>
          </a:xfrm>
          <a:prstGeom prst="line">
            <a:avLst/>
          </a:prstGeom>
          <a:noFill/>
          <a:ln w="13970">
            <a:solidFill>
              <a:srgbClr val="D7DE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700784"/>
            <a:ext cx="6309360" cy="3794760"/>
          </a:xfrm>
          <a:prstGeom prst="roundRect">
            <a:avLst>
              <a:gd name="adj" fmla="val 2892"/>
            </a:avLst>
          </a:prstGeom>
          <a:solidFill>
            <a:srgbClr val="0D172B"/>
          </a:solidFill>
          <a:ln w="12700">
            <a:solidFill>
              <a:srgbClr val="0D172B"/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59536" y="1947672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9C3D1"/>
                </a:solidFill>
              </a:rPr>
              <a:t>●  ●  ●   terminal remota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50976" y="2386584"/>
            <a:ext cx="5623560" cy="2926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cd ~/proyecto-ecoli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nano src/prueba.sh</a:t>
            </a:r>
            <a:endParaRPr lang="en-US" sz="1140" dirty="0"/>
          </a:p>
          <a:p>
            <a:pPr marL="0" indent="0">
              <a:buNone/>
            </a:pP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Dentro de nano: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#!/bin/bash</a:t>
            </a:r>
            <a:endParaRPr lang="en-US" sz="1140" dirty="0"/>
          </a:p>
          <a:p>
            <a:pPr marL="0" indent="0">
              <a:buNone/>
            </a:pP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"Iniciando prueba..."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sleep 120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"Prueba terminada."</a:t>
            </a:r>
            <a:endParaRPr lang="en-US" sz="1140" dirty="0"/>
          </a:p>
          <a:p>
            <a:pPr marL="0" indent="0">
              <a:buNone/>
            </a:pP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Guardar y salir: Ctrl-O · Enter · Ctrl-X</a:t>
            </a:r>
            <a:endParaRPr lang="en-US" sz="1140" dirty="0"/>
          </a:p>
        </p:txBody>
      </p:sp>
      <p:sp>
        <p:nvSpPr>
          <p:cNvPr id="9" name="Shape 7"/>
          <p:cNvSpPr/>
          <p:nvPr/>
        </p:nvSpPr>
        <p:spPr>
          <a:xfrm>
            <a:off x="7086600" y="1828800"/>
            <a:ext cx="4389120" cy="1143000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 w="12700">
            <a:solidFill>
              <a:srgbClr val="D7DE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06056" y="2075688"/>
            <a:ext cx="3950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49A1A"/>
                </a:solidFill>
              </a:rPr>
              <a:t>NO VIENE DEL GFF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06056" y="2542032"/>
            <a:ext cx="3950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B6675"/>
                </a:solidFill>
              </a:rPr>
              <a:t>prueba.sh es un archivo didáctico creado en src/ para practicar permisos, ejecución y procesos.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086600" y="3273552"/>
            <a:ext cx="4389120" cy="868680"/>
          </a:xfrm>
          <a:prstGeom prst="roundRect">
            <a:avLst>
              <a:gd name="adj" fmla="val 5263"/>
            </a:avLst>
          </a:prstGeom>
          <a:solidFill>
            <a:srgbClr val="F4F7FA"/>
          </a:solidFill>
          <a:ln w="12700">
            <a:solidFill>
              <a:srgbClr val="D7DE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06056" y="3520440"/>
            <a:ext cx="3950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0833C"/>
                </a:solidFill>
              </a:rPr>
              <a:t>COMPRUEBA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06056" y="3986784"/>
            <a:ext cx="3950208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B6675"/>
                </a:solidFill>
              </a:rPr>
              <a:t>Después de guardar: ls -l src/prueba.sh y cat src/prueba.sh.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22960" y="5715000"/>
            <a:ext cx="10424160" cy="502920"/>
          </a:xfrm>
          <a:prstGeom prst="roundRect">
            <a:avLst>
              <a:gd name="adj" fmla="val 10909"/>
            </a:avLst>
          </a:prstGeom>
          <a:solidFill>
            <a:srgbClr val="FFF7DC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7552" y="587959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C49A1A"/>
                </a:solidFill>
              </a:rPr>
              <a:t>BUENA PRÁCTICA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2788920" y="5843016"/>
            <a:ext cx="82753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0D1B2A"/>
                </a:solidFill>
              </a:rPr>
              <a:t>Creamos el script en src/; no modificamos data/source/.</a:t>
            </a:r>
            <a:endParaRPr lang="en-US" sz="108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49A1A"/>
                </a:solidFill>
              </a:rPr>
              <a:t>PASO 6 · AUTORIZAR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55680" y="21945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675"/>
                </a:solidFill>
              </a:rPr>
              <a:t>S5 · 16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9494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73553"/>
                </a:solidFill>
              </a:rPr>
              <a:t>Leer permisos: primero el objeto, luego rwx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408176"/>
            <a:ext cx="10789920" cy="0"/>
          </a:xfrm>
          <a:prstGeom prst="line">
            <a:avLst/>
          </a:prstGeom>
          <a:noFill/>
          <a:ln w="13970">
            <a:solidFill>
              <a:srgbClr val="D7DE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737360"/>
            <a:ext cx="5852160" cy="2560320"/>
          </a:xfrm>
          <a:prstGeom prst="roundRect">
            <a:avLst>
              <a:gd name="adj" fmla="val 4286"/>
            </a:avLst>
          </a:prstGeom>
          <a:solidFill>
            <a:srgbClr val="0D172B"/>
          </a:solidFill>
          <a:ln w="12700">
            <a:solidFill>
              <a:srgbClr val="0D172B"/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59536" y="1984248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9C3D1"/>
                </a:solidFill>
              </a:rPr>
              <a:t>●  ●  ●   terminal remota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50976" y="2423160"/>
            <a:ext cx="5166360" cy="1691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ls -l src/prueba.sh</a:t>
            </a:r>
            <a:endParaRPr lang="en-US" sz="1350" dirty="0"/>
          </a:p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-rw-r--r--  1 alumna grupo  ...  src/</a:t>
            </a:r>
            <a:r>
              <a:rPr lang="en-US" sz="1350" dirty="0" err="1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prueba.sh</a:t>
            </a:r>
            <a:endParaRPr lang="en-US" sz="1350" dirty="0">
              <a:solidFill>
                <a:srgbClr val="F8FAFC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buNone/>
            </a:pPr>
            <a:endParaRPr lang="en-US" sz="1350" dirty="0">
              <a:solidFill>
                <a:srgbClr val="F8FAFC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buNone/>
            </a:pPr>
            <a:r>
              <a:rPr lang="en-US" sz="13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4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</a:t>
            </a:r>
            <a:r>
              <a:rPr lang="en-US" sz="1400" dirty="0" err="1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prueba.sh</a:t>
            </a:r>
            <a:r>
              <a:rPr lang="en-US" sz="14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# </a:t>
            </a:r>
            <a:r>
              <a:rPr lang="en-US" sz="1350" dirty="0" err="1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qué</a:t>
            </a:r>
            <a:r>
              <a:rPr lang="en-US" sz="13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 err="1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ocurre</a:t>
            </a:r>
            <a:r>
              <a:rPr lang="en-US" sz="1350" dirty="0">
                <a:solidFill>
                  <a:schemeClr val="bg1">
                    <a:lumMod val="8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</a:p>
          <a:p>
            <a:pPr marL="0" indent="0">
              <a:buNone/>
            </a:pPr>
            <a:r>
              <a:rPr lang="es-MX" sz="1400" dirty="0">
                <a:solidFill>
                  <a:srgbClr val="FF0000"/>
                </a:solidFill>
              </a:rPr>
              <a:t>Permission denied.</a:t>
            </a:r>
            <a:endParaRPr lang="en-US" sz="1350" dirty="0">
              <a:solidFill>
                <a:srgbClr val="FF0000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buNone/>
            </a:pPr>
            <a:endParaRPr lang="en-US" sz="1350" dirty="0">
              <a:solidFill>
                <a:srgbClr val="F8FAFC"/>
              </a:solidFill>
              <a:latin typeface="Courier New" pitchFamily="34" charset="0"/>
              <a:cs typeface="Courier New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903720" y="1965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rw- r-- r--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086600" y="242316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 │   └─ otros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B6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 └──── grupo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B6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└──────── dueño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B6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└─────────── tipo de objeto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5047488"/>
            <a:ext cx="10424160" cy="530352"/>
          </a:xfrm>
          <a:prstGeom prst="roundRect">
            <a:avLst>
              <a:gd name="adj" fmla="val 10345"/>
            </a:avLst>
          </a:prstGeom>
          <a:solidFill>
            <a:srgbClr val="FFF7DC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7552" y="521208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C49A1A"/>
                </a:solidFill>
              </a:rPr>
              <a:t>BUENA PRÁCTICA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2788920" y="5175504"/>
            <a:ext cx="8275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0D1B2A"/>
                </a:solidFill>
              </a:rPr>
              <a:t>No confundas el primer carácter con los nueve permisos.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502920" y="623620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C49A1A"/>
                </a:solidFill>
              </a:rPr>
              <a:t>PREGUNTA AL GRUPO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2057400" y="6199632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073553"/>
                </a:solidFill>
              </a:rPr>
              <a:t>¿Qué parte de -rw-r--r-- corresponde al dueño del archivo?</a:t>
            </a:r>
            <a:endParaRPr lang="en-US" sz="116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49A1A"/>
                </a:solidFill>
              </a:rPr>
              <a:t>PASO 6 · AUTORIZAR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55680" y="21945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675"/>
                </a:solidFill>
              </a:rPr>
              <a:t>S5 · 16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9494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73553"/>
                </a:solidFill>
              </a:rPr>
              <a:t>Leer permisos: primero el objeto, luego rwx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408176"/>
            <a:ext cx="10789920" cy="0"/>
          </a:xfrm>
          <a:prstGeom prst="line">
            <a:avLst/>
          </a:prstGeom>
          <a:noFill/>
          <a:ln w="13970">
            <a:solidFill>
              <a:srgbClr val="D7DE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737360"/>
            <a:ext cx="5852160" cy="2560320"/>
          </a:xfrm>
          <a:prstGeom prst="roundRect">
            <a:avLst>
              <a:gd name="adj" fmla="val 4286"/>
            </a:avLst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85000"/>
              </a:schemeClr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MX" dirty="0"/>
          </a:p>
          <a:p>
            <a:endParaRPr lang="es-MX" dirty="0"/>
          </a:p>
          <a:p>
            <a:r>
              <a:rPr lang="es-MX" dirty="0"/>
              <a:t>🐧 Tux Bioinfo `&gt;_`</a:t>
            </a:r>
          </a:p>
          <a:p>
            <a:endParaRPr lang="es-MX" sz="1600" dirty="0"/>
          </a:p>
          <a:p>
            <a:r>
              <a:rPr lang="es-MX" sz="1600" dirty="0"/>
              <a:t>Estoy intentando ejecutar prueba.sh.</a:t>
            </a:r>
            <a:br>
              <a:rPr lang="es-MX" sz="1600" dirty="0"/>
            </a:br>
            <a:r>
              <a:rPr lang="es-MX" sz="1600" dirty="0"/>
              <a:t>ls -l prueba.sh muestra -rw-r--r--.</a:t>
            </a:r>
            <a:br>
              <a:rPr lang="es-MX" sz="1600" dirty="0"/>
            </a:br>
            <a:r>
              <a:rPr lang="es-MX" sz="1600" dirty="0"/>
              <a:t>Al ejecutar ./prueba.sh obtengo Permission denied.</a:t>
            </a:r>
            <a:br>
              <a:rPr lang="es-MX" sz="1600" dirty="0"/>
            </a:br>
            <a:r>
              <a:rPr lang="es-MX" sz="1600" dirty="0"/>
              <a:t>Explícame qué significa el problema y qué debería revisar. No me des directamente la solución.</a:t>
            </a:r>
          </a:p>
        </p:txBody>
      </p:sp>
      <p:sp>
        <p:nvSpPr>
          <p:cNvPr id="7" name="Text 5"/>
          <p:cNvSpPr/>
          <p:nvPr/>
        </p:nvSpPr>
        <p:spPr>
          <a:xfrm>
            <a:off x="859536" y="1984248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1100" b="1" dirty="0"/>
              <a:t>💬✨ </a:t>
            </a:r>
            <a:r>
              <a:rPr lang="es-MX" sz="900" b="1" dirty="0"/>
              <a:t>PROMPT PARA EL ASISTENTE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50976" y="2423160"/>
            <a:ext cx="5166360" cy="1691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endParaRPr lang="en-US" sz="1350" dirty="0">
              <a:solidFill>
                <a:srgbClr val="F8FAFC"/>
              </a:solidFill>
              <a:latin typeface="Courier New" pitchFamily="34" charset="0"/>
              <a:cs typeface="Courier New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903720" y="1965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rw- r-- r--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086600" y="242316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 │   └─ otros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B6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 └──── grupo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B6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└──────── dueño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B66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└─────────── tipo de objeto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5047488"/>
            <a:ext cx="10424160" cy="530352"/>
          </a:xfrm>
          <a:prstGeom prst="roundRect">
            <a:avLst>
              <a:gd name="adj" fmla="val 10345"/>
            </a:avLst>
          </a:prstGeom>
          <a:solidFill>
            <a:srgbClr val="FFF7DC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7552" y="521208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C49A1A"/>
                </a:solidFill>
              </a:rPr>
              <a:t>BUENA PRÁCTICA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2788920" y="5175504"/>
            <a:ext cx="8275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 err="1">
                <a:solidFill>
                  <a:srgbClr val="0D1B2A"/>
                </a:solidFill>
              </a:rPr>
              <a:t>Usa</a:t>
            </a:r>
            <a:r>
              <a:rPr lang="en-US" sz="1080" b="1" dirty="0">
                <a:solidFill>
                  <a:srgbClr val="0D1B2A"/>
                </a:solidFill>
              </a:rPr>
              <a:t> </a:t>
            </a:r>
            <a:r>
              <a:rPr lang="en-US" sz="1080" b="1" dirty="0" err="1">
                <a:solidFill>
                  <a:srgbClr val="0D1B2A"/>
                </a:solidFill>
              </a:rPr>
              <a:t>el</a:t>
            </a:r>
            <a:r>
              <a:rPr lang="en-US" sz="1080" b="1" dirty="0">
                <a:solidFill>
                  <a:srgbClr val="0D1B2A"/>
                </a:solidFill>
              </a:rPr>
              <a:t> </a:t>
            </a:r>
            <a:r>
              <a:rPr lang="en-US" sz="1080" b="1" dirty="0" err="1">
                <a:solidFill>
                  <a:srgbClr val="0D1B2A"/>
                </a:solidFill>
              </a:rPr>
              <a:t>asistente</a:t>
            </a:r>
            <a:r>
              <a:rPr lang="en-US" sz="1080" b="1" dirty="0">
                <a:solidFill>
                  <a:srgbClr val="0D1B2A"/>
                </a:solidFill>
              </a:rPr>
              <a:t> disponible para </a:t>
            </a:r>
            <a:r>
              <a:rPr lang="en-US" sz="1080" b="1" dirty="0" err="1">
                <a:solidFill>
                  <a:srgbClr val="0D1B2A"/>
                </a:solidFill>
              </a:rPr>
              <a:t>pedir</a:t>
            </a:r>
            <a:r>
              <a:rPr lang="en-US" sz="1080" b="1" dirty="0">
                <a:solidFill>
                  <a:srgbClr val="0D1B2A"/>
                </a:solidFill>
              </a:rPr>
              <a:t> </a:t>
            </a:r>
            <a:r>
              <a:rPr lang="en-US" sz="1080" b="1" dirty="0" err="1">
                <a:solidFill>
                  <a:srgbClr val="0D1B2A"/>
                </a:solidFill>
              </a:rPr>
              <a:t>ayuda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502920" y="623620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C49A1A"/>
                </a:solidFill>
              </a:rPr>
              <a:t>PREGUNTA AL GRUPO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2057400" y="6199632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073553"/>
                </a:solidFill>
              </a:rPr>
              <a:t>¿Qué parte de -rw-r--r-- corresponde al dueño del archivo?</a:t>
            </a:r>
            <a:endParaRPr lang="en-US" sz="1160" dirty="0"/>
          </a:p>
        </p:txBody>
      </p:sp>
    </p:spTree>
    <p:extLst>
      <p:ext uri="{BB962C8B-B14F-4D97-AF65-F5344CB8AC3E}">
        <p14:creationId xmlns:p14="http://schemas.microsoft.com/office/powerpoint/2010/main" val="24135919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49A1A"/>
                </a:solidFill>
              </a:rPr>
              <a:t>PASO 7 · PERMISO MÍNIMO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55680" y="21945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675"/>
                </a:solidFill>
              </a:rPr>
              <a:t>S5 · 17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9494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73553"/>
                </a:solidFill>
              </a:rPr>
              <a:t>Concede solo lo que necesita el script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408176"/>
            <a:ext cx="10789920" cy="0"/>
          </a:xfrm>
          <a:prstGeom prst="line">
            <a:avLst/>
          </a:prstGeom>
          <a:noFill/>
          <a:ln w="13970">
            <a:solidFill>
              <a:srgbClr val="D7DE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737360"/>
            <a:ext cx="6035040" cy="2743200"/>
          </a:xfrm>
          <a:prstGeom prst="roundRect">
            <a:avLst>
              <a:gd name="adj" fmla="val 4000"/>
            </a:avLst>
          </a:prstGeom>
          <a:solidFill>
            <a:srgbClr val="0D172B"/>
          </a:solidFill>
          <a:ln w="12700">
            <a:solidFill>
              <a:srgbClr val="0D172B"/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59536" y="1984248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9C3D1"/>
                </a:solidFill>
              </a:rPr>
              <a:t>●  ●  ●   terminal remota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50976" y="2423160"/>
            <a:ext cx="5349240" cy="1874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ls -l </a:t>
            </a:r>
            <a:r>
              <a:rPr lang="en-US" sz="1350" dirty="0" err="1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prueba.sh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chmod u+x prueba.sh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ls -l prueba.sh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995160" y="1819656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49A1A"/>
                </a:solidFill>
              </a:rPr>
              <a:t>ANTES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995160" y="2057400"/>
            <a:ext cx="2148840" cy="640080"/>
          </a:xfrm>
          <a:prstGeom prst="roundRect">
            <a:avLst>
              <a:gd name="adj" fmla="val 5714"/>
            </a:avLst>
          </a:prstGeom>
          <a:solidFill>
            <a:srgbClr val="F4F7FA"/>
          </a:solidFill>
          <a:ln w="12700">
            <a:solidFill>
              <a:srgbClr val="D7DE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59752" y="2203704"/>
            <a:ext cx="1819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-rw-r--r--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326880" y="221284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C49A1A"/>
                </a:solidFill>
              </a:rPr>
              <a:t>→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9646920" y="1819656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49A1A"/>
                </a:solidFill>
              </a:rPr>
              <a:t>DESPUÉS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9646920" y="2057400"/>
            <a:ext cx="2148840" cy="640080"/>
          </a:xfrm>
          <a:prstGeom prst="roundRect">
            <a:avLst>
              <a:gd name="adj" fmla="val 5714"/>
            </a:avLst>
          </a:prstGeom>
          <a:solidFill>
            <a:srgbClr val="F4F7FA"/>
          </a:solidFill>
          <a:ln w="12700">
            <a:solidFill>
              <a:srgbClr val="D7DE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11512" y="2203704"/>
            <a:ext cx="1819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-rwxr--r--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22960" y="5047488"/>
            <a:ext cx="10424160" cy="530352"/>
          </a:xfrm>
          <a:prstGeom prst="roundRect">
            <a:avLst>
              <a:gd name="adj" fmla="val 10345"/>
            </a:avLst>
          </a:prstGeom>
          <a:solidFill>
            <a:srgbClr val="FFF7DC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7552" y="521208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C49A1A"/>
                </a:solidFill>
              </a:rPr>
              <a:t>SEGURIDAD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2788920" y="5175504"/>
            <a:ext cx="8275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0D1B2A"/>
                </a:solidFill>
              </a:rPr>
              <a:t>Permiso mínimo: hacer ejecutable el script para su dueño, no abrir permisos innecesarios con chmod 777.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502920" y="623620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C49A1A"/>
                </a:solidFill>
              </a:rPr>
              <a:t>PREGUNTA AL GRUPO</a:t>
            </a:r>
            <a:endParaRPr lang="en-US" sz="720" dirty="0"/>
          </a:p>
        </p:txBody>
      </p:sp>
      <p:sp>
        <p:nvSpPr>
          <p:cNvPr id="20" name="Text 18"/>
          <p:cNvSpPr/>
          <p:nvPr/>
        </p:nvSpPr>
        <p:spPr>
          <a:xfrm>
            <a:off x="2057400" y="6199632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073553"/>
                </a:solidFill>
              </a:rPr>
              <a:t>¿Qué cambió exactamente con u+x?</a:t>
            </a:r>
            <a:endParaRPr lang="en-US" sz="116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49A1A"/>
                </a:solidFill>
              </a:rPr>
              <a:t>PASO 8 · EJECUTAR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55680" y="21945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675"/>
                </a:solidFill>
              </a:rPr>
              <a:t>S5 · 18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9494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73553"/>
                </a:solidFill>
              </a:rPr>
              <a:t>Cuando un programa corre, aparece un proceso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408176"/>
            <a:ext cx="10789920" cy="0"/>
          </a:xfrm>
          <a:prstGeom prst="line">
            <a:avLst/>
          </a:prstGeom>
          <a:noFill/>
          <a:ln w="13970">
            <a:solidFill>
              <a:srgbClr val="D7DE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645920"/>
            <a:ext cx="6583680" cy="3383280"/>
          </a:xfrm>
          <a:prstGeom prst="roundRect">
            <a:avLst>
              <a:gd name="adj" fmla="val 3243"/>
            </a:avLst>
          </a:prstGeom>
          <a:solidFill>
            <a:srgbClr val="0D172B"/>
          </a:solidFill>
          <a:ln w="12700">
            <a:solidFill>
              <a:srgbClr val="0D172B"/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MX" dirty="0"/>
          </a:p>
        </p:txBody>
      </p:sp>
      <p:sp>
        <p:nvSpPr>
          <p:cNvPr id="7" name="Text 5"/>
          <p:cNvSpPr/>
          <p:nvPr/>
        </p:nvSpPr>
        <p:spPr>
          <a:xfrm>
            <a:off x="859536" y="1892808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9C3D1"/>
                </a:solidFill>
              </a:rPr>
              <a:t>●  ●  ●   terminal remota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50976" y="2331720"/>
            <a:ext cx="5897880" cy="2514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./prueba.sh &amp;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[1] 24831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Iniciando prueba...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ps -u "$USER" -o </a:t>
            </a:r>
            <a:r>
              <a:rPr lang="en-US" sz="1250" dirty="0" err="1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pid,stat,cmd</a:t>
            </a:r>
            <a:r>
              <a:rPr lang="en-US" sz="12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24831  S  /bin/bash ./prueba.sh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635240" y="1783080"/>
            <a:ext cx="4023360" cy="822960"/>
          </a:xfrm>
          <a:prstGeom prst="roundRect">
            <a:avLst>
              <a:gd name="adj" fmla="val 5556"/>
            </a:avLst>
          </a:prstGeom>
          <a:solidFill>
            <a:srgbClr val="F4F7FA"/>
          </a:solidFill>
          <a:ln w="12700">
            <a:solidFill>
              <a:srgbClr val="D7DE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54696" y="2029968"/>
            <a:ext cx="3584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73553"/>
                </a:solidFill>
              </a:rPr>
              <a:t>PROCESO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854696" y="2496312"/>
            <a:ext cx="3584448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B6675"/>
                </a:solidFill>
              </a:rPr>
              <a:t>Instancia de un programa en ejecución.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35240" y="2788920"/>
            <a:ext cx="4023360" cy="822960"/>
          </a:xfrm>
          <a:prstGeom prst="roundRect">
            <a:avLst>
              <a:gd name="adj" fmla="val 5556"/>
            </a:avLst>
          </a:prstGeom>
          <a:solidFill>
            <a:srgbClr val="F4F7FA"/>
          </a:solidFill>
          <a:ln w="12700">
            <a:solidFill>
              <a:srgbClr val="D7DE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54696" y="3035808"/>
            <a:ext cx="3584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C49A1A"/>
                </a:solidFill>
              </a:rPr>
              <a:t>PID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854696" y="3502152"/>
            <a:ext cx="3584448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B6675"/>
                </a:solidFill>
              </a:rPr>
              <a:t>Identificador numérico del proceso.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35240" y="3794760"/>
            <a:ext cx="4023360" cy="822960"/>
          </a:xfrm>
          <a:prstGeom prst="roundRect">
            <a:avLst>
              <a:gd name="adj" fmla="val 5556"/>
            </a:avLst>
          </a:prstGeom>
          <a:solidFill>
            <a:srgbClr val="F4F7FA"/>
          </a:solidFill>
          <a:ln w="12700">
            <a:solidFill>
              <a:srgbClr val="D7DE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54696" y="4041648"/>
            <a:ext cx="3584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0833C"/>
                </a:solidFill>
              </a:rPr>
              <a:t>ESTADO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854696" y="4507992"/>
            <a:ext cx="3584448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B6675"/>
                </a:solidFill>
              </a:rPr>
              <a:t>Información sobre lo que hace ahora.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02920" y="623620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C49A1A"/>
                </a:solidFill>
              </a:rPr>
              <a:t>PREGUNTA AL GRUPO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2057400" y="6199632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073553"/>
                </a:solidFill>
              </a:rPr>
              <a:t>¿Qué dato usarías para distinguir este prueba.sh de otro proceso?</a:t>
            </a:r>
            <a:endParaRPr lang="en-US" sz="116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49A1A"/>
                </a:solidFill>
              </a:rPr>
              <a:t>PASO 9 · TRABAJOS DEL SHELL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55680" y="21945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675"/>
                </a:solidFill>
              </a:rPr>
              <a:t>S5 · 19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9494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73553"/>
                </a:solidFill>
              </a:rPr>
              <a:t>Proceso y trabajo del shell no son lo mismo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408176"/>
            <a:ext cx="10789920" cy="0"/>
          </a:xfrm>
          <a:prstGeom prst="line">
            <a:avLst/>
          </a:prstGeom>
          <a:noFill/>
          <a:ln w="13970">
            <a:solidFill>
              <a:srgbClr val="D7DE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828800"/>
            <a:ext cx="6217920" cy="1920240"/>
          </a:xfrm>
          <a:prstGeom prst="roundRect">
            <a:avLst>
              <a:gd name="adj" fmla="val 5714"/>
            </a:avLst>
          </a:prstGeom>
          <a:solidFill>
            <a:srgbClr val="0D172B"/>
          </a:solidFill>
          <a:ln w="12700">
            <a:solidFill>
              <a:srgbClr val="0D172B"/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59536" y="2075688"/>
            <a:ext cx="5577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9C3D1"/>
                </a:solidFill>
              </a:rPr>
              <a:t>●  ●  ●   terminal remota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50976" y="2514600"/>
            <a:ext cx="553212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jobs -l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[1]+ 24831 Running    ./prueba.sh &amp;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7223760" y="1874520"/>
            <a:ext cx="4389120" cy="1005840"/>
          </a:xfrm>
          <a:prstGeom prst="roundRect">
            <a:avLst>
              <a:gd name="adj" fmla="val 4545"/>
            </a:avLst>
          </a:prstGeom>
          <a:solidFill>
            <a:srgbClr val="F4F7FA"/>
          </a:solidFill>
          <a:ln w="12700">
            <a:solidFill>
              <a:srgbClr val="D7DE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43216" y="2121408"/>
            <a:ext cx="3950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73553"/>
                </a:solidFill>
              </a:rPr>
              <a:t>TRABAJO DEL SHELL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443216" y="2587752"/>
            <a:ext cx="39502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B6675"/>
                </a:solidFill>
              </a:rPr>
              <a:t>[1] pertenece a este shell. Sirve con fg, bg y jobs.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223760" y="3200400"/>
            <a:ext cx="4389120" cy="822960"/>
          </a:xfrm>
          <a:prstGeom prst="roundRect">
            <a:avLst>
              <a:gd name="adj" fmla="val 5556"/>
            </a:avLst>
          </a:prstGeom>
          <a:solidFill>
            <a:srgbClr val="F4F7FA"/>
          </a:solidFill>
          <a:ln w="12700">
            <a:solidFill>
              <a:srgbClr val="D7DE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43216" y="3447288"/>
            <a:ext cx="3950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C49A1A"/>
                </a:solidFill>
              </a:rPr>
              <a:t>PID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443216" y="3913632"/>
            <a:ext cx="3950208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B6675"/>
                </a:solidFill>
              </a:rPr>
              <a:t>24831 identifica el proceso en el sistema.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2920" y="623620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C49A1A"/>
                </a:solidFill>
              </a:rPr>
              <a:t>PREGUNTA AL GRUPO</a:t>
            </a:r>
            <a:endParaRPr lang="en-US" sz="720" dirty="0"/>
          </a:p>
        </p:txBody>
      </p:sp>
      <p:sp>
        <p:nvSpPr>
          <p:cNvPr id="16" name="Text 14"/>
          <p:cNvSpPr/>
          <p:nvPr/>
        </p:nvSpPr>
        <p:spPr>
          <a:xfrm>
            <a:off x="2057400" y="6199632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073553"/>
                </a:solidFill>
              </a:rPr>
              <a:t>¿Por qué [1] y 24831 no significan lo mismo?</a:t>
            </a:r>
            <a:endParaRPr lang="en-US" sz="116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49A1A"/>
                </a:solidFill>
              </a:rPr>
              <a:t>PASO 10 · CONTROLAR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55680" y="21945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675"/>
                </a:solidFill>
              </a:rPr>
              <a:t>S5 · 20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9494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73553"/>
                </a:solidFill>
              </a:rPr>
              <a:t>Traer al frente y suspender no es terminar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408176"/>
            <a:ext cx="10789920" cy="0"/>
          </a:xfrm>
          <a:prstGeom prst="line">
            <a:avLst/>
          </a:prstGeom>
          <a:noFill/>
          <a:ln w="13970">
            <a:solidFill>
              <a:srgbClr val="D7DE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691640"/>
            <a:ext cx="6583680" cy="3657600"/>
          </a:xfrm>
          <a:prstGeom prst="roundRect">
            <a:avLst>
              <a:gd name="adj" fmla="val 3000"/>
            </a:avLst>
          </a:prstGeom>
          <a:solidFill>
            <a:srgbClr val="0D172B"/>
          </a:solidFill>
          <a:ln w="12700">
            <a:solidFill>
              <a:srgbClr val="0D172B"/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59536" y="1938528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9C3D1"/>
                </a:solidFill>
              </a:rPr>
              <a:t>●  ●  ●   terminal remota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50976" y="2377440"/>
            <a:ext cx="5897880" cy="2788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fg %1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./prueba.sh</a:t>
            </a:r>
            <a:endParaRPr lang="en-US" sz="1230" dirty="0"/>
          </a:p>
          <a:p>
            <a:pPr marL="0" indent="0">
              <a:buNone/>
            </a:pP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Presiona Ctrl-Z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^Z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[1]+  Stopped    ./prueba.sh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jobs -l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[1]+ 24831 Stopped    ./prueba.sh</a:t>
            </a:r>
            <a:endParaRPr lang="en-US" sz="1230" dirty="0"/>
          </a:p>
        </p:txBody>
      </p:sp>
      <p:sp>
        <p:nvSpPr>
          <p:cNvPr id="9" name="Shape 7"/>
          <p:cNvSpPr/>
          <p:nvPr/>
        </p:nvSpPr>
        <p:spPr>
          <a:xfrm>
            <a:off x="7543800" y="1828800"/>
            <a:ext cx="4114800" cy="914400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D7DE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63256" y="1883176"/>
            <a:ext cx="3675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B81E25"/>
                </a:solidFill>
              </a:rPr>
              <a:t>CTRL-C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63256" y="2349520"/>
            <a:ext cx="3675888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B6675"/>
                </a:solidFill>
              </a:rPr>
              <a:t>Interrumpe el proceso en primer plano; en la práctica suele terminarlo.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543800" y="3127248"/>
            <a:ext cx="4114800" cy="868680"/>
          </a:xfrm>
          <a:prstGeom prst="roundRect">
            <a:avLst>
              <a:gd name="adj" fmla="val 5263"/>
            </a:avLst>
          </a:prstGeom>
          <a:solidFill>
            <a:srgbClr val="F4F7FA"/>
          </a:solidFill>
          <a:ln w="12700">
            <a:solidFill>
              <a:srgbClr val="D7DE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63256" y="3229752"/>
            <a:ext cx="3675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C49A1A"/>
                </a:solidFill>
              </a:rPr>
              <a:t>CTRL-Z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763256" y="3696096"/>
            <a:ext cx="3675888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B6675"/>
                </a:solidFill>
              </a:rPr>
              <a:t>Suspende el trabajo en primer plano. No lo termina.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543800" y="45720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</a:rPr>
              <a:t>TERMINAR  ≠  SUSPENDER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02920" y="623620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C49A1A"/>
                </a:solidFill>
              </a:rPr>
              <a:t>PREGUNTA AL GRUPO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2057400" y="6199632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073553"/>
                </a:solidFill>
              </a:rPr>
              <a:t>Si quieres continuar después con el mismo trabajo, ¿qué acción tiene sentido?</a:t>
            </a:r>
            <a:endParaRPr lang="en-US" sz="116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49A1A"/>
                </a:solidFill>
              </a:rPr>
              <a:t>PASO 11 · CONTROLAR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55680" y="21945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675"/>
                </a:solidFill>
              </a:rPr>
              <a:t>S5 · 21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9494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73553"/>
                </a:solidFill>
              </a:rPr>
              <a:t>Reanudar, terminar y comprobar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408176"/>
            <a:ext cx="10789920" cy="0"/>
          </a:xfrm>
          <a:prstGeom prst="line">
            <a:avLst/>
          </a:prstGeom>
          <a:noFill/>
          <a:ln w="13970">
            <a:solidFill>
              <a:srgbClr val="D7DE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627632"/>
            <a:ext cx="6492240" cy="3657600"/>
          </a:xfrm>
          <a:prstGeom prst="roundRect">
            <a:avLst>
              <a:gd name="adj" fmla="val 3000"/>
            </a:avLst>
          </a:prstGeom>
          <a:solidFill>
            <a:srgbClr val="0D172B"/>
          </a:solidFill>
          <a:ln w="12700">
            <a:solidFill>
              <a:srgbClr val="0D172B"/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59536" y="1874520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9C3D1"/>
                </a:solidFill>
              </a:rPr>
              <a:t>●  ●  ●   terminal remota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50976" y="2313432"/>
            <a:ext cx="5806440" cy="2788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bg %1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[1]+ ./</a:t>
            </a:r>
            <a:r>
              <a:rPr lang="en-US" sz="1220" dirty="0" err="1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prueba.sh</a:t>
            </a:r>
            <a:r>
              <a:rPr lang="en-US" sz="122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&amp;</a:t>
            </a:r>
          </a:p>
          <a:p>
            <a:pPr marL="0" indent="0">
              <a:buNone/>
            </a:pP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jobs -l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[1]+ 24831 Running    ./</a:t>
            </a:r>
            <a:r>
              <a:rPr lang="en-US" sz="1220" dirty="0" err="1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prueba.sh</a:t>
            </a:r>
            <a:r>
              <a:rPr lang="en-US" sz="122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&amp;</a:t>
            </a:r>
          </a:p>
          <a:p>
            <a:pPr marL="0" indent="0">
              <a:buNone/>
            </a:pP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kill -TERM 24831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jobs -l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ps -p 24831 -o pid,stat,cmd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7452360" y="1719072"/>
            <a:ext cx="4023360" cy="694944"/>
          </a:xfrm>
          <a:prstGeom prst="roundRect">
            <a:avLst>
              <a:gd name="adj" fmla="val 6579"/>
            </a:avLst>
          </a:prstGeom>
          <a:solidFill>
            <a:srgbClr val="F4F7FA"/>
          </a:solidFill>
          <a:ln w="12700">
            <a:solidFill>
              <a:srgbClr val="D7DE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71816" y="1737357"/>
            <a:ext cx="3584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0833C"/>
                </a:solidFill>
              </a:rPr>
              <a:t>BG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671816" y="2203701"/>
            <a:ext cx="3584448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B6675"/>
                </a:solidFill>
              </a:rPr>
              <a:t>reanuda en segundo plano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452360" y="2651760"/>
            <a:ext cx="4023360" cy="786384"/>
          </a:xfrm>
          <a:prstGeom prst="roundRect">
            <a:avLst>
              <a:gd name="adj" fmla="val 5814"/>
            </a:avLst>
          </a:prstGeom>
          <a:solidFill>
            <a:srgbClr val="F4F7FA"/>
          </a:solidFill>
          <a:ln w="12700">
            <a:solidFill>
              <a:srgbClr val="D7DE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71816" y="2790360"/>
            <a:ext cx="3584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B81E25"/>
                </a:solidFill>
              </a:rPr>
              <a:t>KILL -TERM PID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671816" y="3256704"/>
            <a:ext cx="3584448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B6675"/>
                </a:solidFill>
              </a:rPr>
              <a:t>solicita terminación ordenada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452360" y="3703320"/>
            <a:ext cx="4023360" cy="786384"/>
          </a:xfrm>
          <a:prstGeom prst="roundRect">
            <a:avLst>
              <a:gd name="adj" fmla="val 5814"/>
            </a:avLst>
          </a:prstGeom>
          <a:solidFill>
            <a:srgbClr val="F4F7FA"/>
          </a:solidFill>
          <a:ln w="12700">
            <a:solidFill>
              <a:srgbClr val="D7DE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71816" y="3841920"/>
            <a:ext cx="3584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73553"/>
                </a:solidFill>
              </a:rPr>
              <a:t>PS -P PID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671816" y="4308264"/>
            <a:ext cx="3584448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B6675"/>
                </a:solidFill>
              </a:rPr>
              <a:t>comprueba si sigue existiendo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22960" y="5486400"/>
            <a:ext cx="10424160" cy="530352"/>
          </a:xfrm>
          <a:prstGeom prst="roundRect">
            <a:avLst>
              <a:gd name="adj" fmla="val 10345"/>
            </a:avLst>
          </a:prstGeom>
          <a:solidFill>
            <a:srgbClr val="FFF7DC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7552" y="565099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C49A1A"/>
                </a:solidFill>
              </a:rPr>
              <a:t>SEGURIDAD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2788920" y="5614416"/>
            <a:ext cx="8275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0D1B2A"/>
                </a:solidFill>
              </a:rPr>
              <a:t>Solo envía señales a procesos que tú hayas iniciado para la práctica.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502920" y="623620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C49A1A"/>
                </a:solidFill>
              </a:rPr>
              <a:t>PREGUNTA AL GRUPO</a:t>
            </a:r>
            <a:endParaRPr lang="en-US" sz="720" dirty="0"/>
          </a:p>
        </p:txBody>
      </p:sp>
      <p:sp>
        <p:nvSpPr>
          <p:cNvPr id="22" name="Text 20"/>
          <p:cNvSpPr/>
          <p:nvPr/>
        </p:nvSpPr>
        <p:spPr>
          <a:xfrm>
            <a:off x="2057400" y="6199632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073553"/>
                </a:solidFill>
              </a:rPr>
              <a:t>Después de kill, ¿cómo comprobarías que el proceso realmente terminó?</a:t>
            </a:r>
            <a:endParaRPr lang="en-US" sz="116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292608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9B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RESUMEN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881360" y="29260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6875"/>
                </a:solidFill>
              </a:rPr>
              <a:t>S5 · 24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21792" y="6400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3558"/>
                </a:solidFill>
              </a:rPr>
              <a:t>Clasificación de los comandos de S5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94360" y="1234440"/>
            <a:ext cx="11018520" cy="0"/>
          </a:xfrm>
          <a:prstGeom prst="line">
            <a:avLst/>
          </a:prstGeom>
          <a:noFill/>
          <a:ln w="15240">
            <a:solidFill>
              <a:srgbClr val="D7DA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6528816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E6875"/>
                </a:solidFill>
              </a:rPr>
              <a:t>Introducción a la Bioinformática · LCG UNAM · 2026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731520" y="1508760"/>
            <a:ext cx="10698480" cy="49377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4400" y="162763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558"/>
                </a:solidFill>
              </a:rPr>
              <a:t>RECONOCER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2514600" y="162763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9B1D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ls -l · file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806440" y="162763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E6875"/>
                </a:solidFill>
              </a:rPr>
              <a:t>¿qué objeto/contenido tengo?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31520" y="2121408"/>
            <a:ext cx="10698480" cy="493776"/>
          </a:xfrm>
          <a:prstGeom prst="roundRect">
            <a:avLst>
              <a:gd name="adj" fmla="val 5556"/>
            </a:avLst>
          </a:prstGeom>
          <a:solidFill>
            <a:srgbClr val="F3F5F8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14400" y="224028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558"/>
                </a:solidFill>
              </a:rPr>
              <a:t>INSPECCIONAR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2514600" y="224028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9B1D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head · tail · less · cat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806440" y="2240280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E6875"/>
                </a:solidFill>
              </a:rPr>
              <a:t>¿qué contiene sin editar?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731520" y="2734056"/>
            <a:ext cx="10698480" cy="49377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14400" y="285292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558"/>
                </a:solidFill>
              </a:rPr>
              <a:t>ALMACENAR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2514600" y="285292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9B1D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gzip · gunzip · tar*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806440" y="2852928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E6875"/>
                </a:solidFill>
              </a:rPr>
              <a:t>¿cómo lo conservo o agrupo?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731520" y="3346704"/>
            <a:ext cx="10698480" cy="493776"/>
          </a:xfrm>
          <a:prstGeom prst="roundRect">
            <a:avLst>
              <a:gd name="adj" fmla="val 5556"/>
            </a:avLst>
          </a:prstGeom>
          <a:solidFill>
            <a:srgbClr val="F3F5F8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14400" y="346557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558"/>
                </a:solidFill>
              </a:rPr>
              <a:t>AUTORIZAR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2514600" y="346557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9B1D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chmod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5806440" y="3465576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E6875"/>
                </a:solidFill>
              </a:rPr>
              <a:t>¿qué permiso mínimo necesita?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731520" y="3959352"/>
            <a:ext cx="10698480" cy="49377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14400" y="407822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558"/>
                </a:solidFill>
              </a:rPr>
              <a:t>OBSERVAR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2514600" y="407822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9B1D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ps · jobs -l · top*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5806440" y="4078224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E6875"/>
                </a:solidFill>
              </a:rPr>
              <a:t>¿qué está ejecutándose?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731520" y="4572000"/>
            <a:ext cx="10698480" cy="493776"/>
          </a:xfrm>
          <a:prstGeom prst="roundRect">
            <a:avLst>
              <a:gd name="adj" fmla="val 5556"/>
            </a:avLst>
          </a:prstGeom>
          <a:solidFill>
            <a:srgbClr val="F3F5F8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14400" y="469087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558"/>
                </a:solidFill>
              </a:rPr>
              <a:t>CONTROLAR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2514600" y="469087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9B1D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Ctrl-C · Ctrl-Z · bg · fg · kill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5806440" y="469087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E6875"/>
                </a:solidFill>
              </a:rPr>
              <a:t>¿cómo lo suspendo, reanudo o termino?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731520" y="5184648"/>
            <a:ext cx="10698480" cy="49377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14400" y="530352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558"/>
                </a:solidFill>
              </a:rPr>
              <a:t>VERIFICAR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2514600" y="53035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9B1D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sha256sum · ls · ps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5806440" y="5303520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E6875"/>
                </a:solidFill>
              </a:rPr>
              <a:t>¿el resultado es el esperado?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868680" y="5870448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6875"/>
                </a:solidFill>
              </a:rPr>
              <a:t>* consulta/ampliación; no es necesario memorizarlo.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621792" y="614476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99B1D"/>
                </a:solidFill>
              </a:rPr>
              <a:t>PREGUNTA AL GRUPO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1993392" y="6108192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3558"/>
                </a:solidFill>
              </a:rPr>
              <a:t>¿Qué categoría describe mejor una acción: el nombre del comando o la pregunta que quieres responder?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49A1A"/>
                </a:solidFill>
              </a:rPr>
              <a:t>CIERRE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55680" y="21945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675"/>
                </a:solidFill>
              </a:rPr>
              <a:t>S5 · 25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9494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73553"/>
                </a:solidFill>
              </a:rPr>
              <a:t>Recuerda esto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408176"/>
            <a:ext cx="10789920" cy="0"/>
          </a:xfrm>
          <a:prstGeom prst="line">
            <a:avLst/>
          </a:prstGeom>
          <a:noFill/>
          <a:ln w="13970">
            <a:solidFill>
              <a:srgbClr val="D7DE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9164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30" b="1" dirty="0">
                <a:solidFill>
                  <a:srgbClr val="073553"/>
                </a:solidFill>
              </a:rPr>
              <a:t>1  Inspeccionar no significa editar.</a:t>
            </a:r>
            <a:endParaRPr lang="en-US" sz="1430" dirty="0"/>
          </a:p>
        </p:txBody>
      </p:sp>
      <p:sp>
        <p:nvSpPr>
          <p:cNvPr id="7" name="Text 5"/>
          <p:cNvSpPr/>
          <p:nvPr/>
        </p:nvSpPr>
        <p:spPr>
          <a:xfrm>
            <a:off x="914400" y="2258568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30" dirty="0">
                <a:solidFill>
                  <a:srgbClr val="0D1B2A"/>
                </a:solidFill>
              </a:rPr>
              <a:t>2  data/source/ conserva los originales: trabaja sobre copias.</a:t>
            </a:r>
            <a:endParaRPr lang="en-US" sz="1430" dirty="0"/>
          </a:p>
        </p:txBody>
      </p:sp>
      <p:sp>
        <p:nvSpPr>
          <p:cNvPr id="8" name="Text 6"/>
          <p:cNvSpPr/>
          <p:nvPr/>
        </p:nvSpPr>
        <p:spPr>
          <a:xfrm>
            <a:off x="914400" y="2825496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30" b="1" dirty="0">
                <a:solidFill>
                  <a:srgbClr val="073553"/>
                </a:solidFill>
              </a:rPr>
              <a:t>3  Comprimir no es verificar ni respaldar.</a:t>
            </a:r>
            <a:endParaRPr lang="en-US" sz="1430" dirty="0"/>
          </a:p>
        </p:txBody>
      </p:sp>
      <p:sp>
        <p:nvSpPr>
          <p:cNvPr id="9" name="Text 7"/>
          <p:cNvSpPr/>
          <p:nvPr/>
        </p:nvSpPr>
        <p:spPr>
          <a:xfrm>
            <a:off x="914400" y="3392424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30" dirty="0">
                <a:solidFill>
                  <a:srgbClr val="0D1B2A"/>
                </a:solidFill>
              </a:rPr>
              <a:t>4  Los permisos deben ser los mínimos necesarios.</a:t>
            </a:r>
            <a:endParaRPr lang="en-US" sz="1430" dirty="0"/>
          </a:p>
        </p:txBody>
      </p:sp>
      <p:sp>
        <p:nvSpPr>
          <p:cNvPr id="10" name="Text 8"/>
          <p:cNvSpPr/>
          <p:nvPr/>
        </p:nvSpPr>
        <p:spPr>
          <a:xfrm>
            <a:off x="914400" y="3959352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30" b="1" dirty="0">
                <a:solidFill>
                  <a:srgbClr val="073553"/>
                </a:solidFill>
              </a:rPr>
              <a:t>5  Proceso, PID y trabajo del shell son conceptos relacionados, no equivalentes.</a:t>
            </a:r>
            <a:endParaRPr lang="en-US" sz="1430" dirty="0"/>
          </a:p>
        </p:txBody>
      </p:sp>
      <p:sp>
        <p:nvSpPr>
          <p:cNvPr id="11" name="Text 9"/>
          <p:cNvSpPr/>
          <p:nvPr/>
        </p:nvSpPr>
        <p:spPr>
          <a:xfrm>
            <a:off x="914400" y="452628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30" dirty="0">
                <a:solidFill>
                  <a:srgbClr val="0D1B2A"/>
                </a:solidFill>
              </a:rPr>
              <a:t>6  Controlar un proceso incluye observarlo y comprobar cómo terminó.</a:t>
            </a:r>
            <a:endParaRPr lang="en-US" sz="1430" dirty="0"/>
          </a:p>
        </p:txBody>
      </p:sp>
      <p:sp>
        <p:nvSpPr>
          <p:cNvPr id="12" name="Text 10"/>
          <p:cNvSpPr/>
          <p:nvPr/>
        </p:nvSpPr>
        <p:spPr>
          <a:xfrm>
            <a:off x="914400" y="5093208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30" b="1" dirty="0">
                <a:solidFill>
                  <a:srgbClr val="073553"/>
                </a:solidFill>
              </a:rPr>
              <a:t>7  Una buena práctica deja evidencia: predicción → acción → verificación → decisión.</a:t>
            </a:r>
            <a:endParaRPr lang="en-US" sz="1430" dirty="0"/>
          </a:p>
        </p:txBody>
      </p:sp>
      <p:sp>
        <p:nvSpPr>
          <p:cNvPr id="13" name="Shape 11"/>
          <p:cNvSpPr/>
          <p:nvPr/>
        </p:nvSpPr>
        <p:spPr>
          <a:xfrm>
            <a:off x="868680" y="5897880"/>
            <a:ext cx="10424160" cy="0"/>
          </a:xfrm>
          <a:prstGeom prst="line">
            <a:avLst/>
          </a:prstGeom>
          <a:noFill/>
          <a:ln w="31750">
            <a:solidFill>
              <a:srgbClr val="C49A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20240" y="610819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Semáforo de salida:  VERDE · AMARILLO · ROJO  +  una duda para S6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58D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AMPLIACIÓN · SI HAY TIEMPO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1064240" y="29260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F6F82"/>
                </a:solidFill>
              </a:rPr>
              <a:t>S5 · TAR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73B5C"/>
                </a:solidFill>
              </a:rPr>
              <a:t>tar: reunir varios archivos en uno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30352" y="1399032"/>
            <a:ext cx="11018520" cy="0"/>
          </a:xfrm>
          <a:prstGeom prst="line">
            <a:avLst/>
          </a:prstGeom>
          <a:noFill/>
          <a:ln w="15240">
            <a:solidFill>
              <a:srgbClr val="D6DEE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5216" y="1719072"/>
            <a:ext cx="6537960" cy="2880360"/>
          </a:xfrm>
          <a:prstGeom prst="roundRect">
            <a:avLst>
              <a:gd name="adj" fmla="val 2540"/>
            </a:avLst>
          </a:prstGeom>
          <a:solidFill>
            <a:srgbClr val="0D192C"/>
          </a:solidFill>
          <a:ln w="12700">
            <a:solidFill>
              <a:srgbClr val="0D192C"/>
            </a:solidFill>
            <a:prstDash val="solid"/>
          </a:ln>
          <a:effectLst>
            <a:outerShdw blurRad="25400" dist="50800" dir="2700000" algn="bl" rotWithShape="0">
              <a:srgbClr val="999999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96112" y="199339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B6C7"/>
                </a:solidFill>
              </a:rPr>
              <a:t>● ● ●  terminal remota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69264" y="2578608"/>
            <a:ext cx="580644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cd ~/proyecto-ecoli/results/s5-pruebas</a:t>
            </a: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cp ../../data/source/genes_ecoli-metadatos.md .</a:t>
            </a: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tar -cvf documentos.tar README-copia.md genes_ecoli-metadatos.md</a:t>
            </a: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tar -tf documentos.tar</a:t>
            </a:r>
            <a:endParaRPr lang="en-US" sz="1420" dirty="0"/>
          </a:p>
        </p:txBody>
      </p:sp>
      <p:sp>
        <p:nvSpPr>
          <p:cNvPr id="9" name="Text 7"/>
          <p:cNvSpPr/>
          <p:nvPr/>
        </p:nvSpPr>
        <p:spPr>
          <a:xfrm>
            <a:off x="7424928" y="181051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58D00"/>
                </a:solidFill>
              </a:rPr>
              <a:t>¿QUÉ HIZO tar?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424928" y="2084832"/>
            <a:ext cx="1664208" cy="960120"/>
          </a:xfrm>
          <a:prstGeom prst="roundRect">
            <a:avLst/>
          </a:prstGeom>
          <a:solidFill>
            <a:srgbClr val="F3F6FA"/>
          </a:solidFill>
          <a:ln w="12700">
            <a:solidFill>
              <a:srgbClr val="D6DE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89520" y="2304288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725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README-copia.md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725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genes_ecoli-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725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metadatos.md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9217152" y="235915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C58D00"/>
                </a:solidFill>
              </a:rPr>
              <a:t>→</a:t>
            </a:r>
            <a:endParaRPr lang="en-US" sz="2500" dirty="0"/>
          </a:p>
        </p:txBody>
      </p:sp>
      <p:sp>
        <p:nvSpPr>
          <p:cNvPr id="13" name="Shape 11"/>
          <p:cNvSpPr/>
          <p:nvPr/>
        </p:nvSpPr>
        <p:spPr>
          <a:xfrm>
            <a:off x="9784080" y="2084832"/>
            <a:ext cx="1737360" cy="960120"/>
          </a:xfrm>
          <a:prstGeom prst="roundRect">
            <a:avLst/>
          </a:prstGeom>
          <a:solidFill>
            <a:srgbClr val="F3F6FA"/>
          </a:solidFill>
          <a:ln w="12700">
            <a:solidFill>
              <a:srgbClr val="D6DE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976104" y="24505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20" dirty="0">
                <a:solidFill>
                  <a:srgbClr val="1725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documentos.tar</a:t>
            </a:r>
            <a:endParaRPr lang="en-US" sz="1220" dirty="0"/>
          </a:p>
        </p:txBody>
      </p:sp>
      <p:sp>
        <p:nvSpPr>
          <p:cNvPr id="15" name="Text 13"/>
          <p:cNvSpPr/>
          <p:nvPr/>
        </p:nvSpPr>
        <p:spPr>
          <a:xfrm>
            <a:off x="7424928" y="3401568"/>
            <a:ext cx="4096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5F6F82"/>
                </a:solidFill>
              </a:rPr>
              <a:t>tar empaqueta: reúne varios archivos en un solo contenedor. No implica compresión.</a:t>
            </a:r>
            <a:endParaRPr lang="en-US" sz="1420" dirty="0"/>
          </a:p>
        </p:txBody>
      </p:sp>
      <p:sp>
        <p:nvSpPr>
          <p:cNvPr id="16" name="Text 14"/>
          <p:cNvSpPr/>
          <p:nvPr/>
        </p:nvSpPr>
        <p:spPr>
          <a:xfrm>
            <a:off x="7424928" y="4151376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58D00"/>
                </a:solidFill>
              </a:rPr>
              <a:t>CONTRASTE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503920" y="409651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30" b="1" dirty="0">
                <a:solidFill>
                  <a:srgbClr val="073B5C"/>
                </a:solidFill>
              </a:rPr>
              <a:t>tar  → empaqueta     gzip → comprime</a:t>
            </a:r>
            <a:endParaRPr lang="en-US" sz="1430" dirty="0"/>
          </a:p>
        </p:txBody>
      </p:sp>
      <p:sp>
        <p:nvSpPr>
          <p:cNvPr id="18" name="Shape 16"/>
          <p:cNvSpPr/>
          <p:nvPr/>
        </p:nvSpPr>
        <p:spPr>
          <a:xfrm>
            <a:off x="585216" y="4828032"/>
            <a:ext cx="10972800" cy="658368"/>
          </a:xfrm>
          <a:prstGeom prst="roundRect">
            <a:avLst/>
          </a:prstGeom>
          <a:solidFill>
            <a:srgbClr val="F7F9FB"/>
          </a:solidFill>
          <a:ln w="12700">
            <a:solidFill>
              <a:srgbClr val="D6DE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6384" y="5047488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C58D00"/>
                </a:solidFill>
              </a:rPr>
              <a:t>OPCIONAL</a:t>
            </a:r>
            <a:endParaRPr lang="en-US" sz="980" dirty="0"/>
          </a:p>
        </p:txBody>
      </p:sp>
      <p:sp>
        <p:nvSpPr>
          <p:cNvPr id="20" name="Text 18"/>
          <p:cNvSpPr/>
          <p:nvPr/>
        </p:nvSpPr>
        <p:spPr>
          <a:xfrm>
            <a:off x="1627632" y="496519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40" dirty="0">
                <a:solidFill>
                  <a:srgbClr val="073B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gzip documentos.tar   →   documentos.tar.gz</a:t>
            </a:r>
            <a:endParaRPr lang="en-US" sz="1340" dirty="0"/>
          </a:p>
        </p:txBody>
      </p:sp>
      <p:sp>
        <p:nvSpPr>
          <p:cNvPr id="21" name="Text 19"/>
          <p:cNvSpPr/>
          <p:nvPr/>
        </p:nvSpPr>
        <p:spPr>
          <a:xfrm>
            <a:off x="8046720" y="498348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80" dirty="0">
                <a:solidFill>
                  <a:srgbClr val="5F6F82"/>
                </a:solidFill>
              </a:rPr>
              <a:t>Ahora sí: paquete + compresión</a:t>
            </a:r>
            <a:endParaRPr lang="en-US" sz="1280" dirty="0"/>
          </a:p>
        </p:txBody>
      </p:sp>
      <p:sp>
        <p:nvSpPr>
          <p:cNvPr id="22" name="Text 20"/>
          <p:cNvSpPr/>
          <p:nvPr/>
        </p:nvSpPr>
        <p:spPr>
          <a:xfrm>
            <a:off x="530352" y="629107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58D00"/>
                </a:solidFill>
              </a:rPr>
              <a:t>PREGUNTA AL GRUPO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103120" y="6217920"/>
            <a:ext cx="886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073B5C"/>
                </a:solidFill>
              </a:rPr>
              <a:t>¿Qué hizo tar y qué hizo gzip? ¿Los archivos originales desaparecieron al crear documentos.tar?</a:t>
            </a:r>
            <a:endParaRPr lang="en-US" sz="14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6C7A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AMPLIACIÓN · SI HAY TIEMPO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469880" y="32004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8B96A3"/>
                </a:solidFill>
              </a:rPr>
              <a:t>S5 · OPCIONAL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8212B"/>
                </a:solidFill>
              </a:rPr>
              <a:t>top: observar procesos en tiempo real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1234440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3606D"/>
                </a:solidFill>
              </a:rPr>
              <a:t>Una vista que se actualiza mientras los procesos cambian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1783080"/>
            <a:ext cx="6720840" cy="3520440"/>
          </a:xfrm>
          <a:prstGeom prst="roundRect">
            <a:avLst>
              <a:gd name="adj" fmla="val 2078"/>
            </a:avLst>
          </a:prstGeom>
          <a:solidFill>
            <a:srgbClr val="20262D"/>
          </a:solidFill>
          <a:ln w="12700">
            <a:solidFill>
              <a:srgbClr val="2026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93852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EB7C1"/>
                </a:solidFill>
              </a:rPr>
              <a:t>●  ●  ●   terminal remota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58952" y="235915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top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58952" y="2816352"/>
            <a:ext cx="5897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9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PID     USER      %CPU   %MEM   COMMAND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9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24831   alumna     0.0    0.1   prueba.sh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9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24832   alumna     0.0    0.0   sleep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9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58952" y="47091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Presiona q para salir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589520" y="1828800"/>
            <a:ext cx="406908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18120" y="1956816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15F78"/>
                </a:solidFill>
              </a:rPr>
              <a:t>PID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281160" y="1956816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5414C"/>
                </a:solidFill>
              </a:rPr>
              <a:t>identificador del proceso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589520" y="2724912"/>
            <a:ext cx="406908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18120" y="285292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15F78"/>
                </a:solidFill>
              </a:rPr>
              <a:t>%CPU · %MEM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281160" y="285292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5414C"/>
                </a:solidFill>
              </a:rPr>
              <a:t>uso de recursos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589520" y="3621024"/>
            <a:ext cx="406908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18120" y="374904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15F78"/>
                </a:solidFill>
              </a:rPr>
              <a:t>COMMAND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281160" y="374904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5414C"/>
                </a:solidFill>
              </a:rPr>
              <a:t>programa o comando asociado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589520" y="4617720"/>
            <a:ext cx="4069080" cy="685800"/>
          </a:xfrm>
          <a:prstGeom prst="roundRect">
            <a:avLst>
              <a:gd name="adj" fmla="val 6667"/>
            </a:avLst>
          </a:prstGeom>
          <a:solidFill>
            <a:srgbClr val="EAF3F6"/>
          </a:solidFill>
          <a:ln w="12700">
            <a:solidFill>
              <a:srgbClr val="C7DCE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18120" y="475488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15F78"/>
                </a:solidFill>
              </a:rPr>
              <a:t>IDEA CLAVE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823960" y="469087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6343E"/>
                </a:solidFill>
              </a:rPr>
              <a:t>ps = instantánea  ·  top = vista que se actualiza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02920" y="565099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10" dirty="0">
                <a:solidFill>
                  <a:srgbClr val="6C7A89"/>
                </a:solidFill>
              </a:rPr>
              <a:t>PREGUNTA AL GRUPO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2920" y="5925312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8212B"/>
                </a:solidFill>
              </a:rPr>
              <a:t>¿Qué diferencia observas entre consultar los procesos con ps y observarlos con top?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4597</Words>
  <Application>Microsoft Macintosh PowerPoint</Application>
  <PresentationFormat>Panorámica</PresentationFormat>
  <Paragraphs>474</Paragraphs>
  <Slides>26</Slides>
  <Notes>26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26</vt:i4>
      </vt:variant>
    </vt:vector>
  </HeadingPairs>
  <TitlesOfParts>
    <vt:vector size="32" baseType="lpstr">
      <vt:lpstr>Aptos</vt:lpstr>
      <vt:lpstr>Aptos Mono</vt:lpstr>
      <vt:lpstr>Arial</vt:lpstr>
      <vt:lpstr>Calibri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LCG UNAM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S5 — Archivos, permisos y procesos</dc:title>
  <dc:subject>S5 docente - archivos, permisos y procesos</dc:subject>
  <dc:creator>OpenAI</dc:creator>
  <cp:lastModifiedBy>Microsoft Office User</cp:lastModifiedBy>
  <cp:revision>4</cp:revision>
  <dcterms:created xsi:type="dcterms:W3CDTF">2026-09-15T20:35:28Z</dcterms:created>
  <dcterms:modified xsi:type="dcterms:W3CDTF">2026-09-15T21:45:42Z</dcterms:modified>
</cp:coreProperties>
</file>