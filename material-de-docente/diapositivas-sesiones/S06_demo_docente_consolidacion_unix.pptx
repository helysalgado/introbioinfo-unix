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1" d="100"/>
          <a:sy n="131" d="100"/>
        </p:scale>
        <p:origin x="37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4744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docente: presente S6 como una sesión de verificación, no como repaso ni examen. El producto es evidencia de que el entorno construido en S3–S5 es íntegro, organizado, protegido y documentado.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“me funcionó” es una experiencia o afirmación; demostrar requiere una salida, archivo o procedimiento que pueda comprobar otra persona. S6 no introduce herramientas nuevas; reutiliza S3–S5 con una pregunta distinta.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Actividad de apertura: contrastar el primer intento de la Práctica 1. No se evalúa memoria de sintaxis. Si el estudiante no recuerda cómo comprobar algo, esa laguna se convierte en objetivo de aprendizaje del taller.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una salida o archivo verificable y el contexto para reproducirlo. Enfatice que no se verifica todo: se verifica lo que sostiene la conclusión.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no. Al conectarse se llega normalmente al home; entrar al proyecto es un paso posterior. Si hostname no corresponde al servidor del curso, detenerse antes de ejecutar más comandos.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 depende del usuario/shell y se expande a su home. La ruta absoluta comienza en / y pwd dentro del proyecto muestra la ruta real.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restos controlados de S5, por ejemplo results/s5-pruebas/, src/prueba.sh y, si se hizo la ampliación, algún .tar o .tar.gz. No borrar data/source/. Toda diferencia recibe una decisión explícita.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porque un archivo puede ser evidencia, dato fuente o producto necesario. La decisión debe basarse en función y trazabilidad, no en estética.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Adaptación al caso conductor de E. coli: el material web usa pacientes.md, pero el proyecto real del curso que se viene trabajando usa genes_ecoli.gff y genes_ecoli-metadatos.md. La lógica de verificación es la misma.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automatiza y hace repetible la comprobación. La salida puede decir OK o “La suma coincide” según configuración. Si aparece FAILED, primero diagnosticar ruta/archivo/referencia antes de concluir corrupción.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no presentar corrupción como primera explicación. Revisar si se editó/guardó, si se compara otro archivo o ruta y si la referencia previa es correcta. Registrar cualquier incidente y su corrección.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x del dueño. Los datos no son programas. Si se corrige, usar chmod simbólico y cambiar solo el archivo/permiso necesario; comprobar con ls -l antes y después.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archivo, permiso concreto, comando/argumento, razón y verificación posterior. Aclare que estos comandos son ejemplos condicionales: solo se ejecutan si el estado real requiere esa corrección.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falta contexto en el protocolo. La observación no se “discute”: si el lector no pudo repetirlo, el documento necesita información. Registrar las observaciones y cambios producidos.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una única respuesta; use la pregunta para que argumenten. Si encuentran una contraseña, debe retirarse de inmediato y seguir el procedimiento institucional indicado por el curso.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productivas: procedencia (base, versión, fecha), integridad respecto a la fuente y cómo inspeccionar/entender contenido grande. No introducir todavía el espacio institucional para datos grandes salvo como anticipación; el material indica que aún no se usa.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README no debe convertirse en protocolo. Debe orientar sobre propósito y organización. Al final volver a ejecutar ls -R y comprobar que el árbol real coincide con lo declarado.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un apartado vacío no distingue “no hubo diferencias” de “no se revisó”. Si no hubo diferencias, escribirlo explícitamente y acompañarlo con la evidencia que lo sostiene.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principalmente protocolo revisado por pares; checksums-u2.txt aporta una comprobación repetible específica. Conecte cada producto con lo que demuestra, no solo con dónde se guarda.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delimita qué está realmente respaldado por evidencia y evita sobreafirmar. Las limitaciones actuales son deliberadamente el puente hacia U3.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 esperada: cambió el propósito. Ya no se ejecutan para practicar sintaxis, sino para sostener afirmaciones con evidencia, contrastar el estado real y documentar correcciones.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2–3 minutos. Pida una afirmación que el estudiante ahora pueda sostener y la evidencia concreta que la respalda. Si responde solo con un comando, pedir qué salida o archivo demuestra la afirmación.
[Sources]
- https://helysalgado.github.io/introbioinfo-unix/u2-s6-consolidacion-entorno-unix.html
[/Sources]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731520"/>
            <a:ext cx="10972800" cy="685800"/>
          </a:xfrm>
          <a:prstGeom prst="rect">
            <a:avLst/>
          </a:prstGeom>
          <a:noFill/>
          <a:ln/>
        </p:spPr>
        <p:txBody>
          <a:bodyPr wrap="square" lIns="0" tIns="0" rIns="0" bIns="0" rtlCol="0" anchor="ctr"/>
          <a:lstStyle/>
          <a:p>
            <a:pPr marL="0" indent="0">
              <a:buNone/>
            </a:pPr>
            <a:r>
              <a:rPr lang="en-US" sz="2900" b="1" dirty="0">
                <a:solidFill>
                  <a:srgbClr val="17365D"/>
                </a:solidFill>
              </a:rPr>
              <a:t>S6 — Consolidar: el entorno Unix listo para datos biológicos</a:t>
            </a:r>
            <a:endParaRPr lang="en-US" sz="2900" dirty="0"/>
          </a:p>
        </p:txBody>
      </p:sp>
      <p:sp>
        <p:nvSpPr>
          <p:cNvPr id="3" name="Text 1"/>
          <p:cNvSpPr/>
          <p:nvPr/>
        </p:nvSpPr>
        <p:spPr>
          <a:xfrm>
            <a:off x="594360" y="1572768"/>
            <a:ext cx="10058400" cy="320040"/>
          </a:xfrm>
          <a:prstGeom prst="rect">
            <a:avLst/>
          </a:prstGeom>
          <a:noFill/>
          <a:ln/>
        </p:spPr>
        <p:txBody>
          <a:bodyPr wrap="square" lIns="0" tIns="0" rIns="0" bIns="0" rtlCol="0" anchor="ctr"/>
          <a:lstStyle/>
          <a:p>
            <a:pPr marL="0" indent="0">
              <a:buNone/>
            </a:pPr>
            <a:r>
              <a:rPr lang="en-US" sz="1500" dirty="0">
                <a:solidFill>
                  <a:srgbClr val="64748B"/>
                </a:solidFill>
              </a:rPr>
              <a:t>Unidad 2 · Sesión 6 · Cierre mediante evidencia verificable</a:t>
            </a:r>
            <a:endParaRPr lang="en-US" sz="1500" dirty="0"/>
          </a:p>
        </p:txBody>
      </p:sp>
      <p:sp>
        <p:nvSpPr>
          <p:cNvPr id="4" name="Shape 2"/>
          <p:cNvSpPr/>
          <p:nvPr/>
        </p:nvSpPr>
        <p:spPr>
          <a:xfrm>
            <a:off x="640080" y="2331720"/>
            <a:ext cx="3246120" cy="1371600"/>
          </a:xfrm>
          <a:prstGeom prst="roundRect">
            <a:avLst>
              <a:gd name="adj" fmla="val 4000"/>
            </a:avLst>
          </a:prstGeom>
          <a:solidFill>
            <a:srgbClr val="F3F6F9"/>
          </a:solidFill>
          <a:ln w="12700">
            <a:solidFill>
              <a:srgbClr val="D9E2EC"/>
            </a:solidFill>
            <a:prstDash val="solid"/>
          </a:ln>
        </p:spPr>
      </p:sp>
      <p:sp>
        <p:nvSpPr>
          <p:cNvPr id="5" name="Text 3"/>
          <p:cNvSpPr/>
          <p:nvPr/>
        </p:nvSpPr>
        <p:spPr>
          <a:xfrm>
            <a:off x="804672" y="2478024"/>
            <a:ext cx="2916936" cy="228600"/>
          </a:xfrm>
          <a:prstGeom prst="rect">
            <a:avLst/>
          </a:prstGeom>
          <a:noFill/>
          <a:ln/>
        </p:spPr>
        <p:txBody>
          <a:bodyPr wrap="square" lIns="0" tIns="0" rIns="0" bIns="0" rtlCol="0" anchor="ctr"/>
          <a:lstStyle/>
          <a:p>
            <a:pPr marL="0" indent="0">
              <a:buNone/>
            </a:pPr>
            <a:r>
              <a:rPr lang="en-US" sz="1100" b="1" dirty="0">
                <a:solidFill>
                  <a:srgbClr val="2F75B5"/>
                </a:solidFill>
              </a:rPr>
              <a:t>1 · AFIRMAR</a:t>
            </a:r>
            <a:endParaRPr lang="en-US" sz="1100" dirty="0"/>
          </a:p>
        </p:txBody>
      </p:sp>
      <p:sp>
        <p:nvSpPr>
          <p:cNvPr id="6" name="Text 4"/>
          <p:cNvSpPr/>
          <p:nvPr/>
        </p:nvSpPr>
        <p:spPr>
          <a:xfrm>
            <a:off x="804672" y="2807208"/>
            <a:ext cx="2916936" cy="777240"/>
          </a:xfrm>
          <a:prstGeom prst="rect">
            <a:avLst/>
          </a:prstGeom>
          <a:noFill/>
          <a:ln/>
        </p:spPr>
        <p:txBody>
          <a:bodyPr wrap="square" lIns="0" tIns="0" rIns="0" bIns="0" rtlCol="0" anchor="ctr">
            <a:normAutofit/>
          </a:bodyPr>
          <a:lstStyle/>
          <a:p>
            <a:pPr marL="0" indent="0">
              <a:buNone/>
            </a:pPr>
            <a:r>
              <a:rPr lang="en-US" sz="1300" dirty="0">
                <a:solidFill>
                  <a:srgbClr val="203040"/>
                </a:solidFill>
              </a:rPr>
              <a:t>Lo que creo que tengo</a:t>
            </a:r>
            <a:endParaRPr lang="en-US" sz="1300" dirty="0"/>
          </a:p>
        </p:txBody>
      </p:sp>
      <p:sp>
        <p:nvSpPr>
          <p:cNvPr id="7" name="Shape 5"/>
          <p:cNvSpPr/>
          <p:nvPr/>
        </p:nvSpPr>
        <p:spPr>
          <a:xfrm>
            <a:off x="4160520" y="2331720"/>
            <a:ext cx="3246120" cy="1371600"/>
          </a:xfrm>
          <a:prstGeom prst="roundRect">
            <a:avLst>
              <a:gd name="adj" fmla="val 4000"/>
            </a:avLst>
          </a:prstGeom>
          <a:solidFill>
            <a:srgbClr val="F3F6F9"/>
          </a:solidFill>
          <a:ln w="12700">
            <a:solidFill>
              <a:srgbClr val="D9E2EC"/>
            </a:solidFill>
            <a:prstDash val="solid"/>
          </a:ln>
        </p:spPr>
      </p:sp>
      <p:sp>
        <p:nvSpPr>
          <p:cNvPr id="8" name="Text 6"/>
          <p:cNvSpPr/>
          <p:nvPr/>
        </p:nvSpPr>
        <p:spPr>
          <a:xfrm>
            <a:off x="4325112" y="2478024"/>
            <a:ext cx="2916936" cy="228600"/>
          </a:xfrm>
          <a:prstGeom prst="rect">
            <a:avLst/>
          </a:prstGeom>
          <a:noFill/>
          <a:ln/>
        </p:spPr>
        <p:txBody>
          <a:bodyPr wrap="square" lIns="0" tIns="0" rIns="0" bIns="0" rtlCol="0" anchor="ctr"/>
          <a:lstStyle/>
          <a:p>
            <a:pPr marL="0" indent="0">
              <a:buNone/>
            </a:pPr>
            <a:r>
              <a:rPr lang="en-US" sz="1100" b="1" dirty="0">
                <a:solidFill>
                  <a:srgbClr val="2F75B5"/>
                </a:solidFill>
              </a:rPr>
              <a:t>2 · COMPROBAR</a:t>
            </a:r>
            <a:endParaRPr lang="en-US" sz="1100" dirty="0"/>
          </a:p>
        </p:txBody>
      </p:sp>
      <p:sp>
        <p:nvSpPr>
          <p:cNvPr id="9" name="Text 7"/>
          <p:cNvSpPr/>
          <p:nvPr/>
        </p:nvSpPr>
        <p:spPr>
          <a:xfrm>
            <a:off x="4325112" y="2807208"/>
            <a:ext cx="2916936" cy="777240"/>
          </a:xfrm>
          <a:prstGeom prst="rect">
            <a:avLst/>
          </a:prstGeom>
          <a:noFill/>
          <a:ln/>
        </p:spPr>
        <p:txBody>
          <a:bodyPr wrap="square" lIns="0" tIns="0" rIns="0" bIns="0" rtlCol="0" anchor="ctr">
            <a:normAutofit/>
          </a:bodyPr>
          <a:lstStyle/>
          <a:p>
            <a:pPr marL="0" indent="0">
              <a:buNone/>
            </a:pPr>
            <a:r>
              <a:rPr lang="en-US" sz="1300" dirty="0">
                <a:solidFill>
                  <a:srgbClr val="203040"/>
                </a:solidFill>
              </a:rPr>
              <a:t>Lo que muestra el servidor</a:t>
            </a:r>
            <a:endParaRPr lang="en-US" sz="1300" dirty="0"/>
          </a:p>
        </p:txBody>
      </p:sp>
      <p:sp>
        <p:nvSpPr>
          <p:cNvPr id="10" name="Shape 8"/>
          <p:cNvSpPr/>
          <p:nvPr/>
        </p:nvSpPr>
        <p:spPr>
          <a:xfrm>
            <a:off x="7680960" y="2331720"/>
            <a:ext cx="3246120" cy="1371600"/>
          </a:xfrm>
          <a:prstGeom prst="roundRect">
            <a:avLst>
              <a:gd name="adj" fmla="val 4000"/>
            </a:avLst>
          </a:prstGeom>
          <a:solidFill>
            <a:srgbClr val="F3F6F9"/>
          </a:solidFill>
          <a:ln w="12700">
            <a:solidFill>
              <a:srgbClr val="D9E2EC"/>
            </a:solidFill>
            <a:prstDash val="solid"/>
          </a:ln>
        </p:spPr>
      </p:sp>
      <p:sp>
        <p:nvSpPr>
          <p:cNvPr id="11" name="Text 9"/>
          <p:cNvSpPr/>
          <p:nvPr/>
        </p:nvSpPr>
        <p:spPr>
          <a:xfrm>
            <a:off x="7845552" y="2478024"/>
            <a:ext cx="2916936" cy="228600"/>
          </a:xfrm>
          <a:prstGeom prst="rect">
            <a:avLst/>
          </a:prstGeom>
          <a:noFill/>
          <a:ln/>
        </p:spPr>
        <p:txBody>
          <a:bodyPr wrap="square" lIns="0" tIns="0" rIns="0" bIns="0" rtlCol="0" anchor="ctr"/>
          <a:lstStyle/>
          <a:p>
            <a:pPr marL="0" indent="0">
              <a:buNone/>
            </a:pPr>
            <a:r>
              <a:rPr lang="en-US" sz="1100" b="1" dirty="0">
                <a:solidFill>
                  <a:srgbClr val="2F75B5"/>
                </a:solidFill>
              </a:rPr>
              <a:t>3 · DOCUMENTAR</a:t>
            </a:r>
            <a:endParaRPr lang="en-US" sz="1100" dirty="0"/>
          </a:p>
        </p:txBody>
      </p:sp>
      <p:sp>
        <p:nvSpPr>
          <p:cNvPr id="12" name="Text 10"/>
          <p:cNvSpPr/>
          <p:nvPr/>
        </p:nvSpPr>
        <p:spPr>
          <a:xfrm>
            <a:off x="7845552" y="2807208"/>
            <a:ext cx="2916936" cy="777240"/>
          </a:xfrm>
          <a:prstGeom prst="rect">
            <a:avLst/>
          </a:prstGeom>
          <a:noFill/>
          <a:ln/>
        </p:spPr>
        <p:txBody>
          <a:bodyPr wrap="square" lIns="0" tIns="0" rIns="0" bIns="0" rtlCol="0" anchor="ctr">
            <a:normAutofit/>
          </a:bodyPr>
          <a:lstStyle/>
          <a:p>
            <a:pPr marL="0" indent="0">
              <a:buNone/>
            </a:pPr>
            <a:r>
              <a:rPr lang="en-US" sz="1300" dirty="0">
                <a:solidFill>
                  <a:srgbClr val="203040"/>
                </a:solidFill>
              </a:rPr>
              <a:t>La evidencia que otra persona puede repetir</a:t>
            </a:r>
            <a:endParaRPr lang="en-US" sz="1300" dirty="0"/>
          </a:p>
        </p:txBody>
      </p:sp>
      <p:sp>
        <p:nvSpPr>
          <p:cNvPr id="13" name="Text 11"/>
          <p:cNvSpPr/>
          <p:nvPr/>
        </p:nvSpPr>
        <p:spPr>
          <a:xfrm>
            <a:off x="822960" y="4251960"/>
            <a:ext cx="10424160" cy="502920"/>
          </a:xfrm>
          <a:prstGeom prst="rect">
            <a:avLst/>
          </a:prstGeom>
          <a:noFill/>
          <a:ln/>
        </p:spPr>
        <p:txBody>
          <a:bodyPr wrap="square" lIns="0" tIns="0" rIns="0" bIns="0" rtlCol="0" anchor="ctr"/>
          <a:lstStyle/>
          <a:p>
            <a:pPr marL="0" indent="0" algn="ctr">
              <a:buNone/>
            </a:pPr>
            <a:r>
              <a:rPr lang="en-US" sz="1900" b="1" dirty="0">
                <a:solidFill>
                  <a:srgbClr val="2A9D8F"/>
                </a:solidFill>
              </a:rPr>
              <a:t>Hoy no construimos herramientas nuevas: demostramos que lo construido en S3–S5 está bien.</a:t>
            </a:r>
            <a:endParaRPr lang="en-US" sz="1900" dirty="0"/>
          </a:p>
        </p:txBody>
      </p:sp>
      <p:sp>
        <p:nvSpPr>
          <p:cNvPr id="14" name="Text 12"/>
          <p:cNvSpPr/>
          <p:nvPr/>
        </p:nvSpPr>
        <p:spPr>
          <a:xfrm>
            <a:off x="1051560" y="5074920"/>
            <a:ext cx="9966960" cy="365760"/>
          </a:xfrm>
          <a:prstGeom prst="rect">
            <a:avLst/>
          </a:prstGeom>
          <a:noFill/>
          <a:ln/>
        </p:spPr>
        <p:txBody>
          <a:bodyPr wrap="square" lIns="0" tIns="0" rIns="0" bIns="0" rtlCol="0" anchor="ctr"/>
          <a:lstStyle/>
          <a:p>
            <a:pPr marL="0" indent="0" algn="ctr">
              <a:buNone/>
            </a:pPr>
            <a:r>
              <a:rPr lang="en-US" sz="1600" dirty="0">
                <a:solidFill>
                  <a:srgbClr val="203040"/>
                </a:solidFill>
              </a:rPr>
              <a:t>afirmación  →  evidencia  →  contraste  →  corrección  →  cierre de U2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OBJETIVO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02</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¿Qué queremos demostrar hoy?</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Convertir afirmaciones sobre nuestro proyecto en evidencia comprobable.</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2057400"/>
            <a:ext cx="2029968" cy="1417320"/>
          </a:xfrm>
          <a:prstGeom prst="roundRect">
            <a:avLst>
              <a:gd name="adj" fmla="val 3871"/>
            </a:avLst>
          </a:prstGeom>
          <a:solidFill>
            <a:srgbClr val="F3F6F9"/>
          </a:solidFill>
          <a:ln w="12700">
            <a:solidFill>
              <a:srgbClr val="D9E2EC"/>
            </a:solidFill>
            <a:prstDash val="solid"/>
          </a:ln>
        </p:spPr>
      </p:sp>
      <p:sp>
        <p:nvSpPr>
          <p:cNvPr id="8" name="Text 6"/>
          <p:cNvSpPr/>
          <p:nvPr/>
        </p:nvSpPr>
        <p:spPr>
          <a:xfrm>
            <a:off x="804672" y="2203704"/>
            <a:ext cx="1700784" cy="228600"/>
          </a:xfrm>
          <a:prstGeom prst="rect">
            <a:avLst/>
          </a:prstGeom>
          <a:noFill/>
          <a:ln/>
        </p:spPr>
        <p:txBody>
          <a:bodyPr wrap="square" lIns="0" tIns="0" rIns="0" bIns="0" rtlCol="0" anchor="ctr"/>
          <a:lstStyle/>
          <a:p>
            <a:pPr marL="0" indent="0">
              <a:buNone/>
            </a:pPr>
            <a:r>
              <a:rPr lang="en-US" sz="1100" b="1" dirty="0">
                <a:solidFill>
                  <a:srgbClr val="2F75B5"/>
                </a:solidFill>
              </a:rPr>
              <a:t>01</a:t>
            </a:r>
            <a:endParaRPr lang="en-US" sz="1100" dirty="0"/>
          </a:p>
        </p:txBody>
      </p:sp>
      <p:sp>
        <p:nvSpPr>
          <p:cNvPr id="9" name="Text 7"/>
          <p:cNvSpPr/>
          <p:nvPr/>
        </p:nvSpPr>
        <p:spPr>
          <a:xfrm>
            <a:off x="804672" y="2532888"/>
            <a:ext cx="1700784"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Acceso autónomo</a:t>
            </a:r>
            <a:endParaRPr lang="en-US" sz="1300" dirty="0"/>
          </a:p>
        </p:txBody>
      </p:sp>
      <p:sp>
        <p:nvSpPr>
          <p:cNvPr id="10" name="Shape 8"/>
          <p:cNvSpPr/>
          <p:nvPr/>
        </p:nvSpPr>
        <p:spPr>
          <a:xfrm>
            <a:off x="2907792" y="2057400"/>
            <a:ext cx="2029968" cy="1417320"/>
          </a:xfrm>
          <a:prstGeom prst="roundRect">
            <a:avLst>
              <a:gd name="adj" fmla="val 3871"/>
            </a:avLst>
          </a:prstGeom>
          <a:solidFill>
            <a:srgbClr val="F3F6F9"/>
          </a:solidFill>
          <a:ln w="12700">
            <a:solidFill>
              <a:srgbClr val="D9E2EC"/>
            </a:solidFill>
            <a:prstDash val="solid"/>
          </a:ln>
        </p:spPr>
      </p:sp>
      <p:sp>
        <p:nvSpPr>
          <p:cNvPr id="11" name="Text 9"/>
          <p:cNvSpPr/>
          <p:nvPr/>
        </p:nvSpPr>
        <p:spPr>
          <a:xfrm>
            <a:off x="3072384" y="2203704"/>
            <a:ext cx="1700784" cy="228600"/>
          </a:xfrm>
          <a:prstGeom prst="rect">
            <a:avLst/>
          </a:prstGeom>
          <a:noFill/>
          <a:ln/>
        </p:spPr>
        <p:txBody>
          <a:bodyPr wrap="square" lIns="0" tIns="0" rIns="0" bIns="0" rtlCol="0" anchor="ctr"/>
          <a:lstStyle/>
          <a:p>
            <a:pPr marL="0" indent="0">
              <a:buNone/>
            </a:pPr>
            <a:r>
              <a:rPr lang="en-US" sz="1100" b="1" dirty="0">
                <a:solidFill>
                  <a:srgbClr val="2F75B5"/>
                </a:solidFill>
              </a:rPr>
              <a:t>02</a:t>
            </a:r>
            <a:endParaRPr lang="en-US" sz="1100" dirty="0"/>
          </a:p>
        </p:txBody>
      </p:sp>
      <p:sp>
        <p:nvSpPr>
          <p:cNvPr id="12" name="Text 10"/>
          <p:cNvSpPr/>
          <p:nvPr/>
        </p:nvSpPr>
        <p:spPr>
          <a:xfrm>
            <a:off x="3072384" y="2532888"/>
            <a:ext cx="1700784"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Estructura real</a:t>
            </a:r>
            <a:endParaRPr lang="en-US" sz="1300" dirty="0"/>
          </a:p>
        </p:txBody>
      </p:sp>
      <p:sp>
        <p:nvSpPr>
          <p:cNvPr id="13" name="Shape 11"/>
          <p:cNvSpPr/>
          <p:nvPr/>
        </p:nvSpPr>
        <p:spPr>
          <a:xfrm>
            <a:off x="5175504" y="2057400"/>
            <a:ext cx="2029968" cy="1417320"/>
          </a:xfrm>
          <a:prstGeom prst="roundRect">
            <a:avLst>
              <a:gd name="adj" fmla="val 3871"/>
            </a:avLst>
          </a:prstGeom>
          <a:solidFill>
            <a:srgbClr val="F3F6F9"/>
          </a:solidFill>
          <a:ln w="12700">
            <a:solidFill>
              <a:srgbClr val="D9E2EC"/>
            </a:solidFill>
            <a:prstDash val="solid"/>
          </a:ln>
        </p:spPr>
      </p:sp>
      <p:sp>
        <p:nvSpPr>
          <p:cNvPr id="14" name="Text 12"/>
          <p:cNvSpPr/>
          <p:nvPr/>
        </p:nvSpPr>
        <p:spPr>
          <a:xfrm>
            <a:off x="5340096" y="2203704"/>
            <a:ext cx="1700784" cy="228600"/>
          </a:xfrm>
          <a:prstGeom prst="rect">
            <a:avLst/>
          </a:prstGeom>
          <a:noFill/>
          <a:ln/>
        </p:spPr>
        <p:txBody>
          <a:bodyPr wrap="square" lIns="0" tIns="0" rIns="0" bIns="0" rtlCol="0" anchor="ctr"/>
          <a:lstStyle/>
          <a:p>
            <a:pPr marL="0" indent="0">
              <a:buNone/>
            </a:pPr>
            <a:r>
              <a:rPr lang="en-US" sz="1100" b="1" dirty="0">
                <a:solidFill>
                  <a:srgbClr val="2F75B5"/>
                </a:solidFill>
              </a:rPr>
              <a:t>03</a:t>
            </a:r>
            <a:endParaRPr lang="en-US" sz="1100" dirty="0"/>
          </a:p>
        </p:txBody>
      </p:sp>
      <p:sp>
        <p:nvSpPr>
          <p:cNvPr id="15" name="Text 13"/>
          <p:cNvSpPr/>
          <p:nvPr/>
        </p:nvSpPr>
        <p:spPr>
          <a:xfrm>
            <a:off x="5340096" y="2532888"/>
            <a:ext cx="1700784"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Integridad de originales</a:t>
            </a:r>
            <a:endParaRPr lang="en-US" sz="1300" dirty="0"/>
          </a:p>
        </p:txBody>
      </p:sp>
      <p:sp>
        <p:nvSpPr>
          <p:cNvPr id="16" name="Shape 14"/>
          <p:cNvSpPr/>
          <p:nvPr/>
        </p:nvSpPr>
        <p:spPr>
          <a:xfrm>
            <a:off x="7443216" y="2057400"/>
            <a:ext cx="2029968" cy="1417320"/>
          </a:xfrm>
          <a:prstGeom prst="roundRect">
            <a:avLst>
              <a:gd name="adj" fmla="val 3871"/>
            </a:avLst>
          </a:prstGeom>
          <a:solidFill>
            <a:srgbClr val="F3F6F9"/>
          </a:solidFill>
          <a:ln w="12700">
            <a:solidFill>
              <a:srgbClr val="D9E2EC"/>
            </a:solidFill>
            <a:prstDash val="solid"/>
          </a:ln>
        </p:spPr>
      </p:sp>
      <p:sp>
        <p:nvSpPr>
          <p:cNvPr id="17" name="Text 15"/>
          <p:cNvSpPr/>
          <p:nvPr/>
        </p:nvSpPr>
        <p:spPr>
          <a:xfrm>
            <a:off x="7607808" y="2203704"/>
            <a:ext cx="1700784" cy="228600"/>
          </a:xfrm>
          <a:prstGeom prst="rect">
            <a:avLst/>
          </a:prstGeom>
          <a:noFill/>
          <a:ln/>
        </p:spPr>
        <p:txBody>
          <a:bodyPr wrap="square" lIns="0" tIns="0" rIns="0" bIns="0" rtlCol="0" anchor="ctr"/>
          <a:lstStyle/>
          <a:p>
            <a:pPr marL="0" indent="0">
              <a:buNone/>
            </a:pPr>
            <a:r>
              <a:rPr lang="en-US" sz="1100" b="1" dirty="0">
                <a:solidFill>
                  <a:srgbClr val="2F75B5"/>
                </a:solidFill>
              </a:rPr>
              <a:t>04</a:t>
            </a:r>
            <a:endParaRPr lang="en-US" sz="1100" dirty="0"/>
          </a:p>
        </p:txBody>
      </p:sp>
      <p:sp>
        <p:nvSpPr>
          <p:cNvPr id="18" name="Text 16"/>
          <p:cNvSpPr/>
          <p:nvPr/>
        </p:nvSpPr>
        <p:spPr>
          <a:xfrm>
            <a:off x="7607808" y="2532888"/>
            <a:ext cx="1700784"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Permisos justificados</a:t>
            </a:r>
            <a:endParaRPr lang="en-US" sz="1300" dirty="0"/>
          </a:p>
        </p:txBody>
      </p:sp>
      <p:sp>
        <p:nvSpPr>
          <p:cNvPr id="19" name="Shape 17"/>
          <p:cNvSpPr/>
          <p:nvPr/>
        </p:nvSpPr>
        <p:spPr>
          <a:xfrm>
            <a:off x="9710928" y="2057400"/>
            <a:ext cx="2029968" cy="1417320"/>
          </a:xfrm>
          <a:prstGeom prst="roundRect">
            <a:avLst>
              <a:gd name="adj" fmla="val 3871"/>
            </a:avLst>
          </a:prstGeom>
          <a:solidFill>
            <a:srgbClr val="E8F4EE"/>
          </a:solidFill>
          <a:ln w="12700">
            <a:solidFill>
              <a:srgbClr val="D9E2EC"/>
            </a:solidFill>
            <a:prstDash val="solid"/>
          </a:ln>
        </p:spPr>
      </p:sp>
      <p:sp>
        <p:nvSpPr>
          <p:cNvPr id="20" name="Text 18"/>
          <p:cNvSpPr/>
          <p:nvPr/>
        </p:nvSpPr>
        <p:spPr>
          <a:xfrm>
            <a:off x="9875520" y="2203704"/>
            <a:ext cx="1700784" cy="228600"/>
          </a:xfrm>
          <a:prstGeom prst="rect">
            <a:avLst/>
          </a:prstGeom>
          <a:noFill/>
          <a:ln/>
        </p:spPr>
        <p:txBody>
          <a:bodyPr wrap="square" lIns="0" tIns="0" rIns="0" bIns="0" rtlCol="0" anchor="ctr"/>
          <a:lstStyle/>
          <a:p>
            <a:pPr marL="0" indent="0">
              <a:buNone/>
            </a:pPr>
            <a:r>
              <a:rPr lang="en-US" sz="1100" b="1" dirty="0">
                <a:solidFill>
                  <a:srgbClr val="2F75B5"/>
                </a:solidFill>
              </a:rPr>
              <a:t>05</a:t>
            </a:r>
            <a:endParaRPr lang="en-US" sz="1100" dirty="0"/>
          </a:p>
        </p:txBody>
      </p:sp>
      <p:sp>
        <p:nvSpPr>
          <p:cNvPr id="21" name="Text 19"/>
          <p:cNvSpPr/>
          <p:nvPr/>
        </p:nvSpPr>
        <p:spPr>
          <a:xfrm>
            <a:off x="9875520" y="2532888"/>
            <a:ext cx="1700784"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Protocolo repetible</a:t>
            </a:r>
            <a:endParaRPr lang="en-US" sz="1300" dirty="0"/>
          </a:p>
        </p:txBody>
      </p:sp>
      <p:sp>
        <p:nvSpPr>
          <p:cNvPr id="22" name="Text 20"/>
          <p:cNvSpPr/>
          <p:nvPr/>
        </p:nvSpPr>
        <p:spPr>
          <a:xfrm>
            <a:off x="685800" y="3977640"/>
            <a:ext cx="1554480" cy="201168"/>
          </a:xfrm>
          <a:prstGeom prst="rect">
            <a:avLst/>
          </a:prstGeom>
          <a:noFill/>
          <a:ln/>
        </p:spPr>
        <p:txBody>
          <a:bodyPr wrap="square" lIns="0" tIns="0" rIns="0" bIns="0" rtlCol="0" anchor="ctr"/>
          <a:lstStyle/>
          <a:p>
            <a:pPr marL="0" indent="0">
              <a:buNone/>
            </a:pPr>
            <a:r>
              <a:rPr lang="en-US" sz="1000" b="1" dirty="0">
                <a:solidFill>
                  <a:srgbClr val="2F75B5"/>
                </a:solidFill>
              </a:rPr>
              <a:t>CASO CONDUCTOR</a:t>
            </a:r>
            <a:endParaRPr lang="en-US" sz="1000" dirty="0"/>
          </a:p>
        </p:txBody>
      </p:sp>
      <p:sp>
        <p:nvSpPr>
          <p:cNvPr id="23" name="Text 21"/>
          <p:cNvSpPr/>
          <p:nvPr/>
        </p:nvSpPr>
        <p:spPr>
          <a:xfrm>
            <a:off x="685800" y="4297680"/>
            <a:ext cx="10607040" cy="658368"/>
          </a:xfrm>
          <a:prstGeom prst="rect">
            <a:avLst/>
          </a:prstGeom>
          <a:noFill/>
          <a:ln/>
        </p:spPr>
        <p:txBody>
          <a:bodyPr wrap="square" lIns="0" tIns="0" rIns="0" bIns="0" rtlCol="0" anchor="ctr"/>
          <a:lstStyle/>
          <a:p>
            <a:pPr marL="0" indent="0">
              <a:buNone/>
            </a:pPr>
            <a:r>
              <a:rPr lang="en-US" sz="2000" b="1" dirty="0">
                <a:solidFill>
                  <a:srgbClr val="17365D"/>
                </a:solidFill>
              </a:rPr>
              <a:t>¿Puedo demostrar —sin pedir que me crean— que ~/proyecto-ecoli está listo para recibir datos biológicos reales?</a:t>
            </a:r>
            <a:endParaRPr lang="en-US" sz="2000" dirty="0"/>
          </a:p>
        </p:txBody>
      </p:sp>
      <p:sp>
        <p:nvSpPr>
          <p:cNvPr id="24" name="Shape 22"/>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5" name="Text 23"/>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6" name="Text 24"/>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diferencia hay entre “me funcionó” y “puedo demostrar que funciona”?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ANTES DE EMPEZAR</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03</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Lo que crees que tienes</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No te conectes todavía. El valor está en comparar memoria contra evidencia.</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965960"/>
            <a:ext cx="5212080" cy="3383280"/>
          </a:xfrm>
          <a:prstGeom prst="roundRect">
            <a:avLst>
              <a:gd name="adj" fmla="val 1622"/>
            </a:avLst>
          </a:prstGeom>
          <a:solidFill>
            <a:srgbClr val="FFF2CC"/>
          </a:solidFill>
          <a:ln w="12700">
            <a:solidFill>
              <a:srgbClr val="D9E2EC"/>
            </a:solidFill>
            <a:prstDash val="solid"/>
          </a:ln>
        </p:spPr>
      </p:sp>
      <p:sp>
        <p:nvSpPr>
          <p:cNvPr id="8" name="Text 6"/>
          <p:cNvSpPr/>
          <p:nvPr/>
        </p:nvSpPr>
        <p:spPr>
          <a:xfrm>
            <a:off x="804672" y="2112264"/>
            <a:ext cx="4882896" cy="228600"/>
          </a:xfrm>
          <a:prstGeom prst="rect">
            <a:avLst/>
          </a:prstGeom>
          <a:noFill/>
          <a:ln/>
        </p:spPr>
        <p:txBody>
          <a:bodyPr wrap="square" lIns="0" tIns="0" rIns="0" bIns="0" rtlCol="0" anchor="ctr"/>
          <a:lstStyle/>
          <a:p>
            <a:pPr marL="0" indent="0">
              <a:buNone/>
            </a:pPr>
            <a:r>
              <a:rPr lang="en-US" sz="1100" b="1" dirty="0">
                <a:solidFill>
                  <a:srgbClr val="2F75B5"/>
                </a:solidFill>
              </a:rPr>
              <a:t>COMPLETA DE MEMORIA</a:t>
            </a:r>
            <a:endParaRPr lang="en-US" sz="1100" dirty="0"/>
          </a:p>
        </p:txBody>
      </p:sp>
      <p:sp>
        <p:nvSpPr>
          <p:cNvPr id="9" name="Text 7"/>
          <p:cNvSpPr/>
          <p:nvPr/>
        </p:nvSpPr>
        <p:spPr>
          <a:xfrm>
            <a:off x="804672" y="2441448"/>
            <a:ext cx="4882896" cy="2788920"/>
          </a:xfrm>
          <a:prstGeom prst="rect">
            <a:avLst/>
          </a:prstGeom>
          <a:noFill/>
          <a:ln/>
        </p:spPr>
        <p:txBody>
          <a:bodyPr wrap="square" lIns="0" tIns="0" rIns="0" bIns="0" rtlCol="0" anchor="ctr">
            <a:normAutofit/>
          </a:bodyPr>
          <a:lstStyle/>
          <a:p>
            <a:pPr marL="0" indent="0">
              <a:buNone/>
            </a:pPr>
            <a:r>
              <a:rPr lang="en-US" sz="1300" dirty="0">
                <a:solidFill>
                  <a:srgbClr val="203040"/>
                </a:solidFill>
              </a:rPr>
              <a:t>• Ruta absoluta de tu proyecto</a:t>
            </a:r>
            <a:endParaRPr lang="en-US" sz="1300" dirty="0"/>
          </a:p>
          <a:p>
            <a:pPr marL="0" indent="0">
              <a:buNone/>
            </a:pPr>
            <a:r>
              <a:rPr lang="en-US" sz="1300" dirty="0">
                <a:solidFill>
                  <a:srgbClr val="203040"/>
                </a:solidFill>
              </a:rPr>
              <a:t>• ¿Qué hay en data/source/?</a:t>
            </a:r>
            <a:endParaRPr lang="en-US" sz="1300" dirty="0"/>
          </a:p>
          <a:p>
            <a:pPr marL="0" indent="0">
              <a:buNone/>
            </a:pPr>
            <a:r>
              <a:rPr lang="en-US" sz="1300" dirty="0">
                <a:solidFill>
                  <a:srgbClr val="203040"/>
                </a:solidFill>
              </a:rPr>
              <a:t>• ¿Qué hay en doc/?</a:t>
            </a:r>
            <a:endParaRPr lang="en-US" sz="1300" dirty="0"/>
          </a:p>
          <a:p>
            <a:pPr marL="0" indent="0">
              <a:buNone/>
            </a:pPr>
            <a:r>
              <a:rPr lang="en-US" sz="1300" dirty="0">
                <a:solidFill>
                  <a:srgbClr val="203040"/>
                </a:solidFill>
              </a:rPr>
              <a:t>• ¿Hay algún archivo ejecutable?</a:t>
            </a:r>
            <a:endParaRPr lang="en-US" sz="1300" dirty="0"/>
          </a:p>
          <a:p>
            <a:pPr marL="0" indent="0">
              <a:buNone/>
            </a:pPr>
            <a:r>
              <a:rPr lang="en-US" sz="1300" dirty="0">
                <a:solidFill>
                  <a:srgbClr val="203040"/>
                </a:solidFill>
              </a:rPr>
              <a:t>• ¿Siguen intactos los originales?</a:t>
            </a:r>
            <a:endParaRPr lang="en-US" sz="1300" dirty="0"/>
          </a:p>
        </p:txBody>
      </p:sp>
      <p:sp>
        <p:nvSpPr>
          <p:cNvPr id="10" name="Shape 8"/>
          <p:cNvSpPr/>
          <p:nvPr/>
        </p:nvSpPr>
        <p:spPr>
          <a:xfrm>
            <a:off x="6126480" y="1965960"/>
            <a:ext cx="5212080" cy="3383280"/>
          </a:xfrm>
          <a:prstGeom prst="roundRect">
            <a:avLst>
              <a:gd name="adj" fmla="val 1622"/>
            </a:avLst>
          </a:prstGeom>
          <a:solidFill>
            <a:srgbClr val="F3F6F9"/>
          </a:solidFill>
          <a:ln w="12700">
            <a:solidFill>
              <a:srgbClr val="D9E2EC"/>
            </a:solidFill>
            <a:prstDash val="solid"/>
          </a:ln>
        </p:spPr>
      </p:sp>
      <p:sp>
        <p:nvSpPr>
          <p:cNvPr id="11" name="Text 9"/>
          <p:cNvSpPr/>
          <p:nvPr/>
        </p:nvSpPr>
        <p:spPr>
          <a:xfrm>
            <a:off x="6291072" y="2112264"/>
            <a:ext cx="4882896" cy="228600"/>
          </a:xfrm>
          <a:prstGeom prst="rect">
            <a:avLst/>
          </a:prstGeom>
          <a:noFill/>
          <a:ln/>
        </p:spPr>
        <p:txBody>
          <a:bodyPr wrap="square" lIns="0" tIns="0" rIns="0" bIns="0" rtlCol="0" anchor="ctr"/>
          <a:lstStyle/>
          <a:p>
            <a:pPr marL="0" indent="0">
              <a:buNone/>
            </a:pPr>
            <a:r>
              <a:rPr lang="en-US" sz="1100" b="1" dirty="0">
                <a:solidFill>
                  <a:srgbClr val="2F75B5"/>
                </a:solidFill>
              </a:rPr>
              <a:t>PARA CADA AFIRMACIÓN</a:t>
            </a:r>
            <a:endParaRPr lang="en-US" sz="1100" dirty="0"/>
          </a:p>
        </p:txBody>
      </p:sp>
      <p:sp>
        <p:nvSpPr>
          <p:cNvPr id="12" name="Text 10"/>
          <p:cNvSpPr/>
          <p:nvPr/>
        </p:nvSpPr>
        <p:spPr>
          <a:xfrm>
            <a:off x="6291072" y="2441448"/>
            <a:ext cx="4882896" cy="2788920"/>
          </a:xfrm>
          <a:prstGeom prst="rect">
            <a:avLst/>
          </a:prstGeom>
          <a:noFill/>
          <a:ln/>
        </p:spPr>
        <p:txBody>
          <a:bodyPr wrap="square" lIns="0" tIns="0" rIns="0" bIns="0" rtlCol="0" anchor="ctr">
            <a:normAutofit/>
          </a:bodyPr>
          <a:lstStyle/>
          <a:p>
            <a:pPr marL="0" indent="0">
              <a:buNone/>
            </a:pPr>
            <a:r>
              <a:rPr lang="en-US" sz="1300" dirty="0">
                <a:solidFill>
                  <a:srgbClr val="203040"/>
                </a:solidFill>
              </a:rPr>
              <a:t>Escribe también:</a:t>
            </a:r>
            <a:endParaRPr lang="en-US" sz="1300" dirty="0"/>
          </a:p>
          <a:p>
            <a:pPr marL="0" indent="0">
              <a:buNone/>
            </a:pPr>
            <a:endParaRPr lang="en-US" sz="1300" dirty="0"/>
          </a:p>
          <a:p>
            <a:pPr marL="0" indent="0">
              <a:buNone/>
            </a:pPr>
            <a:r>
              <a:rPr lang="en-US" sz="1300" dirty="0">
                <a:solidFill>
                  <a:srgbClr val="203040"/>
                </a:solidFill>
              </a:rPr>
              <a:t>¿Con qué comando o evidencia podrías comprobarlo?</a:t>
            </a:r>
            <a:endParaRPr lang="en-US" sz="1300" dirty="0"/>
          </a:p>
          <a:p>
            <a:pPr marL="0" indent="0">
              <a:buNone/>
            </a:pPr>
            <a:endParaRPr lang="en-US" sz="1300" dirty="0"/>
          </a:p>
          <a:p>
            <a:pPr marL="0" indent="0">
              <a:buNone/>
            </a:pPr>
            <a:r>
              <a:rPr lang="en-US" sz="1300" dirty="0">
                <a:solidFill>
                  <a:srgbClr val="203040"/>
                </a:solidFill>
              </a:rPr>
              <a:t>No corrijas todavía tu respuesta.</a:t>
            </a:r>
            <a:endParaRPr lang="en-US" sz="1300" dirty="0"/>
          </a:p>
        </p:txBody>
      </p:sp>
      <p:sp>
        <p:nvSpPr>
          <p:cNvPr id="13" name="Shape 11"/>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4" name="Text 12"/>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5" name="Text 13"/>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¿Cuál de tus afirmaciones te costaría más demostrar ahora mismo?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IDEA CLAVE</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04</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Una afirmación no es una evidencia</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La evidencia debe poder comprobarse sin depender de tu memoria.</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2011680"/>
            <a:ext cx="3337560" cy="2423160"/>
          </a:xfrm>
          <a:prstGeom prst="roundRect">
            <a:avLst>
              <a:gd name="adj" fmla="val 2264"/>
            </a:avLst>
          </a:prstGeom>
          <a:solidFill>
            <a:srgbClr val="FCE8E6"/>
          </a:solidFill>
          <a:ln w="12700">
            <a:solidFill>
              <a:srgbClr val="D9E2EC"/>
            </a:solidFill>
            <a:prstDash val="solid"/>
          </a:ln>
        </p:spPr>
      </p:sp>
      <p:sp>
        <p:nvSpPr>
          <p:cNvPr id="8" name="Text 6"/>
          <p:cNvSpPr/>
          <p:nvPr/>
        </p:nvSpPr>
        <p:spPr>
          <a:xfrm>
            <a:off x="896112" y="215798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RECUERDO</a:t>
            </a:r>
            <a:endParaRPr lang="en-US" sz="1100" dirty="0"/>
          </a:p>
        </p:txBody>
      </p:sp>
      <p:sp>
        <p:nvSpPr>
          <p:cNvPr id="9" name="Text 7"/>
          <p:cNvSpPr/>
          <p:nvPr/>
        </p:nvSpPr>
        <p:spPr>
          <a:xfrm>
            <a:off x="896112" y="248716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“Sí, lo hice en S4.”</a:t>
            </a:r>
            <a:endParaRPr lang="en-US" sz="1300" dirty="0"/>
          </a:p>
          <a:p>
            <a:pPr marL="0" indent="0">
              <a:buNone/>
            </a:pPr>
            <a:endParaRPr lang="en-US" sz="1300" dirty="0"/>
          </a:p>
          <a:p>
            <a:pPr marL="0" indent="0">
              <a:buNone/>
            </a:pPr>
            <a:r>
              <a:rPr lang="en-US" sz="1300" dirty="0">
                <a:solidFill>
                  <a:srgbClr val="203040"/>
                </a:solidFill>
              </a:rPr>
              <a:t>No demuestra el estado actual.</a:t>
            </a:r>
            <a:endParaRPr lang="en-US" sz="1300" dirty="0"/>
          </a:p>
        </p:txBody>
      </p:sp>
      <p:sp>
        <p:nvSpPr>
          <p:cNvPr id="10" name="Shape 8"/>
          <p:cNvSpPr/>
          <p:nvPr/>
        </p:nvSpPr>
        <p:spPr>
          <a:xfrm>
            <a:off x="4434840" y="2011680"/>
            <a:ext cx="3337560" cy="2423160"/>
          </a:xfrm>
          <a:prstGeom prst="roundRect">
            <a:avLst>
              <a:gd name="adj" fmla="val 2264"/>
            </a:avLst>
          </a:prstGeom>
          <a:solidFill>
            <a:srgbClr val="FFF2CC"/>
          </a:solidFill>
          <a:ln w="12700">
            <a:solidFill>
              <a:srgbClr val="D9E2EC"/>
            </a:solidFill>
            <a:prstDash val="solid"/>
          </a:ln>
        </p:spPr>
      </p:sp>
      <p:sp>
        <p:nvSpPr>
          <p:cNvPr id="11" name="Text 9"/>
          <p:cNvSpPr/>
          <p:nvPr/>
        </p:nvSpPr>
        <p:spPr>
          <a:xfrm>
            <a:off x="4599432" y="215798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AFIRMACIÓN</a:t>
            </a:r>
            <a:endParaRPr lang="en-US" sz="1100" dirty="0"/>
          </a:p>
        </p:txBody>
      </p:sp>
      <p:sp>
        <p:nvSpPr>
          <p:cNvPr id="12" name="Text 10"/>
          <p:cNvSpPr/>
          <p:nvPr/>
        </p:nvSpPr>
        <p:spPr>
          <a:xfrm>
            <a:off x="4599432" y="248716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“Sí, data/source/ está ahí.”</a:t>
            </a:r>
            <a:endParaRPr lang="en-US" sz="1300" dirty="0"/>
          </a:p>
          <a:p>
            <a:pPr marL="0" indent="0">
              <a:buNone/>
            </a:pPr>
            <a:endParaRPr lang="en-US" sz="1300" dirty="0"/>
          </a:p>
          <a:p>
            <a:pPr marL="0" indent="0">
              <a:buNone/>
            </a:pPr>
            <a:r>
              <a:rPr lang="en-US" sz="1300" dirty="0">
                <a:solidFill>
                  <a:srgbClr val="203040"/>
                </a:solidFill>
              </a:rPr>
              <a:t>Todavía hay que comprobarlo.</a:t>
            </a:r>
            <a:endParaRPr lang="en-US" sz="1300" dirty="0"/>
          </a:p>
        </p:txBody>
      </p:sp>
      <p:sp>
        <p:nvSpPr>
          <p:cNvPr id="13" name="Shape 11"/>
          <p:cNvSpPr/>
          <p:nvPr/>
        </p:nvSpPr>
        <p:spPr>
          <a:xfrm>
            <a:off x="8138160" y="2011680"/>
            <a:ext cx="3337560" cy="2423160"/>
          </a:xfrm>
          <a:prstGeom prst="roundRect">
            <a:avLst>
              <a:gd name="adj" fmla="val 2264"/>
            </a:avLst>
          </a:prstGeom>
          <a:solidFill>
            <a:srgbClr val="E8F4EE"/>
          </a:solidFill>
          <a:ln w="12700">
            <a:solidFill>
              <a:srgbClr val="D9E2EC"/>
            </a:solidFill>
            <a:prstDash val="solid"/>
          </a:ln>
        </p:spPr>
      </p:sp>
      <p:sp>
        <p:nvSpPr>
          <p:cNvPr id="14" name="Text 12"/>
          <p:cNvSpPr/>
          <p:nvPr/>
        </p:nvSpPr>
        <p:spPr>
          <a:xfrm>
            <a:off x="8302752" y="215798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EVIDENCIA</a:t>
            </a:r>
            <a:endParaRPr lang="en-US" sz="1100" dirty="0"/>
          </a:p>
        </p:txBody>
      </p:sp>
      <p:sp>
        <p:nvSpPr>
          <p:cNvPr id="15" name="Text 13"/>
          <p:cNvSpPr/>
          <p:nvPr/>
        </p:nvSpPr>
        <p:spPr>
          <a:xfrm>
            <a:off x="8302752" y="248716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Salida del servidor + checksum + registro reproducible.</a:t>
            </a:r>
            <a:endParaRPr lang="en-US" sz="1300" dirty="0"/>
          </a:p>
          <a:p>
            <a:pPr marL="0" indent="0">
              <a:buNone/>
            </a:pPr>
            <a:endParaRPr lang="en-US" sz="1300" dirty="0"/>
          </a:p>
          <a:p>
            <a:pPr marL="0" indent="0">
              <a:buNone/>
            </a:pPr>
            <a:r>
              <a:rPr lang="en-US" sz="1300" dirty="0">
                <a:solidFill>
                  <a:srgbClr val="203040"/>
                </a:solidFill>
              </a:rPr>
              <a:t>Otra persona puede verificarlo.</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tendría que acompañar una afirmación para que tú la aceptaras como evidencia?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1 · ACCESO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05</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Reconectar y situarse antes de trabajar</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Primero confirma máquina, usuario y directorio.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920240"/>
            <a:ext cx="6720840" cy="3063240"/>
          </a:xfrm>
          <a:prstGeom prst="roundRect">
            <a:avLst>
              <a:gd name="adj" fmla="val 2388"/>
            </a:avLst>
          </a:prstGeom>
          <a:solidFill>
            <a:srgbClr val="111827"/>
          </a:solidFill>
          <a:ln w="12700">
            <a:solidFill>
              <a:srgbClr val="111827"/>
            </a:solidFill>
            <a:prstDash val="solid"/>
          </a:ln>
        </p:spPr>
      </p:sp>
      <p:sp>
        <p:nvSpPr>
          <p:cNvPr id="8" name="Text 6"/>
          <p:cNvSpPr/>
          <p:nvPr/>
        </p:nvSpPr>
        <p:spPr>
          <a:xfrm>
            <a:off x="868680" y="206654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423160"/>
            <a:ext cx="6217920" cy="240487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hostname</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servidor-curso</a:t>
            </a:r>
            <a:endParaRPr lang="en-US" sz="1300" dirty="0"/>
          </a:p>
          <a:p>
            <a:pPr marL="0" indent="0">
              <a:buNone/>
            </a:pP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whoami</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alumna</a:t>
            </a:r>
            <a:endParaRPr lang="en-US" sz="1300" dirty="0"/>
          </a:p>
          <a:p>
            <a:pPr marL="0" indent="0">
              <a:buNone/>
            </a:pP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pwd</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/home/alumna</a:t>
            </a:r>
            <a:endParaRPr lang="en-US" sz="1300" dirty="0"/>
          </a:p>
        </p:txBody>
      </p:sp>
      <p:sp>
        <p:nvSpPr>
          <p:cNvPr id="10" name="Shape 8"/>
          <p:cNvSpPr/>
          <p:nvPr/>
        </p:nvSpPr>
        <p:spPr>
          <a:xfrm>
            <a:off x="7635240" y="1965960"/>
            <a:ext cx="3657600" cy="914400"/>
          </a:xfrm>
          <a:prstGeom prst="roundRect">
            <a:avLst>
              <a:gd name="adj" fmla="val 6000"/>
            </a:avLst>
          </a:prstGeom>
          <a:solidFill>
            <a:srgbClr val="F3F6F9"/>
          </a:solidFill>
          <a:ln w="12700">
            <a:solidFill>
              <a:srgbClr val="D9E2EC"/>
            </a:solidFill>
            <a:prstDash val="solid"/>
          </a:ln>
        </p:spPr>
      </p:sp>
      <p:sp>
        <p:nvSpPr>
          <p:cNvPr id="11" name="Text 9"/>
          <p:cNvSpPr/>
          <p:nvPr/>
        </p:nvSpPr>
        <p:spPr>
          <a:xfrm>
            <a:off x="7799832" y="2112264"/>
            <a:ext cx="3328416" cy="228600"/>
          </a:xfrm>
          <a:prstGeom prst="rect">
            <a:avLst/>
          </a:prstGeom>
          <a:noFill/>
          <a:ln/>
        </p:spPr>
        <p:txBody>
          <a:bodyPr wrap="square" lIns="0" tIns="0" rIns="0" bIns="0" rtlCol="0" anchor="ctr"/>
          <a:lstStyle/>
          <a:p>
            <a:pPr marL="0" indent="0">
              <a:buNone/>
            </a:pPr>
            <a:r>
              <a:rPr lang="en-US" sz="1100" b="1" dirty="0">
                <a:solidFill>
                  <a:srgbClr val="2F75B5"/>
                </a:solidFill>
              </a:rPr>
              <a:t>HOSTNAME</a:t>
            </a:r>
            <a:endParaRPr lang="en-US" sz="1100" dirty="0"/>
          </a:p>
        </p:txBody>
      </p:sp>
      <p:sp>
        <p:nvSpPr>
          <p:cNvPr id="12" name="Text 10"/>
          <p:cNvSpPr/>
          <p:nvPr/>
        </p:nvSpPr>
        <p:spPr>
          <a:xfrm>
            <a:off x="7799832" y="2441448"/>
            <a:ext cx="3328416" cy="320040"/>
          </a:xfrm>
          <a:prstGeom prst="rect">
            <a:avLst/>
          </a:prstGeom>
          <a:noFill/>
          <a:ln/>
        </p:spPr>
        <p:txBody>
          <a:bodyPr wrap="square" lIns="0" tIns="0" rIns="0" bIns="0" rtlCol="0" anchor="ctr">
            <a:normAutofit/>
          </a:bodyPr>
          <a:lstStyle/>
          <a:p>
            <a:pPr marL="0" indent="0">
              <a:buNone/>
            </a:pPr>
            <a:r>
              <a:rPr lang="en-US" sz="1300" dirty="0">
                <a:solidFill>
                  <a:srgbClr val="203040"/>
                </a:solidFill>
              </a:rPr>
              <a:t>¿En qué máquina estoy?</a:t>
            </a:r>
            <a:endParaRPr lang="en-US" sz="1300" dirty="0"/>
          </a:p>
        </p:txBody>
      </p:sp>
      <p:sp>
        <p:nvSpPr>
          <p:cNvPr id="13" name="Shape 11"/>
          <p:cNvSpPr/>
          <p:nvPr/>
        </p:nvSpPr>
        <p:spPr>
          <a:xfrm>
            <a:off x="7635240" y="3063240"/>
            <a:ext cx="3657600" cy="914400"/>
          </a:xfrm>
          <a:prstGeom prst="roundRect">
            <a:avLst>
              <a:gd name="adj" fmla="val 6000"/>
            </a:avLst>
          </a:prstGeom>
          <a:solidFill>
            <a:srgbClr val="F3F6F9"/>
          </a:solidFill>
          <a:ln w="12700">
            <a:solidFill>
              <a:srgbClr val="D9E2EC"/>
            </a:solidFill>
            <a:prstDash val="solid"/>
          </a:ln>
        </p:spPr>
      </p:sp>
      <p:sp>
        <p:nvSpPr>
          <p:cNvPr id="14" name="Text 12"/>
          <p:cNvSpPr/>
          <p:nvPr/>
        </p:nvSpPr>
        <p:spPr>
          <a:xfrm>
            <a:off x="7799832" y="3209544"/>
            <a:ext cx="3328416" cy="228600"/>
          </a:xfrm>
          <a:prstGeom prst="rect">
            <a:avLst/>
          </a:prstGeom>
          <a:noFill/>
          <a:ln/>
        </p:spPr>
        <p:txBody>
          <a:bodyPr wrap="square" lIns="0" tIns="0" rIns="0" bIns="0" rtlCol="0" anchor="ctr"/>
          <a:lstStyle/>
          <a:p>
            <a:pPr marL="0" indent="0">
              <a:buNone/>
            </a:pPr>
            <a:r>
              <a:rPr lang="en-US" sz="1100" b="1" dirty="0">
                <a:solidFill>
                  <a:srgbClr val="2F75B5"/>
                </a:solidFill>
              </a:rPr>
              <a:t>WHOAMI</a:t>
            </a:r>
            <a:endParaRPr lang="en-US" sz="1100" dirty="0"/>
          </a:p>
        </p:txBody>
      </p:sp>
      <p:sp>
        <p:nvSpPr>
          <p:cNvPr id="15" name="Text 13"/>
          <p:cNvSpPr/>
          <p:nvPr/>
        </p:nvSpPr>
        <p:spPr>
          <a:xfrm>
            <a:off x="7799832" y="3538728"/>
            <a:ext cx="3328416" cy="320040"/>
          </a:xfrm>
          <a:prstGeom prst="rect">
            <a:avLst/>
          </a:prstGeom>
          <a:noFill/>
          <a:ln/>
        </p:spPr>
        <p:txBody>
          <a:bodyPr wrap="square" lIns="0" tIns="0" rIns="0" bIns="0" rtlCol="0" anchor="ctr">
            <a:normAutofit/>
          </a:bodyPr>
          <a:lstStyle/>
          <a:p>
            <a:pPr marL="0" indent="0">
              <a:buNone/>
            </a:pPr>
            <a:r>
              <a:rPr lang="en-US" sz="1300" dirty="0">
                <a:solidFill>
                  <a:srgbClr val="203040"/>
                </a:solidFill>
              </a:rPr>
              <a:t>¿Con qué usuario?</a:t>
            </a:r>
            <a:endParaRPr lang="en-US" sz="1300" dirty="0"/>
          </a:p>
        </p:txBody>
      </p:sp>
      <p:sp>
        <p:nvSpPr>
          <p:cNvPr id="16" name="Shape 14"/>
          <p:cNvSpPr/>
          <p:nvPr/>
        </p:nvSpPr>
        <p:spPr>
          <a:xfrm>
            <a:off x="7635240" y="4160520"/>
            <a:ext cx="3657600" cy="914400"/>
          </a:xfrm>
          <a:prstGeom prst="roundRect">
            <a:avLst>
              <a:gd name="adj" fmla="val 6000"/>
            </a:avLst>
          </a:prstGeom>
          <a:solidFill>
            <a:srgbClr val="F3F6F9"/>
          </a:solidFill>
          <a:ln w="12700">
            <a:solidFill>
              <a:srgbClr val="D9E2EC"/>
            </a:solidFill>
            <a:prstDash val="solid"/>
          </a:ln>
        </p:spPr>
      </p:sp>
      <p:sp>
        <p:nvSpPr>
          <p:cNvPr id="17" name="Text 15"/>
          <p:cNvSpPr/>
          <p:nvPr/>
        </p:nvSpPr>
        <p:spPr>
          <a:xfrm>
            <a:off x="7799832" y="4306824"/>
            <a:ext cx="3328416" cy="228600"/>
          </a:xfrm>
          <a:prstGeom prst="rect">
            <a:avLst/>
          </a:prstGeom>
          <a:noFill/>
          <a:ln/>
        </p:spPr>
        <p:txBody>
          <a:bodyPr wrap="square" lIns="0" tIns="0" rIns="0" bIns="0" rtlCol="0" anchor="ctr"/>
          <a:lstStyle/>
          <a:p>
            <a:pPr marL="0" indent="0">
              <a:buNone/>
            </a:pPr>
            <a:r>
              <a:rPr lang="en-US" sz="1100" b="1" dirty="0">
                <a:solidFill>
                  <a:srgbClr val="2F75B5"/>
                </a:solidFill>
              </a:rPr>
              <a:t>PWD</a:t>
            </a:r>
            <a:endParaRPr lang="en-US" sz="1100" dirty="0"/>
          </a:p>
        </p:txBody>
      </p:sp>
      <p:sp>
        <p:nvSpPr>
          <p:cNvPr id="18" name="Text 16"/>
          <p:cNvSpPr/>
          <p:nvPr/>
        </p:nvSpPr>
        <p:spPr>
          <a:xfrm>
            <a:off x="7799832" y="4636008"/>
            <a:ext cx="3328416" cy="320040"/>
          </a:xfrm>
          <a:prstGeom prst="rect">
            <a:avLst/>
          </a:prstGeom>
          <a:noFill/>
          <a:ln/>
        </p:spPr>
        <p:txBody>
          <a:bodyPr wrap="square" lIns="0" tIns="0" rIns="0" bIns="0" rtlCol="0" anchor="ctr">
            <a:normAutofit/>
          </a:bodyPr>
          <a:lstStyle/>
          <a:p>
            <a:pPr marL="0" indent="0">
              <a:buNone/>
            </a:pPr>
            <a:r>
              <a:rPr lang="en-US" sz="1300" dirty="0">
                <a:solidFill>
                  <a:srgbClr val="203040"/>
                </a:solidFill>
              </a:rPr>
              <a:t>¿En qué directorio estoy?</a:t>
            </a:r>
            <a:endParaRPr lang="en-US" sz="1300" dirty="0"/>
          </a:p>
        </p:txBody>
      </p:sp>
      <p:sp>
        <p:nvSpPr>
          <p:cNvPr id="19" name="Shape 17"/>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0" name="Text 18"/>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1" name="Text 19"/>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Si pwd devuelve /home/alumna, ¿ya estás dentro de proyecto-ecoli?</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1 · ACCESO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06</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Ruta absoluta ≠ abreviatura del shell</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Comprueba la ruta real del proyecto.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2057400"/>
            <a:ext cx="6720840" cy="1828800"/>
          </a:xfrm>
          <a:prstGeom prst="roundRect">
            <a:avLst>
              <a:gd name="adj" fmla="val 4000"/>
            </a:avLst>
          </a:prstGeom>
          <a:solidFill>
            <a:srgbClr val="111827"/>
          </a:solidFill>
          <a:ln w="12700">
            <a:solidFill>
              <a:srgbClr val="111827"/>
            </a:solidFill>
            <a:prstDash val="solid"/>
          </a:ln>
        </p:spPr>
      </p:sp>
      <p:sp>
        <p:nvSpPr>
          <p:cNvPr id="8" name="Text 6"/>
          <p:cNvSpPr/>
          <p:nvPr/>
        </p:nvSpPr>
        <p:spPr>
          <a:xfrm>
            <a:off x="868680" y="220370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560320"/>
            <a:ext cx="6217920" cy="117043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cd ~/proyecto-ecoli</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pwd</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/home/alumna/proyecto-ecoli</a:t>
            </a:r>
            <a:endParaRPr lang="en-US" sz="1300" dirty="0"/>
          </a:p>
        </p:txBody>
      </p:sp>
      <p:sp>
        <p:nvSpPr>
          <p:cNvPr id="10" name="Shape 8"/>
          <p:cNvSpPr/>
          <p:nvPr/>
        </p:nvSpPr>
        <p:spPr>
          <a:xfrm>
            <a:off x="7635240" y="2057400"/>
            <a:ext cx="3657600" cy="1234440"/>
          </a:xfrm>
          <a:prstGeom prst="roundRect">
            <a:avLst>
              <a:gd name="adj" fmla="val 4444"/>
            </a:avLst>
          </a:prstGeom>
          <a:solidFill>
            <a:srgbClr val="F3F6F9"/>
          </a:solidFill>
          <a:ln w="12700">
            <a:solidFill>
              <a:srgbClr val="D9E2EC"/>
            </a:solidFill>
            <a:prstDash val="solid"/>
          </a:ln>
        </p:spPr>
      </p:sp>
      <p:sp>
        <p:nvSpPr>
          <p:cNvPr id="11" name="Text 9"/>
          <p:cNvSpPr/>
          <p:nvPr/>
        </p:nvSpPr>
        <p:spPr>
          <a:xfrm>
            <a:off x="7799832" y="2203704"/>
            <a:ext cx="3328416" cy="228600"/>
          </a:xfrm>
          <a:prstGeom prst="rect">
            <a:avLst/>
          </a:prstGeom>
          <a:noFill/>
          <a:ln/>
        </p:spPr>
        <p:txBody>
          <a:bodyPr wrap="square" lIns="0" tIns="0" rIns="0" bIns="0" rtlCol="0" anchor="ctr"/>
          <a:lstStyle/>
          <a:p>
            <a:pPr marL="0" indent="0">
              <a:buNone/>
            </a:pPr>
            <a:r>
              <a:rPr lang="en-US" sz="1100" b="1" dirty="0">
                <a:solidFill>
                  <a:srgbClr val="2F75B5"/>
                </a:solidFill>
              </a:rPr>
              <a:t>~</a:t>
            </a:r>
            <a:endParaRPr lang="en-US" sz="1100" dirty="0"/>
          </a:p>
        </p:txBody>
      </p:sp>
      <p:sp>
        <p:nvSpPr>
          <p:cNvPr id="12" name="Text 10"/>
          <p:cNvSpPr/>
          <p:nvPr/>
        </p:nvSpPr>
        <p:spPr>
          <a:xfrm>
            <a:off x="7799832" y="2532888"/>
            <a:ext cx="3328416" cy="640080"/>
          </a:xfrm>
          <a:prstGeom prst="rect">
            <a:avLst/>
          </a:prstGeom>
          <a:noFill/>
          <a:ln/>
        </p:spPr>
        <p:txBody>
          <a:bodyPr wrap="square" lIns="0" tIns="0" rIns="0" bIns="0" rtlCol="0" anchor="ctr">
            <a:normAutofit/>
          </a:bodyPr>
          <a:lstStyle/>
          <a:p>
            <a:pPr marL="0" indent="0">
              <a:buNone/>
            </a:pPr>
            <a:r>
              <a:rPr lang="en-US" sz="1300" dirty="0">
                <a:solidFill>
                  <a:srgbClr val="203040"/>
                </a:solidFill>
              </a:rPr>
              <a:t>Es una abreviatura que el shell expande.</a:t>
            </a:r>
            <a:endParaRPr lang="en-US" sz="1300" dirty="0"/>
          </a:p>
        </p:txBody>
      </p:sp>
      <p:sp>
        <p:nvSpPr>
          <p:cNvPr id="13" name="Shape 11"/>
          <p:cNvSpPr/>
          <p:nvPr/>
        </p:nvSpPr>
        <p:spPr>
          <a:xfrm>
            <a:off x="7635240" y="3520440"/>
            <a:ext cx="3657600" cy="1234440"/>
          </a:xfrm>
          <a:prstGeom prst="roundRect">
            <a:avLst>
              <a:gd name="adj" fmla="val 4444"/>
            </a:avLst>
          </a:prstGeom>
          <a:solidFill>
            <a:srgbClr val="E8F4EE"/>
          </a:solidFill>
          <a:ln w="12700">
            <a:solidFill>
              <a:srgbClr val="D9E2EC"/>
            </a:solidFill>
            <a:prstDash val="solid"/>
          </a:ln>
        </p:spPr>
      </p:sp>
      <p:sp>
        <p:nvSpPr>
          <p:cNvPr id="14" name="Text 12"/>
          <p:cNvSpPr/>
          <p:nvPr/>
        </p:nvSpPr>
        <p:spPr>
          <a:xfrm>
            <a:off x="7799832" y="3666744"/>
            <a:ext cx="3328416" cy="228600"/>
          </a:xfrm>
          <a:prstGeom prst="rect">
            <a:avLst/>
          </a:prstGeom>
          <a:noFill/>
          <a:ln/>
        </p:spPr>
        <p:txBody>
          <a:bodyPr wrap="square" lIns="0" tIns="0" rIns="0" bIns="0" rtlCol="0" anchor="ctr"/>
          <a:lstStyle/>
          <a:p>
            <a:pPr marL="0" indent="0">
              <a:buNone/>
            </a:pPr>
            <a:r>
              <a:rPr lang="en-US" sz="1100" b="1" dirty="0">
                <a:solidFill>
                  <a:srgbClr val="2F75B5"/>
                </a:solidFill>
              </a:rPr>
              <a:t>/home/alumna/proyecto-ecoli</a:t>
            </a:r>
            <a:endParaRPr lang="en-US" sz="1100" dirty="0"/>
          </a:p>
        </p:txBody>
      </p:sp>
      <p:sp>
        <p:nvSpPr>
          <p:cNvPr id="15" name="Text 13"/>
          <p:cNvSpPr/>
          <p:nvPr/>
        </p:nvSpPr>
        <p:spPr>
          <a:xfrm>
            <a:off x="7799832" y="3995928"/>
            <a:ext cx="3328416" cy="640080"/>
          </a:xfrm>
          <a:prstGeom prst="rect">
            <a:avLst/>
          </a:prstGeom>
          <a:noFill/>
          <a:ln/>
        </p:spPr>
        <p:txBody>
          <a:bodyPr wrap="square" lIns="0" tIns="0" rIns="0" bIns="0" rtlCol="0" anchor="ctr">
            <a:normAutofit/>
          </a:bodyPr>
          <a:lstStyle/>
          <a:p>
            <a:pPr marL="0" indent="0">
              <a:buNone/>
            </a:pPr>
            <a:r>
              <a:rPr lang="en-US" sz="1300" dirty="0">
                <a:solidFill>
                  <a:srgbClr val="203040"/>
                </a:solidFill>
              </a:rPr>
              <a:t>Es una ruta absoluta: empieza en /.</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¿Por qué ~/proyecto-ecoli no es una ruta absoluta aunque funcione?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2 · ESTRUCTURA</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07</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El árbol real frente al declarado</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Un proyecto vivo acumula archivos: hay que saber cuáles y por qué.</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874520"/>
            <a:ext cx="6720840" cy="3200400"/>
          </a:xfrm>
          <a:prstGeom prst="roundRect">
            <a:avLst>
              <a:gd name="adj" fmla="val 2286"/>
            </a:avLst>
          </a:prstGeom>
          <a:solidFill>
            <a:srgbClr val="111827"/>
          </a:solidFill>
          <a:ln w="12700">
            <a:solidFill>
              <a:srgbClr val="111827"/>
            </a:solidFill>
            <a:prstDash val="solid"/>
          </a:ln>
        </p:spPr>
      </p:sp>
      <p:sp>
        <p:nvSpPr>
          <p:cNvPr id="8" name="Text 6"/>
          <p:cNvSpPr/>
          <p:nvPr/>
        </p:nvSpPr>
        <p:spPr>
          <a:xfrm>
            <a:off x="868680" y="202082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377440"/>
            <a:ext cx="6217920" cy="254203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cd ~/proyecto-ecoli</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ls -R</a:t>
            </a:r>
            <a:endParaRPr lang="en-US" sz="1300" dirty="0"/>
          </a:p>
        </p:txBody>
      </p:sp>
      <p:sp>
        <p:nvSpPr>
          <p:cNvPr id="10" name="Shape 8"/>
          <p:cNvSpPr/>
          <p:nvPr/>
        </p:nvSpPr>
        <p:spPr>
          <a:xfrm>
            <a:off x="7635240" y="1874520"/>
            <a:ext cx="3703320" cy="960120"/>
          </a:xfrm>
          <a:prstGeom prst="roundRect">
            <a:avLst>
              <a:gd name="adj" fmla="val 5714"/>
            </a:avLst>
          </a:prstGeom>
          <a:solidFill>
            <a:srgbClr val="E8F4EE"/>
          </a:solidFill>
          <a:ln w="12700">
            <a:solidFill>
              <a:srgbClr val="D9E2EC"/>
            </a:solidFill>
            <a:prstDash val="solid"/>
          </a:ln>
        </p:spPr>
      </p:sp>
      <p:sp>
        <p:nvSpPr>
          <p:cNvPr id="11" name="Text 9"/>
          <p:cNvSpPr/>
          <p:nvPr/>
        </p:nvSpPr>
        <p:spPr>
          <a:xfrm>
            <a:off x="7799832" y="20208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COINCIDE</a:t>
            </a:r>
            <a:endParaRPr lang="en-US" sz="1100" dirty="0"/>
          </a:p>
        </p:txBody>
      </p:sp>
      <p:sp>
        <p:nvSpPr>
          <p:cNvPr id="12" name="Text 10"/>
          <p:cNvSpPr/>
          <p:nvPr/>
        </p:nvSpPr>
        <p:spPr>
          <a:xfrm>
            <a:off x="7799832" y="2350008"/>
            <a:ext cx="3374136" cy="365760"/>
          </a:xfrm>
          <a:prstGeom prst="rect">
            <a:avLst/>
          </a:prstGeom>
          <a:noFill/>
          <a:ln/>
        </p:spPr>
        <p:txBody>
          <a:bodyPr wrap="square" lIns="0" tIns="0" rIns="0" bIns="0" rtlCol="0" anchor="ctr">
            <a:normAutofit/>
          </a:bodyPr>
          <a:lstStyle/>
          <a:p>
            <a:pPr marL="0" indent="0">
              <a:buNone/>
            </a:pPr>
            <a:r>
              <a:rPr lang="en-US" sz="1300" dirty="0">
                <a:solidFill>
                  <a:srgbClr val="203040"/>
                </a:solidFill>
              </a:rPr>
              <a:t>Está donde esperabas.</a:t>
            </a:r>
            <a:endParaRPr lang="en-US" sz="1300" dirty="0"/>
          </a:p>
        </p:txBody>
      </p:sp>
      <p:sp>
        <p:nvSpPr>
          <p:cNvPr id="13" name="Shape 11"/>
          <p:cNvSpPr/>
          <p:nvPr/>
        </p:nvSpPr>
        <p:spPr>
          <a:xfrm>
            <a:off x="7635240" y="3017520"/>
            <a:ext cx="3703320" cy="960120"/>
          </a:xfrm>
          <a:prstGeom prst="roundRect">
            <a:avLst>
              <a:gd name="adj" fmla="val 5714"/>
            </a:avLst>
          </a:prstGeom>
          <a:solidFill>
            <a:srgbClr val="FFF2CC"/>
          </a:solidFill>
          <a:ln w="12700">
            <a:solidFill>
              <a:srgbClr val="D9E2EC"/>
            </a:solidFill>
            <a:prstDash val="solid"/>
          </a:ln>
        </p:spPr>
      </p:sp>
      <p:sp>
        <p:nvSpPr>
          <p:cNvPr id="14" name="Text 12"/>
          <p:cNvSpPr/>
          <p:nvPr/>
        </p:nvSpPr>
        <p:spPr>
          <a:xfrm>
            <a:off x="7799832" y="31638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SOBRA</a:t>
            </a:r>
            <a:endParaRPr lang="en-US" sz="1100" dirty="0"/>
          </a:p>
        </p:txBody>
      </p:sp>
      <p:sp>
        <p:nvSpPr>
          <p:cNvPr id="15" name="Text 13"/>
          <p:cNvSpPr/>
          <p:nvPr/>
        </p:nvSpPr>
        <p:spPr>
          <a:xfrm>
            <a:off x="7799832" y="3493008"/>
            <a:ext cx="3374136" cy="365760"/>
          </a:xfrm>
          <a:prstGeom prst="rect">
            <a:avLst/>
          </a:prstGeom>
          <a:noFill/>
          <a:ln/>
        </p:spPr>
        <p:txBody>
          <a:bodyPr wrap="square" lIns="0" tIns="0" rIns="0" bIns="0" rtlCol="0" anchor="ctr">
            <a:normAutofit/>
          </a:bodyPr>
          <a:lstStyle/>
          <a:p>
            <a:pPr marL="0" indent="0">
              <a:buNone/>
            </a:pPr>
            <a:r>
              <a:rPr lang="en-US" sz="1300" dirty="0">
                <a:solidFill>
                  <a:srgbClr val="203040"/>
                </a:solidFill>
              </a:rPr>
              <a:t>Conservar · mover · eliminar.</a:t>
            </a:r>
            <a:endParaRPr lang="en-US" sz="1300" dirty="0"/>
          </a:p>
        </p:txBody>
      </p:sp>
      <p:sp>
        <p:nvSpPr>
          <p:cNvPr id="16" name="Shape 14"/>
          <p:cNvSpPr/>
          <p:nvPr/>
        </p:nvSpPr>
        <p:spPr>
          <a:xfrm>
            <a:off x="7635240" y="4160520"/>
            <a:ext cx="3703320" cy="960120"/>
          </a:xfrm>
          <a:prstGeom prst="roundRect">
            <a:avLst>
              <a:gd name="adj" fmla="val 5714"/>
            </a:avLst>
          </a:prstGeom>
          <a:solidFill>
            <a:srgbClr val="FCE8E6"/>
          </a:solidFill>
          <a:ln w="12700">
            <a:solidFill>
              <a:srgbClr val="D9E2EC"/>
            </a:solidFill>
            <a:prstDash val="solid"/>
          </a:ln>
        </p:spPr>
      </p:sp>
      <p:sp>
        <p:nvSpPr>
          <p:cNvPr id="17" name="Text 15"/>
          <p:cNvSpPr/>
          <p:nvPr/>
        </p:nvSpPr>
        <p:spPr>
          <a:xfrm>
            <a:off x="7799832" y="43068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FALTA</a:t>
            </a:r>
            <a:endParaRPr lang="en-US" sz="1100" dirty="0"/>
          </a:p>
        </p:txBody>
      </p:sp>
      <p:sp>
        <p:nvSpPr>
          <p:cNvPr id="18" name="Text 16"/>
          <p:cNvSpPr/>
          <p:nvPr/>
        </p:nvSpPr>
        <p:spPr>
          <a:xfrm>
            <a:off x="7799832" y="4636008"/>
            <a:ext cx="3374136" cy="365760"/>
          </a:xfrm>
          <a:prstGeom prst="rect">
            <a:avLst/>
          </a:prstGeom>
          <a:noFill/>
          <a:ln/>
        </p:spPr>
        <p:txBody>
          <a:bodyPr wrap="square" lIns="0" tIns="0" rIns="0" bIns="0" rtlCol="0" anchor="ctr">
            <a:normAutofit/>
          </a:bodyPr>
          <a:lstStyle/>
          <a:p>
            <a:pPr marL="0" indent="0">
              <a:buNone/>
            </a:pPr>
            <a:r>
              <a:rPr lang="en-US" sz="1300" dirty="0">
                <a:solidFill>
                  <a:srgbClr val="203040"/>
                </a:solidFill>
              </a:rPr>
              <a:t>Identificar la deuda y corregirla.</a:t>
            </a:r>
            <a:endParaRPr lang="en-US" sz="1300" dirty="0"/>
          </a:p>
        </p:txBody>
      </p:sp>
      <p:sp>
        <p:nvSpPr>
          <p:cNvPr id="19" name="Shape 17"/>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0" name="Text 18"/>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1" name="Text 19"/>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elementos esperas encontrar ahora que no estaban al terminar S4?</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2 · DECIDIR</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08</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No limpies primero: decide primero</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Cada elemento no declarado necesita una razón.</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965960"/>
            <a:ext cx="3337560" cy="2423160"/>
          </a:xfrm>
          <a:prstGeom prst="roundRect">
            <a:avLst>
              <a:gd name="adj" fmla="val 2264"/>
            </a:avLst>
          </a:prstGeom>
          <a:solidFill>
            <a:srgbClr val="E8F4EE"/>
          </a:solidFill>
          <a:ln w="12700">
            <a:solidFill>
              <a:srgbClr val="D9E2EC"/>
            </a:solidFill>
            <a:prstDash val="solid"/>
          </a:ln>
        </p:spPr>
      </p:sp>
      <p:sp>
        <p:nvSpPr>
          <p:cNvPr id="8" name="Text 6"/>
          <p:cNvSpPr/>
          <p:nvPr/>
        </p:nvSpPr>
        <p:spPr>
          <a:xfrm>
            <a:off x="896112" y="211226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CONSERVAR</a:t>
            </a:r>
            <a:endParaRPr lang="en-US" sz="1100" dirty="0"/>
          </a:p>
        </p:txBody>
      </p:sp>
      <p:sp>
        <p:nvSpPr>
          <p:cNvPr id="9" name="Text 7"/>
          <p:cNvSpPr/>
          <p:nvPr/>
        </p:nvSpPr>
        <p:spPr>
          <a:xfrm>
            <a:off x="896112" y="244144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“Lo necesito porque…”</a:t>
            </a:r>
            <a:endParaRPr lang="en-US" sz="1300" dirty="0"/>
          </a:p>
          <a:p>
            <a:pPr marL="0" indent="0">
              <a:buNone/>
            </a:pPr>
            <a:endParaRPr lang="en-US" sz="1300" dirty="0"/>
          </a:p>
          <a:p>
            <a:pPr marL="0" indent="0">
              <a:buNone/>
            </a:pPr>
            <a:r>
              <a:rPr lang="en-US" sz="1300" dirty="0">
                <a:solidFill>
                  <a:srgbClr val="203040"/>
                </a:solidFill>
              </a:rPr>
              <a:t>Ej.: src/prueba.sh como evidencia didáctica de S5.</a:t>
            </a:r>
            <a:endParaRPr lang="en-US" sz="1300" dirty="0"/>
          </a:p>
        </p:txBody>
      </p:sp>
      <p:sp>
        <p:nvSpPr>
          <p:cNvPr id="10" name="Shape 8"/>
          <p:cNvSpPr/>
          <p:nvPr/>
        </p:nvSpPr>
        <p:spPr>
          <a:xfrm>
            <a:off x="4434840" y="1965960"/>
            <a:ext cx="3337560" cy="2423160"/>
          </a:xfrm>
          <a:prstGeom prst="roundRect">
            <a:avLst>
              <a:gd name="adj" fmla="val 2264"/>
            </a:avLst>
          </a:prstGeom>
          <a:solidFill>
            <a:srgbClr val="FFF2CC"/>
          </a:solidFill>
          <a:ln w="12700">
            <a:solidFill>
              <a:srgbClr val="D9E2EC"/>
            </a:solidFill>
            <a:prstDash val="solid"/>
          </a:ln>
        </p:spPr>
      </p:sp>
      <p:sp>
        <p:nvSpPr>
          <p:cNvPr id="11" name="Text 9"/>
          <p:cNvSpPr/>
          <p:nvPr/>
        </p:nvSpPr>
        <p:spPr>
          <a:xfrm>
            <a:off x="4599432" y="211226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MOVER</a:t>
            </a:r>
            <a:endParaRPr lang="en-US" sz="1100" dirty="0"/>
          </a:p>
        </p:txBody>
      </p:sp>
      <p:sp>
        <p:nvSpPr>
          <p:cNvPr id="12" name="Text 10"/>
          <p:cNvSpPr/>
          <p:nvPr/>
        </p:nvSpPr>
        <p:spPr>
          <a:xfrm>
            <a:off x="4599432" y="244144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“Pertenece en…”</a:t>
            </a:r>
            <a:endParaRPr lang="en-US" sz="1300" dirty="0"/>
          </a:p>
          <a:p>
            <a:pPr marL="0" indent="0">
              <a:buNone/>
            </a:pPr>
            <a:endParaRPr lang="en-US" sz="1300" dirty="0"/>
          </a:p>
          <a:p>
            <a:pPr marL="0" indent="0">
              <a:buNone/>
            </a:pPr>
            <a:r>
              <a:rPr lang="en-US" sz="1300" dirty="0">
                <a:solidFill>
                  <a:srgbClr val="203040"/>
                </a:solidFill>
              </a:rPr>
              <a:t>Corrige ubicación sin perder trazabilidad.</a:t>
            </a:r>
            <a:endParaRPr lang="en-US" sz="1300" dirty="0"/>
          </a:p>
        </p:txBody>
      </p:sp>
      <p:sp>
        <p:nvSpPr>
          <p:cNvPr id="13" name="Shape 11"/>
          <p:cNvSpPr/>
          <p:nvPr/>
        </p:nvSpPr>
        <p:spPr>
          <a:xfrm>
            <a:off x="8138160" y="1965960"/>
            <a:ext cx="3337560" cy="2423160"/>
          </a:xfrm>
          <a:prstGeom prst="roundRect">
            <a:avLst>
              <a:gd name="adj" fmla="val 2264"/>
            </a:avLst>
          </a:prstGeom>
          <a:solidFill>
            <a:srgbClr val="FCE8E6"/>
          </a:solidFill>
          <a:ln w="12700">
            <a:solidFill>
              <a:srgbClr val="D9E2EC"/>
            </a:solidFill>
            <a:prstDash val="solid"/>
          </a:ln>
        </p:spPr>
      </p:sp>
      <p:sp>
        <p:nvSpPr>
          <p:cNvPr id="14" name="Text 12"/>
          <p:cNvSpPr/>
          <p:nvPr/>
        </p:nvSpPr>
        <p:spPr>
          <a:xfrm>
            <a:off x="8302752" y="2112264"/>
            <a:ext cx="3008376" cy="228600"/>
          </a:xfrm>
          <a:prstGeom prst="rect">
            <a:avLst/>
          </a:prstGeom>
          <a:noFill/>
          <a:ln/>
        </p:spPr>
        <p:txBody>
          <a:bodyPr wrap="square" lIns="0" tIns="0" rIns="0" bIns="0" rtlCol="0" anchor="ctr"/>
          <a:lstStyle/>
          <a:p>
            <a:pPr marL="0" indent="0">
              <a:buNone/>
            </a:pPr>
            <a:r>
              <a:rPr lang="en-US" sz="1100" b="1" dirty="0">
                <a:solidFill>
                  <a:srgbClr val="2F75B5"/>
                </a:solidFill>
              </a:rPr>
              <a:t>ELIMINAR</a:t>
            </a:r>
            <a:endParaRPr lang="en-US" sz="1100" dirty="0"/>
          </a:p>
        </p:txBody>
      </p:sp>
      <p:sp>
        <p:nvSpPr>
          <p:cNvPr id="15" name="Text 13"/>
          <p:cNvSpPr/>
          <p:nvPr/>
        </p:nvSpPr>
        <p:spPr>
          <a:xfrm>
            <a:off x="8302752" y="2441448"/>
            <a:ext cx="3008376" cy="1828800"/>
          </a:xfrm>
          <a:prstGeom prst="rect">
            <a:avLst/>
          </a:prstGeom>
          <a:noFill/>
          <a:ln/>
        </p:spPr>
        <p:txBody>
          <a:bodyPr wrap="square" lIns="0" tIns="0" rIns="0" bIns="0" rtlCol="0" anchor="ctr">
            <a:normAutofit/>
          </a:bodyPr>
          <a:lstStyle/>
          <a:p>
            <a:pPr marL="0" indent="0">
              <a:buNone/>
            </a:pPr>
            <a:r>
              <a:rPr lang="en-US" sz="1300" dirty="0">
                <a:solidFill>
                  <a:srgbClr val="203040"/>
                </a:solidFill>
              </a:rPr>
              <a:t>“Es una copia temporal porque…”</a:t>
            </a:r>
            <a:endParaRPr lang="en-US" sz="1300" dirty="0"/>
          </a:p>
          <a:p>
            <a:pPr marL="0" indent="0">
              <a:buNone/>
            </a:pPr>
            <a:endParaRPr lang="en-US" sz="1300" dirty="0"/>
          </a:p>
          <a:p>
            <a:pPr marL="0" indent="0">
              <a:buNone/>
            </a:pPr>
            <a:r>
              <a:rPr lang="en-US" sz="1300" dirty="0">
                <a:solidFill>
                  <a:srgbClr val="203040"/>
                </a:solidFill>
              </a:rPr>
              <a:t>Nunca borres data/source/ por impulso.</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¿Por qué “que el árbol quede bonito” no es una razón suficiente para borrar un archivo?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3 · INTEGRIDAD</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09</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¿Los originales siguen siendo los mismos?</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El checksum de S3 probó la transferencia; hoy comprobamos lo ocurrido desde entonces.</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965960"/>
            <a:ext cx="6720840" cy="2057400"/>
          </a:xfrm>
          <a:prstGeom prst="roundRect">
            <a:avLst>
              <a:gd name="adj" fmla="val 3556"/>
            </a:avLst>
          </a:prstGeom>
          <a:solidFill>
            <a:srgbClr val="111827"/>
          </a:solidFill>
          <a:ln w="12700">
            <a:solidFill>
              <a:srgbClr val="111827"/>
            </a:solidFill>
            <a:prstDash val="solid"/>
          </a:ln>
        </p:spPr>
      </p:sp>
      <p:sp>
        <p:nvSpPr>
          <p:cNvPr id="8" name="Text 6"/>
          <p:cNvSpPr/>
          <p:nvPr/>
        </p:nvSpPr>
        <p:spPr>
          <a:xfrm>
            <a:off x="868680" y="211226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468880"/>
            <a:ext cx="6217920" cy="139903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cd ~/proyecto-ecoli/data/source</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sha256sum genes_ecoli.gff genes_ecoli-metadatos.md</a:t>
            </a:r>
            <a:endParaRPr lang="en-US" sz="1300" dirty="0"/>
          </a:p>
        </p:txBody>
      </p:sp>
      <p:sp>
        <p:nvSpPr>
          <p:cNvPr id="10" name="Shape 8"/>
          <p:cNvSpPr/>
          <p:nvPr/>
        </p:nvSpPr>
        <p:spPr>
          <a:xfrm>
            <a:off x="7635240" y="1965960"/>
            <a:ext cx="3703320" cy="1188720"/>
          </a:xfrm>
          <a:prstGeom prst="roundRect">
            <a:avLst>
              <a:gd name="adj" fmla="val 4615"/>
            </a:avLst>
          </a:prstGeom>
          <a:solidFill>
            <a:srgbClr val="F3F6F9"/>
          </a:solidFill>
          <a:ln w="12700">
            <a:solidFill>
              <a:srgbClr val="D9E2EC"/>
            </a:solidFill>
            <a:prstDash val="solid"/>
          </a:ln>
        </p:spPr>
      </p:sp>
      <p:sp>
        <p:nvSpPr>
          <p:cNvPr id="11" name="Text 9"/>
          <p:cNvSpPr/>
          <p:nvPr/>
        </p:nvSpPr>
        <p:spPr>
          <a:xfrm>
            <a:off x="7799832" y="211226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COMPARA</a:t>
            </a:r>
            <a:endParaRPr lang="en-US" sz="1100" dirty="0"/>
          </a:p>
        </p:txBody>
      </p:sp>
      <p:sp>
        <p:nvSpPr>
          <p:cNvPr id="12" name="Text 10"/>
          <p:cNvSpPr/>
          <p:nvPr/>
        </p:nvSpPr>
        <p:spPr>
          <a:xfrm>
            <a:off x="7799832" y="2441448"/>
            <a:ext cx="3374136" cy="594360"/>
          </a:xfrm>
          <a:prstGeom prst="rect">
            <a:avLst/>
          </a:prstGeom>
          <a:noFill/>
          <a:ln/>
        </p:spPr>
        <p:txBody>
          <a:bodyPr wrap="square" lIns="0" tIns="0" rIns="0" bIns="0" rtlCol="0" anchor="ctr">
            <a:normAutofit/>
          </a:bodyPr>
          <a:lstStyle/>
          <a:p>
            <a:pPr marL="0" indent="0">
              <a:buNone/>
            </a:pPr>
            <a:r>
              <a:rPr lang="en-US" sz="1300" dirty="0">
                <a:solidFill>
                  <a:srgbClr val="203040"/>
                </a:solidFill>
              </a:rPr>
              <a:t>Contrasta con las sumas registradas previamente.</a:t>
            </a:r>
            <a:endParaRPr lang="en-US" sz="1300" dirty="0"/>
          </a:p>
        </p:txBody>
      </p:sp>
      <p:sp>
        <p:nvSpPr>
          <p:cNvPr id="13" name="Shape 11"/>
          <p:cNvSpPr/>
          <p:nvPr/>
        </p:nvSpPr>
        <p:spPr>
          <a:xfrm>
            <a:off x="7635240" y="3383280"/>
            <a:ext cx="3703320" cy="1188720"/>
          </a:xfrm>
          <a:prstGeom prst="roundRect">
            <a:avLst>
              <a:gd name="adj" fmla="val 4615"/>
            </a:avLst>
          </a:prstGeom>
          <a:solidFill>
            <a:srgbClr val="E8F4EE"/>
          </a:solidFill>
          <a:ln w="12700">
            <a:solidFill>
              <a:srgbClr val="D9E2EC"/>
            </a:solidFill>
            <a:prstDash val="solid"/>
          </a:ln>
        </p:spPr>
      </p:sp>
      <p:sp>
        <p:nvSpPr>
          <p:cNvPr id="14" name="Text 12"/>
          <p:cNvSpPr/>
          <p:nvPr/>
        </p:nvSpPr>
        <p:spPr>
          <a:xfrm>
            <a:off x="7799832" y="352958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INTERPRETA</a:t>
            </a:r>
            <a:endParaRPr lang="en-US" sz="1100" dirty="0"/>
          </a:p>
        </p:txBody>
      </p:sp>
      <p:sp>
        <p:nvSpPr>
          <p:cNvPr id="15" name="Text 13"/>
          <p:cNvSpPr/>
          <p:nvPr/>
        </p:nvSpPr>
        <p:spPr>
          <a:xfrm>
            <a:off x="7799832" y="3858768"/>
            <a:ext cx="3374136" cy="594360"/>
          </a:xfrm>
          <a:prstGeom prst="rect">
            <a:avLst/>
          </a:prstGeom>
          <a:noFill/>
          <a:ln/>
        </p:spPr>
        <p:txBody>
          <a:bodyPr wrap="square" lIns="0" tIns="0" rIns="0" bIns="0" rtlCol="0" anchor="ctr">
            <a:normAutofit/>
          </a:bodyPr>
          <a:lstStyle/>
          <a:p>
            <a:pPr marL="0" indent="0">
              <a:buNone/>
            </a:pPr>
            <a:r>
              <a:rPr lang="en-US" sz="1300" dirty="0">
                <a:solidFill>
                  <a:srgbClr val="203040"/>
                </a:solidFill>
              </a:rPr>
              <a:t>Coincidir = mismo contenido respecto a la referencia registrada.</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¿Por qué “no recuerdo haberlo modificado” no demuestra integridad?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3 · INTEGRIDAD</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10</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Haz la comprobación repetible</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Un archivo de sumas evita comparar cadenas a ojo.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828800"/>
            <a:ext cx="6720840" cy="3337560"/>
          </a:xfrm>
          <a:prstGeom prst="roundRect">
            <a:avLst>
              <a:gd name="adj" fmla="val 2192"/>
            </a:avLst>
          </a:prstGeom>
          <a:solidFill>
            <a:srgbClr val="111827"/>
          </a:solidFill>
          <a:ln w="12700">
            <a:solidFill>
              <a:srgbClr val="111827"/>
            </a:solidFill>
            <a:prstDash val="solid"/>
          </a:ln>
        </p:spPr>
      </p:sp>
      <p:sp>
        <p:nvSpPr>
          <p:cNvPr id="8" name="Text 6"/>
          <p:cNvSpPr/>
          <p:nvPr/>
        </p:nvSpPr>
        <p:spPr>
          <a:xfrm>
            <a:off x="868680" y="197510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331720"/>
            <a:ext cx="6217920" cy="267919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cd ~/proyecto-ecoli/data/source</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sha256sum genes_ecoli.gff genes_ecoli-metadatos.md &gt; ../../doc/checksums-u2.txt</a:t>
            </a:r>
            <a:endParaRPr lang="en-US" sz="1300" dirty="0"/>
          </a:p>
          <a:p>
            <a:pPr marL="0" indent="0">
              <a:buNone/>
            </a:pP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sha256sum -c ../../doc/checksums-u2.txt</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genes_ecoli.gff: OK</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genes_ecoli-metadatos.md: OK</a:t>
            </a:r>
            <a:endParaRPr lang="en-US" sz="1300" dirty="0"/>
          </a:p>
        </p:txBody>
      </p:sp>
      <p:sp>
        <p:nvSpPr>
          <p:cNvPr id="10" name="Shape 8"/>
          <p:cNvSpPr/>
          <p:nvPr/>
        </p:nvSpPr>
        <p:spPr>
          <a:xfrm>
            <a:off x="7635240" y="1874520"/>
            <a:ext cx="3703320" cy="1143000"/>
          </a:xfrm>
          <a:prstGeom prst="roundRect">
            <a:avLst>
              <a:gd name="adj" fmla="val 4800"/>
            </a:avLst>
          </a:prstGeom>
          <a:solidFill>
            <a:srgbClr val="F3F6F9"/>
          </a:solidFill>
          <a:ln w="12700">
            <a:solidFill>
              <a:srgbClr val="D9E2EC"/>
            </a:solidFill>
            <a:prstDash val="solid"/>
          </a:ln>
        </p:spPr>
      </p:sp>
      <p:sp>
        <p:nvSpPr>
          <p:cNvPr id="11" name="Text 9"/>
          <p:cNvSpPr/>
          <p:nvPr/>
        </p:nvSpPr>
        <p:spPr>
          <a:xfrm>
            <a:off x="7799832" y="20208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NUEVA EVIDENCIA</a:t>
            </a:r>
            <a:endParaRPr lang="en-US" sz="1100" dirty="0"/>
          </a:p>
        </p:txBody>
      </p:sp>
      <p:sp>
        <p:nvSpPr>
          <p:cNvPr id="12" name="Text 10"/>
          <p:cNvSpPr/>
          <p:nvPr/>
        </p:nvSpPr>
        <p:spPr>
          <a:xfrm>
            <a:off x="7799832" y="2350008"/>
            <a:ext cx="3374136" cy="548640"/>
          </a:xfrm>
          <a:prstGeom prst="rect">
            <a:avLst/>
          </a:prstGeom>
          <a:noFill/>
          <a:ln/>
        </p:spPr>
        <p:txBody>
          <a:bodyPr wrap="square" lIns="0" tIns="0" rIns="0" bIns="0" rtlCol="0" anchor="ctr">
            <a:normAutofit/>
          </a:bodyPr>
          <a:lstStyle/>
          <a:p>
            <a:pPr marL="0" indent="0">
              <a:buNone/>
            </a:pPr>
            <a:r>
              <a:rPr lang="en-US" sz="1300" dirty="0">
                <a:solidFill>
                  <a:srgbClr val="203040"/>
                </a:solidFill>
              </a:rPr>
              <a:t>doc/checksums-u2.txt</a:t>
            </a:r>
            <a:endParaRPr lang="en-US" sz="1300" dirty="0"/>
          </a:p>
        </p:txBody>
      </p:sp>
      <p:sp>
        <p:nvSpPr>
          <p:cNvPr id="13" name="Shape 11"/>
          <p:cNvSpPr/>
          <p:nvPr/>
        </p:nvSpPr>
        <p:spPr>
          <a:xfrm>
            <a:off x="7635240" y="3246120"/>
            <a:ext cx="3703320" cy="1417320"/>
          </a:xfrm>
          <a:prstGeom prst="roundRect">
            <a:avLst>
              <a:gd name="adj" fmla="val 3871"/>
            </a:avLst>
          </a:prstGeom>
          <a:solidFill>
            <a:srgbClr val="E8F4EE"/>
          </a:solidFill>
          <a:ln w="12700">
            <a:solidFill>
              <a:srgbClr val="D9E2EC"/>
            </a:solidFill>
            <a:prstDash val="solid"/>
          </a:ln>
        </p:spPr>
      </p:sp>
      <p:sp>
        <p:nvSpPr>
          <p:cNvPr id="14" name="Text 12"/>
          <p:cNvSpPr/>
          <p:nvPr/>
        </p:nvSpPr>
        <p:spPr>
          <a:xfrm>
            <a:off x="7799832" y="33924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¿POR QUÉ EN doc/?</a:t>
            </a:r>
            <a:endParaRPr lang="en-US" sz="1100" dirty="0"/>
          </a:p>
        </p:txBody>
      </p:sp>
      <p:sp>
        <p:nvSpPr>
          <p:cNvPr id="15" name="Text 13"/>
          <p:cNvSpPr/>
          <p:nvPr/>
        </p:nvSpPr>
        <p:spPr>
          <a:xfrm>
            <a:off x="7799832" y="3721608"/>
            <a:ext cx="3374136"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Es documentación generada por nosotros, no un dato original.</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ventaja tiene sha256sum -c frente a comparar dos hashes visualmente?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DIAGNÓSTICO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11</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Si el checksum falla, no adivines</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FAILED significa “no coincide o no se pudo comprobar”, no explica por sí solo la causa.</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920240"/>
            <a:ext cx="3383280" cy="2560320"/>
          </a:xfrm>
          <a:prstGeom prst="roundRect">
            <a:avLst>
              <a:gd name="adj" fmla="val 2143"/>
            </a:avLst>
          </a:prstGeom>
          <a:solidFill>
            <a:srgbClr val="FFF2CC"/>
          </a:solidFill>
          <a:ln w="12700">
            <a:solidFill>
              <a:srgbClr val="D9E2EC"/>
            </a:solidFill>
            <a:prstDash val="solid"/>
          </a:ln>
        </p:spPr>
      </p:sp>
      <p:sp>
        <p:nvSpPr>
          <p:cNvPr id="8" name="Text 6"/>
          <p:cNvSpPr/>
          <p:nvPr/>
        </p:nvSpPr>
        <p:spPr>
          <a:xfrm>
            <a:off x="896112" y="20665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1 · ARCHIVO MODIFICADO</a:t>
            </a:r>
            <a:endParaRPr lang="en-US" sz="1100" dirty="0"/>
          </a:p>
        </p:txBody>
      </p:sp>
      <p:sp>
        <p:nvSpPr>
          <p:cNvPr id="9" name="Text 7"/>
          <p:cNvSpPr/>
          <p:nvPr/>
        </p:nvSpPr>
        <p:spPr>
          <a:xfrm>
            <a:off x="896112" y="2395728"/>
            <a:ext cx="3054096" cy="1965960"/>
          </a:xfrm>
          <a:prstGeom prst="rect">
            <a:avLst/>
          </a:prstGeom>
          <a:noFill/>
          <a:ln/>
        </p:spPr>
        <p:txBody>
          <a:bodyPr wrap="square" lIns="0" tIns="0" rIns="0" bIns="0" rtlCol="0" anchor="ctr">
            <a:normAutofit/>
          </a:bodyPr>
          <a:lstStyle/>
          <a:p>
            <a:pPr marL="0" indent="0">
              <a:buNone/>
            </a:pPr>
            <a:r>
              <a:rPr lang="en-US" sz="1300" dirty="0">
                <a:solidFill>
                  <a:srgbClr val="203040"/>
                </a:solidFill>
              </a:rPr>
              <a:t>Un cambio mínimo —incluso un salto de línea— cambia la suma.</a:t>
            </a:r>
            <a:endParaRPr lang="en-US" sz="1300" dirty="0"/>
          </a:p>
        </p:txBody>
      </p:sp>
      <p:sp>
        <p:nvSpPr>
          <p:cNvPr id="10" name="Shape 8"/>
          <p:cNvSpPr/>
          <p:nvPr/>
        </p:nvSpPr>
        <p:spPr>
          <a:xfrm>
            <a:off x="4434840" y="1920240"/>
            <a:ext cx="3383280" cy="2560320"/>
          </a:xfrm>
          <a:prstGeom prst="roundRect">
            <a:avLst>
              <a:gd name="adj" fmla="val 2143"/>
            </a:avLst>
          </a:prstGeom>
          <a:solidFill>
            <a:srgbClr val="F3F6F9"/>
          </a:solidFill>
          <a:ln w="12700">
            <a:solidFill>
              <a:srgbClr val="D9E2EC"/>
            </a:solidFill>
            <a:prstDash val="solid"/>
          </a:ln>
        </p:spPr>
      </p:sp>
      <p:sp>
        <p:nvSpPr>
          <p:cNvPr id="11" name="Text 9"/>
          <p:cNvSpPr/>
          <p:nvPr/>
        </p:nvSpPr>
        <p:spPr>
          <a:xfrm>
            <a:off x="4599432" y="20665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2 · REFERENCIA / RUTA</a:t>
            </a:r>
            <a:endParaRPr lang="en-US" sz="1100" dirty="0"/>
          </a:p>
        </p:txBody>
      </p:sp>
      <p:sp>
        <p:nvSpPr>
          <p:cNvPr id="12" name="Text 10"/>
          <p:cNvSpPr/>
          <p:nvPr/>
        </p:nvSpPr>
        <p:spPr>
          <a:xfrm>
            <a:off x="4599432" y="2395728"/>
            <a:ext cx="3054096" cy="1965960"/>
          </a:xfrm>
          <a:prstGeom prst="rect">
            <a:avLst/>
          </a:prstGeom>
          <a:noFill/>
          <a:ln/>
        </p:spPr>
        <p:txBody>
          <a:bodyPr wrap="square" lIns="0" tIns="0" rIns="0" bIns="0" rtlCol="0" anchor="ctr">
            <a:normAutofit/>
          </a:bodyPr>
          <a:lstStyle/>
          <a:p>
            <a:pPr marL="0" indent="0">
              <a:buNone/>
            </a:pPr>
            <a:r>
              <a:rPr lang="en-US" sz="1300" dirty="0">
                <a:solidFill>
                  <a:srgbClr val="203040"/>
                </a:solidFill>
              </a:rPr>
              <a:t>¿Comparas el archivo correcto desde el directorio correcto?</a:t>
            </a:r>
            <a:endParaRPr lang="en-US" sz="1300" dirty="0"/>
          </a:p>
        </p:txBody>
      </p:sp>
      <p:sp>
        <p:nvSpPr>
          <p:cNvPr id="13" name="Shape 11"/>
          <p:cNvSpPr/>
          <p:nvPr/>
        </p:nvSpPr>
        <p:spPr>
          <a:xfrm>
            <a:off x="8138160" y="1920240"/>
            <a:ext cx="3383280" cy="2560320"/>
          </a:xfrm>
          <a:prstGeom prst="roundRect">
            <a:avLst>
              <a:gd name="adj" fmla="val 2143"/>
            </a:avLst>
          </a:prstGeom>
          <a:solidFill>
            <a:srgbClr val="F3F6F9"/>
          </a:solidFill>
          <a:ln w="12700">
            <a:solidFill>
              <a:srgbClr val="D9E2EC"/>
            </a:solidFill>
            <a:prstDash val="solid"/>
          </a:ln>
        </p:spPr>
      </p:sp>
      <p:sp>
        <p:nvSpPr>
          <p:cNvPr id="14" name="Text 12"/>
          <p:cNvSpPr/>
          <p:nvPr/>
        </p:nvSpPr>
        <p:spPr>
          <a:xfrm>
            <a:off x="8302752" y="20665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3 · REGISTRO</a:t>
            </a:r>
            <a:endParaRPr lang="en-US" sz="1100" dirty="0"/>
          </a:p>
        </p:txBody>
      </p:sp>
      <p:sp>
        <p:nvSpPr>
          <p:cNvPr id="15" name="Text 13"/>
          <p:cNvSpPr/>
          <p:nvPr/>
        </p:nvSpPr>
        <p:spPr>
          <a:xfrm>
            <a:off x="8302752" y="2395728"/>
            <a:ext cx="3054096" cy="1965960"/>
          </a:xfrm>
          <a:prstGeom prst="rect">
            <a:avLst/>
          </a:prstGeom>
          <a:noFill/>
          <a:ln/>
        </p:spPr>
        <p:txBody>
          <a:bodyPr wrap="square" lIns="0" tIns="0" rIns="0" bIns="0" rtlCol="0" anchor="ctr">
            <a:normAutofit/>
          </a:bodyPr>
          <a:lstStyle/>
          <a:p>
            <a:pPr marL="0" indent="0">
              <a:buNone/>
            </a:pPr>
            <a:r>
              <a:rPr lang="en-US" sz="1300" dirty="0">
                <a:solidFill>
                  <a:srgbClr val="203040"/>
                </a:solidFill>
              </a:rPr>
              <a:t>¿La suma previa quedó copiada correctamente?</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revisarías antes de restaurar un archivo porque “el checksum falló”?</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4 · PERMISOS</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12</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¿Cada permiso tiene una razón?</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El criterio no es “menos permisos siempre”, sino el mínimo necesario para la tarea.</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874520"/>
            <a:ext cx="6720840" cy="1874520"/>
          </a:xfrm>
          <a:prstGeom prst="roundRect">
            <a:avLst>
              <a:gd name="adj" fmla="val 3902"/>
            </a:avLst>
          </a:prstGeom>
          <a:solidFill>
            <a:srgbClr val="111827"/>
          </a:solidFill>
          <a:ln w="12700">
            <a:solidFill>
              <a:srgbClr val="111827"/>
            </a:solidFill>
            <a:prstDash val="solid"/>
          </a:ln>
        </p:spPr>
      </p:sp>
      <p:sp>
        <p:nvSpPr>
          <p:cNvPr id="8" name="Text 6"/>
          <p:cNvSpPr/>
          <p:nvPr/>
        </p:nvSpPr>
        <p:spPr>
          <a:xfrm>
            <a:off x="868680" y="202082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377440"/>
            <a:ext cx="6217920" cy="121615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ls -l ~/proyecto-ecoli/data/source/</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ls -l ~/proyecto-ecoli/src/</a:t>
            </a:r>
            <a:endParaRPr lang="en-US" sz="1300" dirty="0"/>
          </a:p>
        </p:txBody>
      </p:sp>
      <p:sp>
        <p:nvSpPr>
          <p:cNvPr id="10" name="Shape 8"/>
          <p:cNvSpPr/>
          <p:nvPr/>
        </p:nvSpPr>
        <p:spPr>
          <a:xfrm>
            <a:off x="731520" y="3977640"/>
            <a:ext cx="3383280" cy="1234440"/>
          </a:xfrm>
          <a:prstGeom prst="roundRect">
            <a:avLst>
              <a:gd name="adj" fmla="val 4444"/>
            </a:avLst>
          </a:prstGeom>
          <a:solidFill>
            <a:srgbClr val="F3F6F9"/>
          </a:solidFill>
          <a:ln w="12700">
            <a:solidFill>
              <a:srgbClr val="D9E2EC"/>
            </a:solidFill>
            <a:prstDash val="solid"/>
          </a:ln>
        </p:spPr>
      </p:sp>
      <p:sp>
        <p:nvSpPr>
          <p:cNvPr id="11" name="Text 9"/>
          <p:cNvSpPr/>
          <p:nvPr/>
        </p:nvSpPr>
        <p:spPr>
          <a:xfrm>
            <a:off x="896112" y="41239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DATOS ORIGINALES</a:t>
            </a:r>
            <a:endParaRPr lang="en-US" sz="1100" dirty="0"/>
          </a:p>
        </p:txBody>
      </p:sp>
      <p:sp>
        <p:nvSpPr>
          <p:cNvPr id="12" name="Text 10"/>
          <p:cNvSpPr/>
          <p:nvPr/>
        </p:nvSpPr>
        <p:spPr>
          <a:xfrm>
            <a:off x="896112" y="4453128"/>
            <a:ext cx="3054096" cy="640080"/>
          </a:xfrm>
          <a:prstGeom prst="rect">
            <a:avLst/>
          </a:prstGeom>
          <a:noFill/>
          <a:ln/>
        </p:spPr>
        <p:txBody>
          <a:bodyPr wrap="square" lIns="0" tIns="0" rIns="0" bIns="0" rtlCol="0" anchor="ctr">
            <a:normAutofit/>
          </a:bodyPr>
          <a:lstStyle/>
          <a:p>
            <a:pPr marL="0" indent="0">
              <a:buNone/>
            </a:pPr>
            <a:r>
              <a:rPr lang="en-US" sz="1300" dirty="0">
                <a:solidFill>
                  <a:srgbClr val="203040"/>
                </a:solidFill>
              </a:rPr>
              <a:t>Lectura; sin ejecución.</a:t>
            </a:r>
            <a:endParaRPr lang="en-US" sz="1300" dirty="0"/>
          </a:p>
        </p:txBody>
      </p:sp>
      <p:sp>
        <p:nvSpPr>
          <p:cNvPr id="13" name="Shape 11"/>
          <p:cNvSpPr/>
          <p:nvPr/>
        </p:nvSpPr>
        <p:spPr>
          <a:xfrm>
            <a:off x="4434840" y="3977640"/>
            <a:ext cx="3383280" cy="1234440"/>
          </a:xfrm>
          <a:prstGeom prst="roundRect">
            <a:avLst>
              <a:gd name="adj" fmla="val 4444"/>
            </a:avLst>
          </a:prstGeom>
          <a:solidFill>
            <a:srgbClr val="F3F6F9"/>
          </a:solidFill>
          <a:ln w="12700">
            <a:solidFill>
              <a:srgbClr val="D9E2EC"/>
            </a:solidFill>
            <a:prstDash val="solid"/>
          </a:ln>
        </p:spPr>
      </p:sp>
      <p:sp>
        <p:nvSpPr>
          <p:cNvPr id="14" name="Text 12"/>
          <p:cNvSpPr/>
          <p:nvPr/>
        </p:nvSpPr>
        <p:spPr>
          <a:xfrm>
            <a:off x="4599432" y="41239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DOCUMENTACIÓN</a:t>
            </a:r>
            <a:endParaRPr lang="en-US" sz="1100" dirty="0"/>
          </a:p>
        </p:txBody>
      </p:sp>
      <p:sp>
        <p:nvSpPr>
          <p:cNvPr id="15" name="Text 13"/>
          <p:cNvSpPr/>
          <p:nvPr/>
        </p:nvSpPr>
        <p:spPr>
          <a:xfrm>
            <a:off x="4599432" y="4453128"/>
            <a:ext cx="3054096" cy="640080"/>
          </a:xfrm>
          <a:prstGeom prst="rect">
            <a:avLst/>
          </a:prstGeom>
          <a:noFill/>
          <a:ln/>
        </p:spPr>
        <p:txBody>
          <a:bodyPr wrap="square" lIns="0" tIns="0" rIns="0" bIns="0" rtlCol="0" anchor="ctr">
            <a:normAutofit/>
          </a:bodyPr>
          <a:lstStyle/>
          <a:p>
            <a:pPr marL="0" indent="0">
              <a:buNone/>
            </a:pPr>
            <a:r>
              <a:rPr lang="en-US" sz="1300" dirty="0">
                <a:solidFill>
                  <a:srgbClr val="203040"/>
                </a:solidFill>
              </a:rPr>
              <a:t>Lectura y escritura del dueño.</a:t>
            </a:r>
            <a:endParaRPr lang="en-US" sz="1300" dirty="0"/>
          </a:p>
        </p:txBody>
      </p:sp>
      <p:sp>
        <p:nvSpPr>
          <p:cNvPr id="16" name="Shape 14"/>
          <p:cNvSpPr/>
          <p:nvPr/>
        </p:nvSpPr>
        <p:spPr>
          <a:xfrm>
            <a:off x="8138160" y="3977640"/>
            <a:ext cx="3383280" cy="1234440"/>
          </a:xfrm>
          <a:prstGeom prst="roundRect">
            <a:avLst>
              <a:gd name="adj" fmla="val 4444"/>
            </a:avLst>
          </a:prstGeom>
          <a:solidFill>
            <a:srgbClr val="E8F4EE"/>
          </a:solidFill>
          <a:ln w="12700">
            <a:solidFill>
              <a:srgbClr val="D9E2EC"/>
            </a:solidFill>
            <a:prstDash val="solid"/>
          </a:ln>
        </p:spPr>
      </p:sp>
      <p:sp>
        <p:nvSpPr>
          <p:cNvPr id="17" name="Text 15"/>
          <p:cNvSpPr/>
          <p:nvPr/>
        </p:nvSpPr>
        <p:spPr>
          <a:xfrm>
            <a:off x="8302752" y="412394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SCRIPTS</a:t>
            </a:r>
            <a:endParaRPr lang="en-US" sz="1100" dirty="0"/>
          </a:p>
        </p:txBody>
      </p:sp>
      <p:sp>
        <p:nvSpPr>
          <p:cNvPr id="18" name="Text 16"/>
          <p:cNvSpPr/>
          <p:nvPr/>
        </p:nvSpPr>
        <p:spPr>
          <a:xfrm>
            <a:off x="8302752" y="4453128"/>
            <a:ext cx="3054096" cy="640080"/>
          </a:xfrm>
          <a:prstGeom prst="rect">
            <a:avLst/>
          </a:prstGeom>
          <a:noFill/>
          <a:ln/>
        </p:spPr>
        <p:txBody>
          <a:bodyPr wrap="square" lIns="0" tIns="0" rIns="0" bIns="0" rtlCol="0" anchor="ctr">
            <a:normAutofit/>
          </a:bodyPr>
          <a:lstStyle/>
          <a:p>
            <a:pPr marL="0" indent="0">
              <a:buNone/>
            </a:pPr>
            <a:r>
              <a:rPr lang="en-US" sz="1300" dirty="0">
                <a:solidFill>
                  <a:srgbClr val="203040"/>
                </a:solidFill>
              </a:rPr>
              <a:t>x solo si realmente se ejecutan.</a:t>
            </a:r>
            <a:endParaRPr lang="en-US" sz="1300" dirty="0"/>
          </a:p>
        </p:txBody>
      </p:sp>
      <p:sp>
        <p:nvSpPr>
          <p:cNvPr id="19" name="Shape 17"/>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0" name="Text 18"/>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1" name="Text 19"/>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Si genes_ecoli.gff aparece como -rwxr--r--, ¿qué permiso no puedes justificar?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4 · CORREGIR</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13</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Corrige de forma acotada y vuelve a comprobar</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Toda corrección debe dejar evidencia del antes, la acción y el después.</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874520"/>
            <a:ext cx="6720840" cy="3063240"/>
          </a:xfrm>
          <a:prstGeom prst="roundRect">
            <a:avLst>
              <a:gd name="adj" fmla="val 2388"/>
            </a:avLst>
          </a:prstGeom>
          <a:solidFill>
            <a:srgbClr val="111827"/>
          </a:solidFill>
          <a:ln w="12700">
            <a:solidFill>
              <a:srgbClr val="111827"/>
            </a:solidFill>
            <a:prstDash val="solid"/>
          </a:ln>
        </p:spPr>
      </p:sp>
      <p:sp>
        <p:nvSpPr>
          <p:cNvPr id="8" name="Text 6"/>
          <p:cNvSpPr/>
          <p:nvPr/>
        </p:nvSpPr>
        <p:spPr>
          <a:xfrm>
            <a:off x="868680" y="202082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377440"/>
            <a:ext cx="6217920" cy="240487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chmod u-x ~/proyecto-ecoli/data/source/genes_ecoli.gff</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ls -l ~/proyecto-ecoli/data/source/genes_ecoli.gff</a:t>
            </a:r>
            <a:endParaRPr lang="en-US" sz="1300" dirty="0"/>
          </a:p>
          <a:p>
            <a:pPr marL="0" indent="0">
              <a:buNone/>
            </a:pP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Si prueba.sh debe ejecutarse y perdió x:</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chmod u+x ~/proyecto-ecoli/src/prueba.sh</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ls -l ~/proyecto-ecoli/src/prueba.sh</a:t>
            </a:r>
            <a:endParaRPr lang="en-US" sz="1300" dirty="0"/>
          </a:p>
        </p:txBody>
      </p:sp>
      <p:sp>
        <p:nvSpPr>
          <p:cNvPr id="10" name="Shape 8"/>
          <p:cNvSpPr/>
          <p:nvPr/>
        </p:nvSpPr>
        <p:spPr>
          <a:xfrm>
            <a:off x="7635240" y="1920240"/>
            <a:ext cx="3703320" cy="1005840"/>
          </a:xfrm>
          <a:prstGeom prst="roundRect">
            <a:avLst>
              <a:gd name="adj" fmla="val 5455"/>
            </a:avLst>
          </a:prstGeom>
          <a:solidFill>
            <a:srgbClr val="FCE8E6"/>
          </a:solidFill>
          <a:ln w="12700">
            <a:solidFill>
              <a:srgbClr val="D9E2EC"/>
            </a:solidFill>
            <a:prstDash val="solid"/>
          </a:ln>
        </p:spPr>
      </p:sp>
      <p:sp>
        <p:nvSpPr>
          <p:cNvPr id="11" name="Text 9"/>
          <p:cNvSpPr/>
          <p:nvPr/>
        </p:nvSpPr>
        <p:spPr>
          <a:xfrm>
            <a:off x="7799832" y="206654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EVITA</a:t>
            </a:r>
            <a:endParaRPr lang="en-US" sz="1100" dirty="0"/>
          </a:p>
        </p:txBody>
      </p:sp>
      <p:sp>
        <p:nvSpPr>
          <p:cNvPr id="12" name="Text 10"/>
          <p:cNvSpPr/>
          <p:nvPr/>
        </p:nvSpPr>
        <p:spPr>
          <a:xfrm>
            <a:off x="7799832" y="2395728"/>
            <a:ext cx="3374136" cy="411480"/>
          </a:xfrm>
          <a:prstGeom prst="rect">
            <a:avLst/>
          </a:prstGeom>
          <a:noFill/>
          <a:ln/>
        </p:spPr>
        <p:txBody>
          <a:bodyPr wrap="square" lIns="0" tIns="0" rIns="0" bIns="0" rtlCol="0" anchor="ctr">
            <a:normAutofit/>
          </a:bodyPr>
          <a:lstStyle/>
          <a:p>
            <a:pPr marL="0" indent="0">
              <a:buNone/>
            </a:pPr>
            <a:r>
              <a:rPr lang="en-US" sz="1300" dirty="0">
                <a:solidFill>
                  <a:srgbClr val="203040"/>
                </a:solidFill>
              </a:rPr>
              <a:t>chmod sobre todo un directorio sin identificar el problema.</a:t>
            </a:r>
            <a:endParaRPr lang="en-US" sz="1300" dirty="0"/>
          </a:p>
        </p:txBody>
      </p:sp>
      <p:sp>
        <p:nvSpPr>
          <p:cNvPr id="13" name="Shape 11"/>
          <p:cNvSpPr/>
          <p:nvPr/>
        </p:nvSpPr>
        <p:spPr>
          <a:xfrm>
            <a:off x="7635240" y="3154680"/>
            <a:ext cx="3703320" cy="1417320"/>
          </a:xfrm>
          <a:prstGeom prst="roundRect">
            <a:avLst>
              <a:gd name="adj" fmla="val 3871"/>
            </a:avLst>
          </a:prstGeom>
          <a:solidFill>
            <a:srgbClr val="E8F4EE"/>
          </a:solidFill>
          <a:ln w="12700">
            <a:solidFill>
              <a:srgbClr val="D9E2EC"/>
            </a:solidFill>
            <a:prstDash val="solid"/>
          </a:ln>
        </p:spPr>
      </p:sp>
      <p:sp>
        <p:nvSpPr>
          <p:cNvPr id="14" name="Text 12"/>
          <p:cNvSpPr/>
          <p:nvPr/>
        </p:nvSpPr>
        <p:spPr>
          <a:xfrm>
            <a:off x="7799832" y="330098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DOCUMENTA</a:t>
            </a:r>
            <a:endParaRPr lang="en-US" sz="1100" dirty="0"/>
          </a:p>
        </p:txBody>
      </p:sp>
      <p:sp>
        <p:nvSpPr>
          <p:cNvPr id="15" name="Text 13"/>
          <p:cNvSpPr/>
          <p:nvPr/>
        </p:nvSpPr>
        <p:spPr>
          <a:xfrm>
            <a:off x="7799832" y="3630168"/>
            <a:ext cx="3374136"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Qué cambiaste · dónde · por qué · qué evidencia confirmó el resultado.</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información falta si solo escribes “corregí los permisos”?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5 · REVISIÓN POR PARES</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14</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¿Puede otra persona repetir tu protocolo?</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La primera revisión por pares del curso: leer sin preguntar.</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874520"/>
            <a:ext cx="2514600" cy="3108960"/>
          </a:xfrm>
          <a:prstGeom prst="roundRect">
            <a:avLst>
              <a:gd name="adj" fmla="val 2182"/>
            </a:avLst>
          </a:prstGeom>
          <a:solidFill>
            <a:srgbClr val="F3F6F9"/>
          </a:solidFill>
          <a:ln w="12700">
            <a:solidFill>
              <a:srgbClr val="D9E2EC"/>
            </a:solidFill>
            <a:prstDash val="solid"/>
          </a:ln>
        </p:spPr>
      </p:sp>
      <p:sp>
        <p:nvSpPr>
          <p:cNvPr id="8" name="Text 6"/>
          <p:cNvSpPr/>
          <p:nvPr/>
        </p:nvSpPr>
        <p:spPr>
          <a:xfrm>
            <a:off x="896112" y="2020824"/>
            <a:ext cx="2185416" cy="228600"/>
          </a:xfrm>
          <a:prstGeom prst="rect">
            <a:avLst/>
          </a:prstGeom>
          <a:noFill/>
          <a:ln/>
        </p:spPr>
        <p:txBody>
          <a:bodyPr wrap="square" lIns="0" tIns="0" rIns="0" bIns="0" rtlCol="0" anchor="ctr"/>
          <a:lstStyle/>
          <a:p>
            <a:pPr marL="0" indent="0">
              <a:buNone/>
            </a:pPr>
            <a:r>
              <a:rPr lang="en-US" sz="1100" b="1" dirty="0">
                <a:solidFill>
                  <a:srgbClr val="2F75B5"/>
                </a:solidFill>
              </a:rPr>
              <a:t>1 · INTERCAMBIA</a:t>
            </a:r>
            <a:endParaRPr lang="en-US" sz="1100" dirty="0"/>
          </a:p>
        </p:txBody>
      </p:sp>
      <p:sp>
        <p:nvSpPr>
          <p:cNvPr id="9" name="Text 7"/>
          <p:cNvSpPr/>
          <p:nvPr/>
        </p:nvSpPr>
        <p:spPr>
          <a:xfrm>
            <a:off x="896112" y="2350008"/>
            <a:ext cx="2185416" cy="2514600"/>
          </a:xfrm>
          <a:prstGeom prst="rect">
            <a:avLst/>
          </a:prstGeom>
          <a:noFill/>
          <a:ln/>
        </p:spPr>
        <p:txBody>
          <a:bodyPr wrap="square" lIns="0" tIns="0" rIns="0" bIns="0" rtlCol="0" anchor="ctr">
            <a:normAutofit/>
          </a:bodyPr>
          <a:lstStyle/>
          <a:p>
            <a:pPr marL="0" indent="0">
              <a:buNone/>
            </a:pPr>
            <a:r>
              <a:rPr lang="en-US" sz="1300" dirty="0">
                <a:solidFill>
                  <a:srgbClr val="203040"/>
                </a:solidFill>
              </a:rPr>
              <a:t>Tu pareja recibe doc/protocolo.md.</a:t>
            </a:r>
            <a:endParaRPr lang="en-US" sz="1300" dirty="0"/>
          </a:p>
        </p:txBody>
      </p:sp>
      <p:sp>
        <p:nvSpPr>
          <p:cNvPr id="10" name="Shape 8"/>
          <p:cNvSpPr/>
          <p:nvPr/>
        </p:nvSpPr>
        <p:spPr>
          <a:xfrm>
            <a:off x="3429000" y="1874520"/>
            <a:ext cx="2514600" cy="3108960"/>
          </a:xfrm>
          <a:prstGeom prst="roundRect">
            <a:avLst>
              <a:gd name="adj" fmla="val 2182"/>
            </a:avLst>
          </a:prstGeom>
          <a:solidFill>
            <a:srgbClr val="F3F6F9"/>
          </a:solidFill>
          <a:ln w="12700">
            <a:solidFill>
              <a:srgbClr val="D9E2EC"/>
            </a:solidFill>
            <a:prstDash val="solid"/>
          </a:ln>
        </p:spPr>
      </p:sp>
      <p:sp>
        <p:nvSpPr>
          <p:cNvPr id="11" name="Text 9"/>
          <p:cNvSpPr/>
          <p:nvPr/>
        </p:nvSpPr>
        <p:spPr>
          <a:xfrm>
            <a:off x="3593592" y="2020824"/>
            <a:ext cx="2185416" cy="228600"/>
          </a:xfrm>
          <a:prstGeom prst="rect">
            <a:avLst/>
          </a:prstGeom>
          <a:noFill/>
          <a:ln/>
        </p:spPr>
        <p:txBody>
          <a:bodyPr wrap="square" lIns="0" tIns="0" rIns="0" bIns="0" rtlCol="0" anchor="ctr"/>
          <a:lstStyle/>
          <a:p>
            <a:pPr marL="0" indent="0">
              <a:buNone/>
            </a:pPr>
            <a:r>
              <a:rPr lang="en-US" sz="1100" b="1" dirty="0">
                <a:solidFill>
                  <a:srgbClr val="2F75B5"/>
                </a:solidFill>
              </a:rPr>
              <a:t>2 · INTENTA</a:t>
            </a:r>
            <a:endParaRPr lang="en-US" sz="1100" dirty="0"/>
          </a:p>
        </p:txBody>
      </p:sp>
      <p:sp>
        <p:nvSpPr>
          <p:cNvPr id="12" name="Text 10"/>
          <p:cNvSpPr/>
          <p:nvPr/>
        </p:nvSpPr>
        <p:spPr>
          <a:xfrm>
            <a:off x="3593592" y="2350008"/>
            <a:ext cx="2185416" cy="2514600"/>
          </a:xfrm>
          <a:prstGeom prst="rect">
            <a:avLst/>
          </a:prstGeom>
          <a:noFill/>
          <a:ln/>
        </p:spPr>
        <p:txBody>
          <a:bodyPr wrap="square" lIns="0" tIns="0" rIns="0" bIns="0" rtlCol="0" anchor="ctr">
            <a:normAutofit/>
          </a:bodyPr>
          <a:lstStyle/>
          <a:p>
            <a:pPr marL="0" indent="0">
              <a:buNone/>
            </a:pPr>
            <a:r>
              <a:rPr lang="en-US" sz="1300" dirty="0">
                <a:solidFill>
                  <a:srgbClr val="203040"/>
                </a:solidFill>
              </a:rPr>
              <a:t>Sigue las instrucciones sin pedir aclaraciones.</a:t>
            </a:r>
            <a:endParaRPr lang="en-US" sz="1300" dirty="0"/>
          </a:p>
        </p:txBody>
      </p:sp>
      <p:sp>
        <p:nvSpPr>
          <p:cNvPr id="13" name="Shape 11"/>
          <p:cNvSpPr/>
          <p:nvPr/>
        </p:nvSpPr>
        <p:spPr>
          <a:xfrm>
            <a:off x="6126480" y="1874520"/>
            <a:ext cx="2514600" cy="3108960"/>
          </a:xfrm>
          <a:prstGeom prst="roundRect">
            <a:avLst>
              <a:gd name="adj" fmla="val 2182"/>
            </a:avLst>
          </a:prstGeom>
          <a:solidFill>
            <a:srgbClr val="FFF2CC"/>
          </a:solidFill>
          <a:ln w="12700">
            <a:solidFill>
              <a:srgbClr val="D9E2EC"/>
            </a:solidFill>
            <a:prstDash val="solid"/>
          </a:ln>
        </p:spPr>
      </p:sp>
      <p:sp>
        <p:nvSpPr>
          <p:cNvPr id="14" name="Text 12"/>
          <p:cNvSpPr/>
          <p:nvPr/>
        </p:nvSpPr>
        <p:spPr>
          <a:xfrm>
            <a:off x="6291072" y="2020824"/>
            <a:ext cx="2185416" cy="228600"/>
          </a:xfrm>
          <a:prstGeom prst="rect">
            <a:avLst/>
          </a:prstGeom>
          <a:noFill/>
          <a:ln/>
        </p:spPr>
        <p:txBody>
          <a:bodyPr wrap="square" lIns="0" tIns="0" rIns="0" bIns="0" rtlCol="0" anchor="ctr"/>
          <a:lstStyle/>
          <a:p>
            <a:pPr marL="0" indent="0">
              <a:buNone/>
            </a:pPr>
            <a:r>
              <a:rPr lang="en-US" sz="1100" b="1" dirty="0">
                <a:solidFill>
                  <a:srgbClr val="2F75B5"/>
                </a:solidFill>
              </a:rPr>
              <a:t>3 · PREGUNTA</a:t>
            </a:r>
            <a:endParaRPr lang="en-US" sz="1100" dirty="0"/>
          </a:p>
        </p:txBody>
      </p:sp>
      <p:sp>
        <p:nvSpPr>
          <p:cNvPr id="15" name="Text 13"/>
          <p:cNvSpPr/>
          <p:nvPr/>
        </p:nvSpPr>
        <p:spPr>
          <a:xfrm>
            <a:off x="6291072" y="2350008"/>
            <a:ext cx="2185416" cy="2514600"/>
          </a:xfrm>
          <a:prstGeom prst="rect">
            <a:avLst/>
          </a:prstGeom>
          <a:noFill/>
          <a:ln/>
        </p:spPr>
        <p:txBody>
          <a:bodyPr wrap="square" lIns="0" tIns="0" rIns="0" bIns="0" rtlCol="0" anchor="ctr">
            <a:normAutofit/>
          </a:bodyPr>
          <a:lstStyle/>
          <a:p>
            <a:pPr marL="0" indent="0">
              <a:buNone/>
            </a:pPr>
            <a:r>
              <a:rPr lang="en-US" sz="1300" dirty="0">
                <a:solidFill>
                  <a:srgbClr val="203040"/>
                </a:solidFill>
              </a:rPr>
              <a:t>¿Dónde? ¿de dónde sale? ¿por qué esa decisión?</a:t>
            </a:r>
            <a:endParaRPr lang="en-US" sz="1300" dirty="0"/>
          </a:p>
        </p:txBody>
      </p:sp>
      <p:sp>
        <p:nvSpPr>
          <p:cNvPr id="16" name="Shape 14"/>
          <p:cNvSpPr/>
          <p:nvPr/>
        </p:nvSpPr>
        <p:spPr>
          <a:xfrm>
            <a:off x="8823960" y="1874520"/>
            <a:ext cx="2514600" cy="3108960"/>
          </a:xfrm>
          <a:prstGeom prst="roundRect">
            <a:avLst>
              <a:gd name="adj" fmla="val 2182"/>
            </a:avLst>
          </a:prstGeom>
          <a:solidFill>
            <a:srgbClr val="E8F4EE"/>
          </a:solidFill>
          <a:ln w="12700">
            <a:solidFill>
              <a:srgbClr val="D9E2EC"/>
            </a:solidFill>
            <a:prstDash val="solid"/>
          </a:ln>
        </p:spPr>
      </p:sp>
      <p:sp>
        <p:nvSpPr>
          <p:cNvPr id="17" name="Text 15"/>
          <p:cNvSpPr/>
          <p:nvPr/>
        </p:nvSpPr>
        <p:spPr>
          <a:xfrm>
            <a:off x="8988552" y="2020824"/>
            <a:ext cx="2185416" cy="228600"/>
          </a:xfrm>
          <a:prstGeom prst="rect">
            <a:avLst/>
          </a:prstGeom>
          <a:noFill/>
          <a:ln/>
        </p:spPr>
        <p:txBody>
          <a:bodyPr wrap="square" lIns="0" tIns="0" rIns="0" bIns="0" rtlCol="0" anchor="ctr"/>
          <a:lstStyle/>
          <a:p>
            <a:pPr marL="0" indent="0">
              <a:buNone/>
            </a:pPr>
            <a:r>
              <a:rPr lang="en-US" sz="1100" b="1" dirty="0">
                <a:solidFill>
                  <a:srgbClr val="2F75B5"/>
                </a:solidFill>
              </a:rPr>
              <a:t>4 · CORRIGE</a:t>
            </a:r>
            <a:endParaRPr lang="en-US" sz="1100" dirty="0"/>
          </a:p>
        </p:txBody>
      </p:sp>
      <p:sp>
        <p:nvSpPr>
          <p:cNvPr id="18" name="Text 16"/>
          <p:cNvSpPr/>
          <p:nvPr/>
        </p:nvSpPr>
        <p:spPr>
          <a:xfrm>
            <a:off x="8988552" y="2350008"/>
            <a:ext cx="2185416" cy="2514600"/>
          </a:xfrm>
          <a:prstGeom prst="rect">
            <a:avLst/>
          </a:prstGeom>
          <a:noFill/>
          <a:ln/>
        </p:spPr>
        <p:txBody>
          <a:bodyPr wrap="square" lIns="0" tIns="0" rIns="0" bIns="0" rtlCol="0" anchor="ctr">
            <a:normAutofit/>
          </a:bodyPr>
          <a:lstStyle/>
          <a:p>
            <a:pPr marL="0" indent="0">
              <a:buNone/>
            </a:pPr>
            <a:r>
              <a:rPr lang="en-US" sz="1300" dirty="0">
                <a:solidFill>
                  <a:srgbClr val="203040"/>
                </a:solidFill>
              </a:rPr>
              <a:t>Modifica tu protocolo según los puntos ciegos encontrados.</a:t>
            </a:r>
            <a:endParaRPr lang="en-US" sz="1300" dirty="0"/>
          </a:p>
        </p:txBody>
      </p:sp>
      <p:sp>
        <p:nvSpPr>
          <p:cNvPr id="19" name="Shape 17"/>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0" name="Text 18"/>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1" name="Text 19"/>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significa si tu pareja necesita preguntarte algo para poder continuar?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5 · BUSCAR PUNTOS CIEGOS</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15</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Los fallos típicos no son de comandos: son de contexto</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Revisa estas señales en el protocolo.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874520"/>
            <a:ext cx="3383280" cy="1325880"/>
          </a:xfrm>
          <a:prstGeom prst="roundRect">
            <a:avLst>
              <a:gd name="adj" fmla="val 4138"/>
            </a:avLst>
          </a:prstGeom>
          <a:solidFill>
            <a:srgbClr val="F3F6F9"/>
          </a:solidFill>
          <a:ln w="12700">
            <a:solidFill>
              <a:srgbClr val="D9E2EC"/>
            </a:solidFill>
            <a:prstDash val="solid"/>
          </a:ln>
        </p:spPr>
      </p:sp>
      <p:sp>
        <p:nvSpPr>
          <p:cNvPr id="8" name="Text 6"/>
          <p:cNvSpPr/>
          <p:nvPr/>
        </p:nvSpPr>
        <p:spPr>
          <a:xfrm>
            <a:off x="89611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¿DÓNDE?</a:t>
            </a:r>
            <a:endParaRPr lang="en-US" sz="1100" dirty="0"/>
          </a:p>
        </p:txBody>
      </p:sp>
      <p:sp>
        <p:nvSpPr>
          <p:cNvPr id="9" name="Text 7"/>
          <p:cNvSpPr/>
          <p:nvPr/>
        </p:nvSpPr>
        <p:spPr>
          <a:xfrm>
            <a:off x="89611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Comando sin máquina/directorio.</a:t>
            </a:r>
            <a:endParaRPr lang="en-US" sz="1300" dirty="0"/>
          </a:p>
        </p:txBody>
      </p:sp>
      <p:sp>
        <p:nvSpPr>
          <p:cNvPr id="10" name="Shape 8"/>
          <p:cNvSpPr/>
          <p:nvPr/>
        </p:nvSpPr>
        <p:spPr>
          <a:xfrm>
            <a:off x="4434840" y="1874520"/>
            <a:ext cx="3383280" cy="1325880"/>
          </a:xfrm>
          <a:prstGeom prst="roundRect">
            <a:avLst>
              <a:gd name="adj" fmla="val 4138"/>
            </a:avLst>
          </a:prstGeom>
          <a:solidFill>
            <a:srgbClr val="F3F6F9"/>
          </a:solidFill>
          <a:ln w="12700">
            <a:solidFill>
              <a:srgbClr val="D9E2EC"/>
            </a:solidFill>
            <a:prstDash val="solid"/>
          </a:ln>
        </p:spPr>
      </p:sp>
      <p:sp>
        <p:nvSpPr>
          <p:cNvPr id="11" name="Text 9"/>
          <p:cNvSpPr/>
          <p:nvPr/>
        </p:nvSpPr>
        <p:spPr>
          <a:xfrm>
            <a:off x="459943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¿DE DÓNDE SALE?</a:t>
            </a:r>
            <a:endParaRPr lang="en-US" sz="1100" dirty="0"/>
          </a:p>
        </p:txBody>
      </p:sp>
      <p:sp>
        <p:nvSpPr>
          <p:cNvPr id="12" name="Text 10"/>
          <p:cNvSpPr/>
          <p:nvPr/>
        </p:nvSpPr>
        <p:spPr>
          <a:xfrm>
            <a:off x="459943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Resultado sin comando que lo produjo.</a:t>
            </a:r>
            <a:endParaRPr lang="en-US" sz="1300" dirty="0"/>
          </a:p>
        </p:txBody>
      </p:sp>
      <p:sp>
        <p:nvSpPr>
          <p:cNvPr id="13" name="Shape 11"/>
          <p:cNvSpPr/>
          <p:nvPr/>
        </p:nvSpPr>
        <p:spPr>
          <a:xfrm>
            <a:off x="8138160" y="1874520"/>
            <a:ext cx="3383280" cy="1325880"/>
          </a:xfrm>
          <a:prstGeom prst="roundRect">
            <a:avLst>
              <a:gd name="adj" fmla="val 4138"/>
            </a:avLst>
          </a:prstGeom>
          <a:solidFill>
            <a:srgbClr val="F3F6F9"/>
          </a:solidFill>
          <a:ln w="12700">
            <a:solidFill>
              <a:srgbClr val="D9E2EC"/>
            </a:solidFill>
            <a:prstDash val="solid"/>
          </a:ln>
        </p:spPr>
      </p:sp>
      <p:sp>
        <p:nvSpPr>
          <p:cNvPr id="14" name="Text 12"/>
          <p:cNvSpPr/>
          <p:nvPr/>
        </p:nvSpPr>
        <p:spPr>
          <a:xfrm>
            <a:off x="830275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¿POR QUÉ?</a:t>
            </a:r>
            <a:endParaRPr lang="en-US" sz="1100" dirty="0"/>
          </a:p>
        </p:txBody>
      </p:sp>
      <p:sp>
        <p:nvSpPr>
          <p:cNvPr id="15" name="Text 13"/>
          <p:cNvSpPr/>
          <p:nvPr/>
        </p:nvSpPr>
        <p:spPr>
          <a:xfrm>
            <a:off x="830275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Decisión sin argumento.</a:t>
            </a:r>
            <a:endParaRPr lang="en-US" sz="1300" dirty="0"/>
          </a:p>
        </p:txBody>
      </p:sp>
      <p:sp>
        <p:nvSpPr>
          <p:cNvPr id="16" name="Shape 14"/>
          <p:cNvSpPr/>
          <p:nvPr/>
        </p:nvSpPr>
        <p:spPr>
          <a:xfrm>
            <a:off x="731520" y="3474720"/>
            <a:ext cx="5257800" cy="1325880"/>
          </a:xfrm>
          <a:prstGeom prst="roundRect">
            <a:avLst>
              <a:gd name="adj" fmla="val 4138"/>
            </a:avLst>
          </a:prstGeom>
          <a:solidFill>
            <a:srgbClr val="FFF2CC"/>
          </a:solidFill>
          <a:ln w="12700">
            <a:solidFill>
              <a:srgbClr val="D9E2EC"/>
            </a:solidFill>
            <a:prstDash val="solid"/>
          </a:ln>
        </p:spPr>
      </p:sp>
      <p:sp>
        <p:nvSpPr>
          <p:cNvPr id="17" name="Text 15"/>
          <p:cNvSpPr/>
          <p:nvPr/>
        </p:nvSpPr>
        <p:spPr>
          <a:xfrm>
            <a:off x="896112" y="3621024"/>
            <a:ext cx="4928616" cy="228600"/>
          </a:xfrm>
          <a:prstGeom prst="rect">
            <a:avLst/>
          </a:prstGeom>
          <a:noFill/>
          <a:ln/>
        </p:spPr>
        <p:txBody>
          <a:bodyPr wrap="square" lIns="0" tIns="0" rIns="0" bIns="0" rtlCol="0" anchor="ctr"/>
          <a:lstStyle/>
          <a:p>
            <a:pPr marL="0" indent="0">
              <a:buNone/>
            </a:pPr>
            <a:r>
              <a:rPr lang="en-US" sz="1100" b="1" dirty="0">
                <a:solidFill>
                  <a:srgbClr val="2F75B5"/>
                </a:solidFill>
              </a:rPr>
              <a:t>RUTA PERSONAL</a:t>
            </a:r>
            <a:endParaRPr lang="en-US" sz="1100" dirty="0"/>
          </a:p>
        </p:txBody>
      </p:sp>
      <p:sp>
        <p:nvSpPr>
          <p:cNvPr id="18" name="Text 16"/>
          <p:cNvSpPr/>
          <p:nvPr/>
        </p:nvSpPr>
        <p:spPr>
          <a:xfrm>
            <a:off x="896112" y="3950208"/>
            <a:ext cx="492861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Una ruta local que otra persona no tiene.</a:t>
            </a:r>
            <a:endParaRPr lang="en-US" sz="1300" dirty="0"/>
          </a:p>
        </p:txBody>
      </p:sp>
      <p:sp>
        <p:nvSpPr>
          <p:cNvPr id="19" name="Shape 17"/>
          <p:cNvSpPr/>
          <p:nvPr/>
        </p:nvSpPr>
        <p:spPr>
          <a:xfrm>
            <a:off x="6263640" y="3474720"/>
            <a:ext cx="5257800" cy="1325880"/>
          </a:xfrm>
          <a:prstGeom prst="roundRect">
            <a:avLst>
              <a:gd name="adj" fmla="val 4138"/>
            </a:avLst>
          </a:prstGeom>
          <a:solidFill>
            <a:srgbClr val="FCE8E6"/>
          </a:solidFill>
          <a:ln w="12700">
            <a:solidFill>
              <a:srgbClr val="D9E2EC"/>
            </a:solidFill>
            <a:prstDash val="solid"/>
          </a:ln>
        </p:spPr>
      </p:sp>
      <p:sp>
        <p:nvSpPr>
          <p:cNvPr id="20" name="Text 18"/>
          <p:cNvSpPr/>
          <p:nvPr/>
        </p:nvSpPr>
        <p:spPr>
          <a:xfrm>
            <a:off x="6428232" y="3621024"/>
            <a:ext cx="4928616" cy="228600"/>
          </a:xfrm>
          <a:prstGeom prst="rect">
            <a:avLst/>
          </a:prstGeom>
          <a:noFill/>
          <a:ln/>
        </p:spPr>
        <p:txBody>
          <a:bodyPr wrap="square" lIns="0" tIns="0" rIns="0" bIns="0" rtlCol="0" anchor="ctr"/>
          <a:lstStyle/>
          <a:p>
            <a:pPr marL="0" indent="0">
              <a:buNone/>
            </a:pPr>
            <a:r>
              <a:rPr lang="en-US" sz="1100" b="1" dirty="0">
                <a:solidFill>
                  <a:srgbClr val="2F75B5"/>
                </a:solidFill>
              </a:rPr>
              <a:t>CREDENCIALES</a:t>
            </a:r>
            <a:endParaRPr lang="en-US" sz="1100" dirty="0"/>
          </a:p>
        </p:txBody>
      </p:sp>
      <p:sp>
        <p:nvSpPr>
          <p:cNvPr id="21" name="Text 19"/>
          <p:cNvSpPr/>
          <p:nvPr/>
        </p:nvSpPr>
        <p:spPr>
          <a:xfrm>
            <a:off x="6428232" y="3950208"/>
            <a:ext cx="492861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Contraseñas o llaves nunca van en el protocolo.</a:t>
            </a:r>
            <a:endParaRPr lang="en-US" sz="1300" dirty="0"/>
          </a:p>
        </p:txBody>
      </p:sp>
      <p:sp>
        <p:nvSpPr>
          <p:cNvPr id="22" name="Shape 20"/>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3" name="Text 21"/>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4" name="Text 22"/>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¿Cuál de estos errores rompe más rápido la repetibilidad de un procedimiento?</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6 · PREPARAR U3</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16</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De datos que conoces a datos que vienen de una fuente externa</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La siguiente unidad cambia la naturaleza del problema.</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874520"/>
            <a:ext cx="5166360" cy="2971800"/>
          </a:xfrm>
          <a:prstGeom prst="roundRect">
            <a:avLst>
              <a:gd name="adj" fmla="val 1846"/>
            </a:avLst>
          </a:prstGeom>
          <a:solidFill>
            <a:srgbClr val="F3F6F9"/>
          </a:solidFill>
          <a:ln w="12700">
            <a:solidFill>
              <a:srgbClr val="D9E2EC"/>
            </a:solidFill>
            <a:prstDash val="solid"/>
          </a:ln>
        </p:spPr>
      </p:sp>
      <p:sp>
        <p:nvSpPr>
          <p:cNvPr id="8" name="Text 6"/>
          <p:cNvSpPr/>
          <p:nvPr/>
        </p:nvSpPr>
        <p:spPr>
          <a:xfrm>
            <a:off x="896112" y="2020824"/>
            <a:ext cx="4837176" cy="228600"/>
          </a:xfrm>
          <a:prstGeom prst="rect">
            <a:avLst/>
          </a:prstGeom>
          <a:noFill/>
          <a:ln/>
        </p:spPr>
        <p:txBody>
          <a:bodyPr wrap="square" lIns="0" tIns="0" rIns="0" bIns="0" rtlCol="0" anchor="ctr"/>
          <a:lstStyle/>
          <a:p>
            <a:pPr marL="0" indent="0">
              <a:buNone/>
            </a:pPr>
            <a:r>
              <a:rPr lang="en-US" sz="1100" b="1" dirty="0">
                <a:solidFill>
                  <a:srgbClr val="2F75B5"/>
                </a:solidFill>
              </a:rPr>
              <a:t>HASTA AHORA</a:t>
            </a:r>
            <a:endParaRPr lang="en-US" sz="1100" dirty="0"/>
          </a:p>
        </p:txBody>
      </p:sp>
      <p:sp>
        <p:nvSpPr>
          <p:cNvPr id="9" name="Text 7"/>
          <p:cNvSpPr/>
          <p:nvPr/>
        </p:nvSpPr>
        <p:spPr>
          <a:xfrm>
            <a:off x="896112" y="2350008"/>
            <a:ext cx="4837176" cy="2377440"/>
          </a:xfrm>
          <a:prstGeom prst="rect">
            <a:avLst/>
          </a:prstGeom>
          <a:noFill/>
          <a:ln/>
        </p:spPr>
        <p:txBody>
          <a:bodyPr wrap="square" lIns="0" tIns="0" rIns="0" bIns="0" rtlCol="0" anchor="ctr">
            <a:normAutofit/>
          </a:bodyPr>
          <a:lstStyle/>
          <a:p>
            <a:pPr marL="0" indent="0">
              <a:buNone/>
            </a:pPr>
            <a:r>
              <a:rPr lang="en-US" sz="1300" dirty="0">
                <a:solidFill>
                  <a:srgbClr val="203040"/>
                </a:solidFill>
              </a:rPr>
              <a:t>Archivos pequeños y conocidos</a:t>
            </a:r>
            <a:endParaRPr lang="en-US" sz="1300" dirty="0"/>
          </a:p>
          <a:p>
            <a:pPr marL="0" indent="0">
              <a:buNone/>
            </a:pPr>
            <a:endParaRPr lang="en-US" sz="1300" dirty="0"/>
          </a:p>
          <a:p>
            <a:pPr marL="0" indent="0">
              <a:buNone/>
            </a:pPr>
            <a:r>
              <a:rPr lang="en-US" sz="1300" dirty="0">
                <a:solidFill>
                  <a:srgbClr val="203040"/>
                </a:solidFill>
              </a:rPr>
              <a:t>Sabes cómo llegaron al proyecto</a:t>
            </a:r>
            <a:endParaRPr lang="en-US" sz="1300" dirty="0"/>
          </a:p>
          <a:p>
            <a:pPr marL="0" indent="0">
              <a:buNone/>
            </a:pPr>
            <a:endParaRPr lang="en-US" sz="1300" dirty="0"/>
          </a:p>
          <a:p>
            <a:pPr marL="0" indent="0">
              <a:buNone/>
            </a:pPr>
            <a:r>
              <a:rPr lang="en-US" sz="1300" dirty="0">
                <a:solidFill>
                  <a:srgbClr val="203040"/>
                </a:solidFill>
              </a:rPr>
              <a:t>Puedes inspeccionarlos directamente</a:t>
            </a:r>
            <a:endParaRPr lang="en-US" sz="1300" dirty="0"/>
          </a:p>
        </p:txBody>
      </p:sp>
      <p:sp>
        <p:nvSpPr>
          <p:cNvPr id="10" name="Shape 8"/>
          <p:cNvSpPr/>
          <p:nvPr/>
        </p:nvSpPr>
        <p:spPr>
          <a:xfrm>
            <a:off x="6263640" y="1874520"/>
            <a:ext cx="5166360" cy="2971800"/>
          </a:xfrm>
          <a:prstGeom prst="roundRect">
            <a:avLst>
              <a:gd name="adj" fmla="val 1846"/>
            </a:avLst>
          </a:prstGeom>
          <a:solidFill>
            <a:srgbClr val="E8F4EE"/>
          </a:solidFill>
          <a:ln w="12700">
            <a:solidFill>
              <a:srgbClr val="D9E2EC"/>
            </a:solidFill>
            <a:prstDash val="solid"/>
          </a:ln>
        </p:spPr>
      </p:sp>
      <p:sp>
        <p:nvSpPr>
          <p:cNvPr id="11" name="Text 9"/>
          <p:cNvSpPr/>
          <p:nvPr/>
        </p:nvSpPr>
        <p:spPr>
          <a:xfrm>
            <a:off x="6428232" y="2020824"/>
            <a:ext cx="4837176" cy="228600"/>
          </a:xfrm>
          <a:prstGeom prst="rect">
            <a:avLst/>
          </a:prstGeom>
          <a:noFill/>
          <a:ln/>
        </p:spPr>
        <p:txBody>
          <a:bodyPr wrap="square" lIns="0" tIns="0" rIns="0" bIns="0" rtlCol="0" anchor="ctr"/>
          <a:lstStyle/>
          <a:p>
            <a:pPr marL="0" indent="0">
              <a:buNone/>
            </a:pPr>
            <a:r>
              <a:rPr lang="en-US" sz="1100" b="1" dirty="0">
                <a:solidFill>
                  <a:srgbClr val="2F75B5"/>
                </a:solidFill>
              </a:rPr>
              <a:t>U3 · DATOS BIOLÓGICOS REALES</a:t>
            </a:r>
            <a:endParaRPr lang="en-US" sz="1100" dirty="0"/>
          </a:p>
        </p:txBody>
      </p:sp>
      <p:sp>
        <p:nvSpPr>
          <p:cNvPr id="12" name="Text 10"/>
          <p:cNvSpPr/>
          <p:nvPr/>
        </p:nvSpPr>
        <p:spPr>
          <a:xfrm>
            <a:off x="6428232" y="2350008"/>
            <a:ext cx="4837176" cy="2377440"/>
          </a:xfrm>
          <a:prstGeom prst="rect">
            <a:avLst/>
          </a:prstGeom>
          <a:noFill/>
          <a:ln/>
        </p:spPr>
        <p:txBody>
          <a:bodyPr wrap="square" lIns="0" tIns="0" rIns="0" bIns="0" rtlCol="0" anchor="ctr">
            <a:normAutofit/>
          </a:bodyPr>
          <a:lstStyle/>
          <a:p>
            <a:pPr marL="0" indent="0">
              <a:buNone/>
            </a:pPr>
            <a:r>
              <a:rPr lang="en-US" sz="1300" dirty="0">
                <a:solidFill>
                  <a:srgbClr val="203040"/>
                </a:solidFill>
              </a:rPr>
              <a:t>Origen, versión y fecha importan</a:t>
            </a:r>
            <a:endParaRPr lang="en-US" sz="1300" dirty="0"/>
          </a:p>
          <a:p>
            <a:pPr marL="0" indent="0">
              <a:buNone/>
            </a:pPr>
            <a:endParaRPr lang="en-US" sz="1300" dirty="0"/>
          </a:p>
          <a:p>
            <a:pPr marL="0" indent="0">
              <a:buNone/>
            </a:pPr>
            <a:r>
              <a:rPr lang="en-US" sz="1300" dirty="0">
                <a:solidFill>
                  <a:srgbClr val="203040"/>
                </a:solidFill>
              </a:rPr>
              <a:t>La integridad debe contrastarse con la fuente</a:t>
            </a:r>
            <a:endParaRPr lang="en-US" sz="1300" dirty="0"/>
          </a:p>
          <a:p>
            <a:pPr marL="0" indent="0">
              <a:buNone/>
            </a:pPr>
            <a:endParaRPr lang="en-US" sz="1300" dirty="0"/>
          </a:p>
          <a:p>
            <a:pPr marL="0" indent="0">
              <a:buNone/>
            </a:pPr>
            <a:r>
              <a:rPr lang="en-US" sz="1300" dirty="0">
                <a:solidFill>
                  <a:srgbClr val="203040"/>
                </a:solidFill>
              </a:rPr>
              <a:t>El contenido puede no caber en pantalla</a:t>
            </a:r>
            <a:endParaRPr lang="en-US" sz="1300" dirty="0"/>
          </a:p>
        </p:txBody>
      </p:sp>
      <p:sp>
        <p:nvSpPr>
          <p:cNvPr id="13" name="Shape 11"/>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4" name="Text 12"/>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5" name="Text 13"/>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tres cosas necesitarías saber de un archivo biológico que tú no generaste?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PASO 6 · DEJAR LISTO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17</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Prepara el proyecto para recibir datos externos</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El cierre de U2 debe dejar estructura y documentación coherentes.</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40080" y="1874520"/>
            <a:ext cx="6720840" cy="2331720"/>
          </a:xfrm>
          <a:prstGeom prst="roundRect">
            <a:avLst>
              <a:gd name="adj" fmla="val 3137"/>
            </a:avLst>
          </a:prstGeom>
          <a:solidFill>
            <a:srgbClr val="111827"/>
          </a:solidFill>
          <a:ln w="12700">
            <a:solidFill>
              <a:srgbClr val="111827"/>
            </a:solidFill>
            <a:prstDash val="solid"/>
          </a:ln>
        </p:spPr>
      </p:sp>
      <p:sp>
        <p:nvSpPr>
          <p:cNvPr id="8" name="Text 6"/>
          <p:cNvSpPr/>
          <p:nvPr/>
        </p:nvSpPr>
        <p:spPr>
          <a:xfrm>
            <a:off x="868680" y="2020824"/>
            <a:ext cx="4023360" cy="219456"/>
          </a:xfrm>
          <a:prstGeom prst="rect">
            <a:avLst/>
          </a:prstGeom>
          <a:noFill/>
          <a:ln/>
        </p:spPr>
        <p:txBody>
          <a:bodyPr wrap="square" lIns="0" tIns="0" rIns="0" bIns="0" rtlCol="0" anchor="ctr"/>
          <a:lstStyle/>
          <a:p>
            <a:pPr marL="0" indent="0">
              <a:buNone/>
            </a:pPr>
            <a:r>
              <a:rPr lang="en-US" sz="1000" dirty="0">
                <a:solidFill>
                  <a:srgbClr val="A7B0BE"/>
                </a:solidFill>
              </a:rPr>
              <a:t>●  ●  ●   terminal remota</a:t>
            </a:r>
            <a:endParaRPr lang="en-US" sz="1000" dirty="0"/>
          </a:p>
        </p:txBody>
      </p:sp>
      <p:sp>
        <p:nvSpPr>
          <p:cNvPr id="9" name="Text 7"/>
          <p:cNvSpPr/>
          <p:nvPr/>
        </p:nvSpPr>
        <p:spPr>
          <a:xfrm>
            <a:off x="868680" y="2377440"/>
            <a:ext cx="6217920" cy="1673352"/>
          </a:xfrm>
          <a:prstGeom prst="rect">
            <a:avLst/>
          </a:prstGeom>
          <a:noFill/>
          <a:ln/>
        </p:spPr>
        <p:txBody>
          <a:bodyPr wrap="square" lIns="254" tIns="254" rIns="254" bIns="254" rtlCol="0" anchor="ctr">
            <a:normAutofit/>
          </a:bodyPr>
          <a:lstStyle/>
          <a:p>
            <a:pPr marL="0" indent="0">
              <a:buNone/>
            </a:pPr>
            <a:r>
              <a:rPr lang="en-US" sz="1300" dirty="0">
                <a:solidFill>
                  <a:srgbClr val="F8FAFC"/>
                </a:solidFill>
                <a:latin typeface="Courier New" pitchFamily="34" charset="0"/>
                <a:ea typeface="Courier New" pitchFamily="34" charset="-122"/>
                <a:cs typeface="Courier New" pitchFamily="34" charset="-120"/>
              </a:rPr>
              <a:t>$ cd ~/proyecto-ecoli</a:t>
            </a: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ls -R</a:t>
            </a:r>
            <a:endParaRPr lang="en-US" sz="1300" dirty="0"/>
          </a:p>
          <a:p>
            <a:pPr marL="0" indent="0">
              <a:buNone/>
            </a:pPr>
            <a:endParaRPr lang="en-US" sz="1300" dirty="0"/>
          </a:p>
          <a:p>
            <a:pPr marL="0" indent="0">
              <a:buNone/>
            </a:pPr>
            <a:r>
              <a:rPr lang="en-US" sz="1300" dirty="0">
                <a:solidFill>
                  <a:srgbClr val="F8FAFC"/>
                </a:solidFill>
                <a:latin typeface="Courier New" pitchFamily="34" charset="0"/>
                <a:ea typeface="Courier New" pitchFamily="34" charset="-122"/>
                <a:cs typeface="Courier New" pitchFamily="34" charset="-120"/>
              </a:rPr>
              <a:t>$ nano README.md</a:t>
            </a:r>
            <a:endParaRPr lang="en-US" sz="1300" dirty="0"/>
          </a:p>
        </p:txBody>
      </p:sp>
      <p:sp>
        <p:nvSpPr>
          <p:cNvPr id="10" name="Shape 8"/>
          <p:cNvSpPr/>
          <p:nvPr/>
        </p:nvSpPr>
        <p:spPr>
          <a:xfrm>
            <a:off x="7635240" y="1874520"/>
            <a:ext cx="3703320" cy="1097280"/>
          </a:xfrm>
          <a:prstGeom prst="roundRect">
            <a:avLst>
              <a:gd name="adj" fmla="val 5000"/>
            </a:avLst>
          </a:prstGeom>
          <a:solidFill>
            <a:srgbClr val="F3F6F9"/>
          </a:solidFill>
          <a:ln w="12700">
            <a:solidFill>
              <a:srgbClr val="D9E2EC"/>
            </a:solidFill>
            <a:prstDash val="solid"/>
          </a:ln>
        </p:spPr>
      </p:sp>
      <p:sp>
        <p:nvSpPr>
          <p:cNvPr id="11" name="Text 9"/>
          <p:cNvSpPr/>
          <p:nvPr/>
        </p:nvSpPr>
        <p:spPr>
          <a:xfrm>
            <a:off x="7799832" y="202082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COMPRUEBA</a:t>
            </a:r>
            <a:endParaRPr lang="en-US" sz="1100" dirty="0"/>
          </a:p>
        </p:txBody>
      </p:sp>
      <p:sp>
        <p:nvSpPr>
          <p:cNvPr id="12" name="Text 10"/>
          <p:cNvSpPr/>
          <p:nvPr/>
        </p:nvSpPr>
        <p:spPr>
          <a:xfrm>
            <a:off x="7799832" y="2350008"/>
            <a:ext cx="3374136" cy="502920"/>
          </a:xfrm>
          <a:prstGeom prst="rect">
            <a:avLst/>
          </a:prstGeom>
          <a:noFill/>
          <a:ln/>
        </p:spPr>
        <p:txBody>
          <a:bodyPr wrap="square" lIns="0" tIns="0" rIns="0" bIns="0" rtlCol="0" anchor="ctr">
            <a:normAutofit/>
          </a:bodyPr>
          <a:lstStyle/>
          <a:p>
            <a:pPr marL="0" indent="0">
              <a:buNone/>
            </a:pPr>
            <a:r>
              <a:rPr lang="en-US" sz="1300" dirty="0">
                <a:solidFill>
                  <a:srgbClr val="203040"/>
                </a:solidFill>
              </a:rPr>
              <a:t>data/processed/ y results/ existen y tienen el estado esperado.</a:t>
            </a:r>
            <a:endParaRPr lang="en-US" sz="1300" dirty="0"/>
          </a:p>
        </p:txBody>
      </p:sp>
      <p:sp>
        <p:nvSpPr>
          <p:cNvPr id="13" name="Shape 11"/>
          <p:cNvSpPr/>
          <p:nvPr/>
        </p:nvSpPr>
        <p:spPr>
          <a:xfrm>
            <a:off x="7635240" y="3200400"/>
            <a:ext cx="3703320" cy="1417320"/>
          </a:xfrm>
          <a:prstGeom prst="roundRect">
            <a:avLst>
              <a:gd name="adj" fmla="val 3871"/>
            </a:avLst>
          </a:prstGeom>
          <a:solidFill>
            <a:srgbClr val="E8F4EE"/>
          </a:solidFill>
          <a:ln w="12700">
            <a:solidFill>
              <a:srgbClr val="D9E2EC"/>
            </a:solidFill>
            <a:prstDash val="solid"/>
          </a:ln>
        </p:spPr>
      </p:sp>
      <p:sp>
        <p:nvSpPr>
          <p:cNvPr id="14" name="Text 12"/>
          <p:cNvSpPr/>
          <p:nvPr/>
        </p:nvSpPr>
        <p:spPr>
          <a:xfrm>
            <a:off x="7799832" y="3346704"/>
            <a:ext cx="3374136" cy="228600"/>
          </a:xfrm>
          <a:prstGeom prst="rect">
            <a:avLst/>
          </a:prstGeom>
          <a:noFill/>
          <a:ln/>
        </p:spPr>
        <p:txBody>
          <a:bodyPr wrap="square" lIns="0" tIns="0" rIns="0" bIns="0" rtlCol="0" anchor="ctr"/>
          <a:lstStyle/>
          <a:p>
            <a:pPr marL="0" indent="0">
              <a:buNone/>
            </a:pPr>
            <a:r>
              <a:rPr lang="en-US" sz="1100" b="1" dirty="0">
                <a:solidFill>
                  <a:srgbClr val="2F75B5"/>
                </a:solidFill>
              </a:rPr>
              <a:t>README.md</a:t>
            </a:r>
            <a:endParaRPr lang="en-US" sz="1100" dirty="0"/>
          </a:p>
        </p:txBody>
      </p:sp>
      <p:sp>
        <p:nvSpPr>
          <p:cNvPr id="15" name="Text 13"/>
          <p:cNvSpPr/>
          <p:nvPr/>
        </p:nvSpPr>
        <p:spPr>
          <a:xfrm>
            <a:off x="7799832" y="3675888"/>
            <a:ext cx="3374136" cy="822960"/>
          </a:xfrm>
          <a:prstGeom prst="rect">
            <a:avLst/>
          </a:prstGeom>
          <a:noFill/>
          <a:ln/>
        </p:spPr>
        <p:txBody>
          <a:bodyPr wrap="square" lIns="0" tIns="0" rIns="0" bIns="0" rtlCol="0" anchor="ctr">
            <a:normAutofit/>
          </a:bodyPr>
          <a:lstStyle/>
          <a:p>
            <a:pPr marL="0" indent="0">
              <a:buNone/>
            </a:pPr>
            <a:r>
              <a:rPr lang="en-US" sz="1300" dirty="0">
                <a:solidFill>
                  <a:srgbClr val="203040"/>
                </a:solidFill>
              </a:rPr>
              <a:t>Explica qué contiene el proyecto y qué representa cada directorio.</a:t>
            </a:r>
            <a:endParaRPr lang="en-US" sz="1300" dirty="0"/>
          </a:p>
        </p:txBody>
      </p:sp>
      <p:sp>
        <p:nvSpPr>
          <p:cNvPr id="16" name="Shape 14"/>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7" name="Text 15"/>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8" name="Text 16"/>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debería poder entender alguien que abre README.md por primera vez?</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CIERRE · PROTOCOLO</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18</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S6 sí deja una evidencia formal en protocolo.md</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No reescribas S3–S5: registra aquí las verificaciones y correcciones de hoy.</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685800" y="1828800"/>
            <a:ext cx="10835640" cy="3566160"/>
          </a:xfrm>
          <a:prstGeom prst="roundRect">
            <a:avLst>
              <a:gd name="adj" fmla="val 1538"/>
            </a:avLst>
          </a:prstGeom>
          <a:solidFill>
            <a:srgbClr val="F8FAFC"/>
          </a:solidFill>
          <a:ln w="12700">
            <a:solidFill>
              <a:srgbClr val="D9E2EC"/>
            </a:solidFill>
            <a:prstDash val="solid"/>
          </a:ln>
        </p:spPr>
      </p:sp>
      <p:sp>
        <p:nvSpPr>
          <p:cNvPr id="8" name="Text 6"/>
          <p:cNvSpPr/>
          <p:nvPr/>
        </p:nvSpPr>
        <p:spPr>
          <a:xfrm>
            <a:off x="960120" y="2084832"/>
            <a:ext cx="10195560" cy="3063240"/>
          </a:xfrm>
          <a:prstGeom prst="rect">
            <a:avLst/>
          </a:prstGeom>
          <a:noFill/>
          <a:ln/>
        </p:spPr>
        <p:txBody>
          <a:bodyPr wrap="square" lIns="0" tIns="0" rIns="0" bIns="0" rtlCol="0" anchor="ctr">
            <a:normAutofit/>
          </a:bodyPr>
          <a:lstStyle/>
          <a:p>
            <a:pPr marL="0" indent="0">
              <a:buNone/>
            </a:pPr>
            <a:r>
              <a:rPr lang="en-US" sz="1250" dirty="0">
                <a:solidFill>
                  <a:srgbClr val="203040"/>
                </a:solidFill>
                <a:latin typeface="Courier New" pitchFamily="34" charset="0"/>
                <a:ea typeface="Courier New" pitchFamily="34" charset="-122"/>
                <a:cs typeface="Courier New" pitchFamily="34" charset="-120"/>
              </a:rPr>
              <a:t>## Unidad 2 · S6 — Cierre y verificación del entorno</a:t>
            </a:r>
            <a:endParaRPr lang="en-US" sz="1250" dirty="0"/>
          </a:p>
          <a:p>
            <a:pPr marL="0" indent="0">
              <a:buNone/>
            </a:pP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Estado verificado</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Acceso: hostname, whoami, pwd</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Estructura: ls -R + diferencias</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Integridad: sha256sum -c</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Permisos: ls -l + justificación</a:t>
            </a:r>
            <a:endParaRPr lang="en-US" sz="1250" dirty="0"/>
          </a:p>
          <a:p>
            <a:pPr marL="0" indent="0">
              <a:buNone/>
            </a:pP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Diferencias encontradas</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Correcciones aplicadas</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Revisión por pares</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Limitaciones</a:t>
            </a:r>
            <a:endParaRPr lang="en-US" sz="1250" dirty="0"/>
          </a:p>
          <a:p>
            <a:pPr marL="0" indent="0">
              <a:buNone/>
            </a:pPr>
            <a:r>
              <a:rPr lang="en-US" sz="1250" dirty="0">
                <a:solidFill>
                  <a:srgbClr val="203040"/>
                </a:solidFill>
                <a:latin typeface="Courier New" pitchFamily="34" charset="0"/>
                <a:ea typeface="Courier New" pitchFamily="34" charset="-122"/>
                <a:cs typeface="Courier New" pitchFamily="34" charset="-120"/>
              </a:rPr>
              <a:t>### Preguntas abiertas para U3</a:t>
            </a:r>
            <a:endParaRPr lang="en-US" sz="1250" dirty="0"/>
          </a:p>
        </p:txBody>
      </p:sp>
      <p:sp>
        <p:nvSpPr>
          <p:cNvPr id="9" name="Shape 7"/>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0" name="Text 8"/>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1" name="Text 9"/>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¿Por qué “Diferencias encontradas” no debería quedar simplemente en blanco?</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EVIDENCIA DE CIERRE</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19</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¿Qué debe quedar al terminar U2?</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Productos concretos, no solo comandos ejecutados.</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874520"/>
            <a:ext cx="3383280" cy="1325880"/>
          </a:xfrm>
          <a:prstGeom prst="roundRect">
            <a:avLst>
              <a:gd name="adj" fmla="val 4138"/>
            </a:avLst>
          </a:prstGeom>
          <a:solidFill>
            <a:srgbClr val="F3F6F9"/>
          </a:solidFill>
          <a:ln w="12700">
            <a:solidFill>
              <a:srgbClr val="D9E2EC"/>
            </a:solidFill>
            <a:prstDash val="solid"/>
          </a:ln>
        </p:spPr>
      </p:sp>
      <p:sp>
        <p:nvSpPr>
          <p:cNvPr id="8" name="Text 6"/>
          <p:cNvSpPr/>
          <p:nvPr/>
        </p:nvSpPr>
        <p:spPr>
          <a:xfrm>
            <a:off x="89611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doc/protocolo.md</a:t>
            </a:r>
            <a:endParaRPr lang="en-US" sz="1100" dirty="0"/>
          </a:p>
        </p:txBody>
      </p:sp>
      <p:sp>
        <p:nvSpPr>
          <p:cNvPr id="9" name="Text 7"/>
          <p:cNvSpPr/>
          <p:nvPr/>
        </p:nvSpPr>
        <p:spPr>
          <a:xfrm>
            <a:off x="89611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Tabla contrastada + verificaciones + correcciones.</a:t>
            </a:r>
            <a:endParaRPr lang="en-US" sz="1300" dirty="0"/>
          </a:p>
        </p:txBody>
      </p:sp>
      <p:sp>
        <p:nvSpPr>
          <p:cNvPr id="10" name="Shape 8"/>
          <p:cNvSpPr/>
          <p:nvPr/>
        </p:nvSpPr>
        <p:spPr>
          <a:xfrm>
            <a:off x="4434840" y="1874520"/>
            <a:ext cx="3383280" cy="1325880"/>
          </a:xfrm>
          <a:prstGeom prst="roundRect">
            <a:avLst>
              <a:gd name="adj" fmla="val 4138"/>
            </a:avLst>
          </a:prstGeom>
          <a:solidFill>
            <a:srgbClr val="E8F4EE"/>
          </a:solidFill>
          <a:ln w="12700">
            <a:solidFill>
              <a:srgbClr val="D9E2EC"/>
            </a:solidFill>
            <a:prstDash val="solid"/>
          </a:ln>
        </p:spPr>
      </p:sp>
      <p:sp>
        <p:nvSpPr>
          <p:cNvPr id="11" name="Text 9"/>
          <p:cNvSpPr/>
          <p:nvPr/>
        </p:nvSpPr>
        <p:spPr>
          <a:xfrm>
            <a:off x="459943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doc/checksums-u2.txt</a:t>
            </a:r>
            <a:endParaRPr lang="en-US" sz="1100" dirty="0"/>
          </a:p>
        </p:txBody>
      </p:sp>
      <p:sp>
        <p:nvSpPr>
          <p:cNvPr id="12" name="Text 10"/>
          <p:cNvSpPr/>
          <p:nvPr/>
        </p:nvSpPr>
        <p:spPr>
          <a:xfrm>
            <a:off x="459943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Comprobación repetible de integridad.</a:t>
            </a:r>
            <a:endParaRPr lang="en-US" sz="1300" dirty="0"/>
          </a:p>
        </p:txBody>
      </p:sp>
      <p:sp>
        <p:nvSpPr>
          <p:cNvPr id="13" name="Shape 11"/>
          <p:cNvSpPr/>
          <p:nvPr/>
        </p:nvSpPr>
        <p:spPr>
          <a:xfrm>
            <a:off x="8138160" y="1874520"/>
            <a:ext cx="3383280" cy="1325880"/>
          </a:xfrm>
          <a:prstGeom prst="roundRect">
            <a:avLst>
              <a:gd name="adj" fmla="val 4138"/>
            </a:avLst>
          </a:prstGeom>
          <a:solidFill>
            <a:srgbClr val="F3F6F9"/>
          </a:solidFill>
          <a:ln w="12700">
            <a:solidFill>
              <a:srgbClr val="D9E2EC"/>
            </a:solidFill>
            <a:prstDash val="solid"/>
          </a:ln>
        </p:spPr>
      </p:sp>
      <p:sp>
        <p:nvSpPr>
          <p:cNvPr id="14" name="Text 12"/>
          <p:cNvSpPr/>
          <p:nvPr/>
        </p:nvSpPr>
        <p:spPr>
          <a:xfrm>
            <a:off x="8302752" y="2020824"/>
            <a:ext cx="3054096" cy="228600"/>
          </a:xfrm>
          <a:prstGeom prst="rect">
            <a:avLst/>
          </a:prstGeom>
          <a:noFill/>
          <a:ln/>
        </p:spPr>
        <p:txBody>
          <a:bodyPr wrap="square" lIns="0" tIns="0" rIns="0" bIns="0" rtlCol="0" anchor="ctr"/>
          <a:lstStyle/>
          <a:p>
            <a:pPr marL="0" indent="0">
              <a:buNone/>
            </a:pPr>
            <a:r>
              <a:rPr lang="en-US" sz="1100" b="1" dirty="0">
                <a:solidFill>
                  <a:srgbClr val="2F75B5"/>
                </a:solidFill>
              </a:rPr>
              <a:t>README.md</a:t>
            </a:r>
            <a:endParaRPr lang="en-US" sz="1100" dirty="0"/>
          </a:p>
        </p:txBody>
      </p:sp>
      <p:sp>
        <p:nvSpPr>
          <p:cNvPr id="15" name="Text 13"/>
          <p:cNvSpPr/>
          <p:nvPr/>
        </p:nvSpPr>
        <p:spPr>
          <a:xfrm>
            <a:off x="8302752" y="2350008"/>
            <a:ext cx="305409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Proyecto explicado y estructura actual.</a:t>
            </a:r>
            <a:endParaRPr lang="en-US" sz="1300" dirty="0"/>
          </a:p>
        </p:txBody>
      </p:sp>
      <p:sp>
        <p:nvSpPr>
          <p:cNvPr id="16" name="Shape 14"/>
          <p:cNvSpPr/>
          <p:nvPr/>
        </p:nvSpPr>
        <p:spPr>
          <a:xfrm>
            <a:off x="731520" y="3474720"/>
            <a:ext cx="5257800" cy="1325880"/>
          </a:xfrm>
          <a:prstGeom prst="roundRect">
            <a:avLst>
              <a:gd name="adj" fmla="val 4138"/>
            </a:avLst>
          </a:prstGeom>
          <a:solidFill>
            <a:srgbClr val="F3F6F9"/>
          </a:solidFill>
          <a:ln w="12700">
            <a:solidFill>
              <a:srgbClr val="D9E2EC"/>
            </a:solidFill>
            <a:prstDash val="solid"/>
          </a:ln>
        </p:spPr>
      </p:sp>
      <p:sp>
        <p:nvSpPr>
          <p:cNvPr id="17" name="Text 15"/>
          <p:cNvSpPr/>
          <p:nvPr/>
        </p:nvSpPr>
        <p:spPr>
          <a:xfrm>
            <a:off x="896112" y="3621024"/>
            <a:ext cx="4928616" cy="228600"/>
          </a:xfrm>
          <a:prstGeom prst="rect">
            <a:avLst/>
          </a:prstGeom>
          <a:noFill/>
          <a:ln/>
        </p:spPr>
        <p:txBody>
          <a:bodyPr wrap="square" lIns="0" tIns="0" rIns="0" bIns="0" rtlCol="0" anchor="ctr"/>
          <a:lstStyle/>
          <a:p>
            <a:pPr marL="0" indent="0">
              <a:buNone/>
            </a:pPr>
            <a:r>
              <a:rPr lang="en-US" sz="1100" b="1" dirty="0">
                <a:solidFill>
                  <a:srgbClr val="2F75B5"/>
                </a:solidFill>
              </a:rPr>
              <a:t>REVISIÓN POR PARES</a:t>
            </a:r>
            <a:endParaRPr lang="en-US" sz="1100" dirty="0"/>
          </a:p>
        </p:txBody>
      </p:sp>
      <p:sp>
        <p:nvSpPr>
          <p:cNvPr id="18" name="Text 16"/>
          <p:cNvSpPr/>
          <p:nvPr/>
        </p:nvSpPr>
        <p:spPr>
          <a:xfrm>
            <a:off x="896112" y="3950208"/>
            <a:ext cx="492861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Observaciones recibidas y cambios que produjeron.</a:t>
            </a:r>
            <a:endParaRPr lang="en-US" sz="1300" dirty="0"/>
          </a:p>
        </p:txBody>
      </p:sp>
      <p:sp>
        <p:nvSpPr>
          <p:cNvPr id="19" name="Shape 17"/>
          <p:cNvSpPr/>
          <p:nvPr/>
        </p:nvSpPr>
        <p:spPr>
          <a:xfrm>
            <a:off x="6263640" y="3474720"/>
            <a:ext cx="5257800" cy="1325880"/>
          </a:xfrm>
          <a:prstGeom prst="roundRect">
            <a:avLst>
              <a:gd name="adj" fmla="val 4138"/>
            </a:avLst>
          </a:prstGeom>
          <a:solidFill>
            <a:srgbClr val="FFF2CC"/>
          </a:solidFill>
          <a:ln w="12700">
            <a:solidFill>
              <a:srgbClr val="D9E2EC"/>
            </a:solidFill>
            <a:prstDash val="solid"/>
          </a:ln>
        </p:spPr>
      </p:sp>
      <p:sp>
        <p:nvSpPr>
          <p:cNvPr id="20" name="Text 18"/>
          <p:cNvSpPr/>
          <p:nvPr/>
        </p:nvSpPr>
        <p:spPr>
          <a:xfrm>
            <a:off x="6428232" y="3621024"/>
            <a:ext cx="4928616" cy="228600"/>
          </a:xfrm>
          <a:prstGeom prst="rect">
            <a:avLst/>
          </a:prstGeom>
          <a:noFill/>
          <a:ln/>
        </p:spPr>
        <p:txBody>
          <a:bodyPr wrap="square" lIns="0" tIns="0" rIns="0" bIns="0" rtlCol="0" anchor="ctr"/>
          <a:lstStyle/>
          <a:p>
            <a:pPr marL="0" indent="0">
              <a:buNone/>
            </a:pPr>
            <a:r>
              <a:rPr lang="en-US" sz="1100" b="1" dirty="0">
                <a:solidFill>
                  <a:srgbClr val="2F75B5"/>
                </a:solidFill>
              </a:rPr>
              <a:t>PREGUNTAS PARA U3</a:t>
            </a:r>
            <a:endParaRPr lang="en-US" sz="1100" dirty="0"/>
          </a:p>
        </p:txBody>
      </p:sp>
      <p:sp>
        <p:nvSpPr>
          <p:cNvPr id="21" name="Text 19"/>
          <p:cNvSpPr/>
          <p:nvPr/>
        </p:nvSpPr>
        <p:spPr>
          <a:xfrm>
            <a:off x="6428232" y="3950208"/>
            <a:ext cx="4928616" cy="731520"/>
          </a:xfrm>
          <a:prstGeom prst="rect">
            <a:avLst/>
          </a:prstGeom>
          <a:noFill/>
          <a:ln/>
        </p:spPr>
        <p:txBody>
          <a:bodyPr wrap="square" lIns="0" tIns="0" rIns="0" bIns="0" rtlCol="0" anchor="ctr">
            <a:normAutofit/>
          </a:bodyPr>
          <a:lstStyle/>
          <a:p>
            <a:pPr marL="0" indent="0">
              <a:buNone/>
            </a:pPr>
            <a:r>
              <a:rPr lang="en-US" sz="1300" dirty="0">
                <a:solidFill>
                  <a:srgbClr val="203040"/>
                </a:solidFill>
              </a:rPr>
              <a:t>Qué todavía no puedes comprobar con datos externos.</a:t>
            </a:r>
            <a:endParaRPr lang="en-US" sz="1300" dirty="0"/>
          </a:p>
        </p:txBody>
      </p:sp>
      <p:sp>
        <p:nvSpPr>
          <p:cNvPr id="22" name="Shape 20"/>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3" name="Text 21"/>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4" name="Text 22"/>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¿Cuál de estos productos demuestra que otra persona puede repetir tu trabajo?</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LO QUE YA PUEDES AFIRMAR</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20</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Conclusiones con evidencia — y límites explícitos</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Cerrar una unidad también significa saber qué todavía no sabes demostrar.</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731520" y="1874520"/>
            <a:ext cx="5166360" cy="3246120"/>
          </a:xfrm>
          <a:prstGeom prst="roundRect">
            <a:avLst>
              <a:gd name="adj" fmla="val 1690"/>
            </a:avLst>
          </a:prstGeom>
          <a:solidFill>
            <a:srgbClr val="E8F4EE"/>
          </a:solidFill>
          <a:ln w="12700">
            <a:solidFill>
              <a:srgbClr val="D9E2EC"/>
            </a:solidFill>
            <a:prstDash val="solid"/>
          </a:ln>
        </p:spPr>
      </p:sp>
      <p:sp>
        <p:nvSpPr>
          <p:cNvPr id="8" name="Text 6"/>
          <p:cNvSpPr/>
          <p:nvPr/>
        </p:nvSpPr>
        <p:spPr>
          <a:xfrm>
            <a:off x="896112" y="2020824"/>
            <a:ext cx="4837176" cy="228600"/>
          </a:xfrm>
          <a:prstGeom prst="rect">
            <a:avLst/>
          </a:prstGeom>
          <a:noFill/>
          <a:ln/>
        </p:spPr>
        <p:txBody>
          <a:bodyPr wrap="square" lIns="0" tIns="0" rIns="0" bIns="0" rtlCol="0" anchor="ctr"/>
          <a:lstStyle/>
          <a:p>
            <a:pPr marL="0" indent="0">
              <a:buNone/>
            </a:pPr>
            <a:r>
              <a:rPr lang="en-US" sz="1100" b="1" dirty="0">
                <a:solidFill>
                  <a:srgbClr val="2F75B5"/>
                </a:solidFill>
              </a:rPr>
              <a:t>YA PUEDES SOSTENER</a:t>
            </a:r>
            <a:endParaRPr lang="en-US" sz="1100" dirty="0"/>
          </a:p>
        </p:txBody>
      </p:sp>
      <p:sp>
        <p:nvSpPr>
          <p:cNvPr id="9" name="Text 7"/>
          <p:cNvSpPr/>
          <p:nvPr/>
        </p:nvSpPr>
        <p:spPr>
          <a:xfrm>
            <a:off x="896112" y="2350008"/>
            <a:ext cx="4837176" cy="2651760"/>
          </a:xfrm>
          <a:prstGeom prst="rect">
            <a:avLst/>
          </a:prstGeom>
          <a:noFill/>
          <a:ln/>
        </p:spPr>
        <p:txBody>
          <a:bodyPr wrap="square" lIns="0" tIns="0" rIns="0" bIns="0" rtlCol="0" anchor="ctr">
            <a:normAutofit/>
          </a:bodyPr>
          <a:lstStyle/>
          <a:p>
            <a:pPr marL="0" indent="0">
              <a:buNone/>
            </a:pPr>
            <a:r>
              <a:rPr lang="en-US" sz="1300" dirty="0">
                <a:solidFill>
                  <a:srgbClr val="203040"/>
                </a:solidFill>
              </a:rPr>
              <a:t>✓ Accedes y sabes dónde estás</a:t>
            </a:r>
            <a:endParaRPr lang="en-US" sz="1300" dirty="0"/>
          </a:p>
          <a:p>
            <a:pPr marL="0" indent="0">
              <a:buNone/>
            </a:pPr>
            <a:r>
              <a:rPr lang="en-US" sz="1300" dirty="0">
                <a:solidFill>
                  <a:srgbClr val="203040"/>
                </a:solidFill>
              </a:rPr>
              <a:t>✓ El árbol real está explicado</a:t>
            </a:r>
            <a:endParaRPr lang="en-US" sz="1300" dirty="0"/>
          </a:p>
          <a:p>
            <a:pPr marL="0" indent="0">
              <a:buNone/>
            </a:pPr>
            <a:r>
              <a:rPr lang="en-US" sz="1300" dirty="0">
                <a:solidFill>
                  <a:srgbClr val="203040"/>
                </a:solidFill>
              </a:rPr>
              <a:t>✓ Los originales no cambiaron respecto a la referencia</a:t>
            </a:r>
            <a:endParaRPr lang="en-US" sz="1300" dirty="0"/>
          </a:p>
          <a:p>
            <a:pPr marL="0" indent="0">
              <a:buNone/>
            </a:pPr>
            <a:r>
              <a:rPr lang="en-US" sz="1300" dirty="0">
                <a:solidFill>
                  <a:srgbClr val="203040"/>
                </a:solidFill>
              </a:rPr>
              <a:t>✓ Los permisos tienen una razón</a:t>
            </a:r>
            <a:endParaRPr lang="en-US" sz="1300" dirty="0"/>
          </a:p>
          <a:p>
            <a:pPr marL="0" indent="0">
              <a:buNone/>
            </a:pPr>
            <a:r>
              <a:rPr lang="en-US" sz="1300" dirty="0">
                <a:solidFill>
                  <a:srgbClr val="203040"/>
                </a:solidFill>
              </a:rPr>
              <a:t>✓ Otra persona intentó seguir tu protocolo</a:t>
            </a:r>
            <a:endParaRPr lang="en-US" sz="1300" dirty="0"/>
          </a:p>
        </p:txBody>
      </p:sp>
      <p:sp>
        <p:nvSpPr>
          <p:cNvPr id="10" name="Shape 8"/>
          <p:cNvSpPr/>
          <p:nvPr/>
        </p:nvSpPr>
        <p:spPr>
          <a:xfrm>
            <a:off x="6263640" y="1874520"/>
            <a:ext cx="5166360" cy="3246120"/>
          </a:xfrm>
          <a:prstGeom prst="roundRect">
            <a:avLst>
              <a:gd name="adj" fmla="val 1690"/>
            </a:avLst>
          </a:prstGeom>
          <a:solidFill>
            <a:srgbClr val="FFF2CC"/>
          </a:solidFill>
          <a:ln w="12700">
            <a:solidFill>
              <a:srgbClr val="D9E2EC"/>
            </a:solidFill>
            <a:prstDash val="solid"/>
          </a:ln>
        </p:spPr>
      </p:sp>
      <p:sp>
        <p:nvSpPr>
          <p:cNvPr id="11" name="Text 9"/>
          <p:cNvSpPr/>
          <p:nvPr/>
        </p:nvSpPr>
        <p:spPr>
          <a:xfrm>
            <a:off x="6428232" y="2020824"/>
            <a:ext cx="4837176" cy="228600"/>
          </a:xfrm>
          <a:prstGeom prst="rect">
            <a:avLst/>
          </a:prstGeom>
          <a:noFill/>
          <a:ln/>
        </p:spPr>
        <p:txBody>
          <a:bodyPr wrap="square" lIns="0" tIns="0" rIns="0" bIns="0" rtlCol="0" anchor="ctr"/>
          <a:lstStyle/>
          <a:p>
            <a:pPr marL="0" indent="0">
              <a:buNone/>
            </a:pPr>
            <a:r>
              <a:rPr lang="en-US" sz="1100" b="1" dirty="0">
                <a:solidFill>
                  <a:srgbClr val="2F75B5"/>
                </a:solidFill>
              </a:rPr>
              <a:t>TODAVÍA NO</a:t>
            </a:r>
            <a:endParaRPr lang="en-US" sz="1100" dirty="0"/>
          </a:p>
        </p:txBody>
      </p:sp>
      <p:sp>
        <p:nvSpPr>
          <p:cNvPr id="12" name="Text 10"/>
          <p:cNvSpPr/>
          <p:nvPr/>
        </p:nvSpPr>
        <p:spPr>
          <a:xfrm>
            <a:off x="6428232" y="2350008"/>
            <a:ext cx="4837176" cy="2651760"/>
          </a:xfrm>
          <a:prstGeom prst="rect">
            <a:avLst/>
          </a:prstGeom>
          <a:noFill/>
          <a:ln/>
        </p:spPr>
        <p:txBody>
          <a:bodyPr wrap="square" lIns="0" tIns="0" rIns="0" bIns="0" rtlCol="0" anchor="ctr">
            <a:normAutofit/>
          </a:bodyPr>
          <a:lstStyle/>
          <a:p>
            <a:pPr marL="0" indent="0">
              <a:buNone/>
            </a:pPr>
            <a:r>
              <a:rPr lang="en-US" sz="1300" dirty="0">
                <a:solidFill>
                  <a:srgbClr val="203040"/>
                </a:solidFill>
              </a:rPr>
              <a:t>• Integridad contra una suma publicada por la fuente</a:t>
            </a:r>
            <a:endParaRPr lang="en-US" sz="1300" dirty="0"/>
          </a:p>
          <a:p>
            <a:pPr marL="0" indent="0">
              <a:buNone/>
            </a:pPr>
            <a:r>
              <a:rPr lang="en-US" sz="1300" dirty="0">
                <a:solidFill>
                  <a:srgbClr val="203040"/>
                </a:solidFill>
              </a:rPr>
              <a:t>• Procedencia completa de datos externos</a:t>
            </a:r>
            <a:endParaRPr lang="en-US" sz="1300" dirty="0"/>
          </a:p>
          <a:p>
            <a:pPr marL="0" indent="0">
              <a:buNone/>
            </a:pPr>
            <a:r>
              <a:rPr lang="en-US" sz="1300" dirty="0">
                <a:solidFill>
                  <a:srgbClr val="203040"/>
                </a:solidFill>
              </a:rPr>
              <a:t>• Estrategias para archivos biológicos muy grandes</a:t>
            </a:r>
            <a:endParaRPr lang="en-US" sz="1300" dirty="0"/>
          </a:p>
          <a:p>
            <a:pPr marL="0" indent="0">
              <a:buNone/>
            </a:pPr>
            <a:endParaRPr lang="en-US" sz="1300" dirty="0"/>
          </a:p>
          <a:p>
            <a:pPr marL="0" indent="0">
              <a:buNone/>
            </a:pPr>
            <a:r>
              <a:rPr lang="en-US" sz="1300" dirty="0">
                <a:solidFill>
                  <a:srgbClr val="203040"/>
                </a:solidFill>
              </a:rPr>
              <a:t>Eso abre la Unidad 3.</a:t>
            </a:r>
            <a:endParaRPr lang="en-US" sz="1300" dirty="0"/>
          </a:p>
        </p:txBody>
      </p:sp>
      <p:sp>
        <p:nvSpPr>
          <p:cNvPr id="13" name="Shape 11"/>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14" name="Text 12"/>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15" name="Text 13"/>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¿Por qué declarar una limitación fortalece, en vez de debilitar, tu trabajo?</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RESUMEN</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21</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S6 no añade comandos: cambia la pregunta</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Las herramientas conocidas ahora sirven para demostrar el estado del proyecto.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Shape 5"/>
          <p:cNvSpPr/>
          <p:nvPr/>
        </p:nvSpPr>
        <p:spPr>
          <a:xfrm>
            <a:off x="822960" y="1828800"/>
            <a:ext cx="10561320" cy="566928"/>
          </a:xfrm>
          <a:prstGeom prst="roundRect">
            <a:avLst>
              <a:gd name="adj" fmla="val 9677"/>
            </a:avLst>
          </a:prstGeom>
          <a:solidFill>
            <a:srgbClr val="F8FAFC"/>
          </a:solidFill>
          <a:ln w="12700">
            <a:solidFill>
              <a:srgbClr val="D9E2EC"/>
            </a:solidFill>
            <a:prstDash val="solid"/>
          </a:ln>
        </p:spPr>
      </p:sp>
      <p:sp>
        <p:nvSpPr>
          <p:cNvPr id="8" name="Text 6"/>
          <p:cNvSpPr/>
          <p:nvPr/>
        </p:nvSpPr>
        <p:spPr>
          <a:xfrm>
            <a:off x="987552" y="1975104"/>
            <a:ext cx="10232136" cy="228600"/>
          </a:xfrm>
          <a:prstGeom prst="rect">
            <a:avLst/>
          </a:prstGeom>
          <a:noFill/>
          <a:ln/>
        </p:spPr>
        <p:txBody>
          <a:bodyPr wrap="square" lIns="0" tIns="0" rIns="0" bIns="0" rtlCol="0" anchor="ctr"/>
          <a:lstStyle/>
          <a:p>
            <a:pPr marL="0" indent="0">
              <a:buNone/>
            </a:pPr>
            <a:r>
              <a:rPr lang="en-US" sz="1100" b="1" dirty="0">
                <a:solidFill>
                  <a:srgbClr val="2F75B5"/>
                </a:solidFill>
              </a:rPr>
              <a:t>SITUARME</a:t>
            </a:r>
            <a:endParaRPr lang="en-US" sz="1100" dirty="0"/>
          </a:p>
        </p:txBody>
      </p:sp>
      <p:sp>
        <p:nvSpPr>
          <p:cNvPr id="9" name="Text 7"/>
          <p:cNvSpPr/>
          <p:nvPr/>
        </p:nvSpPr>
        <p:spPr>
          <a:xfrm>
            <a:off x="987552" y="2304288"/>
            <a:ext cx="10232136" cy="0"/>
          </a:xfrm>
          <a:prstGeom prst="rect">
            <a:avLst/>
          </a:prstGeom>
          <a:noFill/>
          <a:ln/>
        </p:spPr>
        <p:txBody>
          <a:bodyPr wrap="square" lIns="0" tIns="0" rIns="0" bIns="0" rtlCol="0" anchor="ctr">
            <a:normAutofit/>
          </a:bodyPr>
          <a:lstStyle/>
          <a:p>
            <a:pPr marL="0" indent="0">
              <a:buNone/>
            </a:pPr>
            <a:r>
              <a:rPr lang="en-US" sz="1300" dirty="0">
                <a:solidFill>
                  <a:srgbClr val="203040"/>
                </a:solidFill>
              </a:rPr>
              <a:t>hostname · whoami · pwd</a:t>
            </a:r>
            <a:endParaRPr lang="en-US" sz="1300" dirty="0"/>
          </a:p>
        </p:txBody>
      </p:sp>
      <p:sp>
        <p:nvSpPr>
          <p:cNvPr id="10" name="Shape 8"/>
          <p:cNvSpPr/>
          <p:nvPr/>
        </p:nvSpPr>
        <p:spPr>
          <a:xfrm>
            <a:off x="822960" y="2542032"/>
            <a:ext cx="10561320" cy="566928"/>
          </a:xfrm>
          <a:prstGeom prst="roundRect">
            <a:avLst>
              <a:gd name="adj" fmla="val 9677"/>
            </a:avLst>
          </a:prstGeom>
          <a:solidFill>
            <a:srgbClr val="F3F6F9"/>
          </a:solidFill>
          <a:ln w="12700">
            <a:solidFill>
              <a:srgbClr val="D9E2EC"/>
            </a:solidFill>
            <a:prstDash val="solid"/>
          </a:ln>
        </p:spPr>
      </p:sp>
      <p:sp>
        <p:nvSpPr>
          <p:cNvPr id="11" name="Text 9"/>
          <p:cNvSpPr/>
          <p:nvPr/>
        </p:nvSpPr>
        <p:spPr>
          <a:xfrm>
            <a:off x="987552" y="2688336"/>
            <a:ext cx="10232136" cy="228600"/>
          </a:xfrm>
          <a:prstGeom prst="rect">
            <a:avLst/>
          </a:prstGeom>
          <a:noFill/>
          <a:ln/>
        </p:spPr>
        <p:txBody>
          <a:bodyPr wrap="square" lIns="0" tIns="0" rIns="0" bIns="0" rtlCol="0" anchor="ctr"/>
          <a:lstStyle/>
          <a:p>
            <a:pPr marL="0" indent="0">
              <a:buNone/>
            </a:pPr>
            <a:r>
              <a:rPr lang="en-US" sz="1100" b="1" dirty="0">
                <a:solidFill>
                  <a:srgbClr val="2F75B5"/>
                </a:solidFill>
              </a:rPr>
              <a:t>COMPROBAR ESTRUCTURA</a:t>
            </a:r>
            <a:endParaRPr lang="en-US" sz="1100" dirty="0"/>
          </a:p>
        </p:txBody>
      </p:sp>
      <p:sp>
        <p:nvSpPr>
          <p:cNvPr id="12" name="Text 10"/>
          <p:cNvSpPr/>
          <p:nvPr/>
        </p:nvSpPr>
        <p:spPr>
          <a:xfrm>
            <a:off x="987552" y="3017520"/>
            <a:ext cx="10232136" cy="0"/>
          </a:xfrm>
          <a:prstGeom prst="rect">
            <a:avLst/>
          </a:prstGeom>
          <a:noFill/>
          <a:ln/>
        </p:spPr>
        <p:txBody>
          <a:bodyPr wrap="square" lIns="0" tIns="0" rIns="0" bIns="0" rtlCol="0" anchor="ctr">
            <a:normAutofit/>
          </a:bodyPr>
          <a:lstStyle/>
          <a:p>
            <a:pPr marL="0" indent="0">
              <a:buNone/>
            </a:pPr>
            <a:r>
              <a:rPr lang="en-US" sz="1300" dirty="0">
                <a:solidFill>
                  <a:srgbClr val="203040"/>
                </a:solidFill>
              </a:rPr>
              <a:t>ls -R</a:t>
            </a:r>
            <a:endParaRPr lang="en-US" sz="1300" dirty="0"/>
          </a:p>
        </p:txBody>
      </p:sp>
      <p:sp>
        <p:nvSpPr>
          <p:cNvPr id="13" name="Shape 11"/>
          <p:cNvSpPr/>
          <p:nvPr/>
        </p:nvSpPr>
        <p:spPr>
          <a:xfrm>
            <a:off x="822960" y="3255264"/>
            <a:ext cx="10561320" cy="566928"/>
          </a:xfrm>
          <a:prstGeom prst="roundRect">
            <a:avLst>
              <a:gd name="adj" fmla="val 9677"/>
            </a:avLst>
          </a:prstGeom>
          <a:solidFill>
            <a:srgbClr val="F8FAFC"/>
          </a:solidFill>
          <a:ln w="12700">
            <a:solidFill>
              <a:srgbClr val="D9E2EC"/>
            </a:solidFill>
            <a:prstDash val="solid"/>
          </a:ln>
        </p:spPr>
      </p:sp>
      <p:sp>
        <p:nvSpPr>
          <p:cNvPr id="14" name="Text 12"/>
          <p:cNvSpPr/>
          <p:nvPr/>
        </p:nvSpPr>
        <p:spPr>
          <a:xfrm>
            <a:off x="987552" y="3401568"/>
            <a:ext cx="10232136" cy="228600"/>
          </a:xfrm>
          <a:prstGeom prst="rect">
            <a:avLst/>
          </a:prstGeom>
          <a:noFill/>
          <a:ln/>
        </p:spPr>
        <p:txBody>
          <a:bodyPr wrap="square" lIns="0" tIns="0" rIns="0" bIns="0" rtlCol="0" anchor="ctr"/>
          <a:lstStyle/>
          <a:p>
            <a:pPr marL="0" indent="0">
              <a:buNone/>
            </a:pPr>
            <a:r>
              <a:rPr lang="en-US" sz="1100" b="1" dirty="0">
                <a:solidFill>
                  <a:srgbClr val="2F75B5"/>
                </a:solidFill>
              </a:rPr>
              <a:t>DEMOSTRAR INTEGRIDAD</a:t>
            </a:r>
            <a:endParaRPr lang="en-US" sz="1100" dirty="0"/>
          </a:p>
        </p:txBody>
      </p:sp>
      <p:sp>
        <p:nvSpPr>
          <p:cNvPr id="15" name="Text 13"/>
          <p:cNvSpPr/>
          <p:nvPr/>
        </p:nvSpPr>
        <p:spPr>
          <a:xfrm>
            <a:off x="987552" y="3730752"/>
            <a:ext cx="10232136" cy="0"/>
          </a:xfrm>
          <a:prstGeom prst="rect">
            <a:avLst/>
          </a:prstGeom>
          <a:noFill/>
          <a:ln/>
        </p:spPr>
        <p:txBody>
          <a:bodyPr wrap="square" lIns="0" tIns="0" rIns="0" bIns="0" rtlCol="0" anchor="ctr">
            <a:normAutofit/>
          </a:bodyPr>
          <a:lstStyle/>
          <a:p>
            <a:pPr marL="0" indent="0">
              <a:buNone/>
            </a:pPr>
            <a:r>
              <a:rPr lang="en-US" sz="1300" dirty="0">
                <a:solidFill>
                  <a:srgbClr val="203040"/>
                </a:solidFill>
              </a:rPr>
              <a:t>sha256sum · sha256sum -c</a:t>
            </a:r>
            <a:endParaRPr lang="en-US" sz="1300" dirty="0"/>
          </a:p>
        </p:txBody>
      </p:sp>
      <p:sp>
        <p:nvSpPr>
          <p:cNvPr id="16" name="Shape 14"/>
          <p:cNvSpPr/>
          <p:nvPr/>
        </p:nvSpPr>
        <p:spPr>
          <a:xfrm>
            <a:off x="822960" y="3968496"/>
            <a:ext cx="10561320" cy="566928"/>
          </a:xfrm>
          <a:prstGeom prst="roundRect">
            <a:avLst>
              <a:gd name="adj" fmla="val 9677"/>
            </a:avLst>
          </a:prstGeom>
          <a:solidFill>
            <a:srgbClr val="F3F6F9"/>
          </a:solidFill>
          <a:ln w="12700">
            <a:solidFill>
              <a:srgbClr val="D9E2EC"/>
            </a:solidFill>
            <a:prstDash val="solid"/>
          </a:ln>
        </p:spPr>
      </p:sp>
      <p:sp>
        <p:nvSpPr>
          <p:cNvPr id="17" name="Text 15"/>
          <p:cNvSpPr/>
          <p:nvPr/>
        </p:nvSpPr>
        <p:spPr>
          <a:xfrm>
            <a:off x="987552" y="4114800"/>
            <a:ext cx="10232136" cy="228600"/>
          </a:xfrm>
          <a:prstGeom prst="rect">
            <a:avLst/>
          </a:prstGeom>
          <a:noFill/>
          <a:ln/>
        </p:spPr>
        <p:txBody>
          <a:bodyPr wrap="square" lIns="0" tIns="0" rIns="0" bIns="0" rtlCol="0" anchor="ctr"/>
          <a:lstStyle/>
          <a:p>
            <a:pPr marL="0" indent="0">
              <a:buNone/>
            </a:pPr>
            <a:r>
              <a:rPr lang="en-US" sz="1100" b="1" dirty="0">
                <a:solidFill>
                  <a:srgbClr val="2F75B5"/>
                </a:solidFill>
              </a:rPr>
              <a:t>JUSTIFICAR PERMISOS</a:t>
            </a:r>
            <a:endParaRPr lang="en-US" sz="1100" dirty="0"/>
          </a:p>
        </p:txBody>
      </p:sp>
      <p:sp>
        <p:nvSpPr>
          <p:cNvPr id="18" name="Text 16"/>
          <p:cNvSpPr/>
          <p:nvPr/>
        </p:nvSpPr>
        <p:spPr>
          <a:xfrm>
            <a:off x="987552" y="4443984"/>
            <a:ext cx="10232136" cy="0"/>
          </a:xfrm>
          <a:prstGeom prst="rect">
            <a:avLst/>
          </a:prstGeom>
          <a:noFill/>
          <a:ln/>
        </p:spPr>
        <p:txBody>
          <a:bodyPr wrap="square" lIns="0" tIns="0" rIns="0" bIns="0" rtlCol="0" anchor="ctr">
            <a:normAutofit/>
          </a:bodyPr>
          <a:lstStyle/>
          <a:p>
            <a:pPr marL="0" indent="0">
              <a:buNone/>
            </a:pPr>
            <a:r>
              <a:rPr lang="en-US" sz="1300" dirty="0">
                <a:solidFill>
                  <a:srgbClr val="203040"/>
                </a:solidFill>
              </a:rPr>
              <a:t>ls -l · chmod</a:t>
            </a:r>
            <a:endParaRPr lang="en-US" sz="1300" dirty="0"/>
          </a:p>
        </p:txBody>
      </p:sp>
      <p:sp>
        <p:nvSpPr>
          <p:cNvPr id="19" name="Shape 17"/>
          <p:cNvSpPr/>
          <p:nvPr/>
        </p:nvSpPr>
        <p:spPr>
          <a:xfrm>
            <a:off x="822960" y="4681728"/>
            <a:ext cx="10561320" cy="566928"/>
          </a:xfrm>
          <a:prstGeom prst="roundRect">
            <a:avLst>
              <a:gd name="adj" fmla="val 9677"/>
            </a:avLst>
          </a:prstGeom>
          <a:solidFill>
            <a:srgbClr val="F8FAFC"/>
          </a:solidFill>
          <a:ln w="12700">
            <a:solidFill>
              <a:srgbClr val="D9E2EC"/>
            </a:solidFill>
            <a:prstDash val="solid"/>
          </a:ln>
        </p:spPr>
      </p:sp>
      <p:sp>
        <p:nvSpPr>
          <p:cNvPr id="20" name="Text 18"/>
          <p:cNvSpPr/>
          <p:nvPr/>
        </p:nvSpPr>
        <p:spPr>
          <a:xfrm>
            <a:off x="987552" y="4828032"/>
            <a:ext cx="10232136" cy="228600"/>
          </a:xfrm>
          <a:prstGeom prst="rect">
            <a:avLst/>
          </a:prstGeom>
          <a:noFill/>
          <a:ln/>
        </p:spPr>
        <p:txBody>
          <a:bodyPr wrap="square" lIns="0" tIns="0" rIns="0" bIns="0" rtlCol="0" anchor="ctr"/>
          <a:lstStyle/>
          <a:p>
            <a:pPr marL="0" indent="0">
              <a:buNone/>
            </a:pPr>
            <a:r>
              <a:rPr lang="en-US" sz="1100" b="1" dirty="0">
                <a:solidFill>
                  <a:srgbClr val="2F75B5"/>
                </a:solidFill>
              </a:rPr>
              <a:t>DOCUMENTAR</a:t>
            </a:r>
            <a:endParaRPr lang="en-US" sz="1100" dirty="0"/>
          </a:p>
        </p:txBody>
      </p:sp>
      <p:sp>
        <p:nvSpPr>
          <p:cNvPr id="21" name="Text 19"/>
          <p:cNvSpPr/>
          <p:nvPr/>
        </p:nvSpPr>
        <p:spPr>
          <a:xfrm>
            <a:off x="987552" y="5157216"/>
            <a:ext cx="10232136" cy="0"/>
          </a:xfrm>
          <a:prstGeom prst="rect">
            <a:avLst/>
          </a:prstGeom>
          <a:noFill/>
          <a:ln/>
        </p:spPr>
        <p:txBody>
          <a:bodyPr wrap="square" lIns="0" tIns="0" rIns="0" bIns="0" rtlCol="0" anchor="ctr">
            <a:normAutofit/>
          </a:bodyPr>
          <a:lstStyle/>
          <a:p>
            <a:pPr marL="0" indent="0">
              <a:buNone/>
            </a:pPr>
            <a:r>
              <a:rPr lang="en-US" sz="1300" dirty="0">
                <a:solidFill>
                  <a:srgbClr val="203040"/>
                </a:solidFill>
              </a:rPr>
              <a:t>nano · protocolo.md · README.md</a:t>
            </a:r>
            <a:endParaRPr lang="en-US" sz="1300" dirty="0"/>
          </a:p>
        </p:txBody>
      </p:sp>
      <p:sp>
        <p:nvSpPr>
          <p:cNvPr id="22" name="Shape 20"/>
          <p:cNvSpPr/>
          <p:nvPr/>
        </p:nvSpPr>
        <p:spPr>
          <a:xfrm>
            <a:off x="640080" y="5870448"/>
            <a:ext cx="10927080" cy="566928"/>
          </a:xfrm>
          <a:prstGeom prst="roundRect">
            <a:avLst>
              <a:gd name="adj" fmla="val 8065"/>
            </a:avLst>
          </a:prstGeom>
          <a:solidFill>
            <a:srgbClr val="EEF5FB"/>
          </a:solidFill>
          <a:ln w="12700">
            <a:solidFill>
              <a:srgbClr val="C8DDEE"/>
            </a:solidFill>
            <a:prstDash val="solid"/>
          </a:ln>
        </p:spPr>
      </p:sp>
      <p:sp>
        <p:nvSpPr>
          <p:cNvPr id="23" name="Text 21"/>
          <p:cNvSpPr/>
          <p:nvPr/>
        </p:nvSpPr>
        <p:spPr>
          <a:xfrm>
            <a:off x="822960" y="5934456"/>
            <a:ext cx="1508760" cy="219456"/>
          </a:xfrm>
          <a:prstGeom prst="rect">
            <a:avLst/>
          </a:prstGeom>
          <a:noFill/>
          <a:ln/>
        </p:spPr>
        <p:txBody>
          <a:bodyPr wrap="square" lIns="0" tIns="0" rIns="0" bIns="0" rtlCol="0" anchor="ctr"/>
          <a:lstStyle/>
          <a:p>
            <a:pPr marL="0" indent="0">
              <a:buNone/>
            </a:pPr>
            <a:r>
              <a:rPr lang="en-US" sz="850" b="1" dirty="0">
                <a:solidFill>
                  <a:srgbClr val="2F75B5"/>
                </a:solidFill>
              </a:rPr>
              <a:t>PREGUNTA AL GRUPO</a:t>
            </a:r>
            <a:endParaRPr lang="en-US" sz="850" dirty="0"/>
          </a:p>
        </p:txBody>
      </p:sp>
      <p:sp>
        <p:nvSpPr>
          <p:cNvPr id="24" name="Text 22"/>
          <p:cNvSpPr/>
          <p:nvPr/>
        </p:nvSpPr>
        <p:spPr>
          <a:xfrm>
            <a:off x="2578608" y="5916168"/>
            <a:ext cx="8549640" cy="274320"/>
          </a:xfrm>
          <a:prstGeom prst="rect">
            <a:avLst/>
          </a:prstGeom>
          <a:noFill/>
          <a:ln/>
        </p:spPr>
        <p:txBody>
          <a:bodyPr wrap="square" lIns="0" tIns="0" rIns="0" bIns="0" rtlCol="0" anchor="ctr">
            <a:normAutofit/>
          </a:bodyPr>
          <a:lstStyle/>
          <a:p>
            <a:pPr marL="0" indent="0">
              <a:buNone/>
            </a:pPr>
            <a:r>
              <a:rPr lang="en-US" sz="1250" b="1" dirty="0">
                <a:solidFill>
                  <a:srgbClr val="17365D"/>
                </a:solidFill>
              </a:rPr>
              <a:t>¿Qué cambió en S6 si casi todos los comandos ya los conocías?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2926080" cy="228600"/>
          </a:xfrm>
          <a:prstGeom prst="rect">
            <a:avLst/>
          </a:prstGeom>
          <a:noFill/>
          <a:ln/>
        </p:spPr>
        <p:txBody>
          <a:bodyPr wrap="square" rtlCol="0" anchor="ctr"/>
          <a:lstStyle/>
          <a:p>
            <a:pPr marL="0" indent="0">
              <a:buNone/>
            </a:pPr>
            <a:r>
              <a:rPr lang="en-US" sz="1000" b="1" kern="0" spc="110" dirty="0">
                <a:solidFill>
                  <a:srgbClr val="2F75B5"/>
                </a:solidFill>
                <a:latin typeface="Aptos" pitchFamily="34" charset="0"/>
                <a:ea typeface="Aptos" pitchFamily="34" charset="-122"/>
                <a:cs typeface="Aptos" pitchFamily="34" charset="-120"/>
              </a:rPr>
              <a:t>CIERRE</a:t>
            </a:r>
            <a:endParaRPr lang="en-US" sz="1000" dirty="0"/>
          </a:p>
        </p:txBody>
      </p:sp>
      <p:sp>
        <p:nvSpPr>
          <p:cNvPr id="3" name="Text 1"/>
          <p:cNvSpPr/>
          <p:nvPr/>
        </p:nvSpPr>
        <p:spPr>
          <a:xfrm>
            <a:off x="10881360" y="256032"/>
            <a:ext cx="777240" cy="228600"/>
          </a:xfrm>
          <a:prstGeom prst="rect">
            <a:avLst/>
          </a:prstGeom>
          <a:noFill/>
          <a:ln/>
        </p:spPr>
        <p:txBody>
          <a:bodyPr wrap="square" rtlCol="0" anchor="ctr"/>
          <a:lstStyle/>
          <a:p>
            <a:pPr marL="0" indent="0" algn="r">
              <a:buNone/>
            </a:pPr>
            <a:r>
              <a:rPr lang="en-US" sz="900" dirty="0">
                <a:solidFill>
                  <a:srgbClr val="64748B"/>
                </a:solidFill>
              </a:rPr>
              <a:t>S6 · 22</a:t>
            </a:r>
            <a:endParaRPr lang="en-US" sz="900" dirty="0"/>
          </a:p>
        </p:txBody>
      </p:sp>
      <p:sp>
        <p:nvSpPr>
          <p:cNvPr id="4" name="Text 2"/>
          <p:cNvSpPr/>
          <p:nvPr/>
        </p:nvSpPr>
        <p:spPr>
          <a:xfrm>
            <a:off x="502920" y="594360"/>
            <a:ext cx="11064240" cy="566928"/>
          </a:xfrm>
          <a:prstGeom prst="rect">
            <a:avLst/>
          </a:prstGeom>
          <a:noFill/>
          <a:ln/>
        </p:spPr>
        <p:txBody>
          <a:bodyPr wrap="square" lIns="0" tIns="0" rIns="0" bIns="0" rtlCol="0" anchor="ctr"/>
          <a:lstStyle/>
          <a:p>
            <a:pPr marL="0" indent="0">
              <a:buNone/>
            </a:pPr>
            <a:r>
              <a:rPr lang="en-US" sz="2600" b="1" dirty="0">
                <a:solidFill>
                  <a:srgbClr val="17365D"/>
                </a:solidFill>
                <a:latin typeface="Aptos Display" pitchFamily="34" charset="0"/>
                <a:ea typeface="Aptos Display" pitchFamily="34" charset="-122"/>
                <a:cs typeface="Aptos Display" pitchFamily="34" charset="-120"/>
              </a:rPr>
              <a:t>Recuerda esto</a:t>
            </a:r>
            <a:endParaRPr lang="en-US" sz="2600" dirty="0"/>
          </a:p>
        </p:txBody>
      </p:sp>
      <p:sp>
        <p:nvSpPr>
          <p:cNvPr id="5" name="Text 3"/>
          <p:cNvSpPr/>
          <p:nvPr/>
        </p:nvSpPr>
        <p:spPr>
          <a:xfrm>
            <a:off x="502920" y="1225296"/>
            <a:ext cx="11064240" cy="347472"/>
          </a:xfrm>
          <a:prstGeom prst="rect">
            <a:avLst/>
          </a:prstGeom>
          <a:noFill/>
          <a:ln/>
        </p:spPr>
        <p:txBody>
          <a:bodyPr wrap="square" lIns="0" tIns="0" rIns="0" bIns="0" rtlCol="0" anchor="ctr"/>
          <a:lstStyle/>
          <a:p>
            <a:pPr marL="0" indent="0">
              <a:buNone/>
            </a:pPr>
            <a:r>
              <a:rPr lang="en-US" sz="1300" dirty="0">
                <a:solidFill>
                  <a:srgbClr val="64748B"/>
                </a:solidFill>
              </a:rPr>
              <a:t>La Unidad 2 termina cuando puedes demostrar el estado de tu entorno.</a:t>
            </a:r>
            <a:endParaRPr lang="en-US" sz="1300" dirty="0"/>
          </a:p>
        </p:txBody>
      </p:sp>
      <p:sp>
        <p:nvSpPr>
          <p:cNvPr id="6" name="Shape 4"/>
          <p:cNvSpPr/>
          <p:nvPr/>
        </p:nvSpPr>
        <p:spPr>
          <a:xfrm>
            <a:off x="502920" y="1673352"/>
            <a:ext cx="11155680" cy="0"/>
          </a:xfrm>
          <a:prstGeom prst="line">
            <a:avLst/>
          </a:prstGeom>
          <a:noFill/>
          <a:ln w="12700">
            <a:solidFill>
              <a:srgbClr val="D9E2EC"/>
            </a:solidFill>
            <a:prstDash val="solid"/>
          </a:ln>
        </p:spPr>
      </p:sp>
      <p:sp>
        <p:nvSpPr>
          <p:cNvPr id="7" name="Text 5"/>
          <p:cNvSpPr/>
          <p:nvPr/>
        </p:nvSpPr>
        <p:spPr>
          <a:xfrm>
            <a:off x="914400" y="1783080"/>
            <a:ext cx="10149840" cy="292608"/>
          </a:xfrm>
          <a:prstGeom prst="rect">
            <a:avLst/>
          </a:prstGeom>
          <a:noFill/>
          <a:ln/>
        </p:spPr>
        <p:txBody>
          <a:bodyPr wrap="square" lIns="0" tIns="0" rIns="0" bIns="0" rtlCol="0" anchor="ctr"/>
          <a:lstStyle/>
          <a:p>
            <a:pPr marL="0" indent="0">
              <a:buNone/>
            </a:pPr>
            <a:r>
              <a:rPr lang="en-US" sz="1600" b="1" dirty="0">
                <a:solidFill>
                  <a:srgbClr val="2A9D8F"/>
                </a:solidFill>
              </a:rPr>
              <a:t>1   Una afirmación necesita evidencia.</a:t>
            </a:r>
            <a:endParaRPr lang="en-US" sz="1600" dirty="0"/>
          </a:p>
        </p:txBody>
      </p:sp>
      <p:sp>
        <p:nvSpPr>
          <p:cNvPr id="8" name="Text 6"/>
          <p:cNvSpPr/>
          <p:nvPr/>
        </p:nvSpPr>
        <p:spPr>
          <a:xfrm>
            <a:off x="914400" y="2313432"/>
            <a:ext cx="10149840" cy="292608"/>
          </a:xfrm>
          <a:prstGeom prst="rect">
            <a:avLst/>
          </a:prstGeom>
          <a:noFill/>
          <a:ln/>
        </p:spPr>
        <p:txBody>
          <a:bodyPr wrap="square" lIns="0" tIns="0" rIns="0" bIns="0" rtlCol="0" anchor="ctr"/>
          <a:lstStyle/>
          <a:p>
            <a:pPr marL="0" indent="0">
              <a:buNone/>
            </a:pPr>
            <a:r>
              <a:rPr lang="en-US" sz="1600" dirty="0">
                <a:solidFill>
                  <a:srgbClr val="203040"/>
                </a:solidFill>
              </a:rPr>
              <a:t>2   Verifica antes de corregir.</a:t>
            </a:r>
            <a:endParaRPr lang="en-US" sz="1600" dirty="0"/>
          </a:p>
        </p:txBody>
      </p:sp>
      <p:sp>
        <p:nvSpPr>
          <p:cNvPr id="9" name="Text 7"/>
          <p:cNvSpPr/>
          <p:nvPr/>
        </p:nvSpPr>
        <p:spPr>
          <a:xfrm>
            <a:off x="914400" y="2843784"/>
            <a:ext cx="10149840" cy="292608"/>
          </a:xfrm>
          <a:prstGeom prst="rect">
            <a:avLst/>
          </a:prstGeom>
          <a:noFill/>
          <a:ln/>
        </p:spPr>
        <p:txBody>
          <a:bodyPr wrap="square" lIns="0" tIns="0" rIns="0" bIns="0" rtlCol="0" anchor="ctr"/>
          <a:lstStyle/>
          <a:p>
            <a:pPr marL="0" indent="0">
              <a:buNone/>
            </a:pPr>
            <a:r>
              <a:rPr lang="en-US" sz="1600" dirty="0">
                <a:solidFill>
                  <a:srgbClr val="203040"/>
                </a:solidFill>
              </a:rPr>
              <a:t>3   Decide antes de borrar o mover.</a:t>
            </a:r>
            <a:endParaRPr lang="en-US" sz="1600" dirty="0"/>
          </a:p>
        </p:txBody>
      </p:sp>
      <p:sp>
        <p:nvSpPr>
          <p:cNvPr id="10" name="Text 8"/>
          <p:cNvSpPr/>
          <p:nvPr/>
        </p:nvSpPr>
        <p:spPr>
          <a:xfrm>
            <a:off x="914400" y="3374136"/>
            <a:ext cx="10149840" cy="292608"/>
          </a:xfrm>
          <a:prstGeom prst="rect">
            <a:avLst/>
          </a:prstGeom>
          <a:noFill/>
          <a:ln/>
        </p:spPr>
        <p:txBody>
          <a:bodyPr wrap="square" lIns="0" tIns="0" rIns="0" bIns="0" rtlCol="0" anchor="ctr"/>
          <a:lstStyle/>
          <a:p>
            <a:pPr marL="0" indent="0">
              <a:buNone/>
            </a:pPr>
            <a:r>
              <a:rPr lang="en-US" sz="1600" dirty="0">
                <a:solidFill>
                  <a:srgbClr val="203040"/>
                </a:solidFill>
              </a:rPr>
              <a:t>4   Un checksum sirve si existe una referencia.</a:t>
            </a:r>
            <a:endParaRPr lang="en-US" sz="1600" dirty="0"/>
          </a:p>
        </p:txBody>
      </p:sp>
      <p:sp>
        <p:nvSpPr>
          <p:cNvPr id="11" name="Text 9"/>
          <p:cNvSpPr/>
          <p:nvPr/>
        </p:nvSpPr>
        <p:spPr>
          <a:xfrm>
            <a:off x="914400" y="3904488"/>
            <a:ext cx="10149840" cy="292608"/>
          </a:xfrm>
          <a:prstGeom prst="rect">
            <a:avLst/>
          </a:prstGeom>
          <a:noFill/>
          <a:ln/>
        </p:spPr>
        <p:txBody>
          <a:bodyPr wrap="square" lIns="0" tIns="0" rIns="0" bIns="0" rtlCol="0" anchor="ctr"/>
          <a:lstStyle/>
          <a:p>
            <a:pPr marL="0" indent="0">
              <a:buNone/>
            </a:pPr>
            <a:r>
              <a:rPr lang="en-US" sz="1600" dirty="0">
                <a:solidFill>
                  <a:srgbClr val="203040"/>
                </a:solidFill>
              </a:rPr>
              <a:t>5   Permiso mínimo = permiso justificable.</a:t>
            </a:r>
            <a:endParaRPr lang="en-US" sz="1600" dirty="0"/>
          </a:p>
        </p:txBody>
      </p:sp>
      <p:sp>
        <p:nvSpPr>
          <p:cNvPr id="12" name="Text 10"/>
          <p:cNvSpPr/>
          <p:nvPr/>
        </p:nvSpPr>
        <p:spPr>
          <a:xfrm>
            <a:off x="914400" y="4434840"/>
            <a:ext cx="10149840" cy="292608"/>
          </a:xfrm>
          <a:prstGeom prst="rect">
            <a:avLst/>
          </a:prstGeom>
          <a:noFill/>
          <a:ln/>
        </p:spPr>
        <p:txBody>
          <a:bodyPr wrap="square" lIns="0" tIns="0" rIns="0" bIns="0" rtlCol="0" anchor="ctr"/>
          <a:lstStyle/>
          <a:p>
            <a:pPr marL="0" indent="0">
              <a:buNone/>
            </a:pPr>
            <a:r>
              <a:rPr lang="en-US" sz="1600" dirty="0">
                <a:solidFill>
                  <a:srgbClr val="203040"/>
                </a:solidFill>
              </a:rPr>
              <a:t>6   Un protocolo se prueba cuando otra persona intenta seguirlo.</a:t>
            </a:r>
            <a:endParaRPr lang="en-US" sz="1600" dirty="0"/>
          </a:p>
        </p:txBody>
      </p:sp>
      <p:sp>
        <p:nvSpPr>
          <p:cNvPr id="13" name="Text 11"/>
          <p:cNvSpPr/>
          <p:nvPr/>
        </p:nvSpPr>
        <p:spPr>
          <a:xfrm>
            <a:off x="914400" y="4965192"/>
            <a:ext cx="10149840" cy="292608"/>
          </a:xfrm>
          <a:prstGeom prst="rect">
            <a:avLst/>
          </a:prstGeom>
          <a:noFill/>
          <a:ln/>
        </p:spPr>
        <p:txBody>
          <a:bodyPr wrap="square" lIns="0" tIns="0" rIns="0" bIns="0" rtlCol="0" anchor="ctr"/>
          <a:lstStyle/>
          <a:p>
            <a:pPr marL="0" indent="0">
              <a:buNone/>
            </a:pPr>
            <a:r>
              <a:rPr lang="en-US" sz="1600" dirty="0">
                <a:solidFill>
                  <a:srgbClr val="203040"/>
                </a:solidFill>
              </a:rPr>
              <a:t>7   Las limitaciones declaradas preparan la siguiente pregunta.</a:t>
            </a:r>
            <a:endParaRPr lang="en-US" sz="1600" dirty="0"/>
          </a:p>
        </p:txBody>
      </p:sp>
      <p:sp>
        <p:nvSpPr>
          <p:cNvPr id="14" name="Text 12"/>
          <p:cNvSpPr/>
          <p:nvPr/>
        </p:nvSpPr>
        <p:spPr>
          <a:xfrm>
            <a:off x="914400" y="5715000"/>
            <a:ext cx="10241280" cy="384048"/>
          </a:xfrm>
          <a:prstGeom prst="rect">
            <a:avLst/>
          </a:prstGeom>
          <a:noFill/>
          <a:ln/>
        </p:spPr>
        <p:txBody>
          <a:bodyPr wrap="square" lIns="0" tIns="0" rIns="0" bIns="0" rtlCol="0" anchor="ctr"/>
          <a:lstStyle/>
          <a:p>
            <a:pPr marL="0" indent="0" algn="ctr">
              <a:buNone/>
            </a:pPr>
            <a:r>
              <a:rPr lang="en-US" sz="1300" b="1" dirty="0">
                <a:solidFill>
                  <a:srgbClr val="17365D"/>
                </a:solidFill>
              </a:rPr>
              <a:t>SEMÁFORO DE SALIDA   VERDE · AMARILLO · ROJO   +   una evidencia que ahora sí puedes defender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3401</Words>
  <Application>Microsoft Macintosh PowerPoint</Application>
  <PresentationFormat>Panorámica</PresentationFormat>
  <Paragraphs>394</Paragraphs>
  <Slides>22</Slides>
  <Notes>22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Aptos</vt:lpstr>
      <vt:lpstr>Aptos Display</vt: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S6 - Consolidar: entorno Unix listo para datos biologicos</dc:title>
  <dc:subject>S6 Consolidacion entorno Unix</dc:subject>
  <dc:creator>OpenAI</dc:creator>
  <cp:lastModifiedBy>Microsoft Office User</cp:lastModifiedBy>
  <cp:revision>1</cp:revision>
  <dcterms:created xsi:type="dcterms:W3CDTF">2026-09-15T21:49:49Z</dcterms:created>
  <dcterms:modified xsi:type="dcterms:W3CDTF">2026-09-15T23:04:47Z</dcterms:modified>
</cp:coreProperties>
</file>