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157"/>
  </p:normalViewPr>
  <p:slideViewPr>
    <p:cSldViewPr snapToGrid="0" snapToObjects="1">
      <p:cViewPr varScale="1">
        <p:scale>
          <a:sx n="106" d="100"/>
          <a:sy n="106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030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Abrir conectando con S6. No presentar la sesión como una clase de extensiones de archivo. La pregunta central es qué representación contiene la evidencia necesaria.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Leer el objetivo como criterio de desempeño. Recalcar que el conteo sistemático y la descarga verificable todavía no corresponden a S7.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Hacer explícita la continuidad S6→S7. Pedir que identifiquen qué sí está resuelto (organización/integridad) y qué no (pregunta biológica).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Usar esta diapositiva como contrato didáctico. La respuesta esperada: después de pregunta/evidencia/dato; el formato no debe ser el punto de partida.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explicar FASTA/GFF3/GenBank desde cero. Primero pedir 2–3 ejemplos de matrices iniciales y trabajar sobre errores reales.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Contrastar dos rutas: herramienta→archivo→pregunta versus pregunta→evidencia→dato→formato. Pedir un ejemplo de cómo una herramienta correcta puede aplicarse al dato equivocado.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Este es el núcleo conceptual. Insistir: un gen no es una línea GFF; la línea es una representación/anotación de una región respecto a una secuencia.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Respuestas esperadas: A secuencia; B anotación; C ambas; D secuencia. No revelar inmediatamente; pedir justificación.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La respuesta es no. Para tamaño puede bastar la secuencia/longitud; para genes y hebra se requiere anotación. Esto prepara la selección de GFF3.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Registrar predicciones en pizarrón. No validar todavía. La meta es hacer visible el modelo mental previo para contrastarlo con los fragmentos.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Clasificación: NC_000913.3 secuencia versionada; GCF_000005845.2 ensamblado versionado; araC nombre biológico; gene-araC depende del contexto del archivo.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Pedir primero que señalen evidencia directa: identificador, descripción y secuencia. Luego preguntar qué afirmaciones NO se pueden sostener solo con este fragmento.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Evitar jerarquizar formatos como mejores/peores. FASTA es muy apropiado cuando la operación requiere secuencias; es insuficiente para las preguntas de anotación.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Respuesta esperada: type=gene, strand, y seqid/contexto de secuencia; start/end son esenciales para localización y distribución espacial. Recordar que “.” no significa cero.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Ejemplo: contar un GFF3 de otra versión/ensamblado. El comando podría funcionar y producir números, pero la evidencia no correspondería al objeto seleccionado. Conectar con S6: funcionar ≠ estar verificado.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El fragmento es didáctico. Destacar que GenBank integra contexto, pero para procesamiento tabular de anotaciones GFF3 suele ser más directo.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Los puntos son una comparación didáctica de adecuación, no una escala universal. Pedir que justifiquen la elección por el contenido requerido.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Trabajo en pares. Pedir que conserven el primer intento y hagan visibles las correcciones; el cambio de razonamiento es parte de la evidencia formativa.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dar todavía un valor final como producto de la sesión. La selección es provisional y debe distinguir datos confirmados de pendientes.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Esperar: hay directivas, comentarios y muchos tipos de feature (CDS, RNA, etc.). No ejecutar el conteo todavía; fijar primero la definición operacional.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Reforzar que strand es una categoría biológica de orientación. Para “distribución en el cromosoma” las coordenadas start/end serán relevantes más adelante.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Conectar con reproducibilidad: el nombre del organismo no basta. La correspondencia entre secuencia y anotación es una condición de validez, no solo de orden.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No convertirlo en respuesta binaria simplista. Pedir que identifiquen faltantes concretos y escriban “pendiente de confirmar” cuando corresponda.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Favorecer el último y el de versión/ensamblado: pueden producir resultados numéricos plausibles. Pedir cómo se diagnosticarían con evidencia.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Ser explícito: no pedir como producto un nuevo genoma descargado. S7 termina con una decisión documentada; S8 ejecutará y verificará la descarga.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Recordar que el protocolo es documento vivo. No inventar metadatos para “completar” la ficha. Mantener trazabilidad de la decisión provisional.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Respuesta esperada: porque contiene la evidencia que necesito para responder la pregunta.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docentes:
Cierre con semáforo. Si alguien está amarillo/rojo, pedir que formule una duda concreta sobre objeto/evidencia/formato antes de descargar datos en S8.
[Sources]
- https://helysalgado.github.io/introbioinfo-unix/u3-s7-secuencias-formatos-genbank.html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858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Introducción a la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Bioinformática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227"/>
                </a:solidFill>
              </a:rPr>
              <a:t>LCG · UNAM ·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Unidad 3 · Sesión 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9601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0314F"/>
                </a:solidFill>
              </a:rPr>
              <a:t>Representar: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13F"/>
                </a:solidFill>
              </a:rPr>
              <a:t>de los objetos biológicos 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7313F"/>
                </a:solidFill>
              </a:rPr>
              <a:t>FASTA, GFF3 y GenBank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98848" y="2907792"/>
            <a:ext cx="6629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Pregunta → evidencia → dato → formato → operación → herramienta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370332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3849624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FASTA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4160520"/>
            <a:ext cx="15910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secuencias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65392" y="370332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9984" y="3849624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GFF3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9984" y="4160520"/>
            <a:ext cx="15910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features + coordenadas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50224" y="3703320"/>
            <a:ext cx="1920240" cy="1143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14816" y="3849624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GenBank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14816" y="4160520"/>
            <a:ext cx="15910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secuencia + contexto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8848" y="5257800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Producto: matriz objeto–evidencia–formato corregida + selección provisional de 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</a:rPr>
              <a:t>S7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queremos lograr en S7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memorizar formatos: justificar qué representación responde una pregunta.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057400" cy="1965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3794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1 · Distinguir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148840"/>
            <a:ext cx="17282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objeto biológico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≠ registro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≠ archivo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≠ formato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91640"/>
            <a:ext cx="2057400" cy="1965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83794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2 · Interpretar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9232" y="2148840"/>
            <a:ext cx="17282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qué representa FASTA, GFF3 y GenBank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2057400" cy="1965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83794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3 · Elegir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148840"/>
            <a:ext cx="17282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evidencia y datos antes de pensar en comandos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760" y="1691640"/>
            <a:ext cx="2057400" cy="1965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183794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4 · Justificar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88352" y="2148840"/>
            <a:ext cx="17282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qué aporta el formato y qué NO aporta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418320" y="1691640"/>
            <a:ext cx="2057400" cy="1965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1837944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5 · Documentar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82912" y="2148840"/>
            <a:ext cx="17282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selección provisional en protocolo.md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tendría que poder explicar un estudiante al terminar, aunque no recuerde ningún comando?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S6 terminó con evidencia del proceso… pero no con la respuesta biológica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4114800" cy="324612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0078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estado actual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7490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~/proyecto-ecoli/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README.md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data/source/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data/processed/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src/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├── results/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└── doc/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    ├── protocolo.md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    ├── bitacora-ia.md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49" charset="0"/>
                <a:ea typeface="Aptos Mono" pitchFamily="34" charset="-122"/>
                <a:cs typeface="Courier New" panose="02070309020205020404" pitchFamily="49" charset="0"/>
              </a:rPr>
              <a:t>    └── checksums-u2.txt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74920" y="1572768"/>
            <a:ext cx="5989320" cy="1051560"/>
          </a:xfrm>
          <a:prstGeom prst="roundRect">
            <a:avLst>
              <a:gd name="adj" fmla="val 4348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9512" y="1719072"/>
            <a:ext cx="566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Lo que ya aprendimos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39512" y="2029968"/>
            <a:ext cx="5660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“me funcionó” ≠ “tengo evidencia de que funcionó”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4920" y="2788920"/>
            <a:ext cx="5989320" cy="1600200"/>
          </a:xfrm>
          <a:prstGeom prst="roundRect">
            <a:avLst>
              <a:gd name="adj" fmla="val 2857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935224"/>
            <a:ext cx="5660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14F"/>
                </a:solidFill>
              </a:rPr>
              <a:t>La pregunta sigue abierta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9512" y="3246120"/>
            <a:ext cx="56601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¿Cuántos genes tiene el genoma de E. coli K-12 y cómo se distribuyen en el cromosoma?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nos falta: otro comando o decidir qué evidencia necesitamos?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DE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dinámica de S7: razonar antes de operar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CONTEXTO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44168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84832" y="1965960"/>
            <a:ext cx="658368" cy="658368"/>
          </a:xfrm>
          <a:prstGeom prst="ellipse">
            <a:avLst/>
          </a:prstGeom>
          <a:solidFill>
            <a:srgbClr val="0031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10512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PREGUNTA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83864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3864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9544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PREDICCIÓN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42232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82896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08576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OBSERVACIÓN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41264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81928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07608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COMPARACIÓN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0296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80960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2788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VERIFICACIÓN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39328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79992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05672" y="278892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INTERPRETACIÓN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38360" y="2295144"/>
            <a:ext cx="740664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479024" y="1965960"/>
            <a:ext cx="658368" cy="65836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79024" y="21488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04704" y="2769464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DOCUMENTACIÓN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14400" y="3657600"/>
            <a:ext cx="102412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3803904"/>
            <a:ext cx="9912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Regla de la sesión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8992" y="4114800"/>
            <a:ext cx="99120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No saltar de la pregunta a la herramienta. Cada decisión debe poder justificarse con la evidencia que el dato representa.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¿En qué paso aparece por primera vez el nombre del formato?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INVERTIDA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Recuperamos el razonamiento, no repetimos la lectura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922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Llegan con…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32186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lectura indispensable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test de repaso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primera matriz objeto–evidencia–formato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una duda auténtica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7922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En clase hacemos…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103120"/>
            <a:ext cx="30540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comparar matrices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detectar saltos de razonamiento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observar registros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corregir decisiones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1645920"/>
            <a:ext cx="3383280" cy="2286000"/>
          </a:xfrm>
          <a:prstGeom prst="roundRect">
            <a:avLst>
              <a:gd name="adj" fmla="val 2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7922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Salimos con…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5592" y="2103120"/>
            <a:ext cx="30540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matriz corregida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selección provisional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pendientes explícitos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• base para actualizar protocolo.md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parte de tu matriz inicial te genera más duda: evidencia, dato o formato?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pregunta a la herramienta: el orden importa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880360" y="1508760"/>
            <a:ext cx="6355080" cy="42976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61848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¿Qué quiero saber?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62472" y="1947672"/>
            <a:ext cx="0" cy="14630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2103120"/>
            <a:ext cx="6355080" cy="42976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1284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¿Qué evidencia necesito?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62472" y="2542032"/>
            <a:ext cx="0" cy="14630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0360" y="2697480"/>
            <a:ext cx="6355080" cy="429768"/>
          </a:xfrm>
          <a:prstGeom prst="roundRect">
            <a:avLst/>
          </a:prstGeom>
          <a:solidFill>
            <a:srgbClr val="EEF3F6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80720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¿Qué dato representa esa evidencia?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62472" y="3136392"/>
            <a:ext cx="0" cy="14630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0360" y="3291840"/>
            <a:ext cx="6355080" cy="4297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40156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¿En qué formato está representado?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62472" y="3730752"/>
            <a:ext cx="0" cy="14630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80360" y="3886200"/>
            <a:ext cx="6355080" cy="4297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99592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¿Qué operación necesito?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62472" y="4325112"/>
            <a:ext cx="0" cy="14630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80360" y="4480560"/>
            <a:ext cx="6355080" cy="429768"/>
          </a:xfrm>
          <a:prstGeom prst="roundRect">
            <a:avLst/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4590288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13F"/>
                </a:solidFill>
              </a:rPr>
              <a:t>¿Qué herramienta puedo utilizar?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riesgo aparece si comienzo por “sé usar grep”, “sé usar awk” o “quiero un FASTA”?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 CLAVE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 biológico ≠ registro ≠ archivo ≠ formato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14600" cy="2971800"/>
          </a:xfrm>
          <a:prstGeom prst="roundRect">
            <a:avLst>
              <a:gd name="adj" fmla="val 1818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5506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OBJETO BIOLÓGICO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65960"/>
            <a:ext cx="21854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Entidad o región que estudiamos.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Ej.: genoma, gen, transcrito, proteína.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14600" cy="2971800"/>
          </a:xfrm>
          <a:prstGeom prst="roundRect">
            <a:avLst>
              <a:gd name="adj" fmla="val 1818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65506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REGISTRO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6432" y="1965960"/>
            <a:ext cx="21854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Conjunto estructurado de campos que describe una entidad en una base de datos.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14600" cy="2971800"/>
          </a:xfrm>
          <a:prstGeom prst="roundRect">
            <a:avLst>
              <a:gd name="adj" fmla="val 1818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65506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ARCHIVO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08192" y="1965960"/>
            <a:ext cx="21854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Objeto digital descargable que contiene una o más representaciones.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95360" y="1508760"/>
            <a:ext cx="2514600" cy="2971800"/>
          </a:xfrm>
          <a:prstGeom prst="roundRect">
            <a:avLst>
              <a:gd name="adj" fmla="val 1818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1655064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FORMATO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59952" y="1965960"/>
            <a:ext cx="218541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Convención que define cómo se organiza e interpreta el contenido.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54680" y="2971800"/>
            <a:ext cx="118872" cy="0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06440" y="2971800"/>
            <a:ext cx="118872" cy="0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58200" y="2971800"/>
            <a:ext cx="118872" cy="0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Cuando dices “el GFF es el genoma”, ¿qué niveles estás confundiendo?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SONDEO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¿Secuencia, anotación o ambas?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00784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Conocer el orden de nucleótidos de un cromosoma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0784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82512" y="2011680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Localizar inicio y fin de genes anotados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43784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3154680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Consultar secuencia, fuente y features en un mismo registro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97480"/>
            <a:ext cx="52120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843784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3154680"/>
            <a:ext cx="4882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Comparar la secuencia de una proteína con otra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57400" y="3977640"/>
            <a:ext cx="8092440" cy="914400"/>
          </a:xfrm>
          <a:prstGeom prst="roundRect">
            <a:avLst>
              <a:gd name="adj" fmla="val 5000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4123944"/>
            <a:ext cx="7763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Antes de decir un formato…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21992" y="4434840"/>
            <a:ext cx="7763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Clasifica la necesidad como SECUENCIA · ANOTACIÓN · AMBAS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¿Cuál de los cuatro casos exige explícitamente coordenadas sobre una secuencia de referencia?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E. COLI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subpreguntas, tres necesidades de evidencia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09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4650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1 · Tamaño del genoma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057400"/>
            <a:ext cx="30998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Necesitamos una representación de la secuencia completa o un registro que declare su longitud.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Pregunta guía: ¿la evidencia es secuencia, anotación o metadato?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4650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2 · Genes anotados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057400"/>
            <a:ext cx="30998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Necesitamos features que declaren explícitamente qué registros son genes.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No basta la secuencia del cromosoma.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6002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74650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3 · Genes por hebra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7032" y="2057400"/>
            <a:ext cx="30998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Necesitamos features de tipo gene + coordenadas + campo de hebra (+/−).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La orientación es parte de la anotación.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¿Podrías responder las tres subpreguntas usando solo la secuencia del genoma?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observar: ¿qué esperas encontrar en cada formato?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9222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FASTA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103120"/>
            <a:ext cx="30998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Predice: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¿secuencia?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¿coordenadas de genes?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¿hebra?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¿referencias?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9222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GFF3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103120"/>
            <a:ext cx="30998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Predice: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¿secuencia?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¿features?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¿coordenadas?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¿hebra?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42900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79222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GenBank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1312" y="2103120"/>
            <a:ext cx="309981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Predice: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¿secuencia?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¿features?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¿fuente?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313F"/>
                </a:solidFill>
              </a:rPr>
              <a:t>• ¿referencias?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abrir ningún archivo: ¿qué formato crees que será más directo para contar genes por hebra y por qué?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biológico, accession y versión no cumplen la misma función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4023360" cy="256032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2821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clasifica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365760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GCF_000005845.2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araC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gene-araC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1600200"/>
            <a:ext cx="557784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746504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Nombre biológico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30952" y="2057400"/>
            <a:ext cx="5248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Útil para buscar e interpretar; no garantiza unicidad entre organismos o bases.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2743200"/>
            <a:ext cx="557784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2889504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Accession + versión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3200400"/>
            <a:ext cx="5248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Identifica un estado concreto del registro o secuencia dentro de un sistema.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3886200"/>
            <a:ext cx="557784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4032504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Regla reproducible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30952" y="4343400"/>
            <a:ext cx="5248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Conservar el identificador completo tal como aparece en la fuente.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información perderíamos al escribir NC_000913 en lugar de NC_000913.3?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 representa secuencias con una estructura mínima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400800" cy="210312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36776"/>
            <a:ext cx="607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fragmento fasta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883664"/>
            <a:ext cx="62179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&gt;NC_000913.3 Escherichia coli K-12 MG1655, complete genome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AGCTTTTCATTCTGACTGCAACGGGCAATATGTCTCTGTGTGGATTAAAAAAAG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150876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5512" y="1655064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Encabezado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25512" y="196596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“&gt;” + identificador + descripción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2606040"/>
            <a:ext cx="402336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2752344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Secuencia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25512" y="306324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símbolos de nucleótidos o aminoácidos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032504"/>
            <a:ext cx="10369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Lo que NO aparece de forma normalizada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" y="4343400"/>
            <a:ext cx="10369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313F"/>
                </a:solidFill>
              </a:rPr>
              <a:t>coordenadas de genes · jerarquías · evidencia de anotación · historia completa de procedencia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¿Dónde buscarías aquí la hebra de cada gen?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aporta FASTA al proyecto E. coli?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38328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Tamaño del genoma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30540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Puede obtenerse a partir de la longitud de la secuencia completa, siempre que confirmemos qué secuencia representa el archivo.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Número de genes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057400"/>
            <a:ext cx="30540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FASTA por sí solo no declara qué intervalos son genes. No es evidencia suficiente para “genes anotados”.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383280" cy="2560320"/>
          </a:xfrm>
          <a:prstGeom prst="roundRect">
            <a:avLst>
              <a:gd name="adj" fmla="val 178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14F"/>
                </a:solidFill>
              </a:rPr>
              <a:t>Genes + / 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11312" y="2057400"/>
            <a:ext cx="30540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FASTA por sí solo no asigna features gene a una hebra.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Entonces, ¿FASTA es “malo” para el proyecto o simplemente responde otro tipo de pregunta?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GFF3 representa features localizados sobre una secuencia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10972800" cy="114300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45336"/>
            <a:ext cx="1064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línea gff3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185623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##gff-version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NC_000913.3  RefSeq  gene  65855  66550  .  +  .  ID=gene-araC;Name=araC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7432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895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1 seqid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7824" y="3200400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NC_000913.3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27432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8895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2 source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35424" y="3200400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RefSeq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2743200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889504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3 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93024" y="3200400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gene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" y="3456432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602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4 start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3913632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65855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3456432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3602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5 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35424" y="3913632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66550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28432" y="3456432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3602736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6 score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93024" y="3913632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4169664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315968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7 strand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7824" y="4626864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+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70832" y="4169664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4315968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8 phase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35424" y="4626864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28432" y="4169664"/>
            <a:ext cx="3401568" cy="566928"/>
          </a:xfrm>
          <a:prstGeom prst="roundRect">
            <a:avLst>
              <a:gd name="adj" fmla="val 806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4315968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14F"/>
                </a:solidFill>
              </a:rPr>
              <a:t>9 attributes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93024" y="4626864"/>
            <a:ext cx="307238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7313F"/>
                </a:solidFill>
              </a:rPr>
              <a:t>ID=…;Name=…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tres campos necesitas como mínimo para distinguir genes y separarlos por hebra?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GFF3 conecta directamente con dos subpreguntas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4650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¿Cuántos genes están anotados?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057400"/>
            <a:ext cx="4837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Filtrar conceptualmente features cuyo type sea gene y contarlos. El conteo sistemático se hará después, en U4.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166360" cy="1097280"/>
          </a:xfrm>
          <a:prstGeom prst="roundRect">
            <a:avLst>
              <a:gd name="adj" fmla="val 4167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74650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¿Cuántos están en + y cuántos en −?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36792" y="2057400"/>
            <a:ext cx="4837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Para features gene, observar strand y separar las dos categorías.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0607040" cy="1325880"/>
          </a:xfrm>
          <a:prstGeom prst="roundRect">
            <a:avLst>
              <a:gd name="adj" fmla="val 3448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118104"/>
            <a:ext cx="10277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Pero hay una condición crítica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3429000"/>
            <a:ext cx="102778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313F"/>
                </a:solidFill>
              </a:rPr>
              <a:t>Las coordenadas solo tienen sentido si el GFF3 corresponde a la misma secuencia/ensamblado y versión que usamos como referencia.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podría salir “correcto” numéricamente y aun así ser científicamente incorrecto?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GenBank integra secuencia, anotaciones y contexto en un registro estructurado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486400" cy="315468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45336"/>
            <a:ext cx="5157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registro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51206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LOCUS       NC_000913  4641652 bp  DNA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DEFINITION  Escherichia coli K-12 MG1655...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ACCESSION   NC_000913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VERSION     NC_000913.3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     Escherichia coli str. K-12 substr. MG1655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FEATURES             Location/Qualifiers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gene            65855..66550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/gene="araC"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ORIGIN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1 agcttttc...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892040" cy="822960"/>
          </a:xfrm>
          <a:prstGeom prst="roundRect">
            <a:avLst>
              <a:gd name="adj" fmla="val 555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563624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Identidad y procedencia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1112" y="187452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LOCUS · ACCESSION · VERSION · 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423160"/>
            <a:ext cx="4892040" cy="822960"/>
          </a:xfrm>
          <a:prstGeom prst="roundRect">
            <a:avLst>
              <a:gd name="adj" fmla="val 555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2569464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Anotaciones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1112" y="288036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FEATURES + qualifiers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3429000"/>
            <a:ext cx="4892040" cy="822960"/>
          </a:xfrm>
          <a:prstGeom prst="roundRect">
            <a:avLst>
              <a:gd name="adj" fmla="val 555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3575304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Secuencia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11112" y="3886200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ORIGIN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ventaja conceptual tiene ver en un mismo registro VERSION, FEATURES y ORIGIN?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FASTA, GFF3 y GenBank no compiten por el mismo propósito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65760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7276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Necesidad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196596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57276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196596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57276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GFF3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196596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57276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GenBank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1984248"/>
            <a:ext cx="365760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139696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14F"/>
                </a:solidFill>
              </a:rPr>
              <a:t>Secuencia para herramientas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984248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2139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984248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2139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984248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13969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255117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706624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14F"/>
                </a:solidFill>
              </a:rPr>
              <a:t>Coordenadas /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2551176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70662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551176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270662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2551176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706624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118104"/>
            <a:ext cx="365760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3273552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14F"/>
                </a:solidFill>
              </a:rPr>
              <a:t>Procesamiento tabular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3118104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32735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3118104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32735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3118104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2735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685032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84048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14F"/>
                </a:solidFill>
              </a:rPr>
              <a:t>Fuente + referencias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97680" y="368503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384048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368503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384048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3685032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384048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●●●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4251960"/>
            <a:ext cx="365760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4407408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14F"/>
                </a:solidFill>
              </a:rPr>
              <a:t>Contexto integrado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97680" y="4251960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07408" y="440740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63640" y="4251960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440740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0" y="4251960"/>
            <a:ext cx="1965960" cy="566928"/>
          </a:xfrm>
          <a:prstGeom prst="rect">
            <a:avLst/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9328" y="440740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13F"/>
                </a:solidFill>
              </a:rPr>
              <a:t>●●●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 contar genes por hebra, ¿qué formato reduce más la distancia entre evidencia y operación?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ENTRE PARES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la matriz inicial: busca saltos de razonamiento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0835640" cy="2011680"/>
          </a:xfrm>
          <a:prstGeom prst="roundRect">
            <a:avLst>
              <a:gd name="adj" fmla="val 2273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09344"/>
            <a:ext cx="10506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14F"/>
                </a:solidFill>
              </a:rPr>
              <a:t>Matriz a revisar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105064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313F"/>
                </a:solidFill>
              </a:rPr>
              <a:t>Pregunta | Evidencia necesaria | Objeto biológico | Datos esperados | Formato provisional | Qué falta confirmar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8039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Marca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411480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¿Saltó de pregunta a herramienta?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365760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8039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Marca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3712" y="411480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¿La evidencia realmente responde?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365760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7032" y="38039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Marca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57032" y="411480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¿El formato contiene esa evidencia?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corrección de tu compañero cambia más tu decisión original?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Subpregunta: ¿cuál es el tamaño del genoma?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PREGUNTA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¿Cuál es el tamaño del genoma seleccionado?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EVIDENCIA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5351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Longitud de la secuencia completa o longitud declarada en un registro verificado.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DATO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663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Secuencia cromosómica / registro de la secuencia versionada.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FORMATO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5975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FASTA puede servir; GenBank también contiene longitud y secuencia.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PENDIENTE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6287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Confirmar organismo, cepa, accession, versión y qué molécula se selecciona.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afirmación no deberíamos hacer todavía si aún no confirmamos el conjunto definitivo?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Subpregunta: ¿cuántos genes están anotados?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PREGUNTA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¿Cuántos genes están anotados?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EVIDENCIA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5351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Una anotación explícita por cada feature que la fuente clasifica como gene.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DATO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5663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Anotación del mismo ensamblado y versión.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FORMATO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5975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GFF3 es directo para features; GenBank también los representa.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1463040"/>
            <a:ext cx="1965960" cy="3108960"/>
          </a:xfrm>
          <a:prstGeom prst="roundRect">
            <a:avLst>
              <a:gd name="adj" fmla="val 2326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1609344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OPERACIÓN FUTURA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62872" y="1920240"/>
            <a:ext cx="163677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Filtrar type=gene y contar. Herramienta: se decidirá en U4.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¿Por qué contar líneas del GFF3 no equivale a contar genes?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Subpregunta: ¿cuántos genes están en + y cuántos en −?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154680" cy="2697480"/>
          </a:xfrm>
          <a:prstGeom prst="roundRect">
            <a:avLst>
              <a:gd name="adj" fmla="val 169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5506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Evidencia necesaria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965960"/>
            <a:ext cx="282549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Features de tipo gene con el campo strand explícito.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508760"/>
            <a:ext cx="3154680" cy="2697480"/>
          </a:xfrm>
          <a:prstGeom prst="roundRect">
            <a:avLst>
              <a:gd name="adj" fmla="val 169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1655064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Representación útil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33672" y="1965960"/>
            <a:ext cx="282549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GFF3: type + start/end + strand + attributes sobre un seqid.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508760"/>
            <a:ext cx="3657600" cy="2697480"/>
          </a:xfrm>
          <a:prstGeom prst="roundRect">
            <a:avLst>
              <a:gd name="adj" fmla="val 1695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165506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Interpretación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6952" y="1965960"/>
            <a:ext cx="33284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“+” y “−” describen orientación respecto de la secuencia de referencia. No significan “gen activo/inactivo”.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error biológico cometeríamos si interpretáramos “−” como ausencia o valor negativo?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aceptar un conjunto de datos: ¿qué debe coincidir?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Organismo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9312" y="201168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Cepa / substrain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82512" y="201168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Molécula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55448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25712" y="201168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Ensamblado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88036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02666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333756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Accession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88036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302666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39312" y="333756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Versión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02666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333756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Fuente / colección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61120" y="2880360"/>
            <a:ext cx="246888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5712" y="302666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4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25712" y="3337560"/>
            <a:ext cx="21396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313F"/>
                </a:solidFill>
              </a:rPr>
              <a:t>Formatos correspondientes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80160" y="4343400"/>
            <a:ext cx="9646920" cy="658368"/>
          </a:xfrm>
          <a:prstGeom prst="roundRect">
            <a:avLst>
              <a:gd name="adj" fmla="val 6944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4752" y="4489704"/>
            <a:ext cx="9317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Regla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44752" y="4800600"/>
            <a:ext cx="9317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13F"/>
                </a:solidFill>
              </a:rPr>
              <a:t>Un GFF3 y un FASTA deben corresponder a la misma referencia para que las coordenadas tengan sentido.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comprobarías primero si FASTA y GFF3 tienen nombres parecidos pero versiones distintas?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información es suficiente para reproducir el análisis?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3429000" cy="2651760"/>
          </a:xfrm>
          <a:prstGeom prst="roundRect">
            <a:avLst>
              <a:gd name="adj" fmla="val 1724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0078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Conjunto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011680"/>
            <a:ext cx="309981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“E. coli genome.fasta”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Sin accession, versión, fecha ni fuente verificable.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429000" cy="2651760"/>
          </a:xfrm>
          <a:prstGeom prst="roundRect">
            <a:avLst>
              <a:gd name="adj" fmla="val 1724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70078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Conjunto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2011680"/>
            <a:ext cx="309981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NC_000913.3 + GFF3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Pero no sabemos si ambos provienen de la misma descarga/ensamblado.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429000" cy="2651760"/>
          </a:xfrm>
          <a:prstGeom prst="roundRect">
            <a:avLst>
              <a:gd name="adj" fmla="val 1724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70078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Conjunto 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57032" y="2011680"/>
            <a:ext cx="309981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Organismo + ensamblado + accession/versiones + fuente + fecha + formatos + integridad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¿Cuál de los tres te permite explicar mejor qué falta confirmar, sin inventar metadatos?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frecuentes: el problema suele ser conceptual antes que sintáctico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6362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“El FASTA es el genoma”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874520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Confunde objeto con representación.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56362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“GFF3 contiene la secuencia”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82512" y="1874520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Confunde anotación con secuencia.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2432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70632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“Cada línea GFF3 es un gen”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3081528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Ignora tipos de feature/directivas.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624328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770632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“araC identifica de forma única”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82512" y="3081528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Confunde nombre con identificador versionado.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38313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97764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“.” significa cero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" y="4288536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Fuerza un valor inexistente.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831336"/>
            <a:ext cx="5166360" cy="960120"/>
          </a:xfrm>
          <a:prstGeom prst="roundRect">
            <a:avLst>
              <a:gd name="adj" fmla="val 4762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97764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“Si el comando corre, el dato sirve”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2512" y="4288536"/>
            <a:ext cx="4837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Confunde ejecución con validez científica.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¿Cuál de estos errores podría producir un resultado plausible y por eso ser más difícil de detectar?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DE S7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principal no es un archivo descargado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166360" cy="2651760"/>
          </a:xfrm>
          <a:prstGeom prst="roundRect">
            <a:avLst>
              <a:gd name="adj" fmla="val 1724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1 · Matriz corregida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965960"/>
            <a:ext cx="48371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Debe mostrar: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pregunta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evidencia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objeto biológico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datos esperados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formato justificado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pendiente por confirmar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166360" cy="2651760"/>
          </a:xfrm>
          <a:prstGeom prst="roundRect">
            <a:avLst>
              <a:gd name="adj" fmla="val 1724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2 · Selección provisional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91072" y="1965960"/>
            <a:ext cx="48371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Debe registrar: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conjunto candidato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qué formato aporta qué evidencia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accession/versión si están confirmados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• faltantes explícitos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57400" y="438912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9E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4535424"/>
            <a:ext cx="7717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HOY NO DESCARGAMOS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21992" y="4846320"/>
            <a:ext cx="771753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13F"/>
                </a:solidFill>
              </a:rPr>
              <a:t>La descarga verificable corresponde a S8.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evidencia de S7 demostraría que elegiste el dato por su contenido y no por su extensión?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clase: actualizar doc/protocolo.md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52760" cy="3246120"/>
          </a:xfrm>
          <a:prstGeom prst="roundRect">
            <a:avLst/>
          </a:prstGeom>
          <a:solidFill>
            <a:srgbClr val="17242C"/>
          </a:solidFill>
          <a:ln w="12700">
            <a:solidFill>
              <a:srgbClr val="1724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45336"/>
            <a:ext cx="10323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●  ●  ●   documenta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1856232"/>
            <a:ext cx="1028700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Selección provisional de datos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Pregunta: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Evidencia necesaria: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Formatos candidatos: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Qué aporta cada formato: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Información pendiente de confirmar: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Actualizaciones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- 2026-__-__: S7 — matriz corregida y selección provisional.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escribirías si todavía no puedes confirmar la versión: una suposición o “pendiente de confirmar”?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representa cada formato y qué preguntas habilita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429000" cy="3108960"/>
          </a:xfrm>
          <a:prstGeom prst="roundRect">
            <a:avLst>
              <a:gd name="adj" fmla="val 1471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5506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FASTA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965960"/>
            <a:ext cx="309981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Representa secuencias.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Útil para: longitud, composición, comparación, entradas de herramientas.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Limitado para: coordenadas y relaciones de features.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29000" cy="3108960"/>
          </a:xfrm>
          <a:prstGeom prst="roundRect">
            <a:avLst>
              <a:gd name="adj" fmla="val 1471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5506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GFF3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3712" y="1965960"/>
            <a:ext cx="309981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Representa anotaciones localizadas sobre una secuencia.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Útil para: genes, coordenadas, hebra, tipos y relaciones.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429000" cy="3108960"/>
          </a:xfrm>
          <a:prstGeom prst="roundRect">
            <a:avLst>
              <a:gd name="adj" fmla="val 1471"/>
            </a:avLst>
          </a:prstGeom>
          <a:solidFill>
            <a:srgbClr val="F2F4F5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655064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14F"/>
                </a:solidFill>
              </a:rPr>
              <a:t>GenBank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57032" y="1965960"/>
            <a:ext cx="3099816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Integra secuencia, features y contexto del registro.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7313F"/>
                </a:solidFill>
              </a:rPr>
              <a:t>Útil para: inspección contextual, fuente, versión, referencias y anotaciones.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Completa: “No elijo un formato porque conozco el comando; lo elijo porque…”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Recuerda esto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144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· LCG UNAM ·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835640" y="61447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S7 · 28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30759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La pregunta biológica sigue siendo el punto de partida.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801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Objeto biológico, registro, archivo y formato son niveles distintos.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2768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25856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Secuencia y anotación responden preguntas diferentes.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7523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734056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FASTA representa secuencias; GFF3 features; GenBank integra contexto.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2278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20954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Para contar genes necesitas definir qué feature cuenta como gene.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6850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Para genes por hebra necesitas la anotación de strand.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178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416052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3F"/>
                </a:solidFill>
              </a:rPr>
              <a:t>Accession + versión importan para reproducibilidad.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6542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</a:rPr>
              <a:t>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63600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13F"/>
                </a:solidFill>
              </a:rPr>
              <a:t>S7 selecciona y justifica; S8 descarga y verifica.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376672"/>
            <a:ext cx="11155680" cy="59436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5046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227"/>
                </a:solidFill>
              </a:rPr>
              <a:t>PREGUNTA AL GRUPO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331720" y="546811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Semáforo de salida: VERDE · AMARILLO · ROJO + una duda concreta para S8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4333</Words>
  <Application>Microsoft Macintosh PowerPoint</Application>
  <PresentationFormat>Panorámica</PresentationFormat>
  <Paragraphs>577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Aptos</vt:lpstr>
      <vt:lpstr>Aptos Mono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LCG · UNAM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S7 — Representar: de los objetos biológicos a FASTA, GFF3 y GenBank</dc:title>
  <dc:subject>S7 Representar</dc:subject>
  <dc:creator>OpenAI</dc:creator>
  <cp:lastModifiedBy>Microsoft Office User</cp:lastModifiedBy>
  <cp:revision>2</cp:revision>
  <dcterms:created xsi:type="dcterms:W3CDTF">2026-09-16T01:18:06Z</dcterms:created>
  <dcterms:modified xsi:type="dcterms:W3CDTF">2026-09-16T01:44:33Z</dcterms:modified>
</cp:coreProperties>
</file>