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8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487"/>
  </p:normalViewPr>
  <p:slideViewPr>
    <p:cSldViewPr snapToGrid="0" snapToObjects="1">
      <p:cViewPr varScale="1">
        <p:scale>
          <a:sx n="110" d="100"/>
          <a:sy n="110" d="100"/>
        </p:scale>
        <p:origin x="1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32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Abrir con la idea de representación, no con “tres tipos de archivo”.
Recordar que la lectura indispensable ya se hizo antes de clase.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volver a explicar S6. Recuperar el principio: una operación exitosa no demuestra que el dato sea el correcto.
Conectar inmediatamente con la selección de evidencia.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resolver todavía. Pedir que nombren la evidencia, no el comando.
Esperar que distingan longitud de secuencia vs. anotaciones de genes y strand.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Esta es la diapositiva eje. Volver a ella durante toda la sesión.
La página del curso explicita pregunta → evidencia → datos → operación → herramienta. Aquí añadimos “formato” para hacer visible la representación.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Enfatizar que la sesión no es una clase de extensiones de archivo.
El producto de aprendizaje es una decisión justificada.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Pedir que tengan la matriz a la vista.
No usar tiempo en repetir toda la lectura; recuperar conceptos mediante comparación.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Recuperación activa de Micropráctica 1.
Respuestas esperadas: secuencia; anotación; ambas; secuencia. La justificación importa más que memorizar el formato.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Evitar equivalencias uno-a-uno. Un accession identifica un registro/secuencia en un sistema; no es el objeto biológico.
La computadora procesa caracteres, campos y relaciones; el significado se recupera con formato y metadatos.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Relacionar objeto con representación sin afirmar que cada objeto tenga un único formato.
La anotación puede integrar evidencia experimental, inferencias computacionales y decisiones de una versión.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Esta tabla aterriza S7 en el proyecto.
No ejecutar filtros ni conteos sistemáticos; eso corresponde a U4.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Distinguir identificador, accession y versión.
Buena práctica: conservar el identificador completo tal como aparece en la fuente. No presentar el nombre de gen como sustituto de un accession.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Conectar con reproducibilidad y provenance.
No afirmar que versionar por sí solo vuelve FAIR a un conjunto de datos; es una pieza de trazabilidad.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inferir más de lo que el fragmento contiene.
Un archivo FASTA puede contener una o muchas entradas y no implica automáticamente “genoma”.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Respuesta esperada: puede apoyar longitud de secuencia; no aporta de forma normalizada los genes y strand.
Evitar presentar FASTA como “peor”; su propósito es distinto.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Conectar con S5/S6: file name y extensión no son evidencia suficiente.
Distinguir inspección de contenido de validación de procedencia.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Subpregunta 2: type=gene. Subpregunta 3: type=gene + strand.
Las coordenadas GFF3 son 1-based e inclusivas; el punto significa sin valor aplicable/disponible, no cero.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exigir memorizar las nueve columnas sin sentido; relacionarlas con preguntas.
Directivas, comentarios y múltiples tipos de feature hacen incorrecto contar líneas como genes.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GFF3 no sustituye automáticamente al FASTA; deben corresponder a la misma secuencia/versión.
Conectar con interoperabilidad de forma concreta: identificadores y referencias compatibles. No afirmar que esto garantiza toda la I de FAIR.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Distinguir base de datos GenBank de formato GenBank.
El fragmento es abreviado; no sustituye el registro completo.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Evitar “mejor formato” en abstracto.
La página compara propósitos: FASTA para secuencia, GFF3 para anotaciones tabulares, GenBank para registro integrado.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resolver el conteo final hoy.
Distinguir valor de referencia de resultado derivado del dataset que se usará.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Esta pregunta prepara filtros de U4.
Un CDS no equivale a gen: hay genes de ARN y estructuras donde los intervalos no son idénticos.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Respuesta: ser un feature gene del conjunto/seqid relevante y tener strand + o − según la definición del análisis.
No enseñar todavía grep/awk como solución.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Dar tiempo real para corrección en pares.
Revisar que no aparezcan herramientas como justificación del formato.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Actividad de reproducibility review.
No inventar metadatos faltantes: “no documentado” o “pendiente de confirmar” es mejor que completar por inferencia.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Esta diapositiva sintetiza FAIR sin convertirlo en tema central.
Ser preciso: formatos estándar contribuyen a interoperabilidad, pero FAIR evalúa un conjunto más amplio de condiciones.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El registro exacto y la descarga verificable se trabajan en S8.
La selección provisional identifica necesidad y formato; no fuerza metadatos todavía no confirmados.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Usar como diagnóstico, no como lista para memorizar.
Pedir un ejemplo de cómo cada error podría afectar una conclusión.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Semáforo formativo, no calificación.
No descargar un conjunto definitivo hasta confirmar organismo, ensamblado, versión y formatos.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Cierre conceptual.
Pedir una respuesta que siga la cadena pregunta → evidencia → dato → formato.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Producto principal exactamente alineado con la página del curso.
No solicitar descarga como evidencia de S7.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Cerrar dejando clara la separación metodológica S7/S8.
S7: selección y comprensión. S8: adquisición, procedencia, licencia/fecha e integridad.
[Sources]
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73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— Unix · LCG · UNAM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49840" y="6510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3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Representar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28016" cy="5212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005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</a:rPr>
              <a:t>S7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15727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Representar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43000" y="233172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 los objetos biológicos 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FASTA, GFF3 y GenBank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8920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6EB"/>
                </a:solidFill>
              </a:rPr>
              <a:t>Introducción a la Bioinformática — Unix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CE6EB"/>
                </a:solidFill>
              </a:rPr>
              <a:t>LCG · UNAM ·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32520" y="1417320"/>
            <a:ext cx="2468880" cy="3383280"/>
          </a:xfrm>
          <a:prstGeom prst="roundRect">
            <a:avLst/>
          </a:prstGeom>
          <a:solidFill>
            <a:srgbClr val="0B405F"/>
          </a:solidFill>
          <a:ln w="12700">
            <a:solidFill>
              <a:srgbClr val="315C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BIOLÓGICO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3836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</a:rPr>
              <a:t>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0" y="2926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REPRESENTACIÓN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COMPUTACIONAL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154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6EB"/>
                </a:solidFill>
              </a:rPr>
              <a:t>FASTA · GFF3 · GenBank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¿Dónde quedamos al terminar S6?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Proyecto organizado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1947672"/>
            <a:ext cx="304495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~/proyecto-ecoli/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· data/source/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· data/processed/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· </a:t>
            </a:r>
            <a:r>
              <a:rPr lang="en-US" sz="1600" dirty="0" err="1">
                <a:solidFill>
                  <a:srgbClr val="17313F"/>
                </a:solidFill>
              </a:rPr>
              <a:t>src</a:t>
            </a:r>
            <a:r>
              <a:rPr lang="en-US" sz="1600" dirty="0">
                <a:solidFill>
                  <a:srgbClr val="17313F"/>
                </a:solidFill>
              </a:rPr>
              <a:t>/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· results/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· doc/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2057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81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Evidencia conservada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1947672"/>
            <a:ext cx="304495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README.md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doc/protocolo.md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doc/bitacora-ia.md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doc/checksums-u2.txt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417320"/>
            <a:ext cx="73152" cy="2057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81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Aprendizaje clave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47888" y="1947672"/>
            <a:ext cx="304495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</a:rPr>
              <a:t>“Me funcionó” ≠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</a:rPr>
              <a:t>“tengo evidencia de que funcionó”.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20240" y="39776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314F"/>
                </a:solidFill>
              </a:rPr>
              <a:t>Pero la pregunta biológica sigue abierta.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nos falta antes de intentar contar genes?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PREGUNTA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La pregunta del proyecto sigue sin responderse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0120" y="15087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0314F"/>
                </a:solidFill>
              </a:rPr>
              <a:t>¿Cuántos genes tiene el genoma de E. coli K-12 y cómo se distribuyen en el cromosoma?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346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9992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1 · Tamaño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3364992"/>
            <a:ext cx="27249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¿Cuál es el tamaño del genoma?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26280" y="2834640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8346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29992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2 · Genes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27448" y="3364992"/>
            <a:ext cx="27249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¿Cuántos genes están anotados?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2834640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8346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9992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3 · Hebra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3364992"/>
            <a:ext cx="27249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¿Cuántos están en + y cuántos en −?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¿Las tres subpreguntas requieren exactamente el mismo tipo de evidencia?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IDEA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Hoy no empezamos por el comando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600200" cy="731520"/>
          </a:xfrm>
          <a:prstGeom prst="round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2677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quiero saber?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22219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96896" y="20574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22677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¿Qué evidencia?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7096" y="22219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07992" y="20574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2677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¿Qué dato?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22219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19088" y="20574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677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¿Qué formato?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22219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30184" y="20574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22677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¿Qué operación?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0384" y="22219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0" y="20574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22677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¿Qué herramienta?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28800" y="33375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14F"/>
                </a:solidFill>
              </a:rPr>
              <a:t>El formato aparece después de definir la evidencia.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74520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7313F"/>
                </a:solidFill>
              </a:rPr>
              <a:t>Elegir primero una herramienta puede llevarnos a procesar correctamente el archivo </a:t>
            </a:r>
            <a:r>
              <a:rPr lang="en-US" sz="1700" i="1" dirty="0">
                <a:solidFill>
                  <a:srgbClr val="17313F"/>
                </a:solidFill>
              </a:rPr>
              <a:t>equivocado</a:t>
            </a:r>
            <a:r>
              <a:rPr lang="en-US" sz="1700" dirty="0">
                <a:solidFill>
                  <a:srgbClr val="17313F"/>
                </a:solidFill>
              </a:rPr>
              <a:t>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09560" y="4965192"/>
            <a:ext cx="3429000" cy="731520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B9CE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1011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BUENA PRÁCTICA · DECISIÓN ANTES DE EJECUCIÓN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314F"/>
                </a:solidFill>
              </a:rPr>
              <a:t>Primero justificar el dato; después elegir la operación.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¿En qué paso solemos saltar demasiado rápido a Unix?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PROPÓSITO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Objetivo de S7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14F"/>
                </a:solidFill>
              </a:rPr>
              <a:t>Al final podrás justificar qué representación contiene la evidencia que necesitas.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05840" y="2423160"/>
            <a:ext cx="4663440" cy="182880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2316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58775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Distinguir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953512"/>
            <a:ext cx="4279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13F"/>
                </a:solidFill>
              </a:rPr>
              <a:t>OBJETO BIOLÓGICO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7313F"/>
                </a:solidFill>
              </a:rPr>
              <a:t>≠ REGISTRO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7313F"/>
                </a:solidFill>
              </a:rPr>
              <a:t>≠ ARCHIVO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7313F"/>
                </a:solidFill>
              </a:rPr>
              <a:t>≠ FORMATO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92240" y="2423160"/>
            <a:ext cx="4663440" cy="182880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42316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258775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Decidir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93408" y="2953512"/>
            <a:ext cx="4279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</a:rPr>
              <a:t>¿Qué representa FASTA?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</a:rPr>
              <a:t>¿Qué representa GFF3?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</a:rPr>
              <a:t>¿Qué integra GenBank?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</a:rPr>
              <a:t>Producto: matriz objeto–evidencia–formato corregida + selección provisional del conjunto de datos.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diferencia hay entre “tener un archivo” y “tener la evidencia”?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RECUPERACIÓN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Aula invertida: partimos de tu primer intento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73152" cy="1965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361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Llegas con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1901952"/>
            <a:ext cx="29992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Lectura indispensable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Test de repaso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Matriz inicial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Una duda auténtica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07408" y="137160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71600"/>
            <a:ext cx="73152" cy="1965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5361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En clase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8576" y="1901952"/>
            <a:ext cx="29992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Comparar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Detectar saltos de razonamiento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Observar registros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Corregir decisiones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91856" y="137160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91856" y="1371600"/>
            <a:ext cx="73152" cy="1965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5361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Sales con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93024" y="1901952"/>
            <a:ext cx="29992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Matriz corregida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Selección provisional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Pendientes explícitos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Protocolo por actualizar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3977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14F"/>
                </a:solidFill>
              </a:rPr>
              <a:t>Conserva el primer intento: la corrección visible también es evidencia de aprendizaje.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909560" y="4782312"/>
            <a:ext cx="3429000" cy="914400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B9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49970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BUENA PRÁCTICA · NO BORRAR EL RAZONAMIENTO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314F"/>
                </a:solidFill>
              </a:rPr>
              <a:t>Comparar versión inicial y corregida hace visibles las decisiones.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parte de tu matriz inicial te genera más duda?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PREDICCIÓN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Predicción: ¿secuencia, anotación o ambas?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3619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1901952"/>
            <a:ext cx="4690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17313F"/>
                </a:solidFill>
              </a:rPr>
              <a:t>Conocer</a:t>
            </a:r>
            <a:r>
              <a:rPr lang="en-US" dirty="0">
                <a:solidFill>
                  <a:srgbClr val="17313F"/>
                </a:solidFill>
              </a:rPr>
              <a:t> </a:t>
            </a:r>
            <a:r>
              <a:rPr lang="en-US" sz="1800" dirty="0" err="1">
                <a:solidFill>
                  <a:srgbClr val="17313F"/>
                </a:solidFill>
              </a:rPr>
              <a:t>el</a:t>
            </a:r>
            <a:r>
              <a:rPr lang="en-US" sz="1800" dirty="0">
                <a:solidFill>
                  <a:srgbClr val="17313F"/>
                </a:solidFill>
              </a:rPr>
              <a:t> </a:t>
            </a:r>
            <a:r>
              <a:rPr lang="en-US" sz="1700" dirty="0" err="1">
                <a:solidFill>
                  <a:srgbClr val="17313F"/>
                </a:solidFill>
              </a:rPr>
              <a:t>orden</a:t>
            </a:r>
            <a:r>
              <a:rPr lang="en-US" sz="1700" dirty="0">
                <a:solidFill>
                  <a:srgbClr val="17313F"/>
                </a:solidFill>
              </a:rPr>
              <a:t> de nucleótidos de un cromosoma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37160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53619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6248" y="1901952"/>
            <a:ext cx="4690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 err="1">
                <a:solidFill>
                  <a:srgbClr val="17313F"/>
                </a:solidFill>
              </a:rPr>
              <a:t>Localizar</a:t>
            </a:r>
            <a:r>
              <a:rPr lang="en-US" sz="1700" dirty="0">
                <a:solidFill>
                  <a:srgbClr val="17313F"/>
                </a:solidFill>
              </a:rPr>
              <a:t> </a:t>
            </a:r>
            <a:r>
              <a:rPr lang="en-US" sz="1700" dirty="0" err="1">
                <a:solidFill>
                  <a:srgbClr val="17313F"/>
                </a:solidFill>
              </a:rPr>
              <a:t>el</a:t>
            </a:r>
            <a:r>
              <a:rPr lang="en-US" sz="1700" dirty="0">
                <a:solidFill>
                  <a:srgbClr val="17313F"/>
                </a:solidFill>
              </a:rPr>
              <a:t> </a:t>
            </a:r>
            <a:r>
              <a:rPr lang="en-US" sz="1700" dirty="0" err="1">
                <a:solidFill>
                  <a:srgbClr val="17313F"/>
                </a:solidFill>
              </a:rPr>
              <a:t>inicio</a:t>
            </a:r>
            <a:r>
              <a:rPr lang="en-US" sz="1700" dirty="0">
                <a:solidFill>
                  <a:srgbClr val="17313F"/>
                </a:solidFill>
              </a:rPr>
              <a:t> y fin de los genes anotados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7180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13639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4128" y="3502152"/>
            <a:ext cx="4690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 err="1">
                <a:solidFill>
                  <a:srgbClr val="17313F"/>
                </a:solidFill>
              </a:rPr>
              <a:t>Consultar</a:t>
            </a:r>
            <a:r>
              <a:rPr lang="en-US" sz="1700" dirty="0">
                <a:solidFill>
                  <a:srgbClr val="17313F"/>
                </a:solidFill>
              </a:rPr>
              <a:t> </a:t>
            </a:r>
            <a:r>
              <a:rPr lang="en-US" sz="1700" dirty="0" err="1">
                <a:solidFill>
                  <a:srgbClr val="17313F"/>
                </a:solidFill>
              </a:rPr>
              <a:t>secuencia</a:t>
            </a:r>
            <a:r>
              <a:rPr lang="en-US" sz="1700" dirty="0">
                <a:solidFill>
                  <a:srgbClr val="17313F"/>
                </a:solidFill>
              </a:rPr>
              <a:t> + fuente + features en un registro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297180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97180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3136392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6248" y="3502152"/>
            <a:ext cx="4690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Comparar la secuencia de dos proteínas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88720" y="47548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Escribe primero tu predicción y una justificación de una oración.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palabra de cada necesidad te indica el tipo de evidencia?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OBSERVACIÓN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Objeto biológico ≠ representación digital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819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Objeto biológico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213055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Genoma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Gen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Transcrito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Proteína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Existe o se define en el sistema biológico.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01568" y="141732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5819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Registro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02736" y="1947672"/>
            <a:ext cx="213055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Conjunto de campos sobre una entidad dentro de una base de datos.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17336" y="141732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7336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5819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Archivo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18504" y="1947672"/>
            <a:ext cx="213055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Objeto digital que almacenamos, transferimos y procesamos.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833104" y="141732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15819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Formato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34272" y="1947672"/>
            <a:ext cx="213055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Convención que define cómo se representa la información.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14F"/>
                </a:solidFill>
              </a:rPr>
              <a:t>El significado biológico depende de interpretar correctamente la representación y su contexto.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¿NC_000913.3 es el cromosoma, un registro, un identificador o un archivo?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OBSERVACIÓN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Una misma biología puede requerir representaciones distintas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Genoma / ADN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4612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Gen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1500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Transcrito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8388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Proteína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2103120" cy="11430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C G 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2148840"/>
            <a:ext cx="2103120" cy="1143000"/>
          </a:xfrm>
          <a:prstGeom prst="roundRect">
            <a:avLst/>
          </a:prstGeom>
          <a:solidFill>
            <a:srgbClr val="FFF7D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· end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strand · ID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23560" y="2148840"/>
            <a:ext cx="2103120" cy="11430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C G 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(o A C G T)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148840"/>
            <a:ext cx="2103120" cy="11430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 A L W…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E78"/>
                </a:solidFill>
              </a:rPr>
              <a:t>secuencia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E78"/>
                </a:solidFill>
              </a:rPr>
              <a:t>anotación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E78"/>
                </a:solidFill>
              </a:rPr>
              <a:t>secuencia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E78"/>
                </a:solidFill>
              </a:rPr>
              <a:t>secuencia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14F"/>
                </a:solidFill>
              </a:rPr>
              <a:t>Una anotación es una afirmación estructurada sobre una secuencia; no es la molécula ni necesariamente una observación directa.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Para contar genes, ¿necesitamos “ver” nucleótidos o declaraciones de tipo gene?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Del proyecto a la evidencia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10241280" cy="530352"/>
          </a:xfrm>
          <a:prstGeom prst="rect">
            <a:avLst/>
          </a:prstGeom>
          <a:solidFill>
            <a:srgbClr val="00314F"/>
          </a:solidFill>
          <a:ln w="12700">
            <a:solidFill>
              <a:srgbClr val="CFD8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Subpregunta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581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Evidencia que realmente necesitamos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1947672"/>
            <a:ext cx="10241280" cy="777240"/>
          </a:xfrm>
          <a:prstGeom prst="rect">
            <a:avLst/>
          </a:prstGeom>
          <a:solidFill>
            <a:srgbClr val="F3F5F6"/>
          </a:solidFill>
          <a:ln w="12700">
            <a:solidFill>
              <a:srgbClr val="CFD8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Tamaño del genoma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60520" y="21122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Longitud de la secuencia / registro del cromosoma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724912"/>
            <a:ext cx="10241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Número de genes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60520" y="28895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Features declarados explícitamente como gene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3502152"/>
            <a:ext cx="10241280" cy="777240"/>
          </a:xfrm>
          <a:prstGeom prst="rect">
            <a:avLst/>
          </a:prstGeom>
          <a:solidFill>
            <a:srgbClr val="F3F5F6"/>
          </a:solidFill>
          <a:ln w="12700">
            <a:solidFill>
              <a:srgbClr val="CFD8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666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Genes por hebra + / 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60520" y="366674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Features gene + campo strand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4754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Todavía no estamos contando. Estamos definiendo qué tendría que existir en los datos para poder contar después.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error cometeríamos si contáramos líneas sin mirar el type?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VERIFICACIÓN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Identificar el dato también es parte de la evidencia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572000" cy="3108960"/>
          </a:xfrm>
          <a:prstGeom prst="roundRect">
            <a:avLst/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45920"/>
            <a:ext cx="402336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GCF_000005845.2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araC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gene-araC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897880" y="141732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9048" y="158191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No significan lo mismo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9048" y="1947672"/>
            <a:ext cx="482803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NC_000913.3 → secuencia versionada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GCF_000005845.2 → ensamblado versionado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araC → nombre biológico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gene-araC → ID de feature dentro de un contexto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9F4EC"/>
          </a:solidFill>
          <a:ln w="12700">
            <a:solidFill>
              <a:srgbClr val="B8D7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5B37"/>
                </a:solidFill>
              </a:rPr>
              <a:t>FAIR EN PRÁCTICA · F1 / TRAZABILIDAD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5B37"/>
                </a:solidFill>
              </a:rPr>
              <a:t>Conservar identificadores persistentes y la versión concreta.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¿Cuál conservarías en la ficha de procedencia? ¿Uno o varios?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VERIFICACIÓN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La versión no es un detalle decorativo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E6E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94960" y="16276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27"/>
                </a:solidFill>
              </a:rPr>
              <a:t>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97280" y="2788920"/>
            <a:ext cx="996696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788920"/>
            <a:ext cx="73152" cy="1417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953512"/>
            <a:ext cx="958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¿Por qué importa?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98448" y="3319272"/>
            <a:ext cx="95829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</a:rPr>
              <a:t>El contenido asociado a un accession puede cambiar entre versiones. Coordenadas, secuencia o anotaciones deben interpretarse respecto de la versión utilizada.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9F4EC"/>
          </a:solidFill>
          <a:ln w="12700">
            <a:solidFill>
              <a:srgbClr val="B8D7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5B37"/>
                </a:solidFill>
              </a:rPr>
              <a:t>FAIR EN PRÁCTICA · R1.2 · PROCEDENCIA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5B37"/>
                </a:solidFill>
              </a:rPr>
              <a:t>Registrar versión permite reconstruir qué dato concreto se utilizó.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¿Podrías reproducir coordenadas de genes si no sabes qué versión se usó?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OBSERVACIÓN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FASTA representa secuencias de forma sencilla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744200" cy="1554480"/>
          </a:xfrm>
          <a:prstGeom prst="roundRect">
            <a:avLst/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10195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&gt;NC_000913.3 Escherichia coli K-12 MG1655, complete genome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AGCTTTTCATTCTGACTGCAACGGGCAATATGTCTCTGTGTGGATTAAAAAAAG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37560"/>
            <a:ext cx="73152" cy="1417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350215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Encabezado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3867912"/>
            <a:ext cx="29077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Comienza con &gt;. Incluye identificador y, a menudo, una descripción.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333756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337560"/>
            <a:ext cx="73152" cy="1417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50215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Secuencia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3867912"/>
            <a:ext cx="29077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Las líneas siguientes contienen nucleótidos o aminoácidos.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333756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337560"/>
            <a:ext cx="73152" cy="1417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350215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Límite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47888" y="3867912"/>
            <a:ext cx="290779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La descripción libre no equivale a metadatos estructurados.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puedes afirmar usando únicamente este fragmento?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FASTA: potente para secuencia, limitado para anotación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892040" cy="3246120"/>
          </a:xfrm>
          <a:prstGeom prst="roundRect">
            <a:avLst>
              <a:gd name="adj" fmla="val 169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8191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Sí representa bien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947672"/>
            <a:ext cx="4507992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orden de nucleótidos o aminoácidos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una o varias secuencias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identificador + descripción por entrada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entrada sencilla para muchas herramientas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4892040" cy="3246120"/>
          </a:xfrm>
          <a:prstGeom prst="roundRect">
            <a:avLst>
              <a:gd name="adj" fmla="val 169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417320"/>
            <a:ext cx="73152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58191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No normaliza por sí solo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6248" y="1947672"/>
            <a:ext cx="4507992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coordenadas y jerarquías completas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procedencia completa / licencia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evidencia de cada anotación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• relaciones complejas entre features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14F"/>
                </a:solidFill>
              </a:rPr>
              <a:t>Para “¿cuántos genes están anotados?” la secuencia sola no es evidencia suficiente.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¿FASTA serviría para el tamaño del genoma? ¿Y para genes por hebra?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VERIFICACIÓN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Buena práctica: no adivinar el contenido por la extensión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archivo.fasta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NO implica automáticamente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0" y="1600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314F"/>
                </a:solidFill>
              </a:rPr>
              <a:t>“genoma de E. coli”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8503920" cy="1280160"/>
          </a:xfrm>
          <a:prstGeom prst="roundRect">
            <a:avLst>
              <a:gd name="adj" fmla="val 4286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246120"/>
            <a:ext cx="73152" cy="12801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3410712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Verifica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29968" y="3776472"/>
            <a:ext cx="811987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encabezado → identificador → registro de origen → organismo/cepa → versión → tipo de secuencia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B9C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BUENA PRÁCTICA · CONTENIDO &gt; NOMBRE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314F"/>
                </a:solidFill>
              </a:rPr>
              <a:t>La extensión ayuda a reconocer sintaxis; no demuestra procedencia ni significado.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revisarías antes de usar un FASTA recibido por correo?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OBSERVACIÓN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GFF3 representa features localizados sobre una secuencia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881360" cy="1417320"/>
          </a:xfrm>
          <a:prstGeom prst="roundRect">
            <a:avLst/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54480"/>
            <a:ext cx="10332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##gff-version 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  RefSeq  gene  65855  66550  .  +  .  ID=gene-araC;Name=araC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57479" y="301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seqid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09039" y="301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60599" y="301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12159" y="3014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start / 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04589" y="301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43631" y="301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strand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82674" y="301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phase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05754" y="301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attributes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3794760"/>
            <a:ext cx="99669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947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959352"/>
            <a:ext cx="958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La idea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98448" y="4325112"/>
            <a:ext cx="95829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Un gen puede representarse como un feature: tipo + coordenadas + hebra + atributos, siempre respecto de una secuencia de referencia.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campos usaríamos para nuestras subpreguntas 2 y 3?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INTERPRETACIÓN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GFF3: las nueve columnas responden preguntas distintas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1 seqid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¿sobre qué secuencia?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32588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2 source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75888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¿quién/proceso anotó?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32588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3 type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¿qué feature?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32588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32588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4–5 start/end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53728" y="185623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¿dónde?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283464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83464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6 score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¿puntuación?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0" y="283464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3464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7 strand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675888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¿+ o −?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83464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83464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8 phase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64808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¿fase del CDS?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52560" y="2834640"/>
            <a:ext cx="2487168" cy="1234440"/>
          </a:xfrm>
          <a:prstGeom prst="roundRect">
            <a:avLst>
              <a:gd name="adj" fmla="val 44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283464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3728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9 attributes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253728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¿ID, Name, Parent…?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5720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Para el proyecto: type + strand son centrales; seqid conecta la anotación con la secuencia correcta.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¿Por qué no basta con contar todas las líneas del GFF3?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VERIFICACIÓN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Las coordenadas solo tienen sentido con la referencia correcta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480560" cy="25146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CD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14F"/>
                </a:solidFill>
              </a:rPr>
              <a:t>GFF3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seqid: </a:t>
            </a:r>
            <a:r>
              <a:rPr lang="en-US" sz="1800" b="1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gene: 65855..66550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strand: 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321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</a:rPr>
              <a:t>↔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480560" cy="25146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CD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14F"/>
                </a:solidFill>
              </a:rPr>
              <a:t>FASTA / secuencia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</a:t>
            </a:r>
            <a:r>
              <a:rPr lang="en-US" sz="1800" b="1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>
                <a:solidFill>
                  <a:srgbClr val="173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AGCTTTTCATTCT…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9F4EC"/>
          </a:solidFill>
          <a:ln w="12700">
            <a:solidFill>
              <a:srgbClr val="B8D7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5B37"/>
                </a:solidFill>
              </a:rPr>
              <a:t>FAIR EN PRÁCTICA · I · INTEROPERABILIDAD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5B37"/>
                </a:solidFill>
              </a:rPr>
              <a:t>Las representaciones deben compartir referencias e identificadores compatibles.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pasaría si el GFF3 y el FASTA fueran de versiones distintas?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OBSERVACIÓN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GenBank integra secuencia, anotaciones y contexto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6492240" cy="3977640"/>
          </a:xfrm>
          <a:prstGeom prst="roundRect">
            <a:avLst/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63040"/>
            <a:ext cx="59436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LOCUS       NC_000913       4641652 bp    DNA     circular BCT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DEFINITION  Escherichia coli str. K-12 substr. MG1655, complete genome.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ACCESSION   NC_000913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VERSION     NC_000913.3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     Escherichia coli str. K-12 substr. MG1655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FEATURES    Location/Qualifiers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gene    65855..66550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/gene="araC"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ORIGIN      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234440"/>
            <a:ext cx="3794760" cy="3977640"/>
          </a:xfrm>
          <a:prstGeom prst="roundRect">
            <a:avLst>
              <a:gd name="adj" fmla="val 1446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234440"/>
            <a:ext cx="73152" cy="3977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9248" y="139903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Integra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99248" y="1764792"/>
            <a:ext cx="3410712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descripción y fuente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accession + versión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referencias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features y calificadores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secuencia en ORIGIN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Más contexto no significa que ya no debamos documentar la consulta.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aporta GenBank que no aparece estructurado en un FASTA simple?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FASTA, GFF3 y GenBank no compiten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35640" cy="475488"/>
          </a:xfrm>
          <a:prstGeom prst="rect">
            <a:avLst/>
          </a:prstGeom>
          <a:solidFill>
            <a:srgbClr val="00314F"/>
          </a:solidFill>
          <a:ln w="12700">
            <a:solidFill>
              <a:srgbClr val="D2DA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Necesidad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2940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GFF3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3252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GenBank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773936"/>
            <a:ext cx="1083564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2DA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14F"/>
                </a:solidFill>
              </a:rPr>
              <a:t>Secuencia para herramientas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✓ fuerte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252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✓ contiene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2395728"/>
            <a:ext cx="10835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14F"/>
                </a:solidFill>
              </a:rPr>
              <a:t>Coordenadas / relaciones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limitado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542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✓ fuerte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✓ FEATURES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1083564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2DA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14F"/>
                </a:solidFill>
              </a:rPr>
              <a:t>Procesamiento tabular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✓ fuerte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3252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requiere parseo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3639312"/>
            <a:ext cx="10835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14F"/>
                </a:solidFill>
              </a:rPr>
              <a:t>Fuente / referencias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17720" y="3785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limitado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3785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parcial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3252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✓ fuerte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4261104"/>
            <a:ext cx="1083564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2DA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14F"/>
                </a:solidFill>
              </a:rPr>
              <a:t>Procedencia completa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1772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no solo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940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no solo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32520" y="4407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13F"/>
                </a:solidFill>
              </a:rPr>
              <a:t>más contexto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828800" y="51663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La pregunta decide qué representación es apropiada.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¿Cuál elegirías para cada subpregunta del proyecto y por qué?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Caso 1 · ¿Cuál es el tamaño del genoma?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600200" cy="731520"/>
          </a:xfrm>
          <a:prstGeom prst="round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Pregunta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96896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Longitud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7096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07992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Secuencia / registro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19088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FASTA o GenBank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30184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Medir / consultar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0384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0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Después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2880360"/>
            <a:ext cx="475488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2880360"/>
            <a:ext cx="73152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304495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Evidencia suficiente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07008" y="3410712"/>
            <a:ext cx="437083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Necesitamos la longitud de la secuencia cromosómica del ensamblado/registro seleccionado.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0" y="2880360"/>
            <a:ext cx="475488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880360"/>
            <a:ext cx="73152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04495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Cuidado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01968" y="3410712"/>
            <a:ext cx="437083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“4.64 Mb” de una fuente externa puede orientar, pero no sustituye la evidencia del conjunto/version que analizaremos.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9F4EC"/>
          </a:solidFill>
          <a:ln w="12700">
            <a:solidFill>
              <a:srgbClr val="B8D7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5B37"/>
                </a:solidFill>
              </a:rPr>
              <a:t>FAIR EN PRÁCTICA · R1.2 · CONTEXTO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5B37"/>
                </a:solidFill>
              </a:rPr>
              <a:t>La cifra debe quedar ligada al registro y versión usados.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dato guardarías para poder explicar de dónde salió la longitud?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Caso 2 · ¿Cuántos genes están anotados?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600200" cy="731520"/>
          </a:xfrm>
          <a:prstGeom prst="round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Pregunta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96896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Features gene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7096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07992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Anotación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19088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GFF3 /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30184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Filtrar + contar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0384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0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U4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" y="288036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2880360"/>
            <a:ext cx="73152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30449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No basta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61288" y="3410712"/>
            <a:ext cx="44622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Contar nucleótidos no dice cuántos genes están anotados. La evidencia son declaraciones explícitas de features de tipo gene.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5080" y="288036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880360"/>
            <a:ext cx="73152" cy="1600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30449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Definición importa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56248" y="3410712"/>
            <a:ext cx="44622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“Genes anotados” depende de la versión y del criterio de anotación. Debemos documentar qué contamos.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definición usaríamos: gene, CDS, ambos? ¿Por qué no son equivalentes?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Caso 3 · ¿Cuántos genes están en + y cuántos en −?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600200" cy="731520"/>
          </a:xfrm>
          <a:prstGeom prst="round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Pregunta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96896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gene + strand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7096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07992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GFF3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19088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type + col. 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30184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Filtrar / agrupar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0384" y="16276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0" y="146304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16733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U4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2788920"/>
            <a:ext cx="10149840" cy="1234440"/>
          </a:xfrm>
          <a:prstGeom prst="roundRect">
            <a:avLst/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017520"/>
            <a:ext cx="9601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  RefSeq  gene  65855  66550  .  +  .  ID=gene-araC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  RefSeq  gene  70000  70600  .  -  .  ID=gene-demo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3891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Primero decidimos qué columnas contienen la evidencia. Después aprenderemos a contarlas sistemáticamente.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condición tendría que cumplir una línea para entrar al conteo?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Corrige ahora tu matriz objeto–evidencia–formato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737360" cy="502920"/>
          </a:xfrm>
          <a:prstGeom prst="rect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Pregunta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325880"/>
            <a:ext cx="1828800" cy="502920"/>
          </a:xfrm>
          <a:prstGeom prst="rect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1463040" cy="502920"/>
          </a:xfrm>
          <a:prstGeom prst="rect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481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325880"/>
            <a:ext cx="1828800" cy="502920"/>
          </a:xfrm>
          <a:prstGeom prst="rect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1325880"/>
            <a:ext cx="1508760" cy="502920"/>
          </a:xfrm>
          <a:prstGeom prst="rect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481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1325880"/>
            <a:ext cx="2331720" cy="502920"/>
          </a:xfrm>
          <a:prstGeom prst="rect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481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Falta confirmar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1828800"/>
            <a:ext cx="1737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18288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82880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18288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1828800"/>
            <a:ext cx="1508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18288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43200"/>
            <a:ext cx="1737360" cy="914400"/>
          </a:xfrm>
          <a:prstGeom prst="rect">
            <a:avLst/>
          </a:prstGeom>
          <a:solidFill>
            <a:srgbClr val="F3F5F6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2743200"/>
            <a:ext cx="1828800" cy="914400"/>
          </a:xfrm>
          <a:prstGeom prst="rect">
            <a:avLst/>
          </a:prstGeom>
          <a:solidFill>
            <a:srgbClr val="F3F5F6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743200"/>
            <a:ext cx="1463040" cy="914400"/>
          </a:xfrm>
          <a:prstGeom prst="rect">
            <a:avLst/>
          </a:prstGeom>
          <a:solidFill>
            <a:srgbClr val="F3F5F6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2743200"/>
            <a:ext cx="1828800" cy="914400"/>
          </a:xfrm>
          <a:prstGeom prst="rect">
            <a:avLst/>
          </a:prstGeom>
          <a:solidFill>
            <a:srgbClr val="F3F5F6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2743200"/>
            <a:ext cx="1508760" cy="914400"/>
          </a:xfrm>
          <a:prstGeom prst="rect">
            <a:avLst/>
          </a:prstGeom>
          <a:solidFill>
            <a:srgbClr val="F3F5F6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743200"/>
            <a:ext cx="2331720" cy="914400"/>
          </a:xfrm>
          <a:prstGeom prst="rect">
            <a:avLst/>
          </a:prstGeom>
          <a:solidFill>
            <a:srgbClr val="F3F5F6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57600"/>
            <a:ext cx="1737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36576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365760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365760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6680" y="3657600"/>
            <a:ext cx="1508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0" y="365760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54880"/>
            <a:ext cx="6903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1. Marca el salto de razonamiento de tu primer intento.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2. Corrige sin borrar la versión inicial.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3. Justifica el formato por la evidencia que contiene.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4. Escribe “pendiente de confirmar” cuando corresponda.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B9CE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BUENA PRÁCTICA · TRAZABILIDAD DE DECISIONES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314F"/>
                </a:solidFill>
              </a:rPr>
              <a:t>Conservar qué cambió y por qué permite auditar el razonamiento.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cambió en tu formato provisional después de observar los registros?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D89DE78-6C4A-EC02-E06F-C7920592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9" y="1094896"/>
            <a:ext cx="11973985" cy="326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77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VERIFICACIÓN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¿La información es suficiente para reproducir?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337560" cy="3337560"/>
          </a:xfrm>
          <a:prstGeom prst="roundRect">
            <a:avLst>
              <a:gd name="adj" fmla="val 16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904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Caso 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1856232"/>
            <a:ext cx="2953512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“Usamos el genoma de E. coli.”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¿Organismo? sí, parcialmente.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¿Cepa? no.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¿Ensamblado? no.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¿Versión? no.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¿Fuente? no.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37560" cy="3337560"/>
          </a:xfrm>
          <a:prstGeom prst="roundRect">
            <a:avLst>
              <a:gd name="adj" fmla="val 16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904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Caso 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6008" y="1856232"/>
            <a:ext cx="2953512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“NC_000913.3”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Identifica una secuencia versionada, pero todavía necesitamos documentar fuente, fecha de consulta y qué archivos/representaciones se usaron.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337560" cy="3337560"/>
          </a:xfrm>
          <a:prstGeom prst="roundRect">
            <a:avLst>
              <a:gd name="adj" fmla="val 1644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32588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49047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Caso 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47888" y="1856232"/>
            <a:ext cx="2953512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Selección documentada con organismo/cepa, ensamblado o registro, versión, formatos, fuente y pendientes explícitos.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9F4EC"/>
          </a:solidFill>
          <a:ln w="12700">
            <a:solidFill>
              <a:srgbClr val="B8D7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5B37"/>
                </a:solidFill>
              </a:rPr>
              <a:t>FAIR EN PRÁCTICA · F2 + R1 / METADATOS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5B37"/>
                </a:solidFill>
              </a:rPr>
              <a:t>Los datos necesitan contexto suficiente para encontrarlos e interpretarlos.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¿Cuál de los tres casos permitiría a otra persona reconstruir mejor nuestra selección?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INTERPRETACIÓN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FAIR aparece en decisiones concretas, no como una etiqueta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8016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4447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F · Findable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8408" y="1810512"/>
            <a:ext cx="21305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Identificadores claros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Metadatos suficientes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Versión registrada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Ejemplo S7: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NC_000913.3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128016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28016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4447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A · Accessible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21608" y="1810512"/>
            <a:ext cx="21305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En S7 aún no descargamos.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S8 documentará fuente, acceso y recuperación verificable.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28016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4447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I · Interoperable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1810512"/>
            <a:ext cx="21305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Formatos y referencias compatibles.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Ejemplo S7: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GFF3 ↔ secuencia del mismo ensamblado.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06840" y="1280160"/>
            <a:ext cx="2514600" cy="3474720"/>
          </a:xfrm>
          <a:prstGeom prst="roundRect">
            <a:avLst>
              <a:gd name="adj" fmla="val 2182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28016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14447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R · Reusable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08008" y="1810512"/>
            <a:ext cx="21305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Procedencia, versión, contexto y decisiones visibles.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Ejemplo S7: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protocolo.md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Usar FASTA o GFF3 no vuelve automáticamente FAIR a un conjunto de datos.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decisión de hoy mejora la reutilización futura de nuestros datos?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DOCUMENTACIÓN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Selección provisional del conjunto de datos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60120" y="1325880"/>
            <a:ext cx="6583680" cy="3977640"/>
          </a:xfrm>
          <a:prstGeom prst="roundRect">
            <a:avLst/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554480"/>
            <a:ext cx="603504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Selección provisional de datos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Pregunta: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Evidencia necesaria: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Formatos candidatos: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Qué aporta cada formato: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Información pendiente de confirmar: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0" y="132588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132588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10728" y="14904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Hoy sí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10728" y="1856232"/>
            <a:ext cx="299923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Definir qué necesitamos.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Justificar formato(s).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Dejar pendientes visibles.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09560" y="342900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342900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35935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Hoy no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10728" y="3959352"/>
            <a:ext cx="299923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No descargar el nuevo genoma.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No inventar accession/versión.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No hacer el conteo final.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información todavía debe permanecer como “pendiente de confirmar”?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Errores que queremos detectar antes de S8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9903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“Cualquier FASTA es un genoma”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1764792"/>
            <a:ext cx="4782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Revisar contenido, registro y fuente.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3444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39903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“GFF3 contiene la secuencia”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1764792"/>
            <a:ext cx="4782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Relacionarlo con el FASTA correspondiente.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517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81635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“Todas las líneas son genes”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2688" y="3182112"/>
            <a:ext cx="4782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Definir primero type=gene.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6517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81635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“araC es un ID único”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10528" y="3182112"/>
            <a:ext cx="4782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Distinguir nombre, ID interno y accession.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6908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23367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“El punto . vale cero”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4599432"/>
            <a:ext cx="4782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Consultar la definición del campo.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06908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23367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“Si falta un dato, lo infiero”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10528" y="4599432"/>
            <a:ext cx="47823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Registrar pendiente / no documentado.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¿Cuál de estos errores podría cambiar el resultado de nuestro proyecto?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AUTOEVALUACIÓN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Semáforo de salida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3154680" cy="3474720"/>
          </a:xfrm>
          <a:prstGeom prst="roundRect">
            <a:avLst>
              <a:gd name="adj" fmla="val 173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49047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VERDE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856232"/>
            <a:ext cx="277063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Puedo distinguir objeto, secuencia, anotación y registro.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Justifico FASTA/GFF3/GenBank por la evidencia.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Conservo accession y versión.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3154680" cy="3474720"/>
          </a:xfrm>
          <a:prstGeom prst="roundRect">
            <a:avLst>
              <a:gd name="adj" fmla="val 173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32588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49047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AMARILLO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27448" y="1856232"/>
            <a:ext cx="277063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Reconozco objetos y formatos, pero todavía confundo algún identificador, versión o tipo de evidencia.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154680" cy="3474720"/>
          </a:xfrm>
          <a:prstGeom prst="roundRect">
            <a:avLst>
              <a:gd name="adj" fmla="val 173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25880"/>
            <a:ext cx="73152" cy="3474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9047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ROJO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9328" y="1856232"/>
            <a:ext cx="277063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Sigo eligiendo archivos por extensión o herramientas conocidas sin justificar su relación con la pregunta.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Si estás en amarillo o rojo: conserva la evidencia y lleva una pregunta concreta a S8.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pregunta concreta necesitas resolver antes de descargar?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Lo que debes recordar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51560" y="1234440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441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27101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</a:rPr>
              <a:t>La pregunta define la evidencia.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039112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20756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</a:rPr>
              <a:t>Objeto biológico ≠ registro ≠ archivo ≠ formato.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2843784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53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880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314F"/>
                </a:solidFill>
              </a:rPr>
              <a:t>FASTA representa secuencia; GFF3, features; GenBank integra contexto.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3648456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581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6850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314F"/>
                </a:solidFill>
              </a:rPr>
              <a:t>Coordenadas y anotaciones dependen de una referencia y versión.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1560" y="4453128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628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448970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314F"/>
                </a:solidFill>
              </a:rPr>
              <a:t>Documentar decisiones y pendientes es parte del análisis.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Si mañana recibes tres archivos, ¿qué preguntarías antes de analizarlos?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DOCUMENTACIÓN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Producto de S7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4800600" cy="2103120"/>
          </a:xfrm>
          <a:prstGeom prst="roundRect">
            <a:avLst>
              <a:gd name="adj" fmla="val 260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" cy="2103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3619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1 · Matriz corregida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901952"/>
            <a:ext cx="44165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Objeto–evidencia–formato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Debe mostrar la corrección respecto del primer intento y una justificación basada en evidencia.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1371600"/>
            <a:ext cx="4800600" cy="2103120"/>
          </a:xfrm>
          <a:prstGeom prst="roundRect">
            <a:avLst>
              <a:gd name="adj" fmla="val 2609"/>
            </a:avLst>
          </a:prstGeom>
          <a:solidFill>
            <a:srgbClr val="F3F5F6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371600"/>
            <a:ext cx="73152" cy="2103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153619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14F"/>
                </a:solidFill>
              </a:rPr>
              <a:t>2 · Selección provisional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47688" y="1901952"/>
            <a:ext cx="44165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Qué datos necesitamos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Qué formatos candidatos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Qué aporta cada uno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313F"/>
                </a:solidFill>
              </a:rPr>
              <a:t>Qué falta confirmar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40690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Después de la sesión → actualizar doc/protocolo.md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AF2F7"/>
          </a:solidFill>
          <a:ln w="12700">
            <a:solidFill>
              <a:srgbClr val="B9CE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BUENA PRÁCTICA · DOCUMENTAR ANTES DE DESCARGAR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314F"/>
                </a:solidFill>
              </a:rPr>
              <a:t>La decisión queda registrada antes de ejecutar la adquisición.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¿Tu protocolo permitiría entender por qué elegiste esos datos?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3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C9A227"/>
                </a:solidFill>
              </a:rPr>
              <a:t>SIGUIENTE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6751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</a:rPr>
              <a:t>Puente a S8: ahora sí podremos buscar y descargar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600200" cy="731520"/>
          </a:xfrm>
          <a:prstGeom prst="round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S7: qué necesito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7647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96896" y="16002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registro correcto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7096" y="17647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07992" y="16002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accession + versión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08192" y="17647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19088" y="16002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descarga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19288" y="17647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30184" y="16002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integridad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0384" y="17647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0" y="1600200"/>
            <a:ext cx="1600200" cy="73152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C8D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14432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14F"/>
                </a:solidFill>
              </a:rPr>
              <a:t>procedencia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063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14F"/>
                </a:solidFill>
              </a:rPr>
              <a:t>S8 — Bases de datos, descarga y verificación de integridad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463040" y="388620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7313F"/>
                </a:solidFill>
              </a:rPr>
              <a:t>En S8 compararemos recursos de NCBI, recuperaremos los archivos del ensamblado seleccionado y documentaremos su procedencia e integridad.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09560" y="5074920"/>
            <a:ext cx="3429000" cy="621792"/>
          </a:xfrm>
          <a:prstGeom prst="roundRect">
            <a:avLst/>
          </a:prstGeom>
          <a:solidFill>
            <a:srgbClr val="E9F4EC"/>
          </a:solidFill>
          <a:ln w="12700">
            <a:solidFill>
              <a:srgbClr val="B8D7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1937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5B37"/>
                </a:solidFill>
              </a:rPr>
              <a:t>FAIR EN PRÁCTICA · DEL PLAN A LA PROCEDENCIA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10728" y="5404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5B37"/>
                </a:solidFill>
              </a:rPr>
              <a:t>S7 decide qué; S8 documenta dónde, cuál versión y cómo se obtuvo.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879592"/>
            <a:ext cx="11183112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98932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PREGUNTA AL GRUPO  ·  ¿Qué debemos confirmar antes de presionar “Download”?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5737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4605</Words>
  <Application>Microsoft Macintosh PowerPoint</Application>
  <PresentationFormat>Panorámica</PresentationFormat>
  <Paragraphs>610</Paragraphs>
  <Slides>33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LCG · 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S7 — Representar</dc:title>
  <dc:subject>S7 — Representar: de los objetos biológicos a FASTA, GFF3 y GenBank</dc:subject>
  <dc:creator>OpenAI</dc:creator>
  <cp:lastModifiedBy>Microsoft Office User</cp:lastModifiedBy>
  <cp:revision>2</cp:revision>
  <dcterms:created xsi:type="dcterms:W3CDTF">2026-09-16T17:20:14Z</dcterms:created>
  <dcterms:modified xsi:type="dcterms:W3CDTF">2026-09-16T18:40:20Z</dcterms:modified>
</cp:coreProperties>
</file>