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82" r:id="rId9"/>
    <p:sldId id="283" r:id="rId10"/>
    <p:sldId id="262" r:id="rId11"/>
    <p:sldId id="263" r:id="rId12"/>
    <p:sldId id="264" r:id="rId13"/>
    <p:sldId id="289" r:id="rId14"/>
    <p:sldId id="265" r:id="rId15"/>
    <p:sldId id="290" r:id="rId16"/>
    <p:sldId id="266" r:id="rId17"/>
    <p:sldId id="291" r:id="rId18"/>
    <p:sldId id="267" r:id="rId19"/>
    <p:sldId id="268" r:id="rId20"/>
    <p:sldId id="292" r:id="rId21"/>
    <p:sldId id="269" r:id="rId22"/>
    <p:sldId id="270" r:id="rId23"/>
    <p:sldId id="271" r:id="rId24"/>
    <p:sldId id="293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763"/>
  </p:normalViewPr>
  <p:slideViewPr>
    <p:cSldViewPr snapToGrid="0" snapToObjects="1">
      <p:cViewPr varScale="1">
        <p:scale>
          <a:sx n="100" d="100"/>
          <a:sy n="100" d="100"/>
        </p:scale>
        <p:origin x="1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47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Intención: presentar S8 como continuidad metodológica de S7, no como una clase de navegación por NCBI. Enfatizar que la meta es recuperar datos con procedencia demostrable.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procedencia, organismo/cepa, ensamblado, versión, registro exacto, archivos recuperados e integridad. Respuesta parcial aprovechable: “descargarlos”; preguntar “¿descargar cuáles y de dónde?”. Error frecuente: creer que reconocer GFF3/FASTA ya garantiza que el dato sea el correcto. Cierre: S8 añade base de datos, registro, recuperación y evidencia de integridad.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esperadas: 1) no; el archivo es una representación. 2) secuencia = letras; anotación = features/propiedades sobre la secuencia. 3) FASTA aporta secuencia. 4) GFF3 aporta features, coordenadas, hebra y atributos. 5) la parte .3 identifica una versión concreta del registro. 6) no “siempre”; GenBank integra secuencia y anotación, pero la elección depende del uso y del flujo. Detectar especialmente confusión entre accession y versión. Transición: ahora agregaremos dónde viven esos registros y cómo se recuperan.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no. El formato no identifica organismo, cepa, ensamblado, versión ni procedencia. Recuperar respuestas de la matriz S7: secuencia para longitud; anotación/feature gene para conteo; strand para hebra. Cierre: “FASTA” o “GFF3” todavía no dice cuál archivo exacto usar.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alcance: S8 usa interfaz web y prepara evidencia; S9 trabajará recuperación/transferencia por comandos y cálculo/comparación operativa de checksums.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secuencia completa. Aclarar que “integridad” en S8 se interpreta y se prepara; el cálculo propio queda pendiente para S9.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49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Intención: comprobar la lectura indispensable de S8 antes del taller. Respuestas esperadas: 1) base de datos = sistema que organiza/versiona/expone registros; registro = entrada concreta identificada; archivo = representación descargable asociada. 2) pregunta → organismo → cepa/aislamiento → ensamblado → versión → registro. 3) el nombre no identifica inequívocamente ensamblado/versión. 4) no: GCF identifica el ensamblado RefSeq; NC identifica una secuencia dentro de él. 5) versión concreta del registro/accession. 6) accession con versión, organismo/cepa, fuente/base, fecha y archivos, además de procedencia pertinente. Respuestas parciales: “guardar la URL” es útil pero insuficiente. Error frecuente: GCF = cromosoma. Cierre: usar las dudas detectadas para decidir qué enfatizar en la demostración.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para las tres subpreguntas del proyecto se necesita secuencia y anotación en conjunto; genome/genomic FASTA aporta secuencia y genomic.gff aporta features/coordenadas/hebra. GenBank puede integrar ambas, pero la elección debe justificarse por el flujo. Antes de combinar FASTA y GFF3: mismo ensamblado/accession, versión y procedencia. No descargar todo por costumbre; seleccionar según evidencia y tarea. Matiz de la lección: para contar genes solamente, el GFF3 puede ser suficiente; para el proyecto longitudinal completo conviene conservar el conjunto coherente que permita secuencia + anotación. Error frecuente: creer que genomic.gff contiene los nucleótidos. Transición: ahora comprobaremos estas decisiones navegando el registro real.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A = NO. Que la transferencia termine no demuestra identidad con la copia publicada. B = NO. Tener el checksum publicado proporciona el valor de referencia, pero falta calcular el checksum de la copia y compararlos. C = SÍ. Pregunta final: SÍ; se puede descargar íntegramente otra cepa, otro ensamblado o una versión distinta. Concepto diagnóstico central: selección correcta e integridad son verificaciones distintas. No adelantar comandos: S8 registra el checksum publicado y prepara la evidencia; S9 realiza el cálculo/comparación en Unix. Cierre: entrar al taller con dos preguntas separadas: “¿elegí el dato correcto?” y “¿mi copia es idéntica a la publicada?”.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saltar de la pregunta a la herramienta/base de datos sin justificar evidencia, objeto y tipo de dato. Matiz: NCBI es el ejemplo, no el objetivo. Cierre: la base de datos se elige después de saber qué dato necesitamos.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Genome funciona como vista integrada de ensamblados y no como accession de secuencia independiente. No pedir memorización de prefijos: usarlos como pistas para distinguir niveles.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 1 Gene; 2 Assembly; 3 PubMed; 4 Protein; 5 Nucleotide. En 1 puede mencionarse Taxonomy para confirmar organismo, pero la primera consulta para nombre/sinónimo es Gene. Error frecuente: Assembly para cualquier secuencia. Cierre: la granularidad de la pregunta determina la base.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Nota docente — Demo 1</a:t>
            </a:r>
          </a:p>
          <a:p>
            <a:r>
              <a:rPr lang="es-MX" dirty="0"/>
              <a:t>Buscar en NCBI:</a:t>
            </a:r>
          </a:p>
          <a:p>
            <a:r>
              <a:rPr lang="es-MX" dirty="0"/>
              <a:t>Escherichia coli K-12 MG1655</a:t>
            </a:r>
          </a:p>
          <a:p>
            <a:r>
              <a:rPr lang="es-MX" b="1" dirty="0"/>
              <a:t>No hacer clic inmediatamente.</a:t>
            </a:r>
            <a:r>
              <a:rPr lang="es-MX" dirty="0"/>
              <a:t> Pedir al grupo que observe que la búsqueda devuelve resultados en distintas bases de NCBI: Gene, Protein, PubMed, Nucleotide, Genomes, etc.</a:t>
            </a:r>
          </a:p>
          <a:p>
            <a:r>
              <a:rPr lang="es-MX" b="1" dirty="0"/>
              <a:t>Pregunta 1:</a:t>
            </a:r>
            <a:br>
              <a:rPr lang="es-MX" dirty="0"/>
            </a:br>
            <a:r>
              <a:rPr lang="es-MX" dirty="0"/>
              <a:t>“Si necesitamos el genoma completo y su anotación, ¿a cuál recurso entrarían primero y por qué?”</a:t>
            </a:r>
          </a:p>
          <a:p>
            <a:r>
              <a:rPr lang="es-MX" b="1" dirty="0"/>
              <a:t>Respuesta esperada:</a:t>
            </a:r>
            <a:br>
              <a:rPr lang="es-MX" dirty="0"/>
            </a:br>
            <a:r>
              <a:rPr lang="es-MX" b="1" dirty="0"/>
              <a:t>Genomes → Assembly / Genome → NCBI Datasets.</a:t>
            </a:r>
            <a:r>
              <a:rPr lang="es-MX" dirty="0"/>
              <a:t> Buscamos identificar el </a:t>
            </a:r>
            <a:r>
              <a:rPr lang="es-MX" b="1" dirty="0"/>
              <a:t>ensamblado o conjunto genómico completo</a:t>
            </a:r>
            <a:r>
              <a:rPr lang="es-MX" dirty="0"/>
              <a:t> correspondiente a </a:t>
            </a:r>
            <a:r>
              <a:rPr lang="es-MX" i="1" dirty="0"/>
              <a:t>E. coli</a:t>
            </a:r>
            <a:r>
              <a:rPr lang="es-MX" dirty="0"/>
              <a:t> K-12 MG1655, desde el cual podremos seleccionar la secuencia genómica y los archivos de anotación.</a:t>
            </a:r>
          </a:p>
          <a:p>
            <a:r>
              <a:rPr lang="es-MX" b="1" dirty="0"/>
              <a:t>Pregunta 2:</a:t>
            </a:r>
            <a:br>
              <a:rPr lang="es-MX" dirty="0"/>
            </a:br>
            <a:r>
              <a:rPr lang="es-MX" dirty="0"/>
              <a:t>“¿Por qué no elegir Nucleotide, aunque también tenga resultados?”</a:t>
            </a:r>
          </a:p>
          <a:p>
            <a:r>
              <a:rPr lang="es-MX" b="1" dirty="0"/>
              <a:t>Respuesta esperada:</a:t>
            </a:r>
            <a:br>
              <a:rPr lang="es-MX" dirty="0"/>
            </a:br>
            <a:r>
              <a:rPr lang="es-MX" dirty="0"/>
              <a:t>Porque Nucleotide contiene </a:t>
            </a:r>
            <a:r>
              <a:rPr lang="es-MX" b="1" dirty="0"/>
              <a:t>registros de secuencias individuales</a:t>
            </a:r>
            <a:r>
              <a:rPr lang="es-MX" dirty="0"/>
              <a:t> que coinciden con la búsqueda. En este momento necesitamos primero identificar el </a:t>
            </a:r>
            <a:r>
              <a:rPr lang="es-MX" b="1" dirty="0"/>
              <a:t>ensamblado correcto y su versión</a:t>
            </a:r>
            <a:r>
              <a:rPr lang="es-MX" dirty="0"/>
              <a:t>, no recuperar una secuencia individual.</a:t>
            </a:r>
          </a:p>
          <a:p>
            <a:r>
              <a:rPr lang="es-MX" b="1" dirty="0"/>
              <a:t>Punto clave:</a:t>
            </a:r>
            <a:br>
              <a:rPr lang="es-MX" dirty="0"/>
            </a:br>
            <a:r>
              <a:rPr lang="es-MX" dirty="0"/>
              <a:t>La pantalla demuestra que </a:t>
            </a:r>
            <a:r>
              <a:rPr lang="es-MX" b="1" dirty="0"/>
              <a:t>NCBI no es una sola base de datos</a:t>
            </a:r>
            <a:r>
              <a:rPr lang="es-MX" dirty="0"/>
              <a:t>. No elegimos un recurso por costumbre: lo elegimos de acuerdo con la </a:t>
            </a:r>
            <a:r>
              <a:rPr lang="es-MX" b="1" dirty="0"/>
              <a:t>pregunta y la evidencia que necesitamos</a:t>
            </a:r>
            <a:r>
              <a:rPr lang="es-MX" dirty="0"/>
              <a:t>.</a:t>
            </a:r>
          </a:p>
          <a:p>
            <a:r>
              <a:rPr lang="es-MX" b="1" dirty="0"/>
              <a:t>Cierre/transición:</a:t>
            </a:r>
            <a:br>
              <a:rPr lang="es-MX" dirty="0"/>
            </a:br>
            <a:r>
              <a:rPr lang="es-MX" dirty="0"/>
              <a:t>Ya elegimos dónde buscar, pero todavía falta identificar exactamente </a:t>
            </a:r>
            <a:r>
              <a:rPr lang="es-MX" b="1" dirty="0"/>
              <a:t>organismo → cepa/aislamiento → ensamblado → versión → registro</a:t>
            </a:r>
            <a:r>
              <a:rPr lang="es-MX" dirty="0"/>
              <a:t>.</a:t>
            </a:r>
          </a:p>
          <a:p>
            <a:r>
              <a:rPr lang="es-MX" dirty="0"/>
              <a:t>Pasar a: </a:t>
            </a:r>
            <a:r>
              <a:rPr lang="es-MX" b="1" dirty="0"/>
              <a:t>“Del organismo al registro: una cadena de decisiones”.</a:t>
            </a:r>
            <a:endParaRPr lang="es-MX" dirty="0"/>
          </a:p>
          <a:p>
            <a:endParaRPr lang="en-US" dirty="0"/>
          </a:p>
          <a:p>
            <a:r>
              <a:rPr lang="en-US" dirty="0"/>
              <a:t>----------</a:t>
            </a:r>
          </a:p>
          <a:p>
            <a:r>
              <a:rPr lang="es-MX" dirty="0"/>
              <a:t>Porque </a:t>
            </a:r>
            <a:r>
              <a:rPr lang="es-MX" b="1" dirty="0"/>
              <a:t>no queremos simplemente “un genoma de MG1655”</a:t>
            </a:r>
            <a:r>
              <a:rPr lang="es-MX" dirty="0"/>
              <a:t>. Para el proyecto necesitamos una </a:t>
            </a:r>
            <a:r>
              <a:rPr lang="es-MX" b="1" dirty="0"/>
              <a:t>secuencia de referencia estable y bien identificada</a:t>
            </a:r>
            <a:r>
              <a:rPr lang="es-MX" dirty="0"/>
              <a:t> sobre la cual hacer el análisis.</a:t>
            </a:r>
          </a:p>
          <a:p>
            <a:r>
              <a:rPr lang="es-MX" dirty="0"/>
              <a:t>En este caso elegimos </a:t>
            </a:r>
            <a:r>
              <a:rPr lang="es-MX" b="1" dirty="0"/>
              <a:t>ASM584v2 / GCF_000005845.2</a:t>
            </a:r>
            <a:r>
              <a:rPr lang="es-MX" dirty="0"/>
              <a:t> por varias razones verificables: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NCBI lo vincula al </a:t>
            </a:r>
            <a:r>
              <a:rPr lang="es-MX" b="1" dirty="0"/>
              <a:t>RefSeq Genome</a:t>
            </a:r>
            <a:r>
              <a:rPr lang="es-MX" dirty="0"/>
              <a:t> de </a:t>
            </a:r>
            <a:r>
              <a:rPr lang="es-MX" i="1" dirty="0"/>
              <a:t>E. coli</a:t>
            </a:r>
            <a:r>
              <a:rPr lang="es-MX" dirty="0"/>
              <a:t> K-12 MG1655, mediante el BioProject PRJNA57779.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 un ensamblado de </a:t>
            </a:r>
            <a:r>
              <a:rPr lang="es-MX" b="1" dirty="0"/>
              <a:t>genoma completo</a:t>
            </a:r>
            <a:r>
              <a:rPr lang="es-MX" dirty="0"/>
              <a:t>, no un ensamblado WGS fragmentado.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Su cromosoma de referencia en RefSeq es </a:t>
            </a:r>
            <a:r>
              <a:rPr lang="es-MX" b="1" dirty="0"/>
              <a:t>NC_000913.3</a:t>
            </a:r>
            <a:r>
              <a:rPr lang="es-MX" dirty="0"/>
              <a:t>, precisamente el registro que estamos usando en el proyecto.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Está relacionado con la secuencia histórica de referencia de MG1655 y con las publicaciones del genoma completo y sus revisiones posteriores.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Otros resultados que aparecen bajo MG1655 pueden corresponder a </a:t>
            </a:r>
            <a:r>
              <a:rPr lang="es-MX" b="1" dirty="0"/>
              <a:t>otros proyectos de secuenciación, muestras o reensamblados</a:t>
            </a:r>
            <a:r>
              <a:rPr lang="es-MX" dirty="0"/>
              <a:t>. Por ejemplo, NCBI tiene un proyecto que generó ensamblados de MG1655 específicamente para evaluar métodos de ensamblaje con lecturas cortas. </a:t>
            </a:r>
          </a:p>
          <a:p>
            <a:r>
              <a:rPr lang="es-MX" dirty="0"/>
              <a:t>Por eso, para los alumnos evitaría la regla </a:t>
            </a:r>
            <a:r>
              <a:rPr lang="es-MX" b="1" dirty="0"/>
              <a:t>“elegimos el que tiene la palomita verde”</a:t>
            </a:r>
            <a:r>
              <a:rPr lang="es-MX" dirty="0"/>
              <a:t>. La decisión que queremos que aprendan es:</a:t>
            </a:r>
          </a:p>
          <a:p>
            <a:r>
              <a:rPr lang="es-MX" b="1" dirty="0"/>
              <a:t>Elegimos GCF_000005845.2 porque podemos demostrar que es el ensamblado RefSeq de referencia asociado al cromosoma NC_000913.3 que definimos para nuestro proyecto.</a:t>
            </a:r>
            <a:endParaRPr lang="es-MX" dirty="0"/>
          </a:p>
          <a:p>
            <a:r>
              <a:rPr lang="es-MX" dirty="0"/>
              <a:t>Y aquí aparece una pregunta excelente para la demo:</a:t>
            </a:r>
          </a:p>
          <a:p>
            <a:r>
              <a:rPr lang="es-MX" b="1" dirty="0"/>
              <a:t>¿Qué evidencia en NCBI nos permite justificar que GCF_000005845.2 es el ensamblado apropiado y no simplemente el primer resultado de la lista?</a:t>
            </a:r>
            <a:endParaRPr lang="es-MX" dirty="0"/>
          </a:p>
          <a:p>
            <a:r>
              <a:rPr lang="es-MX" b="1" dirty="0"/>
              <a:t>Respuesta esperada:</a:t>
            </a:r>
            <a:r>
              <a:rPr lang="es-MX" dirty="0"/>
              <a:t> su condición de referencia, el organismo/cepa, el nivel de ensamblado, el accession con versión y su relación con NC_000913.3.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
[Sources]
- https://www.ncbi.nlm.nih.gov/datasets/
- https://www.ncbi.nlm.nih.gov/datasets/docs/v2/reference-docs/data-packages/genome/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especie no identifica cepa/aislamiento, ensamblado ni versión. Aclarar nomenclatura del material: ASM584v2 es nombre del ensamblado; GCF_000005845.2 es accession RefSeq del ensamblado; NC_000913.3 es accession de la secuencia cromosómica principal.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GCF_000005845.2, acompañado por organismo/cepa y fuente. Enfatizar que ASM584v2 es nombre del ensamblado, no sustituto del accession.version. Cierre: regresar a la diapositiva “Tres etiquetas cercanas”.
[Sources]
- https://www.ncbi.nlm.nih.gov/datasets/
- https://www.ncbi.nlm.nih.gov/datasets/docs/v2/reference-docs/data-packages/genome/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87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GCF_000005845.2 para ensamblado completo; NC_000913.3 para cromosoma/secuencia. Error frecuente: tratarlos como sinónimos. Cierre: un ensamblado puede contener varias secuencias, cada una con accession propio.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identifican objetos/niveles distintos. Para este ensamblado completo hay una secuencia cromosómica principal NC_000913.3. Conectar con S7: el registro de secuencia puede mostrar secuencia y anotaciones, pero el proyecto necesita recuperar un conjunto coherente de archivos.
[Sources]
- https://www.ncbi.nlm.nih.gov/datasets/
- https://www.ncbi.nlm.nih.gov/datasets/docs/v2/reference-docs/data-packages/genome/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Dinámica: 3–4 min individual, luego intercambio por pares. Deben detectar eslabones saltados y corregir después de consultar NCBI. No completar por ellos de inmediato. Producto: tabla corregida para doc/protocolo.md.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no parte de la pregunta/evidencia, aumenta volumen y ambigüedad, y no justifica función de cada archivo. Aclarar: no todos los ensamblados ofrecen necesariamente todos los archivos.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porque la selección parte de las evidencias necesarias para las subpreguntas. Matiz: GenBank/GBFF integra secuencia y anotación y puede ser útil, pero no hace falta descargar todo. NCBI Datasets permite personalizar el paquete con secuencia y anotación.
[Sources]
- https://www.ncbi.nlm.nih.gov/datasets/
- https://www.ncbi.nlm.nih.gov/datasets/docs/v2/reference-docs/data-packages/genome/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 sugeridas del material: A genomic.gff; B genome.fna + genomic.gff; C protein.faa. Preguntar después por integrante D: descargó solo GFF3 y quiere extraer secuencia; le falta FASTA correspondiente. Error frecuente: pensar que GFF3 contiene nucleótidos.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el nombre de carpeta basado en accession no es estética: hace visible la procedencia. Relacionar con R1.2/provenance sin afirmar que esta estructura por sí sola “hace FAIR” el dataset.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no. Falta al menos organismo, cepa/aislamiento, accession del ensamblado, versión, colección GenBank/RefSeq, fecha de descarga y fuente/URL; además condiciones de uso cuando corresponda. Error frecuente: creer que md5checksums.txt por sí solo documenta procedencia.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calcular localmente los checksums y compararlos con md5sum.txt; eso queda para S9. Aclarar que md5sum.txt contiene valores de referencia de los archivos del paquete tras descompresión. No confundir integridad con selección correcta.
[Sources]
- https://www.ncbi.nlm.nih.gov/datasets/
- https://www.ncbi.nlm.nih.gov/datasets/docs/v2/reference-docs/data-packages/genome/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no. Un checksum coincidente demuestra integridad de la copia respecto a la fuente, no que la selección del registro fuera correcta. Distinguir dos preguntas: “¿era el dato correcto?” y “¿mi copia es idéntica a la publicada?”.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Esperado: no aceptar; volver a descargar y verificar. No concluir manipulación intencional: puede ser descarga incompleta/interrumpida u otro problema. En S8 interpretan la comparación; el cálculo propio se practica en S9.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Respuesta: sí. Ejemplo: descargar perfectamente otra versión u otra cepa; checksum coincide con esa fuente, pero no responde la pregunta definida. Esta distinción es uno de los conceptos centrales de S8.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ficha colaborativa completa campos que S7 dejó provisionales. Destacar que checksum calculado y resultado de comparación quedan pendientes de S9. Cada campo debe poder rastrearse a una fuente concreta.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producto acumulativo. Aclarar que no todos los proyectos requerirán exactamente la misma familia de archivos; el material de la tarea usa estos como producto esperado. La justificación debe corresponder a la pregunta.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decisión tomada en S7: README se dejó sin cambios hasta S8. Esperado: protocolo = decisiones/evidencia/procedimiento detallado; README = visión general, estructura actual y estado del proyecto. Evitar duplicación completa.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abierta: varios. Destacar especialmente seleccionar versión/organismo equivocado y checksum no verificado: el software puede ejecutar sin detectar el problema. Cierre: reproducibilidad exige evidencia más allá de que el análisis corra.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recuperación final, no como lectura. Pedir a estudiantes explicar uno de los cinco puntos con un ejemplo del proyecto E. coli.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sin adelantar comandos. S9 completa la verificación operativa y la transferencia entre contextos. Reforzar que S8 deja el conjunto identificado, recuperado y documentado, pero checksum calculado/comparación propia siguen pendientes.
[Sources]
- https://helysalgado.github.io/introbioinfo-unix/u3-s8-bases-datos-descarga-integridad.html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2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 a la Bioinformática — Unix · LCG · UNAM · 2026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01400" y="6537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S8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cbi.nlm.nih.go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85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</a:rPr>
              <a:t>S8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Recuperar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Bases de datos, descarga y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verificación de integridad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3337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E4EA"/>
                </a:solidFill>
              </a:rPr>
              <a:t>De “sé qué datos necesito” a “puedo demostrar de dónde salieron”.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01000" y="1234440"/>
            <a:ext cx="3291840" cy="3200400"/>
          </a:xfrm>
          <a:prstGeom prst="roundRect">
            <a:avLst/>
          </a:prstGeom>
          <a:solidFill>
            <a:srgbClr val="0C425F"/>
          </a:solidFill>
          <a:ln w="12700">
            <a:solidFill>
              <a:srgbClr val="3C6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Pregunta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→ Registro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→ Archivos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→ Evidencia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5212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</a:rPr>
              <a:t>U3 · Datos y bases de datos biológicas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¿Dónde quedamos en S7?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Ya sabemos interpretar representaciones; todavía falta recuperar los datos reales.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2660904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Pregunta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55264" y="22951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64992" y="2011680"/>
            <a:ext cx="2660904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4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Evidencia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25896" y="22951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35624" y="2011680"/>
            <a:ext cx="2660904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Datos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96528" y="22951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06256" y="2011680"/>
            <a:ext cx="2660904" cy="914400"/>
          </a:xfrm>
          <a:prstGeom prst="roundRect">
            <a:avLst/>
          </a:prstGeom>
          <a:solidFill>
            <a:srgbClr val="F8F1D9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22585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Formato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51129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S7 dejó decidido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840480"/>
            <a:ext cx="48828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Qué información necesitamos y qué formatos pueden representarla.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51129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La pregunta pendiente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8232" y="3840480"/>
            <a:ext cx="488289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¿De dónde provienen esos archivos y cómo demostramos que son exactamente los correctos?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falta demostrar antes de comenzar a contar genes?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Sondeo · ¿Qué recuerdas de S7?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Responde primero sin consultar tus notas.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453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Preguntas 1–3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74520"/>
            <a:ext cx="4928616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1. ¿Objeto biológico y archivo son lo mismo?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2. ¿Qué diferencia hay entre secuencia y anotación?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3. ¿Qué aporta FASTA que no aporta un GFF3?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545336"/>
            <a:ext cx="4928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Preguntas 4–6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82512" y="1874520"/>
            <a:ext cx="4928616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4. ¿Qué aporta GFF3 que no aporta un FASTA?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5. ¿Qué significa la versión en NC_000913.3?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6. ¿GenBank sustituye siempre a FASTA + GFF3?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¿Cuál de estas preguntas te cuesta justificar, no solo responder?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Sondeo · Aplícalo al proyecto E. coli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La pregunta biológica sigue siendo la misma.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¿Cuántos genes tiene el genoma de E. coli K-12 y cómo se distribuyen en el cromosoma?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4140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Tamaño del genoma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743200"/>
            <a:ext cx="30540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evidencia necesitas?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representación podría aportarla?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22860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4140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Número de genes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30540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evidencia necesitas?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representación podría aportarla?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8432" y="2286000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24140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Genes por hebra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93024" y="2743200"/>
            <a:ext cx="3054096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evidencia necesitas?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representación podría aportarla?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 ya elegiste el formato, ¿eso identifica un conjunto de datos reproducible?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Objetivo de hoy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Recuperar un conjunto coherente de archivos con procedencia demostrable.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</a:rPr>
              <a:t>Al finalizar podrás justificar: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585216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</a:rPr>
              <a:t>qué base de datos consultar según la pregunta;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</a:rPr>
              <a:t>qué registro y versión identifican el conjunto de datos;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</a:rPr>
              <a:t>qué archivos de un ensamblado necesitas;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</a:rPr>
              <a:t>qué evidencia conservar para verificar integridad y procedencia.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645920"/>
            <a:ext cx="3977640" cy="3154680"/>
          </a:xfrm>
          <a:prstGeom prst="roundRect">
            <a:avLst>
              <a:gd name="adj" fmla="val 1739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1773936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No es el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79792" y="2103120"/>
            <a:ext cx="3648456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Memorizar la interfaz de NCBI.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Automatizar la descarga con wget/curl.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Calcular todavía los checksums propios.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Eso se completa en S9.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Ruta de S8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De la selección conceptual a un conjunto de datos documentado.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737360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88366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41448" y="1600200"/>
            <a:ext cx="1737360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Registro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8808" y="188366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88536" y="1600200"/>
            <a:ext cx="1737360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Ensamblado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25896" y="188366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35624" y="1600200"/>
            <a:ext cx="1737360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Archivos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72984" y="188366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982712" y="1600200"/>
            <a:ext cx="1737360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55864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Procedencia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20072" y="188366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829800" y="1600200"/>
            <a:ext cx="1737360" cy="914400"/>
          </a:xfrm>
          <a:prstGeom prst="roundRect">
            <a:avLst/>
          </a:prstGeom>
          <a:solidFill>
            <a:srgbClr val="F8F1D9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2952" y="18470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Integridad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063240"/>
            <a:ext cx="10607040" cy="1463040"/>
          </a:xfrm>
          <a:prstGeom prst="roundRect">
            <a:avLst>
              <a:gd name="adj" fmla="val 375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319125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Producto de la sesión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3520440"/>
            <a:ext cx="1027785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Estrategia de búsqueda corregida + archivos recuperados + ficha de procedencia + checksum publicado registrado + avance de Tarea 4 en doc/protocolo.md.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4983480"/>
            <a:ext cx="9966960" cy="438912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50932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BUENA PRÁCTICA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423160" y="5074920"/>
            <a:ext cx="8522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</a:rPr>
              <a:t>Separar selección, descarga, verificación y procesamiento hace explícita la evidencia de cada decisión.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96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Sondeo S8 · De la lectura a la decisión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Sin consultar la lección: buscamos recuperar el razonamiento, no memorizar la interfaz.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57800" cy="361188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636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1 · Conceptos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4892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1. ¿Qué diferencia hay entre una base de datos, un registro y un archivo descargado?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2. ¿Qué cadena de decisiones permite pasar de “E. coli” a un dato reproducible?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3. ¿Por qué no basta con buscar “E. coli K-12” y descargar el primer resultado?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57800" cy="3611880"/>
          </a:xfrm>
          <a:prstGeom prst="roundRect">
            <a:avLst/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6362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2 · Identificadores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947672"/>
            <a:ext cx="489204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4. ¿GCF_000005845.2 y NC_000913.3 identifican el mismo objeto?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5. ¿Qué información aporta la parte “.2” o “.3” de un accession?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6. ¿Qué deberías conservar para poder volver a localizar el dato?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8430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SONDEO S8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74520" y="5788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¿En cuál pregunta tuviste que razonar y no solo recordar un término?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Sondeo S8 · ¿Qué descargarías?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Aplica la lectura a la pregunta del proyecto antes de abrir NCBI.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Queremos responder: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0"/>
                </a:solidFill>
              </a:rPr>
              <a:t>¿Cuál es el tamaño del genoma?  ·  ¿Cuántos genes están anotados?  ·  ¿Cuántos están en + y cuántos en −?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383280" cy="246888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03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A · Evidencia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587752"/>
            <a:ext cx="30175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¿Necesitas secuencia, anotación o ambas?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archivo(s) de la familia del ensamblado podrían aportar esa evidencia?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7408" y="2057400"/>
            <a:ext cx="3383280" cy="2468880"/>
          </a:xfrm>
          <a:prstGeom prst="roundRect">
            <a:avLst/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203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B · Coherencia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2587752"/>
            <a:ext cx="30175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¿Qué debes comprobar antes de asumir que el FASTA y el GFF3 pertenecen al mismo conjunto de datos?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8432" y="2057400"/>
            <a:ext cx="3383280" cy="2468880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203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C · Decisión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1312" y="2587752"/>
            <a:ext cx="30175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Si NCBI ofrece seis archivos, ¿descargarías todos “por si acaso”?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¿Cómo justificarías tu selección?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8430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SONDEO S8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74520" y="5788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pedirías primero como responsable del laboratorio y por qué?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Sondeo S8 · ¿Descargado significa verificado?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Marca cada afirmación: SÍ · NO · NO ESTOY SEGURO. Después justifica.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61320" cy="9144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636776"/>
            <a:ext cx="438912" cy="438912"/>
          </a:xfrm>
          <a:prstGeom prst="ellipse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75564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“El archivo terminó de descargarse; por lo tanto está íntegro.”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10561320" cy="914400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871216"/>
            <a:ext cx="438912" cy="438912"/>
          </a:xfrm>
          <a:prstGeom prst="ellipse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99008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880360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“NCBI publica un checksum; por lo tanto mi copia ya está verificada.”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10561320" cy="914400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105656"/>
            <a:ext cx="438912" cy="438912"/>
          </a:xfrm>
          <a:prstGeom prst="ellipse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22452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4114800"/>
            <a:ext cx="9052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0"/>
                </a:solidFill>
              </a:rPr>
              <a:t>“Para verificar integridad debo comparar un checksum de referencia con uno calculado sobre mi copia.”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5138928"/>
            <a:ext cx="8366760" cy="384048"/>
          </a:xfrm>
          <a:prstGeom prst="roundRect">
            <a:avLst/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5248656"/>
            <a:ext cx="7909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314F"/>
                </a:solidFill>
              </a:rPr>
              <a:t>S8 prepara y registra la evidencia · S9 calculará y comparará el checksum en Unix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8430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SONDEO S8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74520" y="5788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¿Puede un archivo ser íntegro y aun así ser el dato equivocado?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Un eslabón nuevo: ¿dónde vive el dato antes de descargarlo?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64592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89280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Objeto biológico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1138" y="192938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10866" y="164592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4018" y="189280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17643" y="192938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7371" y="164592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0523" y="189280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Registro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4149" y="192938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43877" y="164592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7029" y="189280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Archivos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50654" y="192938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60382" y="1645920"/>
            <a:ext cx="2106778" cy="914400"/>
          </a:xfrm>
          <a:prstGeom prst="roundRect">
            <a:avLst/>
          </a:prstGeom>
          <a:solidFill>
            <a:srgbClr val="F8F1D9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3534" y="189280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Formatos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306324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1912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Base de datos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3520440"/>
            <a:ext cx="3008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Sistema que organiza, versiona y expone registros.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434840" y="306324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31912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Registro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99432" y="3520440"/>
            <a:ext cx="3008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Entrada concreta con identificador, campos y enlaces a representaciones.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720" y="306324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1312" y="31912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Archivo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3520440"/>
            <a:ext cx="3008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0"/>
                </a:solidFill>
              </a:rPr>
              <a:t>Representación descargable asociada al registro.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error cometemos si empezamos con “voy a buscar en NCBI”?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NCBI no es una sola base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No memorices el catálogo: elige según la evidencia que necesitas.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453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Assembly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745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ensamblado completo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GCF_/GCA_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4173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5453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Nucleotide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18745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secuencia individual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NC_/NZ_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5453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Gene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39912" y="18745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contexto de un gen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GeneID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3741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Protein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7033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secuencia/proteína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WP_/NP_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48056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3741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Taxonomy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5152" y="37033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organismo/clasificación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taxid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75320" y="3246120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337413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PubMed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9912" y="3703320"/>
            <a:ext cx="319125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literatura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Identificador: PMID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C3D12CB-D9AC-074C-DD32-2B0E0A3F7534}"/>
              </a:ext>
            </a:extLst>
          </p:cNvPr>
          <p:cNvSpPr txBox="1"/>
          <p:nvPr/>
        </p:nvSpPr>
        <p:spPr>
          <a:xfrm>
            <a:off x="4670736" y="5256014"/>
            <a:ext cx="3330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hlinkClick r:id="rId3"/>
              </a:rPr>
              <a:t>https://ncbi.nlm.nih.gov/</a:t>
            </a:r>
            <a:endParaRPr lang="es-MX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Micropráctica · ¿Qué base consultarías primero?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Justifica por la pregunta, no por costumbre.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561320" cy="566928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49961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1. Confirmar si araC es nombre oficial o sinónimo.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281160" y="14904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¿__________?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10561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585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2. Descargar el genoma completo de E. coli K-12 MG1655.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281160" y="2249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¿__________?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43784"/>
            <a:ext cx="10561320" cy="566928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175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3. Leer el artículo que respalda un registro.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81160" y="30083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¿__________?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602736"/>
            <a:ext cx="10561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7764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4. Obtener la secuencia de una proteína concreta.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81160" y="37673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¿__________?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61688"/>
            <a:ext cx="10561320" cy="566928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453542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5. Recuperar solo la secuencia de un gen conocido.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81160" y="45262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</a:rPr>
              <a:t>¿__________?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evidencia te hizo elegir esa base y no otra?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 · De la pregunta a Assembly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memorices clics: comprueba si la ruta responde a la pregunta.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25603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310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3F6F8"/>
          </a:solidFill>
          <a:ln w="15240">
            <a:solidFill>
              <a:srgbClr val="D9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95160" cy="43891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· NCBI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C9A227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825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NCBI y buscar “Escherichia coli K-12 MG1655”.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6148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 que aparecen distintos recursos y tipos de registro.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960837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43133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933405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la vista de genomas/ensamblados para el genoma completo.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674069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756365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646637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Genome, Search Term, </a:t>
            </a:r>
            <a:r>
              <a:rPr lang="en-US" sz="1500" dirty="0" err="1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“Escherichia coli K-12 </a:t>
            </a:r>
            <a:r>
              <a:rPr lang="en-US" sz="1500" dirty="0" err="1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substr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MG1655”. 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avanzar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19385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organismo + cepa/aislamiento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6517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esperamos un ensamblado completo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364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el primer resultado por nombre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6992" y="4800600"/>
            <a:ext cx="3611880" cy="987552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en la pantalla confirma que llegamos al organismo correcto?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080760"/>
            <a:ext cx="11183112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2453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6199632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evidencia en la pantalla confirma que llegamos al organismo correcto?</a:t>
            </a:r>
            <a:endParaRPr lang="en-US" sz="15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8FBB525-2FC4-B052-E1F2-027F5135E044}"/>
              </a:ext>
            </a:extLst>
          </p:cNvPr>
          <p:cNvSpPr txBox="1"/>
          <p:nvPr/>
        </p:nvSpPr>
        <p:spPr>
          <a:xfrm>
            <a:off x="1299438" y="3115425"/>
            <a:ext cx="60980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500" dirty="0">
                <a:solidFill>
                  <a:srgbClr val="1F2D36"/>
                </a:solidFill>
                <a:latin typeface="Aptos" pitchFamily="34" charset="0"/>
              </a:rPr>
              <a:t>Nuestra pregunta requiere el genoma completo y su anotación.</a:t>
            </a:r>
            <a:br>
              <a:rPr lang="es-MX" sz="1500" dirty="0">
                <a:solidFill>
                  <a:srgbClr val="1F2D36"/>
                </a:solidFill>
                <a:latin typeface="Aptos" pitchFamily="34" charset="0"/>
              </a:rPr>
            </a:br>
            <a:r>
              <a:rPr lang="es-MX" sz="1500" b="1" dirty="0">
                <a:solidFill>
                  <a:srgbClr val="1F2D36"/>
                </a:solidFill>
                <a:latin typeface="Aptos" pitchFamily="34" charset="0"/>
              </a:rPr>
              <a:t>¿A cuál de estos resultados entrarías primero y por qué?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9AB712B-AFC5-52B6-4DF5-1F994371EB27}"/>
              </a:ext>
            </a:extLst>
          </p:cNvPr>
          <p:cNvSpPr txBox="1"/>
          <p:nvPr/>
        </p:nvSpPr>
        <p:spPr>
          <a:xfrm>
            <a:off x="1216152" y="5119446"/>
            <a:ext cx="60980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500" b="1" dirty="0">
                <a:solidFill>
                  <a:srgbClr val="1F2D36"/>
                </a:solidFill>
                <a:latin typeface="Aptos" pitchFamily="34" charset="0"/>
              </a:rPr>
              <a:t>¿Cuál elegimos? </a:t>
            </a:r>
            <a:r>
              <a:rPr lang="es-MX" sz="1500" dirty="0">
                <a:solidFill>
                  <a:srgbClr val="1F2D36"/>
                </a:solidFill>
                <a:latin typeface="Aptos" pitchFamily="34" charset="0"/>
              </a:rPr>
              <a:t> Revisalos ….  </a:t>
            </a:r>
            <a:endParaRPr lang="es-MX" sz="1500" b="1" dirty="0">
              <a:solidFill>
                <a:srgbClr val="1F2D36"/>
              </a:solidFill>
              <a:latin typeface="Aptos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Del organismo al registro: una cadena de decisiones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Cada eslabón elimina ambigüedad.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5564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Organismo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01138" y="179222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10866" y="150876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4018" y="175564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Cepa / aislamiento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7643" y="179222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7371" y="150876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0523" y="175564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Ensamblado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4149" y="179222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43877" y="150876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7029" y="175564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Versión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50654" y="179222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60382" y="1508760"/>
            <a:ext cx="2106778" cy="914400"/>
          </a:xfrm>
          <a:prstGeom prst="roundRect">
            <a:avLst/>
          </a:prstGeom>
          <a:solidFill>
            <a:srgbClr val="F8F1D9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3534" y="175564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Registro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2926080"/>
            <a:ext cx="10469880" cy="1554480"/>
          </a:xfrm>
          <a:prstGeom prst="roundRect">
            <a:avLst>
              <a:gd name="adj" fmla="val 3529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054096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Ejemplo del proyecto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33272" y="3383280"/>
            <a:ext cx="10140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A30"/>
                </a:solidFill>
              </a:rPr>
              <a:t>Escherichia coli → K-12 → MG1655 → ASM584v2 / GCF_000005845.2 → NC_000913.3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ambigüedad queda si escribimos solamente “genoma de E. coli”?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2 · Identifica el ensamblado exacto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eliminamos ambigüedad: nombre, accession y versión no son lo mismo.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25603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310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3F6F8"/>
          </a:solidFill>
          <a:ln w="15240">
            <a:solidFill>
              <a:srgbClr val="D9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95160" cy="43891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· NCBI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C9A227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825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resultado de MG1655, abrir el </a:t>
            </a:r>
            <a:r>
              <a:rPr lang="en-US" sz="1500" b="1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ensamblado de referencia.</a:t>
            </a:r>
            <a:endParaRPr lang="en-US" sz="1500" b="1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6148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Localizar el Assembly accession: GCF_000005845.2.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392424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364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Localizar el Assembly name: ASM584v2.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105656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0782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nivel/organismo antes de seguir.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Registra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19385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GCF_000005845.2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6517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ASM584v2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364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“.2” forma parte del identificador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6992" y="4800600"/>
            <a:ext cx="3611880" cy="987552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 escribirías en el protocolo para volver al mismo ensamblado?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080760"/>
            <a:ext cx="11183112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2453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6199632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 escribirías en el protocolo para volver al mismo ensamblado?</a:t>
            </a:r>
            <a:endParaRPr lang="en-US" sz="15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3E1133D-1F89-21F9-818C-2BA81432B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30" y="2318003"/>
            <a:ext cx="1949450" cy="4873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76655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Tres etiquetas cercanas, tres cosas distintas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3383280" cy="3063240"/>
          </a:xfrm>
          <a:prstGeom prst="roundRect">
            <a:avLst>
              <a:gd name="adj" fmla="val 179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ASM584v2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41832" y="1920240"/>
            <a:ext cx="305409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Nombre del ensamblado.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Legible para humanos.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No sustituye al accession estable.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7408" y="1463040"/>
            <a:ext cx="3383280" cy="3063240"/>
          </a:xfrm>
          <a:prstGeom prst="roundRect">
            <a:avLst>
              <a:gd name="adj" fmla="val 1791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GCF_000005845.2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305409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Accession del ensamblado en RefSeq.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Identifica la reconstrucción completa y su versión.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8432" y="1463040"/>
            <a:ext cx="3383280" cy="3063240"/>
          </a:xfrm>
          <a:prstGeom prst="roundRect">
            <a:avLst>
              <a:gd name="adj" fmla="val 1791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3024" y="159105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NC_000913.3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93024" y="1920240"/>
            <a:ext cx="305409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Accession de una secuencia dentro del ensamblado.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Aquí: cromosoma principal.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¿Cuál citarías para identificar el ensamblado completo? ¿Cuál para el cromosoma?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3 · Del ensamblado al cromosoma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el vínculo y observa cómo cambia el objeto identificado.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25603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310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3F6F8"/>
          </a:solidFill>
          <a:ln w="15240">
            <a:solidFill>
              <a:srgbClr val="D9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95160" cy="43891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· NCBI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C9A227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825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el ensamblado, localizar la secuencia cromosómica principal.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6148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NC_000913.3.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392424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364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el registro de la secuencia y observar sus campos.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105656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0782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Comparar: GCF_… identifica ensamblado; NC_… identifica secuencia.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ENSAMBLADO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19385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GCF_000005845.2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CROMOSOMA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6517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NC_000913.3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364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identificadores intercambiables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6992" y="4800600"/>
            <a:ext cx="3611880" cy="987552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necesitamos GCF_… y NC_… si ambos aparecen en el mismo proyecto?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080760"/>
            <a:ext cx="11183112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2453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6199632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necesitamos GCF_… y NC_… si ambos aparecen en el mismo proyecto?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Práctica 1 · Corrige tu estrategia de búsqueda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Conserva visible el primer intento: el cambio también es evidencia.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41280" cy="457200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Eslabón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554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 decisión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554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¿Cómo la confirmarías?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24128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75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14F"/>
                </a:solidFill>
              </a:rPr>
              <a:t>Organismo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496312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14F"/>
                </a:solidFill>
              </a:rPr>
              <a:t>Cepa o aislamiento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118104"/>
            <a:ext cx="1024128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31927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14F"/>
                </a:solidFill>
              </a:rPr>
              <a:t>Ensamblado esperado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739896"/>
            <a:ext cx="10241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41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14F"/>
                </a:solidFill>
              </a:rPr>
              <a:t>Versión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361688"/>
            <a:ext cx="10241280" cy="621792"/>
          </a:xfrm>
          <a:prstGeom prst="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628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14F"/>
                </a:solidFill>
              </a:rPr>
              <a:t>Base de datos primero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97280" y="5212080"/>
            <a:ext cx="9875520" cy="438912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25296" y="532180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BUENA PRÁCTICA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23160" y="5303520"/>
            <a:ext cx="8430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</a:rPr>
              <a:t>No borres el primer intento: documentar qué cambió y por qué hace auditable el razonamiento.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Un ensamblado no es un archivo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Es una familia de representaciones relacionadas.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9961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genome.fna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0392" y="182880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secuencia genómica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FASTA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49961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genomic.gff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182880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features + coordenadas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GFF3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75320" y="137160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49961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genomic.gbff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39912" y="182880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secuencia + anotación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GenBank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419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protein.faa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74904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proteínas anotadas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FASTA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80560" y="32918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419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cds.fna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45152" y="374904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CDS en nucleótidos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FASTA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75320" y="3291840"/>
            <a:ext cx="3520440" cy="1508760"/>
          </a:xfrm>
          <a:prstGeom prst="roundRect">
            <a:avLst>
              <a:gd name="adj" fmla="val 3636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34198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rna.fna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39912" y="3749040"/>
            <a:ext cx="31912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RNA anotados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FASTA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¿Por qué descargar “todo por si acaso” no es una estrategia de selección?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4 · Decide qué descargar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justifica la evidencia; después selecciona archivos.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25603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310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3F6F8"/>
          </a:solidFill>
          <a:ln w="15240">
            <a:solidFill>
              <a:srgbClr val="D9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95160" cy="43891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· NCBI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C9A227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825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Volver al ensamblado GCF_000005845.2.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6148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la opción de descarga del paquete de genoma.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392424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364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 secuencia genómica (FASTA) y anotación GFF3.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105656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0782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el ensamblado y descargar el paquete.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el proyecto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19385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genómica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GFF3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6517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+ coordenadas + hebra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GBFF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364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útil, pero no obligatorio para esta decisión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6992" y="4800600"/>
            <a:ext cx="3611880" cy="987552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FASTA + GFF3 y no “todos los archivos por si acaso”?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080760"/>
            <a:ext cx="11183112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2453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6199632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FASTA + GFF3 y no “todos los archivos por si acaso”?</a:t>
            </a:r>
            <a:endParaRPr lang="en-US" sz="15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92950CC8-F655-66CC-C969-E931B1B54ADB}"/>
              </a:ext>
            </a:extLst>
          </p:cNvPr>
          <p:cNvSpPr/>
          <p:nvPr/>
        </p:nvSpPr>
        <p:spPr>
          <a:xfrm>
            <a:off x="899160" y="4733036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BADDBA7A-FEC5-B2E9-9145-A160C54D1F9E}"/>
              </a:ext>
            </a:extLst>
          </p:cNvPr>
          <p:cNvSpPr/>
          <p:nvPr/>
        </p:nvSpPr>
        <p:spPr>
          <a:xfrm>
            <a:off x="990600" y="481533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</a:rPr>
              <a:t>5</a:t>
            </a:r>
            <a:endParaRPr lang="en-US" sz="100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03CB0913-8666-2323-5D95-37B6DF35B0F1}"/>
              </a:ext>
            </a:extLst>
          </p:cNvPr>
          <p:cNvSpPr/>
          <p:nvPr/>
        </p:nvSpPr>
        <p:spPr>
          <a:xfrm>
            <a:off x="1383792" y="470560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1F2D36"/>
                </a:solidFill>
                <a:latin typeface="Aptos" pitchFamily="34" charset="0"/>
              </a:rPr>
              <a:t>Opcional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</a:rPr>
              <a:t>: Explora la </a:t>
            </a:r>
            <a:r>
              <a:rPr lang="en-US" sz="1500" dirty="0" err="1">
                <a:solidFill>
                  <a:srgbClr val="1F2D36"/>
                </a:solidFill>
                <a:latin typeface="Aptos" pitchFamily="34" charset="0"/>
              </a:rPr>
              <a:t>opción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</a:rPr>
              <a:t> FTP </a:t>
            </a:r>
            <a:r>
              <a:rPr lang="en-US" sz="1500" dirty="0" err="1">
                <a:solidFill>
                  <a:srgbClr val="1F2D36"/>
                </a:solidFill>
                <a:latin typeface="Aptos" pitchFamily="34" charset="0"/>
              </a:rPr>
              <a:t>en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</a:rPr>
              <a:t> </a:t>
            </a:r>
            <a:r>
              <a:rPr lang="en-US" sz="1500" dirty="0" err="1">
                <a:solidFill>
                  <a:srgbClr val="1F2D36"/>
                </a:solidFill>
                <a:latin typeface="Aptos" pitchFamily="34" charset="0"/>
              </a:rPr>
              <a:t>el</a:t>
            </a:r>
            <a:r>
              <a:rPr lang="en-US" sz="1500" dirty="0">
                <a:solidFill>
                  <a:srgbClr val="1F2D36"/>
                </a:solidFill>
                <a:latin typeface="Aptos" pitchFamily="34" charset="0"/>
              </a:rPr>
              <a:t> menu 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Práctica 2 · Eres responsable del laboratorio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La conexión es lenta: pide solo lo indispensable.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9961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Integrante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28800"/>
            <a:ext cx="309981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Necesita contar cuántos genes están anotados.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¿Qué archivo(s) pides?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¿Qué NO necesitas?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49961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Integrante 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1828800"/>
            <a:ext cx="309981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Necesita diseñar cebadores sobre una región genómica específica.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¿Qué archivo(s) pides?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429000" cy="3291840"/>
          </a:xfrm>
          <a:prstGeom prst="roundRect">
            <a:avLst>
              <a:gd name="adj" fmla="val 1667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49961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Integrante 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11312" y="1828800"/>
            <a:ext cx="309981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Necesita comparar la secuencia de una proteína con otro organismo.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¿Qué archivo(s) pides?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evidencia necesita cada persona para justificar su archivo?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data/source/ no es una carpeta de trabajo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Es evidencia del origen de los datos.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4754880" cy="3337560"/>
          </a:xfrm>
          <a:prstGeom prst="rect">
            <a:avLst/>
          </a:prstGeom>
          <a:solidFill>
            <a:srgbClr val="17242C"/>
          </a:solidFill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data/source/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GCF_000005845.2/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genome.fna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genomic.gff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genomic.gbff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md5checksums.txt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80760" y="13716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5352" y="14996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Conservar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5352" y="1828800"/>
            <a:ext cx="4791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Nombre original + archivo original + contexto de procedencia.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5146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5352" y="26426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No hacer aquí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45352" y="2971800"/>
            <a:ext cx="4791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Editar, renombrar, filtrar o descomprimir como parte del análisis.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36576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3785616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Transformaciones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5352" y="4114800"/>
            <a:ext cx="47914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Generan nuevos archivos en data/processed/.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892040"/>
            <a:ext cx="4754880" cy="438912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5001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FAIR EN PRÁCTICA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43800" y="498348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</a:rPr>
              <a:t>Accession + versión + procedencia ayudan a localizar e interpretar el dato después.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Práctica 3 · Te entregan cuatro archivos en una USB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3657600" cy="2560320"/>
          </a:xfrm>
          <a:prstGeom prst="rect">
            <a:avLst/>
          </a:prstGeom>
          <a:solidFill>
            <a:srgbClr val="17242C"/>
          </a:solidFill>
          <a:ln/>
        </p:spPr>
        <p:txBody>
          <a:bodyPr wrap="square" lIns="2794" tIns="2794" rIns="2794" bIns="2794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genome.fna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genomic.gff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genomic.gbff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md5checksums.txt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846320" y="1463040"/>
            <a:ext cx="6309360" cy="2560320"/>
          </a:xfrm>
          <a:prstGeom prst="roundRect">
            <a:avLst>
              <a:gd name="adj" fmla="val 2143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10912" y="1591056"/>
            <a:ext cx="5980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Como curador de datos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10912" y="1920240"/>
            <a:ext cx="598017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A30"/>
                </a:solidFill>
              </a:rPr>
              <a:t>Los archivos “se ven bien”, pero no hay más información.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A30"/>
                </a:solidFill>
              </a:rPr>
              <a:t>¿Qué necesitas saber antes de considerarlos reproducibles?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¿Un archivo técnicamente utilizable es necesariamente un dato reproducible?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5 · Inspecciona el paquete antes de analizar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3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Descargar no termina la recuperación: identifica qué recibiste y qué evidencia conservar.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256032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91088" y="310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6995160" cy="4434840"/>
          </a:xfrm>
          <a:prstGeom prst="roundRect">
            <a:avLst>
              <a:gd name="adj" fmla="val 1649"/>
            </a:avLst>
          </a:prstGeom>
          <a:solidFill>
            <a:srgbClr val="F3F6F8"/>
          </a:solidFill>
          <a:ln w="15240">
            <a:solidFill>
              <a:srgbClr val="D9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53312"/>
            <a:ext cx="6995160" cy="43891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81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NAVEGADOR · NCBI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347472" cy="347472"/>
          </a:xfrm>
          <a:prstGeom prst="ellipse">
            <a:avLst/>
          </a:prstGeom>
          <a:solidFill>
            <a:srgbClr val="C9A227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8256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938528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Abrir/descomprimir el paquete sin modificar los archivos fuente.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679192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61488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265176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README.md, md5sum.txt y ncbi_dataset/data/.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3392424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474720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53312" y="3364992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Localizar la carpeta GCF_000005845.2 y los archivos elegidos.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105656"/>
            <a:ext cx="347472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187952"/>
            <a:ext cx="1645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53312" y="407822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procedencia y checksum publicado; NO calcularlo todavía.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73568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1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96528" y="193852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*_genomic.fna · genomic.gff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267919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96528" y="265176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+ reportes/metadatos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339242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INTEGRIDAD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96528" y="336499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md5sum.txt = referencia publicada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36992" y="4800600"/>
            <a:ext cx="3611880" cy="987552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010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falta demostrar antes de afirmar que nuestra copia está íntegra?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080760"/>
            <a:ext cx="11183112" cy="530352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6245352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AL GRUPO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6199632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falta demostrar antes de afirmar que nuestra copia está íntegra?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Checksum: evidencia de integridad, no de selección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4937760" cy="2423160"/>
          </a:xfrm>
          <a:prstGeom prst="roundRect">
            <a:avLst>
              <a:gd name="adj" fmla="val 2264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54533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Publicado por la fuente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87552" y="1874520"/>
            <a:ext cx="460857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4c090bf78a5bf49a95b0ad293b6960a8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937760" cy="2423160"/>
          </a:xfrm>
          <a:prstGeom prst="roundRect">
            <a:avLst>
              <a:gd name="adj" fmla="val 2264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545336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Calculado sobre tu copia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65392" y="1874520"/>
            <a:ext cx="460857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4c090bf78a5bf49a95b0ad293b6960a8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B57"/>
                </a:solidFill>
              </a:rPr>
              <a:t>COINCIDEN → evidencia de que la copia no cambió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 coinciden, ¿demuestra que elegiste el organismo y la versión correctos?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Como revisor: ¿aceptarías esta descarga?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05840" y="1600200"/>
            <a:ext cx="10149840" cy="1051560"/>
          </a:xfrm>
          <a:prstGeom prst="rect">
            <a:avLst/>
          </a:prstGeom>
          <a:solidFill>
            <a:srgbClr val="17242C"/>
          </a:solidFill>
          <a:ln/>
        </p:spPr>
        <p:txBody>
          <a:bodyPr wrap="square" lIns="2540" tIns="2540" rIns="2540" bIns="254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Publicado:  4c090bf78a5bf49a95b0ad293b6960a8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Calculado:  4c090bf78a5bf49a95b0ad293b6960a7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0" y="30632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31912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Opción 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93392" y="3520440"/>
            <a:ext cx="3328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Sí: solo cambia un carácter.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75120" y="306324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319125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Opción 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39712" y="3520440"/>
            <a:ext cx="332841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No: la copia no es idéntica.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harías después y qué NO puedes concluir del fallo?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Dos verificaciones distintas — ambas necesarias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508760"/>
            <a:ext cx="4892040" cy="3200400"/>
          </a:xfrm>
          <a:prstGeom prst="roundRect">
            <a:avLst>
              <a:gd name="adj" fmla="val 1714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1636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1 · Selección correcta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33272" y="1965960"/>
            <a:ext cx="456285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¿Elegí el organismo, cepa, ensamblado, versión y registro adecuados para mi pregunta?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Evidencia: cadena de decisiones + accession + versión + procedencia.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4892040" cy="3200400"/>
          </a:xfrm>
          <a:prstGeom prst="roundRect">
            <a:avLst>
              <a:gd name="adj" fmla="val 1714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63677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2 · Integridad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65392" y="1965960"/>
            <a:ext cx="456285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¿El archivo que tengo es idéntico al que publicó la fuente?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Evidencia: checksum publicado vs. checksum calculado.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¿Puede un archivo ser íntegro y, aun así, ser el archivo equivocado?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Ficha de procedencia · ¿Qué debe quedar registrado?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5166360" cy="53035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" y="14538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Pregunta biológica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280160"/>
            <a:ext cx="5166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0528" y="14538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Organismo / cepa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5166360" cy="53035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2037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Colección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029968"/>
            <a:ext cx="5166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20370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Accession ensamblado + versión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5166360" cy="53035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953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Accession secuencia(s)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779776"/>
            <a:ext cx="5166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2953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Archivos recuperados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529584"/>
            <a:ext cx="5166360" cy="53035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033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Checksum publicado + algoritmo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9584"/>
            <a:ext cx="5166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7033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Fecha consulta/descarga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79392"/>
            <a:ext cx="5166360" cy="530352"/>
          </a:xfrm>
          <a:prstGeom prst="roundRect">
            <a:avLst/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4531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Licencia / uso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279392"/>
            <a:ext cx="51663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44531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0"/>
                </a:solidFill>
              </a:rPr>
              <a:t>□ Pendientes explícitos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280160" y="5257800"/>
            <a:ext cx="9509760" cy="438912"/>
          </a:xfrm>
          <a:prstGeom prst="roundRect">
            <a:avLst/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8176" y="53675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314F"/>
                </a:solidFill>
              </a:rPr>
              <a:t>BUENA PRÁCTICA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5349240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</a:rPr>
              <a:t>Si un campo no está documentado: “pendiente de confirmar” o “no documentado”. No inferir.</a:t>
            </a:r>
            <a:endParaRPr lang="en-US" sz="11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Producto · Tarea 4: conjunto de datos reproducible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4892040" cy="3977640"/>
          </a:xfrm>
          <a:prstGeom prst="rect">
            <a:avLst/>
          </a:prstGeom>
          <a:solidFill>
            <a:srgbClr val="17242C"/>
          </a:solidFill>
          <a:ln/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data/source/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GCF_xxxxxxxxx.x/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genome.fna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genomic.gff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genomic.gbff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md5checksums.txt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doc/protocolo.md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results/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80760" y="1325880"/>
            <a:ext cx="5166360" cy="3977640"/>
          </a:xfrm>
          <a:prstGeom prst="roundRect">
            <a:avLst>
              <a:gd name="adj" fmla="val 1379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5352" y="1453896"/>
            <a:ext cx="4837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En doc/protocolo.md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45352" y="1783080"/>
            <a:ext cx="4837176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organismo y cepa/aislamiento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ensamblado + accession + versión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colección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fecha de descarga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checksum publicado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archivos y función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por qué ese registro responde la pregunta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E2A30"/>
                </a:solidFill>
              </a:rPr>
              <a:t>• pendientes claramente marcados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¿Qué documentación cambia al cerrar S8?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4892040" cy="3383280"/>
          </a:xfrm>
          <a:prstGeom prst="roundRect">
            <a:avLst>
              <a:gd name="adj" fmla="val 1622"/>
            </a:avLst>
          </a:prstGeom>
          <a:solidFill>
            <a:srgbClr val="EAF1F5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3272" y="154533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doc/protocolo.md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33272" y="1874520"/>
            <a:ext cx="456285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Sí se actualiza.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Registra estrategia corregida, procedencia, accession/versiones, archivos recuperados, checksum publicado, decisiones y pendientes.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4892040" cy="3383280"/>
          </a:xfrm>
          <a:prstGeom prst="roundRect">
            <a:avLst>
              <a:gd name="adj" fmla="val 1622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545336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README.md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65392" y="1874520"/>
            <a:ext cx="4562856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Ahora sí conviene revisarlo.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El proyecto ya tiene nuevos datos fuente y un nuevo estado verificable que debe reflejarse en su vista general.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¿Qué información pertenece al protocolo y cuál al README?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Errores frecuentes · diagnostica antes de seguir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45389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“genoma de la especie”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6112" y="178308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Falta cepa/ensamblado/versión.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32588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45389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GCF = 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19672" y="178308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Confunde ensamblado con secuencia.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descargar todo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320040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No justifica evidencia necesaria.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74320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287121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checksum = dato correcto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320040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Confunde integridad con selección.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2885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renombrar en source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461772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Rompe trazabilidad del original.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4160520"/>
            <a:ext cx="5349240" cy="1097280"/>
          </a:xfrm>
          <a:prstGeom prst="roundRect">
            <a:avLst>
              <a:gd name="adj" fmla="val 5000"/>
            </a:avLst>
          </a:prstGeom>
          <a:solidFill>
            <a:srgbClr val="F3F5F6"/>
          </a:solidFill>
          <a:ln w="12700">
            <a:solidFill>
              <a:srgbClr val="DC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42885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14F"/>
                </a:solidFill>
              </a:rPr>
              <a:t>rellenar lo desconocido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9672" y="4617720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0"/>
                </a:solidFill>
              </a:rPr>
              <a:t>Convierte ausencia de evidencia en invención.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715000"/>
            <a:ext cx="11064240" cy="566928"/>
          </a:xfrm>
          <a:prstGeom prst="rect">
            <a:avLst/>
          </a:prstGeom>
          <a:solidFill>
            <a:srgbClr val="00314F"/>
          </a:solidFill>
          <a:ln w="12700">
            <a:solidFill>
              <a:srgbClr val="0031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843016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227"/>
                </a:solidFill>
              </a:rPr>
              <a:t>PREGUNTA AL GRUPO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67712" y="5788152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¿Cuál de estos errores podría pasar inadvertido y aun producir un análisis “que corre”?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Lo que debes recordar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68680" y="1325880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444752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138988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La base de datos se elige después de la pregunta y la evidencia.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67128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28600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231136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Un ensamblado, una secuencia y un gen usan identificadores distintos.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008376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127248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3072384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Un ensamblado produce una familia de archivos: selecciona por función.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849624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968496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91363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data/source/ conserva originales y procedencia; no es área de trabajo.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" y="4690872"/>
            <a:ext cx="438912" cy="43891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809744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314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7548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0"/>
                </a:solidFill>
              </a:rPr>
              <a:t>Integridad ≠ selección correcta: necesitas ambas verificaciones.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14F"/>
                </a:solidFill>
              </a:rPr>
              <a:t>Cierre · De recuperar a verificar en Unix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80136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Pregunta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1138" y="18379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10866" y="155448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4018" y="180136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Registro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17643" y="18379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7371" y="155448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0523" y="180136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Descarga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4149" y="18379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43877" y="1554480"/>
            <a:ext cx="2106778" cy="914400"/>
          </a:xfrm>
          <a:prstGeom prst="roundRect">
            <a:avLst/>
          </a:prstGeom>
          <a:solidFill>
            <a:srgbClr val="EAF1F5"/>
          </a:solidFill>
          <a:ln w="15240">
            <a:solidFill>
              <a:srgbClr val="DC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7029" y="180136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Checksum publicado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50654" y="1837944"/>
            <a:ext cx="109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60382" y="1554480"/>
            <a:ext cx="2106778" cy="914400"/>
          </a:xfrm>
          <a:prstGeom prst="roundRect">
            <a:avLst/>
          </a:prstGeom>
          <a:solidFill>
            <a:srgbClr val="F8F1D9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3534" y="1801368"/>
            <a:ext cx="1960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314F"/>
                </a:solidFill>
              </a:rPr>
              <a:t>S9: calcular + comparar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108960"/>
            <a:ext cx="10149840" cy="1325880"/>
          </a:xfrm>
          <a:prstGeom prst="roundRect">
            <a:avLst>
              <a:gd name="adj" fmla="val 4138"/>
            </a:avLst>
          </a:prstGeom>
          <a:solidFill>
            <a:srgbClr val="F8F1D9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236976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14F"/>
                </a:solidFill>
              </a:rPr>
              <a:t>Pregunta que queda abierta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566160"/>
            <a:ext cx="982065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A30"/>
                </a:solidFill>
              </a:rPr>
              <a:t>Ya tengo los archivos y el checksum publicado. ¿Cómo transfiero, calculo y comparo la evidencia de integridad desde Unix?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834640" y="48920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14F"/>
                </a:solidFill>
              </a:rPr>
              <a:t>S9 — Transferir y verificar entre contextos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50">
                <a:solidFill>
                  <a:srgbClr val="6672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6083</Words>
  <Application>Microsoft Macintosh PowerPoint</Application>
  <PresentationFormat>Panorámica</PresentationFormat>
  <Paragraphs>638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S8 — Recuperar: bases de datos, descarga y verificación de integridad</dc:title>
  <dc:subject>S8 IntroBioinfo Unix</dc:subject>
  <dc:creator>OpenAI</dc:creator>
  <cp:lastModifiedBy>Microsoft Office User</cp:lastModifiedBy>
  <cp:revision>5</cp:revision>
  <dcterms:created xsi:type="dcterms:W3CDTF">2026-09-16T21:08:52Z</dcterms:created>
  <dcterms:modified xsi:type="dcterms:W3CDTF">2026-09-16T22:12:19Z</dcterms:modified>
</cp:coreProperties>
</file>