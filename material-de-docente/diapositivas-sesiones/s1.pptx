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7" r:id="rId2"/>
    <p:sldId id="275" r:id="rId3"/>
    <p:sldId id="279" r:id="rId4"/>
    <p:sldId id="280" r:id="rId5"/>
    <p:sldId id="257" r:id="rId6"/>
    <p:sldId id="258" r:id="rId7"/>
    <p:sldId id="259" r:id="rId8"/>
    <p:sldId id="285" r:id="rId9"/>
    <p:sldId id="260" r:id="rId10"/>
    <p:sldId id="286" r:id="rId11"/>
    <p:sldId id="261" r:id="rId12"/>
    <p:sldId id="262" r:id="rId13"/>
    <p:sldId id="263" r:id="rId14"/>
    <p:sldId id="265" r:id="rId15"/>
    <p:sldId id="264" r:id="rId16"/>
    <p:sldId id="266" r:id="rId17"/>
    <p:sldId id="267" r:id="rId18"/>
    <p:sldId id="268" r:id="rId19"/>
    <p:sldId id="288" r:id="rId20"/>
    <p:sldId id="269" r:id="rId21"/>
    <p:sldId id="271" r:id="rId22"/>
    <p:sldId id="270" r:id="rId23"/>
    <p:sldId id="287" r:id="rId24"/>
    <p:sldId id="283" r:id="rId25"/>
    <p:sldId id="281" r:id="rId26"/>
    <p:sldId id="282" r:id="rId27"/>
    <p:sldId id="274" r:id="rId28"/>
    <p:sldId id="272" r:id="rId29"/>
    <p:sldId id="27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481"/>
  </p:normalViewPr>
  <p:slideViewPr>
    <p:cSldViewPr snapToGrid="0" snapToObjects="1">
      <p:cViewPr>
        <p:scale>
          <a:sx n="121" d="100"/>
          <a:sy n="121" d="100"/>
        </p:scale>
        <p:origin x="7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79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APERTURA DOCENTE</a:t>
            </a:r>
          </a:p>
          <a:p>
            <a:r>
              <a:t>Usar esta diapositiva únicamente para ubicar el curso y la sesión. S1 es excepcional: parte del material se trabaja durante la sesión; desde S2 la dinámica será leer antes → practicar en clase → corregir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2287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 DOCENTE</a:t>
            </a:r>
          </a:p>
          <a:p>
            <a:r>
              <a:t>Presentar el objetivo en lenguaje sencillo. No pedir que memoricen términos técnicos. La meta de S1 es comprender que una herramienta aparece después de definir la pregunta, la evidencia y los datos. Durante el taller se iniciará la estrategia y el protocolo.</a:t>
            </a:r>
          </a:p>
          <a:p>
            <a:endParaRPr/>
          </a:p>
          <a:p>
            <a:r>
              <a:t>PREGUNTA: ¿Qué creen que será más difícil: decidir qué hacer, hacerlo con la computadora o demostrar que el resultado tiene sentido?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contexto, no impartir una clase de historia.
Pregunta detonadora: “¿Qué problema aparece cuando pasamos de estudiar unas pocas secuencias a tener miles o millones?”.
Explicar en lenguaje simple:
- 1953: se propone el modelo de doble hélice del ADN.
- En los años 70 aparecen métodos prácticos para leer secuencias de ADN.
- Conforme crecen las secuencias disponibles, la computadora se vuelve indispensable para almacenarlas, buscarlas y compararlas.
Evitar nombres, fechas y técnicas adicionales salvo que surjan preguntas. Lo importante es la relación causa → necesidad.
Tiempo: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que el estudiante perciba el cambio de escala.
No explicar detalles del Proyecto Genoma Humano. Basta decir que fue un esfuerzo internacional que produjo una referencia del genoma humano y mostró la necesidad de infraestructura computacional para trabajar con cantidades enormes de información.
Pregunta breve: “¿Intentarían buscar manualmente una secuencia dentro de 3,000 millones de letras?”.
Transición: “Entonces, ¿qué hace exactamente la bioinformática con toda esa información?”. Esa pregunta abre la siguiente diapositiva.
Tiempo: 3–4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figura como mapa general, no leerla completa.
Pregunta al grupo: “Si alguien sabe usar BLAST, Python y Unix, ¿eso significa que sabe resolver un problema bioinformático?”.
Idea a recuperar: las herramientas son necesarias, pero no bastan. Hay que saber qué pregunta se responde, qué evidencia se necesita y cómo comprobar el resultado.
Lenguaje simple: si aparece “metadatos”, decir por ahora “datos sobre los datos: de dónde vienen, qué versión son, cuándo se obtuvieron”.
Tiempo: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detalles históricos. Los casos solo sirven para provocar la idea “obtener un resultado no basta”.
Dar 2 minutos para comentar en parejas y pedir 2 respuestas.
Si el grupo se va hacia fraude/mala conducta, redirigir: “Incluso sin mala fe, ¿qué prácticas habrían permitido detectar el problema?”.
Tiempo: 8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pedir que memoricen las cinco definiciones. Trabajarlas como preguntas.
Ejemplos orales simples:
- checksum de un archivo → verificación.
- contar todas las líneas de un GFF cuando preguntamos “número de genes” → puede ejecutar bien pero no validar la pregunta.
- otra cepa / estudio independiente → replicabilidad.
Tip para estudiantes de primer semestre: evitar “evidencia compatible” sin explicar; decir “otro estudio, con datos distintos, llega a una conclusión que concuerda”.
Tiempo: 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una diapositiva de resumen. No leer cada viñeta.
Pregunta conceptual: “Si un código contiene un error pero siempre produce exactamente el mismo resultado, ¿es reproducible?”. Respuesta: sí. Eso no demuestra que sea correcto.
Frase para fijar: “Podemos repetir perfectamente un error”.
Tiempo: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como “regla práctica”, no como teoría filosófica.
Preguntar: “¿Confiar significa desconfiar de todo?”. Aclarar: no; significa comprobar supuestos, formatos y resultados importantes.
Conectar con el curso: en las siguientes prácticas se convertirán estas palabras en acciones concretas.
Tiempo: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distinción puede ser abstracta para primer semestre. Evitar “proceso A/B” como etiquetas para memorizar.
Analogía sencilla: “Antes de cocinar decides qué platillo quieres y qué necesitas; después cuidas cómo manejas los ingredientes”.
Pregunta: “¿Cuál empieza primero?”. Esperar: el razonamiento / saber qué queremos responder.
Tiempo: 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lenguaje cotidiano.
No pedir memorizar las fases. Señalar el flujo general: pregunta → conseguir datos → mirarlos antes de operar → analizar → interpretar → comunicar.
Aclaración importante: esta figura resume el ciclo general. En la lección también existe un segundo proceso: el razonamiento para resolver un problema bioinformático. Eso se muestra en la siguiente diapositiva.
Tiempo: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central de S1. Mantenerla proyectada durante parte del taller.
Provocación: antes de revelar el flujo, preguntar “Queremos saber cuántos genes tiene E. coli. ¿Qué comando usarían?”. Si responden grep/awk/wc/Python, contestar: “¿Qué exactamente necesitamos contar?”.
No ridiculizar la respuesta: la intención es que descubran por qué falta información antes de elegir herramienta.
Frase docente recurrente: “¿Qué evidencia estás intentando obtener?”.
Tiempo: 7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mostrar solución todavía.
Circular por el salón. Escuchar especialmente si saltan directo a comandos. Intervenir con preguntas, no con respuestas.
Preguntas guía:
- “¿Qué parte de la pregunta responde esa subpregunta?”
- “¿Qué tendrías que ver para afirmar que ya la contestaste?”
- “¿Ese dato realmente contiene esa información?”
Si no conocen GFF, no exigirlo. La actividad busca razonamiento, no conocimiento previo del formato.
Tiempo: 10 min.</a:t>
            </a:r>
          </a:p>
          <a:p>
            <a:br>
              <a:rPr dirty="0"/>
            </a:br>
            <a:r>
              <a:rPr b="1" dirty="0"/>
              <a:t>GUÍA DE PRÁCTICA</a:t>
            </a:r>
          </a:p>
          <a:p>
            <a:r>
              <a:rPr dirty="0" err="1"/>
              <a:t>Referencia</a:t>
            </a:r>
            <a:r>
              <a:rPr dirty="0"/>
              <a:t>: </a:t>
            </a:r>
            <a:r>
              <a:rPr dirty="0" err="1"/>
              <a:t>lección</a:t>
            </a:r>
            <a:r>
              <a:rPr dirty="0"/>
              <a:t> web, “</a:t>
            </a:r>
            <a:r>
              <a:rPr dirty="0" err="1"/>
              <a:t>Práctica</a:t>
            </a:r>
            <a:r>
              <a:rPr dirty="0"/>
              <a:t> 1 — De 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biológica</a:t>
            </a:r>
            <a:r>
              <a:rPr dirty="0"/>
              <a:t> a la </a:t>
            </a:r>
            <a:r>
              <a:rPr dirty="0" err="1"/>
              <a:t>estrategia</a:t>
            </a:r>
            <a:r>
              <a:rPr dirty="0"/>
              <a:t>”.</a:t>
            </a:r>
          </a:p>
          <a:p>
            <a:r>
              <a:rPr dirty="0" err="1"/>
              <a:t>Prioridad</a:t>
            </a:r>
            <a:r>
              <a:rPr dirty="0"/>
              <a:t>: ALTA. </a:t>
            </a:r>
            <a:r>
              <a:rPr dirty="0" err="1"/>
              <a:t>Esta</a:t>
            </a:r>
            <a:r>
              <a:rPr dirty="0"/>
              <a:t> es la </a:t>
            </a:r>
            <a:r>
              <a:rPr dirty="0" err="1"/>
              <a:t>práctica</a:t>
            </a:r>
            <a:r>
              <a:rPr dirty="0"/>
              <a:t> central del taller de S1.</a:t>
            </a:r>
          </a:p>
          <a:p>
            <a:r>
              <a:rPr dirty="0"/>
              <a:t>Antes de </a:t>
            </a:r>
            <a:r>
              <a:rPr dirty="0" err="1"/>
              <a:t>revisar</a:t>
            </a:r>
            <a:r>
              <a:rPr dirty="0"/>
              <a:t>: </a:t>
            </a:r>
            <a:r>
              <a:rPr dirty="0" err="1"/>
              <a:t>pedir</a:t>
            </a:r>
            <a:r>
              <a:rPr dirty="0"/>
              <a:t> 2–3 </a:t>
            </a:r>
            <a:r>
              <a:rPr dirty="0" err="1"/>
              <a:t>propuestas</a:t>
            </a:r>
            <a:r>
              <a:rPr dirty="0"/>
              <a:t> de </a:t>
            </a:r>
            <a:r>
              <a:rPr dirty="0" err="1"/>
              <a:t>subpreguntas</a:t>
            </a:r>
            <a:r>
              <a:rPr dirty="0"/>
              <a:t>.</a:t>
            </a:r>
          </a:p>
          <a:p>
            <a:r>
              <a:rPr dirty="0"/>
              <a:t>No </a:t>
            </a:r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solución</a:t>
            </a:r>
            <a:r>
              <a:rPr dirty="0"/>
              <a:t> de la </a:t>
            </a:r>
            <a:r>
              <a:rPr dirty="0" err="1"/>
              <a:t>diapositiva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 hasta </a:t>
            </a:r>
            <a:r>
              <a:rPr dirty="0" err="1"/>
              <a:t>escuchar</a:t>
            </a:r>
            <a:r>
              <a:rPr dirty="0"/>
              <a:t> al </a:t>
            </a:r>
            <a:r>
              <a:rPr dirty="0" err="1"/>
              <a:t>grupo</a:t>
            </a:r>
            <a:r>
              <a:rPr dirty="0"/>
              <a:t>.</a:t>
            </a:r>
          </a:p>
          <a:p>
            <a:r>
              <a:rPr dirty="0"/>
              <a:t>Error a </a:t>
            </a:r>
            <a:r>
              <a:rPr dirty="0" err="1"/>
              <a:t>detectar</a:t>
            </a:r>
            <a:r>
              <a:rPr dirty="0"/>
              <a:t>: </a:t>
            </a:r>
            <a:r>
              <a:rPr dirty="0" err="1"/>
              <a:t>saltar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a grep, awk, Python u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.</a:t>
            </a:r>
          </a:p>
          <a:p>
            <a:r>
              <a:rPr dirty="0" err="1"/>
              <a:t>Pregunta</a:t>
            </a:r>
            <a:r>
              <a:rPr dirty="0"/>
              <a:t> de </a:t>
            </a:r>
            <a:r>
              <a:rPr dirty="0" err="1"/>
              <a:t>intervención</a:t>
            </a:r>
            <a:r>
              <a:rPr dirty="0"/>
              <a:t>: “¿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necesitas</a:t>
            </a:r>
            <a:r>
              <a:rPr dirty="0"/>
              <a:t> </a:t>
            </a:r>
            <a:r>
              <a:rPr dirty="0" err="1"/>
              <a:t>obtener</a:t>
            </a:r>
            <a:r>
              <a:rPr dirty="0"/>
              <a:t> antes de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comando</a:t>
            </a:r>
            <a:r>
              <a:rPr dirty="0"/>
              <a:t>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tabla con las respuestas del grupo antes de mostrarla completa, si el tiempo lo permite.
Explicar “GFF” en lenguaje mínimo: “un archivo tabular que describe elementos anotados del genoma; más adelante aprenderemos su estructura”.
No enseñar todavía sintaxis de grep/awk. Si preguntan qué comando, decir que eso viene después de la operación conceptual.
Validación sencilla: genes(+) + genes(-) debe coincidir con total de genes.
Tiempo: 10 min.</a:t>
            </a:r>
          </a:p>
          <a:p>
            <a:br/>
            <a:r>
              <a:rPr b="1"/>
              <a:t>GUÍA DE PRÁCTICA</a:t>
            </a:r>
          </a:p>
          <a:p>
            <a:r>
              <a:t>Usar esta diapositiva para comparar con lo que propusieron los estudiantes. No presentarla como “la única respuesta correcta”.</a:t>
            </a:r>
          </a:p>
          <a:p>
            <a:r>
              <a:t>Cerrar haciendo explícito: pregunta → evidencia → datos → operación →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Construir la tabla con las respuestas del grupo antes de mostrarla completa, si el tiempo lo permite.
Explicar “GFF” en lenguaje mínimo: “un archivo tabular que describe elementos anotados del genoma; más adelante aprenderemos su estructura”.
No enseñar todavía sintaxis de grep/awk. Si preguntan qué comando, decir que eso viene después de la operación conceptual.
Validación sencilla: genes(+) + genes(-) debe coincidir con total de genes.
Tiempo: 10 min.</a:t>
            </a:r>
          </a:p>
          <a:p>
            <a:br/>
            <a:r>
              <a:rPr b="1"/>
              <a:t>GUÍA DE PRÁCTICA</a:t>
            </a:r>
          </a:p>
          <a:p>
            <a:r>
              <a:t>Usar esta diapositiva para comparar con lo que propusieron los estudiantes. No presentarla como “la única respuesta correcta”.</a:t>
            </a:r>
          </a:p>
          <a:p>
            <a:r>
              <a:t>Cerrar haciendo explícito: pregunta → evidencia → datos → operación →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15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lo que acaban de hacer: “Todo este razonamiento no puede quedarse en nuestra cabeza ni en notas sueltas”.
Aclarar que en U1 solo se inicia el protocolo hasta estrategia. Las secciones posteriores quedan preparadas y se llenarán conforme avanza el curso.
No convertir esta diapositiva en explicación de estructura IMRyD.
Tiempo: 5 min.</a:t>
            </a:r>
          </a:p>
          <a:p>
            <a:br/>
            <a:r>
              <a:rPr b="1"/>
              <a:t>GUÍA DE PRÁCTICA</a:t>
            </a:r>
          </a:p>
          <a:p>
            <a:r>
              <a:t>Referencia: lección web, “Práctica 2 — Tu primer protocolo reproducible”.</a:t>
            </a:r>
          </a:p>
          <a:p>
            <a:r>
              <a:t>Prioridad: MEDIA. No es necesario terminarla en las 2 horas.</a:t>
            </a:r>
          </a:p>
          <a:p>
            <a:r>
              <a:t>En clase: comprobar que todos entiendan qué debe contener protocolo.md y que no es solo una lista de comandos.</a:t>
            </a:r>
          </a:p>
          <a:p>
            <a:r>
              <a:t>Producto mínimo hoy: pregunta central + subpreguntas + estrategia inicial.</a:t>
            </a:r>
          </a:p>
          <a:p>
            <a:r>
              <a:t>El resto se completa después de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señalar: panel de edición, vista previa y exportación.
Advertencia importante: StackEdit guarda en el navegador; el estudiante debe exportar el .md y guardarlo en su carpeta.
No recorrer menús uno por uno. La imagen queda como referencia visual.
Tiempo: 3 min.</a:t>
            </a:r>
          </a:p>
          <a:p>
            <a:br/>
            <a:r>
              <a:rPr b="1"/>
              <a:t>GUÍA DE PRÁCTICA</a:t>
            </a:r>
          </a:p>
          <a:p>
            <a:r>
              <a:t>Referencia: lección web, “Práctica 3 — Markdown en StackEdit” y “Práctica 4 — GitHub como alternativa”.</a:t>
            </a:r>
          </a:p>
          <a:p>
            <a:r>
              <a:t>Prioridad en clase: BAJA. Mostrar rápidamente dónde están y qué deben lograr.</a:t>
            </a:r>
          </a:p>
          <a:p>
            <a:r>
              <a:t>Práctica 3: ejercitar encabezados, listas, enlaces, código y tablas en Markdown.</a:t>
            </a:r>
          </a:p>
          <a:p>
            <a:r>
              <a:t>Práctica 4: alternativa para quien quiera trabajar el archivo Markdown en GitHub.</a:t>
            </a:r>
          </a:p>
          <a:p>
            <a:r>
              <a:t>No consumir tiempo del taller resolviendo toda la sintaxis; los estudiantes pueden continuar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para qué sirve Markdown, no impartir una clase completa de sintaxis.
Pregunta: “¿Se entiende el texto de la izquierda aunque no esté renderizado?”. Esa es una de sus ventajas.
Si el tiempo es corto, dejar los elementos específicos para la práctica posterior.
Tiempo: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oralmente como cierre, no como examen. Pedir que completen cada frase.
Si hay confusión entre verificación y validación, recuperar un ejemplo, no repetir definiciones.
Tiempo: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explicando la dinámica de aula invertida que se usará desde S2.
En S1 no hubo lectura previa porque es la primera sesión. A partir de ahora el estudiante llega con un primer intento; el tiempo presencial se usa para comparar, corregir, justificar y resolver dudas.
Recordar que los errores razonables del primer intento son parte del aprendizaje.
Tiempo: 3 min.</a:t>
            </a:r>
          </a:p>
          <a:p>
            <a:br/>
            <a:r>
              <a:rPr b="1"/>
              <a:t>GUÍA DE PRÁCTICA</a:t>
            </a:r>
          </a:p>
          <a:p>
            <a:r>
              <a:t>Antes de cerrar, recordar explícitamente qué prácticas se trabajaron y cuáles continúan fuera de clase. La presentación es una guía; la instrucción completa y los entregables permanecen en la lección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6E"/>
          </a:solidFill>
          <a:ln w="12700">
            <a:solidFill>
              <a:srgbClr val="1F4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Introducción a la Bioinformática · S1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656539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Guía docente · aula invertida / taller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7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science/2015/feb/18/haruko-obokata-stap-cells-controversy-scientists-li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s://www.science.org/doi/10.1126/science.314.5807.1856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">
            <a:extLst>
              <a:ext uri="{FF2B5EF4-FFF2-40B4-BE49-F238E27FC236}">
                <a16:creationId xmlns:a16="http://schemas.microsoft.com/office/drawing/2014/main" id="{DD3A028B-80CB-B650-C6E4-601E11978378}"/>
              </a:ext>
            </a:extLst>
          </p:cNvPr>
          <p:cNvSpPr txBox="1"/>
          <p:nvPr/>
        </p:nvSpPr>
        <p:spPr>
          <a:xfrm>
            <a:off x="658368" y="59436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02B49"/>
                </a:solidFill>
                <a:latin typeface="Aptos"/>
              </a:rPr>
              <a:t>Introducción a la
Bioinformática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AF8FCCB3-B2B3-794D-48AC-D895CE1BD8F0}"/>
              </a:ext>
            </a:extLst>
          </p:cNvPr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LCG · UNAM · 2026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D72370D4-5938-0648-3E3C-132EDD2EFCED}"/>
              </a:ext>
            </a:extLst>
          </p:cNvPr>
          <p:cNvSpPr txBox="1"/>
          <p:nvPr/>
        </p:nvSpPr>
        <p:spPr>
          <a:xfrm>
            <a:off x="685800" y="2968387"/>
            <a:ext cx="3657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C59B27"/>
                </a:solidFill>
                <a:latin typeface="Aptos"/>
              </a:rPr>
              <a:t>Unidad 2 · </a:t>
            </a:r>
            <a:r>
              <a:rPr sz="1200" b="1" dirty="0" err="1">
                <a:solidFill>
                  <a:srgbClr val="C59B27"/>
                </a:solidFill>
                <a:latin typeface="Aptos"/>
              </a:rPr>
              <a:t>Sesión</a:t>
            </a:r>
            <a:r>
              <a:rPr sz="1200" b="1" dirty="0">
                <a:solidFill>
                  <a:srgbClr val="C59B27"/>
                </a:solidFill>
                <a:latin typeface="Aptos"/>
              </a:rPr>
              <a:t> </a:t>
            </a:r>
            <a:r>
              <a:rPr lang="es-ES" sz="1200" b="1" dirty="0">
                <a:solidFill>
                  <a:srgbClr val="C59B27"/>
                </a:solidFill>
                <a:latin typeface="Aptos"/>
              </a:rPr>
              <a:t>1</a:t>
            </a:r>
            <a:endParaRPr sz="1200" b="1" dirty="0">
              <a:solidFill>
                <a:srgbClr val="C59B27"/>
              </a:solidFill>
              <a:latin typeface="Aptos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BF7D4EC4-B913-4B67-0798-00AD4B9E3BDF}"/>
              </a:ext>
            </a:extLst>
          </p:cNvPr>
          <p:cNvSpPr txBox="1"/>
          <p:nvPr/>
        </p:nvSpPr>
        <p:spPr>
          <a:xfrm>
            <a:off x="685800" y="3283283"/>
            <a:ext cx="62179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MX" sz="3200" b="1" dirty="0">
                <a:solidFill>
                  <a:srgbClr val="0D2D43"/>
                </a:solidFill>
                <a:latin typeface="Aptos"/>
              </a:rPr>
              <a:t>Documentar: Markdown y
las fases del análisis de datos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7E314387-C499-F71F-8C96-04A3FE3C0F30}"/>
              </a:ext>
            </a:extLst>
          </p:cNvPr>
          <p:cNvSpPr txBox="1"/>
          <p:nvPr/>
        </p:nvSpPr>
        <p:spPr>
          <a:xfrm>
            <a:off x="685800" y="4654883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Aula </a:t>
            </a:r>
            <a:r>
              <a:rPr sz="1400" b="0" dirty="0" err="1">
                <a:solidFill>
                  <a:srgbClr val="475569"/>
                </a:solidFill>
                <a:latin typeface="Aptos"/>
              </a:rPr>
              <a:t>invertida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· Taller </a:t>
            </a:r>
            <a:r>
              <a:rPr sz="1400" b="0" dirty="0" err="1">
                <a:solidFill>
                  <a:srgbClr val="475569"/>
                </a:solidFill>
                <a:latin typeface="Aptos"/>
              </a:rPr>
              <a:t>práctico</a:t>
            </a:r>
            <a:r>
              <a:rPr sz="1400" b="0" dirty="0">
                <a:solidFill>
                  <a:srgbClr val="475569"/>
                </a:solidFill>
                <a:latin typeface="Aptos"/>
              </a:rPr>
              <a:t> de 2 horas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74AA2209-9737-BD1E-0D4A-A5E46F7AA6CE}"/>
              </a:ext>
            </a:extLst>
          </p:cNvPr>
          <p:cNvSpPr/>
          <p:nvPr/>
        </p:nvSpPr>
        <p:spPr>
          <a:xfrm>
            <a:off x="6583680" y="1417320"/>
            <a:ext cx="15087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9FAF2416-9B7F-5EA4-A5A6-4930E61A4BDE}"/>
              </a:ext>
            </a:extLst>
          </p:cNvPr>
          <p:cNvSpPr txBox="1"/>
          <p:nvPr/>
        </p:nvSpPr>
        <p:spPr>
          <a:xfrm>
            <a:off x="6784848" y="1581912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09B1C"/>
                </a:solidFill>
                <a:latin typeface="Aptos"/>
              </a:rPr>
              <a:t>PREGUNTA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C96B1004-A84C-DAE1-2302-22187E981746}"/>
              </a:ext>
            </a:extLst>
          </p:cNvPr>
          <p:cNvSpPr txBox="1"/>
          <p:nvPr/>
        </p:nvSpPr>
        <p:spPr>
          <a:xfrm>
            <a:off x="6784848" y="1920240"/>
            <a:ext cx="11064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B39"/>
                </a:solidFill>
                <a:latin typeface="Aptos"/>
              </a:rPr>
              <a:t>¿qué quiero saber?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03BEED04-8C27-C571-55BE-52743D1F451B}"/>
              </a:ext>
            </a:extLst>
          </p:cNvPr>
          <p:cNvSpPr txBox="1"/>
          <p:nvPr/>
        </p:nvSpPr>
        <p:spPr>
          <a:xfrm>
            <a:off x="8138160" y="176479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22C46F5D-9802-674D-9FBB-DF7BCA5CE07C}"/>
              </a:ext>
            </a:extLst>
          </p:cNvPr>
          <p:cNvSpPr/>
          <p:nvPr/>
        </p:nvSpPr>
        <p:spPr>
          <a:xfrm>
            <a:off x="8549640" y="1417320"/>
            <a:ext cx="150876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12D71789-38FC-8CA4-F96C-05CB8AD61168}"/>
              </a:ext>
            </a:extLst>
          </p:cNvPr>
          <p:cNvSpPr txBox="1"/>
          <p:nvPr/>
        </p:nvSpPr>
        <p:spPr>
          <a:xfrm>
            <a:off x="8750808" y="1581912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09B1C"/>
                </a:solidFill>
                <a:latin typeface="Aptos"/>
              </a:rPr>
              <a:t>EVIDENCIA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62C3E3E-A533-7FEE-976F-0CCED7083487}"/>
              </a:ext>
            </a:extLst>
          </p:cNvPr>
          <p:cNvSpPr txBox="1"/>
          <p:nvPr/>
        </p:nvSpPr>
        <p:spPr>
          <a:xfrm>
            <a:off x="8750808" y="1920240"/>
            <a:ext cx="110642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82B39"/>
                </a:solidFill>
                <a:latin typeface="Aptos"/>
              </a:rPr>
              <a:t>¿qué demostraría?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F48111BC-E85A-0D62-6311-C2A83DCEAB80}"/>
              </a:ext>
            </a:extLst>
          </p:cNvPr>
          <p:cNvSpPr txBox="1"/>
          <p:nvPr/>
        </p:nvSpPr>
        <p:spPr>
          <a:xfrm>
            <a:off x="10104120" y="176479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1FEB726B-2F05-9053-CB2B-EE8D4AF4ADC5}"/>
              </a:ext>
            </a:extLst>
          </p:cNvPr>
          <p:cNvSpPr/>
          <p:nvPr/>
        </p:nvSpPr>
        <p:spPr>
          <a:xfrm>
            <a:off x="10515600" y="1417320"/>
            <a:ext cx="1143000" cy="96012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C7791A53-6C20-3002-E087-B4829DFADB06}"/>
              </a:ext>
            </a:extLst>
          </p:cNvPr>
          <p:cNvSpPr txBox="1"/>
          <p:nvPr/>
        </p:nvSpPr>
        <p:spPr>
          <a:xfrm>
            <a:off x="10716768" y="1581912"/>
            <a:ext cx="740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09B1C"/>
                </a:solidFill>
                <a:latin typeface="Aptos"/>
              </a:rPr>
              <a:t>DATOS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A9F015DC-F83F-C8F5-1D43-E675DAF501F1}"/>
              </a:ext>
            </a:extLst>
          </p:cNvPr>
          <p:cNvSpPr txBox="1"/>
          <p:nvPr/>
        </p:nvSpPr>
        <p:spPr>
          <a:xfrm>
            <a:off x="10716768" y="1920240"/>
            <a:ext cx="9418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82B39"/>
                </a:solidFill>
                <a:latin typeface="Aptos"/>
              </a:rPr>
              <a:t>¿</a:t>
            </a:r>
            <a:r>
              <a:rPr sz="11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1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182B39"/>
                </a:solidFill>
                <a:latin typeface="Aptos"/>
              </a:rPr>
              <a:t>necesito</a:t>
            </a:r>
            <a:r>
              <a:rPr sz="1100" b="0" dirty="0">
                <a:solidFill>
                  <a:srgbClr val="182B39"/>
                </a:solidFill>
                <a:latin typeface="Aptos"/>
              </a:rPr>
              <a:t>?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D79B1848-5CB5-0290-A5E6-2544289034CB}"/>
              </a:ext>
            </a:extLst>
          </p:cNvPr>
          <p:cNvSpPr txBox="1"/>
          <p:nvPr/>
        </p:nvSpPr>
        <p:spPr>
          <a:xfrm>
            <a:off x="6903720" y="2880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D43"/>
                </a:solidFill>
                <a:latin typeface="Aptos"/>
              </a:rPr>
              <a:t>estrategia → documentación → confianza</a:t>
            </a:r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3EEA21DF-2CDA-3E9F-74FB-1BDFEF2C6AC0}"/>
              </a:ext>
            </a:extLst>
          </p:cNvPr>
          <p:cNvSpPr txBox="1"/>
          <p:nvPr/>
        </p:nvSpPr>
        <p:spPr>
          <a:xfrm>
            <a:off x="6812280" y="3703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09B1C"/>
                </a:solidFill>
                <a:latin typeface="Aptos"/>
              </a:rPr>
              <a:t>La bioinformática empieza antes del comando.</a:t>
            </a:r>
          </a:p>
        </p:txBody>
      </p:sp>
    </p:spTree>
    <p:extLst>
      <p:ext uri="{BB962C8B-B14F-4D97-AF65-F5344CB8AC3E}">
        <p14:creationId xmlns:p14="http://schemas.microsoft.com/office/powerpoint/2010/main" val="1897492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0160" y="1188720"/>
            <a:ext cx="9601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2667A"/>
                </a:solidFill>
                <a:latin typeface="Aptos"/>
              </a:rPr>
              <a:t>Al terminar la sesión, el estudiante podrá…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828800"/>
            <a:ext cx="9921240" cy="1051560"/>
          </a:xfrm>
          <a:prstGeom prst="roundRect">
            <a:avLst/>
          </a:prstGeom>
          <a:solidFill>
            <a:srgbClr val="EBF7F6"/>
          </a:solidFill>
          <a:ln>
            <a:solidFill>
              <a:srgbClr val="80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08760" y="1993392"/>
            <a:ext cx="9189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D3D66"/>
                </a:solidFill>
                <a:latin typeface="Aptos"/>
              </a:rPr>
              <a:t>Pasar de una pregunta biológica a una estrategia de análisis y comenzar a documentarla de forma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37560"/>
            <a:ext cx="31546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BE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47672" y="3063240"/>
            <a:ext cx="621792" cy="621792"/>
          </a:xfrm>
          <a:prstGeom prst="ellipse">
            <a:avLst/>
          </a:prstGeom>
          <a:solidFill>
            <a:srgbClr val="2C80B2"/>
          </a:solidFill>
          <a:ln>
            <a:solidFill>
              <a:srgbClr val="2C8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47672" y="30632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Pensar antes de ejecutar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22452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2667A"/>
                </a:solidFill>
                <a:latin typeface="Aptos"/>
              </a:rPr>
              <a:t>Pregunta → evidencia → datos → operación → herramienta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337560"/>
            <a:ext cx="31546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BE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22392" y="3063240"/>
            <a:ext cx="621792" cy="621792"/>
          </a:xfrm>
          <a:prstGeom prst="ellipse">
            <a:avLst/>
          </a:prstGeom>
          <a:solidFill>
            <a:srgbClr val="227780"/>
          </a:solidFill>
          <a:ln>
            <a:solidFill>
              <a:srgbClr val="22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22392" y="30632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94760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Trabajar con confianza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422452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2667A"/>
                </a:solidFill>
                <a:latin typeface="Aptos"/>
              </a:rPr>
              <a:t>Distinguir reproducibilidad, verificación, validación y robustez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337560"/>
            <a:ext cx="3154680" cy="2148840"/>
          </a:xfrm>
          <a:prstGeom prst="roundRect">
            <a:avLst/>
          </a:prstGeom>
          <a:solidFill>
            <a:srgbClr val="F5F8FC"/>
          </a:solidFill>
          <a:ln>
            <a:solidFill>
              <a:srgbClr val="BE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97112" y="3063240"/>
            <a:ext cx="621792" cy="621792"/>
          </a:xfrm>
          <a:prstGeom prst="ellipse">
            <a:avLst/>
          </a:prstGeom>
          <a:solidFill>
            <a:srgbClr val="5D78B0"/>
          </a:solidFill>
          <a:ln>
            <a:solidFill>
              <a:srgbClr val="5D7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3063240"/>
            <a:ext cx="621792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94760"/>
            <a:ext cx="2697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D3D66"/>
                </a:solidFill>
                <a:latin typeface="Aptos"/>
              </a:rPr>
              <a:t>Dejar rastro del análisis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4224528"/>
            <a:ext cx="2651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2667A"/>
                </a:solidFill>
                <a:latin typeface="Aptos"/>
              </a:rPr>
              <a:t>Iniciar un protocolo en Markdown con decisiones, pasos y comprobaciones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6739"/>
            <a:ext cx="94183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MX" sz="1800" b="1" dirty="0">
                <a:solidFill>
                  <a:srgbClr val="0D2D43"/>
                </a:solidFill>
                <a:latin typeface="Aptos"/>
              </a:rPr>
              <a:t>Meta: iniciar protocolo.md con una pregunta biológica, subpreguntas y una estrategia escrita.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78A3E685-35E0-1161-558D-68C86BCA8FA5}"/>
              </a:ext>
            </a:extLst>
          </p:cNvPr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dirty="0">
                <a:solidFill>
                  <a:srgbClr val="D09B1C"/>
                </a:solidFill>
                <a:latin typeface="Aptos"/>
              </a:rPr>
              <a:t>OBJETIVO</a:t>
            </a: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907A5189-0DEC-B80E-1281-062D6015A338}"/>
              </a:ext>
            </a:extLst>
          </p:cNvPr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2D43"/>
                </a:solidFill>
                <a:latin typeface="Aptos"/>
              </a:rPr>
              <a:t>¿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Qué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queremos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lograr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hoy?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D274ED5-BCE0-0202-F2AF-801EB78F2A28}"/>
              </a:ext>
            </a:extLst>
          </p:cNvPr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AB7D8A84-00C1-3625-0A21-606BF80D69B0}"/>
              </a:ext>
            </a:extLst>
          </p:cNvPr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RESUMEN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S1 en una sola mirada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09B1C"/>
                </a:solidFill>
                <a:latin typeface="Aptos"/>
              </a:rPr>
              <a:t>El problema conductor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D2D43"/>
                </a:solidFill>
                <a:latin typeface="Aptos"/>
              </a:rPr>
              <a:t>Pasar de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una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pregunta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biológica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a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una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estrategia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que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pueda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explicarse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revisarse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 y </a:t>
            </a:r>
            <a:r>
              <a:rPr sz="1600" b="1" dirty="0" err="1">
                <a:solidFill>
                  <a:srgbClr val="0D2D43"/>
                </a:solidFill>
                <a:latin typeface="Aptos"/>
              </a:rPr>
              <a:t>repetirse</a:t>
            </a:r>
            <a:r>
              <a:rPr sz="1600" b="1" dirty="0">
                <a:solidFill>
                  <a:srgbClr val="0D2D4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9B1C"/>
                </a:solidFill>
                <a:latin typeface="Aptos"/>
              </a:rPr>
              <a:t>PREGUNTA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82B39"/>
                </a:solidFill>
                <a:latin typeface="Aptos"/>
              </a:rPr>
              <a:t>quiero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saber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4248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9B1C"/>
                </a:solidFill>
                <a:latin typeface="Aptos"/>
              </a:rPr>
              <a:t>EVIDENCIA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984248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82B39"/>
                </a:solidFill>
                <a:latin typeface="Aptos"/>
              </a:rPr>
              <a:t>resultado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me </a:t>
            </a:r>
            <a:r>
              <a:rPr sz="1200" b="0" dirty="0" err="1">
                <a:solidFill>
                  <a:srgbClr val="182B39"/>
                </a:solidFill>
                <a:latin typeface="Aptos"/>
              </a:rPr>
              <a:t>convencería</a:t>
            </a:r>
            <a:endParaRPr sz="1200" b="0" dirty="0">
              <a:solidFill>
                <a:srgbClr val="182B3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642615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D09B1C"/>
                </a:solidFill>
                <a:latin typeface="Aptos"/>
              </a:rPr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42615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82B39"/>
                </a:solidFill>
                <a:latin typeface="Aptos"/>
              </a:rPr>
              <a:t>información</a:t>
            </a:r>
            <a:r>
              <a:rPr sz="12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182B39"/>
                </a:solidFill>
                <a:latin typeface="Aptos"/>
              </a:rPr>
              <a:t>necesito</a:t>
            </a:r>
            <a:endParaRPr sz="1200" b="0" dirty="0">
              <a:solidFill>
                <a:srgbClr val="182B3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3300984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9B1C"/>
                </a:solidFill>
                <a:latin typeface="Aptos"/>
              </a:rPr>
              <a:t>OPERACIÓN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300984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B39"/>
                </a:solidFill>
                <a:latin typeface="Aptos"/>
              </a:rPr>
              <a:t>qué debo hacer con esos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59352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9B1C"/>
                </a:solidFill>
                <a:latin typeface="Aptos"/>
              </a:rPr>
              <a:t>HERRAMIENTA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59352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B39"/>
                </a:solidFill>
                <a:latin typeface="Aptos"/>
              </a:rPr>
              <a:t>con qué lo ejecutaré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1772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09B1C"/>
                </a:solidFill>
                <a:latin typeface="Aptos"/>
              </a:rPr>
              <a:t>PROTOCOLO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617720"/>
            <a:ext cx="4480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82B39"/>
                </a:solidFill>
                <a:latin typeface="Aptos"/>
              </a:rPr>
              <a:t>cómo dejo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¿En qué momento de esta cadena aparece la herramienta?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09B5D2AC-ECB2-A253-8E57-EEC6155CF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79677"/>
            <a:ext cx="8097030" cy="436265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ANTECEDENTE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La bioinformática nació de una necesidad: organizar y comparar información biológica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1233" y="2297702"/>
            <a:ext cx="2584146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0D2D43"/>
                </a:solidFill>
                <a:latin typeface="Aptos"/>
              </a:rPr>
              <a:t>La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tecnología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cambia. La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necesidad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de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hacer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análisis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confiables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y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explicables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0D2D43"/>
                </a:solidFill>
                <a:latin typeface="Aptos"/>
              </a:rPr>
              <a:t>permanece</a:t>
            </a:r>
            <a:r>
              <a:rPr sz="1500" b="1" dirty="0">
                <a:solidFill>
                  <a:srgbClr val="0D2D43"/>
                </a:solidFill>
                <a:latin typeface="Aptos"/>
              </a:rPr>
              <a:t>.</a:t>
            </a:r>
            <a:endParaRPr lang="es-ES" sz="1500" b="1" dirty="0">
              <a:solidFill>
                <a:srgbClr val="0D2D43"/>
              </a:solidFill>
              <a:latin typeface="Aptos"/>
            </a:endParaRPr>
          </a:p>
          <a:p>
            <a:pPr algn="ctr"/>
            <a:endParaRPr lang="es-MX" sz="1500" b="1" dirty="0">
              <a:solidFill>
                <a:srgbClr val="0D2D43"/>
              </a:solidFill>
              <a:latin typeface="Aptos"/>
            </a:endParaRPr>
          </a:p>
          <a:p>
            <a:pPr algn="ctr"/>
            <a:r>
              <a:rPr lang="es-MX" sz="1600" b="1" dirty="0"/>
              <a:t>Conviene aprender a resolver problemas de manera reproducible</a:t>
            </a:r>
            <a:r>
              <a:rPr lang="es-MX" sz="1600" dirty="0"/>
              <a:t>. </a:t>
            </a:r>
          </a:p>
          <a:p>
            <a:pPr algn="ctr"/>
            <a:r>
              <a:rPr lang="es-MX" sz="1600" i="1" dirty="0"/>
              <a:t>“las preguntas biológicas permanecen; las estrategias de análisis evolucionan”</a:t>
            </a:r>
            <a:r>
              <a:rPr lang="es-MX" sz="1600" dirty="0"/>
              <a:t>. </a:t>
            </a:r>
            <a:endParaRPr sz="1500" b="1" dirty="0">
              <a:solidFill>
                <a:srgbClr val="0D2D4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925312"/>
            <a:ext cx="9326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182B39"/>
                </a:solidFill>
                <a:latin typeface="Aptos"/>
              </a:rPr>
              <a:t>Si las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herramientas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cambian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tan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rápido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, ¿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debería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aprender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un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bioinformático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que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siga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siendo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útil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5CF4BC-555A-B8CA-5372-9933999DA26F}"/>
              </a:ext>
            </a:extLst>
          </p:cNvPr>
          <p:cNvSpPr txBox="1"/>
          <p:nvPr/>
        </p:nvSpPr>
        <p:spPr>
          <a:xfrm>
            <a:off x="1444752" y="5547282"/>
            <a:ext cx="6389348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Gauthier, J., Vincent, A. T., Charette, S. J., &amp; Derome, N. (2019). </a:t>
            </a:r>
            <a:r>
              <a:rPr lang="es-MX" sz="800" i="1" dirty="0"/>
              <a:t>A brief history of bioinformatics</a:t>
            </a:r>
            <a:r>
              <a:rPr lang="es-MX" sz="800" dirty="0"/>
              <a:t>. </a:t>
            </a:r>
            <a:r>
              <a:rPr lang="es-MX" sz="800" b="1" dirty="0"/>
              <a:t>Briefings in Bioinformatics, 20</a:t>
            </a:r>
            <a:r>
              <a:rPr lang="es-MX" sz="800" dirty="0"/>
              <a:t>(6), 1981–1996.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¿Cómo llegamos a necesitar la bioinformática?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A medida que aprendimos a leer la información biológica, también tuvimos que aprender a manejarla.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786384" cy="786384"/>
          </a:xfrm>
          <a:prstGeom prst="ellipse">
            <a:avLst/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1953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890A6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Estructura del ADN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4364B"/>
                </a:solidFill>
              </a:rPr>
              <a:t>Entendemos mejor dónde se almacena la información genética.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4256" y="1325880"/>
            <a:ext cx="786384" cy="786384"/>
          </a:xfrm>
          <a:prstGeom prst="ellipse">
            <a:avLst/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Años 70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6168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890A6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84448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Secuenciación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4364B"/>
                </a:solidFill>
              </a:rPr>
              <a:t>Comenzamos a leer el orden de las bases del ADN.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87184" y="1325880"/>
            <a:ext cx="786384" cy="786384"/>
          </a:xfrm>
          <a:prstGeom prst="ellipse">
            <a:avLst/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Años 80–90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69096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890A6"/>
                </a:solidFill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37376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Más secuencias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29718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4364B"/>
                </a:solidFill>
              </a:rPr>
              <a:t>Guardar y comparar información manualmente deja de ser práctico.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0040112" y="1325880"/>
            <a:ext cx="786384" cy="786384"/>
          </a:xfrm>
          <a:prstGeom prst="ellipse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9216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0304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Datos a gran escala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63456" y="29718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24364B"/>
                </a:solidFill>
              </a:rPr>
              <a:t>Computadoras y estrategias permiten convertir enormes volúmenes de datos en evidencia.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463040" y="4892040"/>
            <a:ext cx="9235440" cy="749808"/>
          </a:xfrm>
          <a:prstGeom prst="roundRect">
            <a:avLst/>
          </a:prstGeom>
          <a:solidFill>
            <a:srgbClr val="EAF4F5"/>
          </a:solidFill>
          <a:ln w="12700">
            <a:solidFill>
              <a:srgbClr val="8AC7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120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7A83"/>
                </a:solidFill>
              </a:rPr>
              <a:t>Biología + datos + </a:t>
            </a:r>
            <a:r>
              <a:rPr lang="en-US" sz="1900" b="1" dirty="0" err="1">
                <a:solidFill>
                  <a:srgbClr val="247A83"/>
                </a:solidFill>
              </a:rPr>
              <a:t>computación</a:t>
            </a:r>
            <a:r>
              <a:rPr lang="en-US" sz="1900" b="1" dirty="0">
                <a:solidFill>
                  <a:srgbClr val="247A83"/>
                </a:solidFill>
              </a:rPr>
              <a:t> + </a:t>
            </a:r>
            <a:r>
              <a:rPr lang="en-US" sz="1900" b="1" dirty="0" err="1">
                <a:solidFill>
                  <a:srgbClr val="247A83"/>
                </a:solidFill>
              </a:rPr>
              <a:t>matemáticas</a:t>
            </a:r>
            <a:r>
              <a:rPr lang="en-US" sz="1900" b="1" dirty="0">
                <a:solidFill>
                  <a:srgbClr val="247A83"/>
                </a:solidFill>
              </a:rPr>
              <a:t> → una nueva forma de estudiar sistemas vivos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80960" y="5989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</a:rPr>
              <a:t>Contexto histórico simplificado · NHGRI / historia de la genómica</a:t>
            </a:r>
            <a:endParaRPr lang="en-US" sz="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Del gen al genoma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El Proyecto Genoma Humano muestra cómo la biología cambió de escala.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2743200" cy="3474720"/>
          </a:xfrm>
          <a:prstGeom prst="roundRect">
            <a:avLst/>
          </a:prstGeom>
          <a:solidFill>
            <a:srgbClr val="EEF5FA"/>
          </a:solidFill>
          <a:ln w="16510">
            <a:solidFill>
              <a:srgbClr val="8DB9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7FB0"/>
                </a:solidFill>
              </a:rPr>
              <a:t>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🧬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34440" y="30632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Estudiar genes o secuencias de manera individual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776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890A6"/>
                </a:solidFill>
              </a:rPr>
              <a:t>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2971800" cy="3474720"/>
          </a:xfrm>
          <a:prstGeom prst="roundRect">
            <a:avLst/>
          </a:prstGeom>
          <a:solidFill>
            <a:srgbClr val="EAF4F5"/>
          </a:solidFill>
          <a:ln w="16510">
            <a:solidFill>
              <a:srgbClr val="8AC7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7A83"/>
                </a:solidFill>
              </a:rPr>
              <a:t>1990–2003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2240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</a:rPr>
              <a:t>Proyecto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E3A5F"/>
                </a:solidFill>
              </a:rPr>
              <a:t>Genoma Humano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983480" y="34290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4364B"/>
                </a:solidFill>
              </a:rPr>
              <a:t>Una referencia del genoma humano: ~3,000 millones de letras de ADN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890A6"/>
                </a:solidFill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8458200" y="1325880"/>
            <a:ext cx="2834640" cy="3474720"/>
          </a:xfrm>
          <a:prstGeom prst="roundRect">
            <a:avLst/>
          </a:prstGeom>
          <a:solidFill>
            <a:srgbClr val="F3EFF8"/>
          </a:solidFill>
          <a:ln w="16510">
            <a:solidFill>
              <a:srgbClr val="AA97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62A3"/>
                </a:solidFill>
              </a:rPr>
              <a:t>NUEVO RETO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81160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💻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52560" y="297180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364B"/>
                </a:solidFill>
              </a:rPr>
              <a:t>Almacenar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4364B"/>
                </a:solidFill>
              </a:rPr>
              <a:t>Encontrar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4364B"/>
                </a:solidFill>
              </a:rPr>
              <a:t>Comparar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4364B"/>
                </a:solidFill>
              </a:rPr>
              <a:t>Analizar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920240" y="5166360"/>
            <a:ext cx="8321040" cy="640080"/>
          </a:xfrm>
          <a:prstGeom prst="roundRect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5358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Aquí la bioinformática deja de ser opcional: necesitamos trabajar con datos a escala.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840" y="5989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794"/>
                </a:solidFill>
              </a:rPr>
              <a:t>Proyecto Genoma Humano · 1990–2003 · NHGRI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¿Qué hace la bioinformática?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De una pregunta biológica a evidencia interpretable.</a:t>
            </a:r>
            <a:endParaRPr lang="en-US" sz="1350" dirty="0"/>
          </a:p>
        </p:txBody>
      </p:sp>
      <p:pic>
        <p:nvPicPr>
          <p:cNvPr id="4" name="Image 0" descr="/mnt/data/figura-u1-s01-introduccion-bioinformat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0908792" cy="5102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IDEA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Bioinformática ≠ ejecutar programas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108960" cy="192024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1024128" y="1581912"/>
            <a:ext cx="270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EMPEZAR POR LA HERRAMIENTA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84994"/>
            <a:ext cx="2706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82B39"/>
                </a:solidFill>
                <a:latin typeface="Aptos"/>
              </a:rPr>
              <a:t>“Tengo un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programa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… ¿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puedo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hacer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con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él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29968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17320"/>
            <a:ext cx="5943600" cy="192024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5276088" y="1581912"/>
            <a:ext cx="5541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8B5E"/>
                </a:solidFill>
                <a:latin typeface="Aptos"/>
              </a:rPr>
              <a:t>EMPEZAR POR LA PREGUNTA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202439"/>
            <a:ext cx="55412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182B39"/>
                </a:solidFill>
                <a:latin typeface="Aptos"/>
              </a:rPr>
              <a:t>Pregunta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biológica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→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evidencia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→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datos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→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operación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→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herramienta</a:t>
            </a:r>
            <a:endParaRPr lang="es-ES" sz="1400" b="0" dirty="0">
              <a:solidFill>
                <a:srgbClr val="182B39"/>
              </a:solidFill>
              <a:latin typeface="Aptos"/>
            </a:endParaRPr>
          </a:p>
          <a:p>
            <a:pPr algn="l"/>
            <a:endParaRPr lang="es-MX" sz="1400" dirty="0">
              <a:solidFill>
                <a:srgbClr val="182B39"/>
              </a:solidFill>
              <a:latin typeface="Aptos"/>
            </a:endParaRPr>
          </a:p>
          <a:p>
            <a:r>
              <a:rPr lang="es-MX" sz="1400" dirty="0"/>
              <a:t>¿qué datos usamos? → ¿qué hicimos con ellos? → ¿qué obtuvimos? → ¿cómo llegamos a esa conclusión?</a:t>
            </a:r>
          </a:p>
          <a:p>
            <a:pPr algn="l"/>
            <a:endParaRPr lang="es-ES" sz="1400" b="0" dirty="0">
              <a:solidFill>
                <a:srgbClr val="182B3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912" y="3630168"/>
            <a:ext cx="1024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D2D43"/>
                </a:solidFill>
                <a:latin typeface="Aptos"/>
              </a:rPr>
              <a:t>La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herramienta</a:t>
            </a:r>
            <a:r>
              <a:rPr b="1" dirty="0">
                <a:solidFill>
                  <a:srgbClr val="0D2D43"/>
                </a:solidFill>
                <a:latin typeface="Aptos"/>
              </a:rPr>
              <a:t> es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una</a:t>
            </a:r>
            <a:r>
              <a:rPr b="1" dirty="0">
                <a:solidFill>
                  <a:srgbClr val="0D2D43"/>
                </a:solidFill>
                <a:latin typeface="Aptos"/>
              </a:rPr>
              <a:t>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decisión</a:t>
            </a:r>
            <a:r>
              <a:rPr b="1" dirty="0">
                <a:solidFill>
                  <a:srgbClr val="0D2D43"/>
                </a:solidFill>
                <a:latin typeface="Aptos"/>
              </a:rPr>
              <a:t> posterior, no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el</a:t>
            </a:r>
            <a:r>
              <a:rPr b="1" dirty="0">
                <a:solidFill>
                  <a:srgbClr val="0D2D43"/>
                </a:solidFill>
                <a:latin typeface="Aptos"/>
              </a:rPr>
              <a:t> punto de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partida</a:t>
            </a:r>
            <a:r>
              <a:rPr b="1" dirty="0">
                <a:solidFill>
                  <a:srgbClr val="0D2D43"/>
                </a:solidFill>
                <a:latin typeface="Apto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25312"/>
            <a:ext cx="9326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182B39"/>
                </a:solidFill>
                <a:latin typeface="Aptos"/>
              </a:rPr>
              <a:t>¿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riesgo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hay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en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elegir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primero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una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herramienta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y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después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buscarle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una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1" dirty="0" err="1">
                <a:solidFill>
                  <a:srgbClr val="182B39"/>
                </a:solidFill>
                <a:latin typeface="Aptos"/>
              </a:rPr>
              <a:t>pregunta</a:t>
            </a:r>
            <a:r>
              <a:rPr sz="900" b="1" dirty="0">
                <a:solidFill>
                  <a:srgbClr val="182B39"/>
                </a:solidFill>
                <a:latin typeface="Aptos"/>
              </a:rPr>
              <a:t>?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1FA724A-33BD-2205-4AF1-F8F615407F7B}"/>
              </a:ext>
            </a:extLst>
          </p:cNvPr>
          <p:cNvSpPr txBox="1"/>
          <p:nvPr/>
        </p:nvSpPr>
        <p:spPr>
          <a:xfrm>
            <a:off x="1063752" y="4203787"/>
            <a:ext cx="9753600" cy="923330"/>
          </a:xfrm>
          <a:prstGeom prst="rect">
            <a:avLst/>
          </a:prstGeom>
          <a:solidFill>
            <a:srgbClr val="F2FFE8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Lo importante es desarrollar </a:t>
            </a:r>
            <a:r>
              <a:rPr lang="es-MX" b="1" dirty="0"/>
              <a:t>habilidades para trabajar con datos</a:t>
            </a:r>
            <a:r>
              <a:rPr lang="es-MX" dirty="0"/>
              <a:t>: aprender a explorarlos, reconocer cómo están organizados, transformarlos y combinar distintas herramientas para resolver un problema.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Un </a:t>
            </a:r>
            <a:r>
              <a:rPr lang="en-US" sz="2500" b="1" dirty="0" err="1">
                <a:solidFill>
                  <a:srgbClr val="1E3A5F"/>
                </a:solidFill>
              </a:rPr>
              <a:t>resultado</a:t>
            </a:r>
            <a:r>
              <a:rPr lang="en-US" sz="2500" b="1" dirty="0">
                <a:solidFill>
                  <a:srgbClr val="1E3A5F"/>
                </a:solidFill>
              </a:rPr>
              <a:t> </a:t>
            </a:r>
            <a:r>
              <a:rPr lang="en-US" sz="2500" b="1" dirty="0" err="1">
                <a:solidFill>
                  <a:srgbClr val="1E3A5F"/>
                </a:solidFill>
              </a:rPr>
              <a:t>puede</a:t>
            </a:r>
            <a:r>
              <a:rPr lang="en-US" sz="2500" b="1" dirty="0">
                <a:solidFill>
                  <a:srgbClr val="1E3A5F"/>
                </a:solidFill>
              </a:rPr>
              <a:t> </a:t>
            </a:r>
            <a:r>
              <a:rPr lang="en-US" sz="2500" b="1" dirty="0" err="1">
                <a:solidFill>
                  <a:srgbClr val="1E3A5F"/>
                </a:solidFill>
              </a:rPr>
              <a:t>existir</a:t>
            </a:r>
            <a:r>
              <a:rPr lang="en-US" sz="2500" b="1" dirty="0">
                <a:solidFill>
                  <a:srgbClr val="1E3A5F"/>
                </a:solidFill>
              </a:rPr>
              <a:t>… y </a:t>
            </a:r>
            <a:r>
              <a:rPr lang="en-US" sz="2500" b="1" dirty="0" err="1">
                <a:solidFill>
                  <a:srgbClr val="1E3A5F"/>
                </a:solidFill>
              </a:rPr>
              <a:t>aun</a:t>
            </a:r>
            <a:r>
              <a:rPr lang="en-US" sz="2500" b="1" dirty="0">
                <a:solidFill>
                  <a:srgbClr val="1E3A5F"/>
                </a:solidFill>
              </a:rPr>
              <a:t> </a:t>
            </a:r>
            <a:r>
              <a:rPr lang="en-US" sz="2500" b="1" dirty="0" err="1">
                <a:solidFill>
                  <a:srgbClr val="1E3A5F"/>
                </a:solidFill>
              </a:rPr>
              <a:t>así</a:t>
            </a:r>
            <a:r>
              <a:rPr lang="en-US" sz="2500" b="1" dirty="0">
                <a:solidFill>
                  <a:srgbClr val="1E3A5F"/>
                </a:solidFill>
              </a:rPr>
              <a:t> no ser </a:t>
            </a:r>
            <a:r>
              <a:rPr lang="en-US" sz="2500" b="1" dirty="0" err="1">
                <a:solidFill>
                  <a:srgbClr val="1E3A5F"/>
                </a:solidFill>
              </a:rPr>
              <a:t>confiable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Dos </a:t>
            </a:r>
            <a:r>
              <a:rPr lang="en-US" sz="1350" dirty="0" err="1">
                <a:solidFill>
                  <a:srgbClr val="5B6B7C"/>
                </a:solidFill>
              </a:rPr>
              <a:t>historias</a:t>
            </a:r>
            <a:r>
              <a:rPr lang="en-US" sz="1350" dirty="0">
                <a:solidFill>
                  <a:srgbClr val="5B6B7C"/>
                </a:solidFill>
              </a:rPr>
              <a:t> </a:t>
            </a:r>
            <a:r>
              <a:rPr lang="en-US" sz="1350" dirty="0" err="1">
                <a:solidFill>
                  <a:srgbClr val="5B6B7C"/>
                </a:solidFill>
              </a:rPr>
              <a:t>reales</a:t>
            </a:r>
            <a:r>
              <a:rPr lang="en-US" sz="1350" dirty="0">
                <a:solidFill>
                  <a:srgbClr val="5B6B7C"/>
                </a:solidFill>
              </a:rPr>
              <a:t>…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7780">
            <a:solidFill>
              <a:srgbClr val="2B7FB0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60020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Caso 1 · STAP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8408" y="2075688"/>
            <a:ext cx="467258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Un resultado muy llamativo no pudo volver a obtenerse de forma confiable. Hubo </a:t>
            </a:r>
            <a:r>
              <a:rPr lang="en-US" sz="1400" dirty="0" err="1">
                <a:solidFill>
                  <a:srgbClr val="24364B"/>
                </a:solidFill>
              </a:rPr>
              <a:t>retractaciones</a:t>
            </a:r>
            <a:r>
              <a:rPr lang="en-US" sz="1400" dirty="0">
                <a:solidFill>
                  <a:srgbClr val="24364B"/>
                </a:solidFill>
              </a:rPr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24364B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24364B"/>
              </a:solidFill>
            </a:endParaRPr>
          </a:p>
          <a:p>
            <a:pPr marL="0" indent="0">
              <a:buNone/>
            </a:pPr>
            <a:r>
              <a:rPr lang="en-US" sz="1400" dirty="0">
                <a:hlinkClick r:id="rId3"/>
              </a:rPr>
              <a:t>https://</a:t>
            </a:r>
            <a:r>
              <a:rPr lang="en-US" sz="1400" dirty="0" err="1">
                <a:hlinkClick r:id="rId3"/>
              </a:rPr>
              <a:t>www.theguardian.com</a:t>
            </a:r>
            <a:r>
              <a:rPr lang="en-US" sz="1400" dirty="0">
                <a:hlinkClick r:id="rId3"/>
              </a:rPr>
              <a:t>/science/2015/</a:t>
            </a:r>
            <a:r>
              <a:rPr lang="en-US" sz="1400" dirty="0" err="1">
                <a:hlinkClick r:id="rId3"/>
              </a:rPr>
              <a:t>feb</a:t>
            </a:r>
            <a:r>
              <a:rPr lang="en-US" sz="1400" dirty="0">
                <a:hlinkClick r:id="rId3"/>
              </a:rPr>
              <a:t>/18/</a:t>
            </a:r>
            <a:r>
              <a:rPr lang="en-US" sz="1400" dirty="0" err="1">
                <a:hlinkClick r:id="rId3"/>
              </a:rPr>
              <a:t>haruko</a:t>
            </a:r>
            <a:r>
              <a:rPr lang="en-US" sz="1400" dirty="0">
                <a:hlinkClick r:id="rId3"/>
              </a:rPr>
              <a:t>-</a:t>
            </a:r>
            <a:r>
              <a:rPr lang="en-US" sz="1400" dirty="0" err="1">
                <a:hlinkClick r:id="rId3"/>
              </a:rPr>
              <a:t>obokata</a:t>
            </a:r>
            <a:r>
              <a:rPr lang="en-US" sz="1400" dirty="0">
                <a:hlinkClick r:id="rId3"/>
              </a:rPr>
              <a:t>-</a:t>
            </a:r>
            <a:r>
              <a:rPr lang="en-US" sz="1400" dirty="0" err="1">
                <a:hlinkClick r:id="rId3"/>
              </a:rPr>
              <a:t>stap</a:t>
            </a:r>
            <a:r>
              <a:rPr lang="en-US" sz="1400" dirty="0">
                <a:hlinkClick r:id="rId3"/>
              </a:rPr>
              <a:t>-cells-controversy-scientists-lie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0749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7780">
            <a:solidFill>
              <a:srgbClr val="7A62A3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60020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Caso 2 · Error de software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0528" y="2075688"/>
            <a:ext cx="467258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Un programa invertía el signo de dos columnas. El error pasó inadvertido y llevó a retractar cinco </a:t>
            </a:r>
            <a:r>
              <a:rPr lang="en-US" sz="1400" dirty="0" err="1">
                <a:solidFill>
                  <a:srgbClr val="24364B"/>
                </a:solidFill>
              </a:rPr>
              <a:t>artículos</a:t>
            </a:r>
            <a:r>
              <a:rPr lang="en-US" sz="1400" dirty="0">
                <a:solidFill>
                  <a:srgbClr val="24364B"/>
                </a:solidFill>
              </a:rPr>
              <a:t>.</a:t>
            </a:r>
          </a:p>
          <a:p>
            <a:pPr marL="0" indent="0">
              <a:buNone/>
            </a:pPr>
            <a:endParaRPr lang="en-US" sz="1400" dirty="0">
              <a:solidFill>
                <a:srgbClr val="24364B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24364B"/>
              </a:solidFill>
            </a:endParaRPr>
          </a:p>
          <a:p>
            <a:pPr marL="0" indent="0">
              <a:buNone/>
            </a:pPr>
            <a:r>
              <a:rPr lang="en-US" sz="1400" dirty="0">
                <a:hlinkClick r:id="rId4"/>
              </a:rPr>
              <a:t>https://</a:t>
            </a:r>
            <a:r>
              <a:rPr lang="en-US" sz="1400" dirty="0" err="1">
                <a:hlinkClick r:id="rId4"/>
              </a:rPr>
              <a:t>www.science.org</a:t>
            </a:r>
            <a:r>
              <a:rPr lang="en-US" sz="1400" dirty="0">
                <a:hlinkClick r:id="rId4"/>
              </a:rPr>
              <a:t>/</a:t>
            </a:r>
            <a:r>
              <a:rPr lang="en-US" sz="1400" dirty="0" err="1">
                <a:hlinkClick r:id="rId4"/>
              </a:rPr>
              <a:t>doi</a:t>
            </a:r>
            <a:r>
              <a:rPr lang="en-US" sz="1400" dirty="0">
                <a:hlinkClick r:id="rId4"/>
              </a:rPr>
              <a:t>/10.1126/science.314.5807.1856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4160520"/>
            <a:ext cx="9555480" cy="1005840"/>
          </a:xfrm>
          <a:prstGeom prst="roundRect">
            <a:avLst/>
          </a:prstGeom>
          <a:solidFill>
            <a:srgbClr val="FFF7E8"/>
          </a:solidFill>
          <a:ln w="16510">
            <a:solidFill>
              <a:srgbClr val="E1A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4407408"/>
            <a:ext cx="9006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541B"/>
                </a:solidFill>
              </a:rPr>
              <a:t>Pregunta para discutir: ¿el problema fue “no saber usar una herramienta” o no comprobar suficientemente el análisis?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2" name="Picture 2" descr="Reloj colgante de pared acrílico con dibujo de gato, decoración de pared  Adorable decorativa de 24x30cm para habitación de invitados, resistente y  ver | Bodega Aurrera en línea">
            <a:extLst>
              <a:ext uri="{FF2B5EF4-FFF2-40B4-BE49-F238E27FC236}">
                <a16:creationId xmlns:a16="http://schemas.microsoft.com/office/drawing/2014/main" id="{6DF2DE3C-6E21-B89C-8A97-1A09D6535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283" y="139730"/>
            <a:ext cx="1126714" cy="112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38986C9-F29D-8296-D016-F930CC0DC877}"/>
              </a:ext>
            </a:extLst>
          </p:cNvPr>
          <p:cNvSpPr txBox="1"/>
          <p:nvPr/>
        </p:nvSpPr>
        <p:spPr>
          <a:xfrm>
            <a:off x="10112236" y="469130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10 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D2D43"/>
                </a:solidFill>
                <a:latin typeface="Aptos"/>
              </a:rPr>
              <a:t>¿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Cuándo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confiarías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en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 un </a:t>
            </a:r>
            <a:r>
              <a:rPr sz="2000" b="1" dirty="0" err="1">
                <a:solidFill>
                  <a:srgbClr val="0D2D43"/>
                </a:solidFill>
                <a:latin typeface="Aptos"/>
              </a:rPr>
              <a:t>análisis</a:t>
            </a:r>
            <a:r>
              <a:rPr sz="2000" b="1" dirty="0">
                <a:solidFill>
                  <a:srgbClr val="0D2D43"/>
                </a:solidFill>
                <a:latin typeface="Aptos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48122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0D2D43"/>
                </a:solidFill>
                <a:latin typeface="Aptos"/>
              </a:rPr>
              <a:t>Dos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análisis</a:t>
            </a:r>
            <a:r>
              <a:rPr b="1" dirty="0">
                <a:solidFill>
                  <a:srgbClr val="0D2D43"/>
                </a:solidFill>
                <a:latin typeface="Aptos"/>
              </a:rPr>
              <a:t>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producen</a:t>
            </a:r>
            <a:r>
              <a:rPr b="1" dirty="0">
                <a:solidFill>
                  <a:srgbClr val="0D2D43"/>
                </a:solidFill>
                <a:latin typeface="Aptos"/>
              </a:rPr>
              <a:t>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el</a:t>
            </a:r>
            <a:r>
              <a:rPr b="1" dirty="0">
                <a:solidFill>
                  <a:srgbClr val="0D2D43"/>
                </a:solidFill>
                <a:latin typeface="Aptos"/>
              </a:rPr>
              <a:t>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mismo</a:t>
            </a:r>
            <a:r>
              <a:rPr b="1" dirty="0">
                <a:solidFill>
                  <a:srgbClr val="0D2D43"/>
                </a:solidFill>
                <a:latin typeface="Aptos"/>
              </a:rPr>
              <a:t> 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número</a:t>
            </a:r>
            <a:r>
              <a:rPr b="1" dirty="0">
                <a:solidFill>
                  <a:srgbClr val="0D2D43"/>
                </a:solidFill>
                <a:latin typeface="Aptos"/>
              </a:rPr>
              <a:t>. ¿</a:t>
            </a:r>
            <a:r>
              <a:rPr b="1" dirty="0" err="1">
                <a:solidFill>
                  <a:srgbClr val="0D2D43"/>
                </a:solidFill>
                <a:latin typeface="Aptos"/>
              </a:rPr>
              <a:t>Eso</a:t>
            </a:r>
            <a:r>
              <a:rPr b="1" dirty="0">
                <a:solidFill>
                  <a:srgbClr val="0D2D43"/>
                </a:solidFill>
                <a:latin typeface="Aptos"/>
              </a:rPr>
              <a:t> basta?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35482"/>
            <a:ext cx="292608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1115568" y="2100074"/>
            <a:ext cx="2523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ANÁLISIS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438402"/>
            <a:ext cx="2523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82B39"/>
                </a:solidFill>
                <a:latin typeface="Aptos"/>
              </a:rPr>
              <a:t>No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sabemos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datos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usó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.
No hay pasos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registrados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935482"/>
            <a:ext cx="292608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4818888" y="2100074"/>
            <a:ext cx="2523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8B5E"/>
                </a:solidFill>
                <a:latin typeface="Aptos"/>
              </a:rPr>
              <a:t>ANÁLISIS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438402"/>
            <a:ext cx="2523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Datos identificados.
Pasos documentados.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35482"/>
            <a:ext cx="292608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8522208" y="2100074"/>
            <a:ext cx="2523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PERO…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438402"/>
            <a:ext cx="25237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¿el procedimiento responde realmente la pregunta?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644" y="3590093"/>
            <a:ext cx="8595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D09B1C"/>
                </a:solidFill>
                <a:latin typeface="Aptos"/>
              </a:rPr>
              <a:t>Repetir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 un </a:t>
            </a:r>
            <a:r>
              <a:rPr sz="1400" b="1" dirty="0" err="1">
                <a:solidFill>
                  <a:srgbClr val="D09B1C"/>
                </a:solidFill>
                <a:latin typeface="Aptos"/>
              </a:rPr>
              <a:t>resultado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 no </a:t>
            </a:r>
            <a:r>
              <a:rPr sz="1400" b="1" dirty="0" err="1">
                <a:solidFill>
                  <a:srgbClr val="D09B1C"/>
                </a:solidFill>
                <a:latin typeface="Aptos"/>
              </a:rPr>
              <a:t>garantiza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 que </a:t>
            </a:r>
            <a:r>
              <a:rPr sz="1400" b="1" dirty="0" err="1">
                <a:solidFill>
                  <a:srgbClr val="D09B1C"/>
                </a:solidFill>
                <a:latin typeface="Aptos"/>
              </a:rPr>
              <a:t>el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D09B1C"/>
                </a:solidFill>
                <a:latin typeface="Aptos"/>
              </a:rPr>
              <a:t>resultado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 sea </a:t>
            </a:r>
            <a:r>
              <a:rPr sz="1400" b="1" dirty="0" err="1">
                <a:solidFill>
                  <a:srgbClr val="D09B1C"/>
                </a:solidFill>
                <a:latin typeface="Aptos"/>
              </a:rPr>
              <a:t>correcto</a:t>
            </a:r>
            <a:r>
              <a:rPr sz="1400" b="1" dirty="0">
                <a:solidFill>
                  <a:srgbClr val="D09B1C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¿Qué información pedirías antes de aceptar un resultado?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F6C924D-68FF-0D09-ADF4-05495ED55272}"/>
              </a:ext>
            </a:extLst>
          </p:cNvPr>
          <p:cNvSpPr txBox="1"/>
          <p:nvPr/>
        </p:nvSpPr>
        <p:spPr>
          <a:xfrm>
            <a:off x="2469931" y="4073792"/>
            <a:ext cx="72521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Registra el </a:t>
            </a:r>
            <a:r>
              <a:rPr lang="es-MX" sz="1400" b="1" dirty="0"/>
              <a:t>origen, versión e integridad</a:t>
            </a:r>
            <a:r>
              <a:rPr lang="es-MX" sz="1400" dirty="0"/>
              <a:t> de cada dato (metadatos).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Conserva los </a:t>
            </a:r>
            <a:r>
              <a:rPr lang="es-MX" sz="1400" b="1" dirty="0"/>
              <a:t>datos originales intactos</a:t>
            </a:r>
            <a:r>
              <a:rPr lang="es-MX" sz="1400" dirty="0"/>
              <a:t> y genera los derivados aparte.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Documenta </a:t>
            </a:r>
            <a:r>
              <a:rPr lang="es-MX" sz="1400" b="1" dirty="0"/>
              <a:t>cada comando</a:t>
            </a:r>
            <a:r>
              <a:rPr lang="es-MX" sz="1400" dirty="0"/>
              <a:t> y lo asocia a la subpregunta que responde.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Verifica</a:t>
            </a:r>
            <a:r>
              <a:rPr lang="es-MX" sz="1400" dirty="0"/>
              <a:t> los resultados intermedios y </a:t>
            </a:r>
            <a:r>
              <a:rPr lang="es-MX" sz="1400" b="1" dirty="0"/>
              <a:t>valida</a:t>
            </a:r>
            <a:r>
              <a:rPr lang="es-MX" sz="1400" dirty="0"/>
              <a:t> que respondan la pregunta.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dirty="0"/>
              <a:t>Interpreta</a:t>
            </a:r>
            <a:r>
              <a:rPr lang="es-MX" sz="1400" dirty="0"/>
              <a:t> biológicamente los resultados y cierra con una </a:t>
            </a:r>
            <a:r>
              <a:rPr lang="es-MX" sz="1400" b="1" dirty="0"/>
              <a:t>conclusión</a:t>
            </a:r>
            <a:r>
              <a:rPr lang="es-MX" sz="1400" dirty="0"/>
              <a:t> sustentada.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Permite que </a:t>
            </a:r>
            <a:r>
              <a:rPr lang="es-MX" sz="1400" b="1" dirty="0"/>
              <a:t>otra persona regenere</a:t>
            </a:r>
            <a:r>
              <a:rPr lang="es-MX" sz="1400" dirty="0"/>
              <a:t> todo el análisis.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3A5F"/>
                </a:solidFill>
              </a:rPr>
              <a:t>Conceptos</a:t>
            </a:r>
            <a:r>
              <a:rPr lang="en-US" sz="2500" b="1" dirty="0">
                <a:solidFill>
                  <a:srgbClr val="1E3A5F"/>
                </a:solidFill>
              </a:rPr>
              <a:t> clave: 5 palabras que no significan lo mismo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Primero la pregunta sencilla; después el término técnico.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7680960" cy="621792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4475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¿Puedo volver a obtener el mismo resultado?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23960" y="14173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97112" y="147218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Reproducibilidad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76118"/>
            <a:ext cx="7680960" cy="62179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2242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¿La operación funcionó como esperaba?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23960" y="329499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7112" y="334985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Verificación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044798"/>
            <a:ext cx="7680960" cy="621792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9110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¿Lo que hice realmente responde la </a:t>
            </a:r>
            <a:r>
              <a:rPr lang="en-US" sz="1600" dirty="0" err="1">
                <a:solidFill>
                  <a:srgbClr val="24364B"/>
                </a:solidFill>
              </a:rPr>
              <a:t>pregunta</a:t>
            </a:r>
            <a:r>
              <a:rPr lang="en-US" sz="1600" dirty="0">
                <a:solidFill>
                  <a:srgbClr val="24364B"/>
                </a:solidFill>
              </a:rPr>
              <a:t>? </a:t>
            </a:r>
            <a:r>
              <a:rPr lang="es-MX" sz="1600" dirty="0"/>
              <a:t>¿El resultado representa la realidad biológica?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23960" y="416367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7112" y="421853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913478"/>
            <a:ext cx="7680960" cy="62179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5978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¿La conclusión resiste otras comprobaciones?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23960" y="503235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508721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Robustez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2215998"/>
            <a:ext cx="7680960" cy="621792"/>
          </a:xfrm>
          <a:prstGeom prst="roundRect">
            <a:avLst/>
          </a:prstGeom>
          <a:solidFill>
            <a:srgbClr val="EEF5FA"/>
          </a:solidFill>
          <a:ln w="12700">
            <a:solidFill>
              <a:srgbClr val="D5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36230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¿Aparece evidencia compatible con datos independientes?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23960" y="233487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238973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Replicabilidad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Reproducible no significa necesariamente correcto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Regenerar un análisis y confiar en él son preguntas diferentes.</a:t>
            </a:r>
            <a:endParaRPr lang="en-US" sz="1350" dirty="0"/>
          </a:p>
        </p:txBody>
      </p:sp>
      <p:pic>
        <p:nvPicPr>
          <p:cNvPr id="4" name="Image 0" descr="/mnt/data/figura-u1-s01-reproducible-vs-robu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0908792" cy="5102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Regla de Oro de la Bioinformática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Una idea que reaparecerá durante todo el curso.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10332720" cy="2011680"/>
          </a:xfrm>
          <a:prstGeom prst="roundRect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874520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Nunca confíes ciegamente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en tus herramientas ni en tus datos.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241449" y="4723039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</a:rPr>
              <a:t>¿Qué hacemos entonces?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94685FD-0194-A3D7-344C-25E74EBBAD36}"/>
              </a:ext>
            </a:extLst>
          </p:cNvPr>
          <p:cNvSpPr txBox="1"/>
          <p:nvPr/>
        </p:nvSpPr>
        <p:spPr>
          <a:xfrm>
            <a:off x="914400" y="3603682"/>
            <a:ext cx="10774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(Buffalo, 2015, Cap. 1): </a:t>
            </a:r>
            <a:r>
              <a:rPr lang="es-MX" i="1" dirty="0"/>
              <a:t>nunca confíes ciegamente en tus herramientas ni en tus datos</a:t>
            </a:r>
            <a:r>
              <a:rPr lang="es-MX" dirty="0"/>
              <a:t>. Verifica todo —supuestos, formatos, resultados intermedios—, porque los conjuntos de datos son enormes y un error silencioso puede propagarse sin que lo notes. </a:t>
            </a: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E6FE692-2DEA-86C9-7636-4294E944EE1D}"/>
              </a:ext>
            </a:extLst>
          </p:cNvPr>
          <p:cNvSpPr/>
          <p:nvPr/>
        </p:nvSpPr>
        <p:spPr>
          <a:xfrm>
            <a:off x="1004264" y="5578786"/>
            <a:ext cx="1886081" cy="384048"/>
          </a:xfrm>
          <a:prstGeom prst="roundRect">
            <a:avLst>
              <a:gd name="adj" fmla="val 19048"/>
            </a:avLst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713697E-D51D-D743-A24D-BD3DE69A0273}"/>
              </a:ext>
            </a:extLst>
          </p:cNvPr>
          <p:cNvSpPr/>
          <p:nvPr/>
        </p:nvSpPr>
        <p:spPr>
          <a:xfrm>
            <a:off x="786016" y="563365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Reproducibilidad</a:t>
            </a:r>
            <a:endParaRPr lang="en-US" sz="13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39FB04A-49E5-86C3-BBB3-43B79A5A9033}"/>
              </a:ext>
            </a:extLst>
          </p:cNvPr>
          <p:cNvSpPr/>
          <p:nvPr/>
        </p:nvSpPr>
        <p:spPr>
          <a:xfrm>
            <a:off x="4849896" y="5572582"/>
            <a:ext cx="1886081" cy="384048"/>
          </a:xfrm>
          <a:prstGeom prst="roundRect">
            <a:avLst>
              <a:gd name="adj" fmla="val 19048"/>
            </a:avLst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FDB809C6-41AB-F76C-CA4A-CB17CCAC1F61}"/>
              </a:ext>
            </a:extLst>
          </p:cNvPr>
          <p:cNvSpPr/>
          <p:nvPr/>
        </p:nvSpPr>
        <p:spPr>
          <a:xfrm>
            <a:off x="4923048" y="5627446"/>
            <a:ext cx="1677449" cy="26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Verificación</a:t>
            </a:r>
            <a:endParaRPr lang="en-US" sz="13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1310BDF8-33FF-3F31-E3B0-FAAA15EAA33E}"/>
              </a:ext>
            </a:extLst>
          </p:cNvPr>
          <p:cNvSpPr/>
          <p:nvPr/>
        </p:nvSpPr>
        <p:spPr>
          <a:xfrm>
            <a:off x="6809129" y="5572582"/>
            <a:ext cx="1689010" cy="384048"/>
          </a:xfrm>
          <a:prstGeom prst="roundRect">
            <a:avLst>
              <a:gd name="adj" fmla="val 19048"/>
            </a:avLst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728AF03-EB89-FD5F-6DA7-F47202552DB2}"/>
              </a:ext>
            </a:extLst>
          </p:cNvPr>
          <p:cNvSpPr/>
          <p:nvPr/>
        </p:nvSpPr>
        <p:spPr>
          <a:xfrm>
            <a:off x="6882281" y="5627446"/>
            <a:ext cx="1521265" cy="262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E35B2CD0-9A9B-572A-6FEE-F46B1A75A4A6}"/>
              </a:ext>
            </a:extLst>
          </p:cNvPr>
          <p:cNvSpPr/>
          <p:nvPr/>
        </p:nvSpPr>
        <p:spPr>
          <a:xfrm>
            <a:off x="8571291" y="5572582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EC5F0D5-6159-7659-F68C-E614DAA00DE2}"/>
              </a:ext>
            </a:extLst>
          </p:cNvPr>
          <p:cNvSpPr/>
          <p:nvPr/>
        </p:nvSpPr>
        <p:spPr>
          <a:xfrm>
            <a:off x="8644443" y="562744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Robustez</a:t>
            </a:r>
            <a:endParaRPr lang="en-US" sz="13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0ACFEC0-F7A8-C4B9-7DDE-3CC9F17604DD}"/>
              </a:ext>
            </a:extLst>
          </p:cNvPr>
          <p:cNvSpPr/>
          <p:nvPr/>
        </p:nvSpPr>
        <p:spPr>
          <a:xfrm>
            <a:off x="3050628" y="5578786"/>
            <a:ext cx="1749446" cy="384048"/>
          </a:xfrm>
          <a:prstGeom prst="roundRect">
            <a:avLst>
              <a:gd name="adj" fmla="val 19048"/>
            </a:avLst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74D3703-F025-78D5-5589-C3F9F0D09BB6}"/>
              </a:ext>
            </a:extLst>
          </p:cNvPr>
          <p:cNvSpPr/>
          <p:nvPr/>
        </p:nvSpPr>
        <p:spPr>
          <a:xfrm>
            <a:off x="2793045" y="565193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Replicabilidad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Dos procesos que trabajan juntos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Uno organiza el razonamiento; el otro cuida los datos.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7780">
            <a:solidFill>
              <a:srgbClr val="2B7FB0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55448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B · Resolver el problema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2029968"/>
            <a:ext cx="480974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¿Qué quiero saber?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¿Qué evidencia necesito?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¿Qué datos la contienen?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¿Cómo voy a obtenerla?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¿Cómo sabré si tiene sentido?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7780">
            <a:solidFill>
              <a:srgbClr val="24958A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5448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A · Manejar los datos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73368" y="2029968"/>
            <a:ext cx="4809744" cy="3090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Obtenerlos de una fuente confiable.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Registrar su origen.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Explorarlos.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Transformarlos sin destruir el original.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Conservar y documentar.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7A83"/>
                </a:solidFill>
              </a:rPr>
              <a:t>Primero razono qué necesito. Cuando toco los datos, los manejo con cuidado.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El </a:t>
            </a:r>
            <a:r>
              <a:rPr lang="en-US" sz="2500" b="1" dirty="0" err="1">
                <a:solidFill>
                  <a:srgbClr val="1E3A5F"/>
                </a:solidFill>
              </a:rPr>
              <a:t>ciclo</a:t>
            </a:r>
            <a:r>
              <a:rPr lang="en-US" sz="2500" b="1" dirty="0">
                <a:solidFill>
                  <a:srgbClr val="1E3A5F"/>
                </a:solidFill>
              </a:rPr>
              <a:t> de </a:t>
            </a:r>
            <a:r>
              <a:rPr lang="en-US" sz="2500" b="1" dirty="0" err="1">
                <a:solidFill>
                  <a:srgbClr val="1E3A5F"/>
                </a:solidFill>
              </a:rPr>
              <a:t>vida</a:t>
            </a:r>
            <a:r>
              <a:rPr lang="en-US" sz="2500" b="1" dirty="0">
                <a:solidFill>
                  <a:srgbClr val="1E3A5F"/>
                </a:solidFill>
              </a:rPr>
              <a:t> de </a:t>
            </a:r>
            <a:r>
              <a:rPr lang="en-US" sz="2500" b="1" dirty="0" err="1">
                <a:solidFill>
                  <a:srgbClr val="1E3A5F"/>
                </a:solidFill>
              </a:rPr>
              <a:t>los</a:t>
            </a:r>
            <a:r>
              <a:rPr lang="en-US" sz="2500" b="1" dirty="0">
                <a:solidFill>
                  <a:srgbClr val="1E3A5F"/>
                </a:solidFill>
              </a:rPr>
              <a:t> </a:t>
            </a:r>
            <a:r>
              <a:rPr lang="en-US" sz="2500" b="1" dirty="0" err="1">
                <a:solidFill>
                  <a:srgbClr val="1E3A5F"/>
                </a:solidFill>
              </a:rPr>
              <a:t>datos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1400" dirty="0"/>
              <a:t>Cada fase responde una pregunta distinta, pero la documentación y los metadatos acompañan a todas.</a:t>
            </a:r>
            <a:endParaRPr lang="en-US" sz="1300" dirty="0">
              <a:solidFill>
                <a:srgbClr val="5B6B7C"/>
              </a:solidFill>
            </a:endParaRPr>
          </a:p>
        </p:txBody>
      </p:sp>
      <p:pic>
        <p:nvPicPr>
          <p:cNvPr id="4" name="Image 0" descr="/mnt/data/figura-u1-s01-ciclo-anali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0908792" cy="5102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sz="2600" b="1" dirty="0">
                <a:solidFill>
                  <a:srgbClr val="1E3A5F"/>
                </a:solidFill>
              </a:rPr>
              <a:t>Fases de resolución de un problema bioinformático</a:t>
            </a:r>
            <a:r>
              <a:rPr lang="en-US" sz="2500" b="1" dirty="0">
                <a:solidFill>
                  <a:srgbClr val="1E3A5F"/>
                </a:solidFill>
              </a:rPr>
              <a:t>: </a:t>
            </a:r>
            <a:r>
              <a:rPr lang="en-US" sz="2500" b="1" dirty="0" err="1">
                <a:solidFill>
                  <a:srgbClr val="1E3A5F"/>
                </a:solidFill>
              </a:rPr>
              <a:t>el</a:t>
            </a:r>
            <a:r>
              <a:rPr lang="en-US" sz="2500" b="1" dirty="0">
                <a:solidFill>
                  <a:srgbClr val="1E3A5F"/>
                </a:solidFill>
              </a:rPr>
              <a:t> </a:t>
            </a:r>
            <a:r>
              <a:rPr lang="en-US" sz="2500" b="1" dirty="0" err="1">
                <a:solidFill>
                  <a:srgbClr val="1E3A5F"/>
                </a:solidFill>
              </a:rPr>
              <a:t>razonamiento</a:t>
            </a:r>
            <a:endParaRPr lang="es-MX" sz="2600" b="1" dirty="0">
              <a:solidFill>
                <a:srgbClr val="1E3A5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Este será uno de los hábitos centrales del </a:t>
            </a:r>
            <a:r>
              <a:rPr lang="en-US" sz="1350" dirty="0" err="1">
                <a:solidFill>
                  <a:srgbClr val="5B6B7C"/>
                </a:solidFill>
              </a:rPr>
              <a:t>curso</a:t>
            </a:r>
            <a:r>
              <a:rPr lang="en-US" sz="1350" dirty="0">
                <a:solidFill>
                  <a:srgbClr val="5B6B7C"/>
                </a:solidFill>
              </a:rPr>
              <a:t>. </a:t>
            </a:r>
            <a:r>
              <a:rPr lang="es-MX" sz="1350" dirty="0">
                <a:solidFill>
                  <a:srgbClr val="5B6B7C"/>
                </a:solidFill>
              </a:rPr>
              <a:t>Describen cómo se razona para responder una pregunta:</a:t>
            </a:r>
            <a:endParaRPr lang="en-US" sz="1350" dirty="0">
              <a:solidFill>
                <a:srgbClr val="5B6B7C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297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B7FB0"/>
            </a:solidFill>
            <a:prstDash val="solid"/>
          </a:ln>
          <a:effectLst>
            <a:outerShdw blurRad="12700" dist="50800" dir="2700000" algn="bl" rotWithShape="0">
              <a:srgbClr val="D6DEE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1298448"/>
            <a:ext cx="658368" cy="658368"/>
          </a:xfrm>
          <a:prstGeom prst="ellipse">
            <a:avLst/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4447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Pregunta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4B"/>
                </a:solidFill>
              </a:rPr>
              <a:t>¿Qué quiero saber?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24364B"/>
                </a:solidFill>
              </a:rPr>
              <a:t>subpreguntas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9631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890A6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834640" y="1600200"/>
            <a:ext cx="1965960" cy="297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958A"/>
            </a:solidFill>
            <a:prstDash val="solid"/>
          </a:ln>
          <a:effectLst>
            <a:outerShdw blurRad="12700" dist="50800" dir="2700000" algn="bl" rotWithShape="0">
              <a:srgbClr val="D6DEE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298448"/>
            <a:ext cx="658368" cy="658368"/>
          </a:xfrm>
          <a:prstGeom prst="ellipse">
            <a:avLst/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4447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Evidencia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28803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4B"/>
                </a:solidFill>
              </a:rPr>
              <a:t>¿Qué tendría que observar o calcular?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890A6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166360" y="1600200"/>
            <a:ext cx="1965960" cy="297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A62A3"/>
            </a:solidFill>
            <a:prstDash val="solid"/>
          </a:ln>
          <a:effectLst>
            <a:outerShdw blurRad="12700" dist="50800" dir="2700000" algn="bl" rotWithShape="0">
              <a:srgbClr val="D6DEE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1298448"/>
            <a:ext cx="658368" cy="658368"/>
          </a:xfrm>
          <a:prstGeom prst="ellipse">
            <a:avLst/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24728" y="14447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095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Datos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8803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4B"/>
                </a:solidFill>
              </a:rPr>
              <a:t>¿Dónde está esa información?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975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890A6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1965960" cy="297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47A83"/>
            </a:solidFill>
            <a:prstDash val="solid"/>
          </a:ln>
          <a:effectLst>
            <a:outerShdw blurRad="12700" dist="50800" dir="2700000" algn="bl" rotWithShape="0">
              <a:srgbClr val="D6DEE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6448" y="1298448"/>
            <a:ext cx="658368" cy="658368"/>
          </a:xfrm>
          <a:prstGeom prst="ellipse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14447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6267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Operación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80960" y="28803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4B"/>
                </a:solidFill>
              </a:rPr>
              <a:t>¿Qué debo hacer con esos datos?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9147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890A6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829800" y="1600200"/>
            <a:ext cx="1965960" cy="2971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97A1B"/>
            </a:solidFill>
            <a:prstDash val="solid"/>
          </a:ln>
          <a:effectLst>
            <a:outerShdw blurRad="12700" dist="50800" dir="2700000" algn="bl" rotWithShape="0">
              <a:srgbClr val="D6DEE7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88168" y="1298448"/>
            <a:ext cx="658368" cy="658368"/>
          </a:xfrm>
          <a:prstGeom prst="ellipse">
            <a:avLst/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88168" y="14447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94392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</a:rPr>
              <a:t>Herramienta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12680" y="28803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64B"/>
                </a:solidFill>
              </a:rPr>
              <a:t>¿Con qué puedo hacerlo?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148840" y="5166360"/>
            <a:ext cx="7909560" cy="6858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2A13A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34" name="Text 32"/>
          <p:cNvSpPr/>
          <p:nvPr/>
        </p:nvSpPr>
        <p:spPr>
          <a:xfrm>
            <a:off x="2423160" y="537667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s-MX" sz="1800" b="1" dirty="0">
                <a:solidFill>
                  <a:srgbClr val="0D2D43"/>
                </a:solidFill>
                <a:latin typeface="Aptos"/>
              </a:rPr>
              <a:t>Esta cadena será una brújula durante todo el curso.</a:t>
            </a: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Taller · De la pregunta a la estrategia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Trabajen en parejas. Todavía no busquen comandos.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10469880" cy="1051560"/>
          </a:xfrm>
          <a:prstGeom prst="roundRect">
            <a:avLst/>
          </a:prstGeom>
          <a:solidFill>
            <a:srgbClr val="EAF4F5"/>
          </a:solidFill>
          <a:ln w="12700">
            <a:solidFill>
              <a:srgbClr val="8AC7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18488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E3A5F"/>
                </a:solidFill>
              </a:rPr>
              <a:t>¿Cuántos genes tiene el genoma de E. coli K-12 y cómo se distribuyen en el cromosoma?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7780">
            <a:solidFill>
              <a:srgbClr val="2B7FB0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1 · Descompongan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3401568"/>
            <a:ext cx="293522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Propongan 2–4 subpreguntas pequeñas que juntas permitan responder la pregunta central.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7780">
            <a:solidFill>
              <a:srgbClr val="24958A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36008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2 · Piensen en evidencia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6008" y="3401568"/>
            <a:ext cx="293522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Para cada subpregunta: ¿qué tendrían que observar, contar o comparar?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7780">
            <a:solidFill>
              <a:srgbClr val="7A62A3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3 · Identifiquen datos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47888" y="3401568"/>
            <a:ext cx="2935224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¿Qué tipo de información o archivo podría contener esa evidencia?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53492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540410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8–10 min · parejas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2372252" y="210312"/>
            <a:ext cx="2240280" cy="658368"/>
          </a:xfrm>
          <a:prstGeom prst="roundRect">
            <a:avLst/>
          </a:prstGeom>
          <a:solidFill>
            <a:srgbClr val="257780"/>
          </a:solidFill>
          <a:ln>
            <a:solidFill>
              <a:srgbClr val="25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🧪 PRÁCTICA 1</a:t>
            </a:r>
          </a:p>
          <a:p>
            <a:pPr algn="ctr"/>
            <a:r>
              <a:rPr sz="850" dirty="0" err="1">
                <a:solidFill>
                  <a:srgbClr val="FFFFFF"/>
                </a:solidFill>
                <a:latin typeface="Aptos"/>
              </a:rPr>
              <a:t>Revisar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en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clase</a:t>
            </a:r>
            <a:r>
              <a:rPr sz="850" dirty="0">
                <a:solidFill>
                  <a:srgbClr val="FFFFFF"/>
                </a:solidFill>
                <a:latin typeface="Aptos"/>
              </a:rPr>
              <a:t> · 10–15 min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F961FD5A-8C32-D123-E9E5-6D683705C771}"/>
              </a:ext>
            </a:extLst>
          </p:cNvPr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F7E98303-62E2-8A89-D7BB-D78BC8732FA8}"/>
              </a:ext>
            </a:extLst>
          </p:cNvPr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182B39"/>
                </a:solidFill>
                <a:latin typeface="Aptos"/>
              </a:rPr>
              <a:t>¿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parte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fue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más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difícil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: formular la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subpregunta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o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decidir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qué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evidencia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 la </a:t>
            </a:r>
            <a:r>
              <a:rPr sz="900" b="0" dirty="0" err="1">
                <a:solidFill>
                  <a:srgbClr val="182B39"/>
                </a:solidFill>
                <a:latin typeface="Aptos"/>
              </a:rPr>
              <a:t>respondería</a:t>
            </a:r>
            <a:r>
              <a:rPr sz="900" b="0" dirty="0">
                <a:solidFill>
                  <a:srgbClr val="182B39"/>
                </a:solidFill>
                <a:latin typeface="Aptos"/>
              </a:rPr>
              <a:t>?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F0D27DD-5E1D-A5CE-8692-6A16F9FC6411}"/>
              </a:ext>
            </a:extLst>
          </p:cNvPr>
          <p:cNvSpPr txBox="1"/>
          <p:nvPr/>
        </p:nvSpPr>
        <p:spPr>
          <a:xfrm>
            <a:off x="12517821" y="1030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  <p:pic>
        <p:nvPicPr>
          <p:cNvPr id="20" name="Picture 2" descr="Reloj colgante de pared acrílico con dibujo de gato, decoración de pared  Adorable decorativa de 24x30cm para habitación de invitados, resistente y  ver | Bodega Aurrera en línea">
            <a:extLst>
              <a:ext uri="{FF2B5EF4-FFF2-40B4-BE49-F238E27FC236}">
                <a16:creationId xmlns:a16="http://schemas.microsoft.com/office/drawing/2014/main" id="{5C389C1A-DC1B-1BD0-30B9-A257A215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283" y="139730"/>
            <a:ext cx="1126714" cy="112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Construimos una estrategia posible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La solución no es un comando: es la relación entre pregunta, evidencia y operación.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624474"/>
              </p:ext>
            </p:extLst>
          </p:nvPr>
        </p:nvGraphicFramePr>
        <p:xfrm>
          <a:off x="502920" y="1371600"/>
          <a:ext cx="10705719" cy="2971800"/>
        </p:xfrm>
        <a:graphic>
          <a:graphicData uri="http://schemas.openxmlformats.org/drawingml/2006/table">
            <a:tbl>
              <a:tblPr/>
              <a:tblGrid>
                <a:gridCol w="1607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Subpregunta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Evidencia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Dato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Operación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¿Cómo comprobar?</a:t>
                      </a:r>
                      <a:endParaRPr lang="en-US" sz="13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Tamaño del genoma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Longitud total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 / FASTA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Leer la longitud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Contrastar con una fuente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Número de genes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Cantidad de registros “gene”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Seleccionar genes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Comparar con referencia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Genes por cadena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Conteo en + y −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Agrupar por cadena y contar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64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y − deben sumar el total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143000" y="5074920"/>
            <a:ext cx="9921240" cy="731520"/>
          </a:xfrm>
          <a:prstGeom prst="roundRect">
            <a:avLst/>
          </a:prstGeom>
          <a:solidFill>
            <a:srgbClr val="EAF4F5"/>
          </a:solidFill>
          <a:ln w="12700">
            <a:solidFill>
              <a:srgbClr val="8AC7C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5285232"/>
            <a:ext cx="9372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7A83"/>
                </a:solidFill>
              </a:rPr>
              <a:t>La herramienta puede cambiar. La lógica de la estrategia debe seguir respondiendo la misma pregunta.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2319700" y="210312"/>
            <a:ext cx="2240280" cy="658368"/>
          </a:xfrm>
          <a:prstGeom prst="roundRect">
            <a:avLst/>
          </a:prstGeom>
          <a:solidFill>
            <a:srgbClr val="1D3B60"/>
          </a:solidFill>
          <a:ln>
            <a:solidFill>
              <a:srgbClr val="1D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💬 PRÁCTICA 1</a:t>
            </a:r>
          </a:p>
          <a:p>
            <a:pPr algn="ctr"/>
            <a:r>
              <a:rPr sz="850" dirty="0" err="1">
                <a:solidFill>
                  <a:srgbClr val="FFFFFF"/>
                </a:solidFill>
                <a:latin typeface="Aptos"/>
              </a:rPr>
              <a:t>Discusión</a:t>
            </a:r>
            <a:r>
              <a:rPr sz="850" dirty="0">
                <a:solidFill>
                  <a:srgbClr val="FFFFFF"/>
                </a:solidFill>
                <a:latin typeface="Aptos"/>
              </a:rPr>
              <a:t> de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una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solución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posible</a:t>
            </a:r>
            <a:endParaRPr sz="85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sz="2800" b="1" dirty="0"/>
              <a:t>De la pregunta biológica a la estrategia</a:t>
            </a:r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La solución no es un comando: es la relación entre pregunta, evidencia y operación.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394900" y="1860437"/>
            <a:ext cx="2240280" cy="658368"/>
          </a:xfrm>
          <a:prstGeom prst="roundRect">
            <a:avLst/>
          </a:prstGeom>
          <a:solidFill>
            <a:srgbClr val="1D3B60"/>
          </a:solidFill>
          <a:ln>
            <a:solidFill>
              <a:srgbClr val="1D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💬 PRÁCTICA 1</a:t>
            </a:r>
          </a:p>
          <a:p>
            <a:pPr algn="ctr"/>
            <a:r>
              <a:rPr sz="850" dirty="0" err="1">
                <a:solidFill>
                  <a:srgbClr val="FFFFFF"/>
                </a:solidFill>
                <a:latin typeface="Aptos"/>
              </a:rPr>
              <a:t>Discusión</a:t>
            </a:r>
            <a:r>
              <a:rPr sz="850" dirty="0">
                <a:solidFill>
                  <a:srgbClr val="FFFFFF"/>
                </a:solidFill>
                <a:latin typeface="Aptos"/>
              </a:rPr>
              <a:t> de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una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solución</a:t>
            </a:r>
            <a:r>
              <a:rPr sz="850" dirty="0">
                <a:solidFill>
                  <a:srgbClr val="FFFFFF"/>
                </a:solidFill>
                <a:latin typeface="Aptos"/>
              </a:rPr>
              <a:t> </a:t>
            </a:r>
            <a:r>
              <a:rPr sz="850" dirty="0" err="1">
                <a:solidFill>
                  <a:srgbClr val="FFFFFF"/>
                </a:solidFill>
                <a:latin typeface="Aptos"/>
              </a:rPr>
              <a:t>posible</a:t>
            </a:r>
            <a:endParaRPr sz="850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58696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s-MX" sz="2800" b="1" dirty="0">
                <a:solidFill>
                  <a:srgbClr val="0D2D43"/>
                </a:solidFill>
                <a:latin typeface="Aptos"/>
              </a:rPr>
              <a:t>Si no queda escrito, después dependerás de la memoria</a:t>
            </a:r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No es una lista de comandos: es un documento vivo.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51560" y="1234440"/>
            <a:ext cx="2834640" cy="566928"/>
          </a:xfrm>
          <a:prstGeom prst="roundRect">
            <a:avLst/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Pregunta central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51960" y="13258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¿Qué queremos responder?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2075688"/>
            <a:ext cx="2834640" cy="566928"/>
          </a:xfrm>
          <a:prstGeom prst="roundRect">
            <a:avLst/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Subpreguntas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21671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¿Cómo dividimos el problema?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2916936"/>
            <a:ext cx="2834640" cy="566928"/>
          </a:xfrm>
          <a:prstGeom prst="roundRect">
            <a:avLst/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300837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¿De dónde vienen y qué contienen?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3758184"/>
            <a:ext cx="2834640" cy="566928"/>
          </a:xfrm>
          <a:prstGeom prst="roundRect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Estrategia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384962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¿Qué evidencia y operaciones necesitamos?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4599432"/>
            <a:ext cx="2834640" cy="566928"/>
          </a:xfrm>
          <a:prstGeom prst="roundRect">
            <a:avLst/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736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Después…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51960" y="46908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64B"/>
                </a:solidFill>
              </a:rPr>
              <a:t>Comandos → resultados → validación → interpretación → conclusión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52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protocolo.md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9555480" y="201168"/>
            <a:ext cx="2240280" cy="658368"/>
          </a:xfrm>
          <a:prstGeom prst="roundRect">
            <a:avLst/>
          </a:prstGeom>
          <a:solidFill>
            <a:srgbClr val="257780"/>
          </a:solidFill>
          <a:ln>
            <a:solidFill>
              <a:srgbClr val="25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🧪 PRÁCTICA 2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Aptos"/>
              </a:rPr>
              <a:t>Iniciar en clase · continuar después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BA53410-39C2-D534-E383-8299E457A29D}"/>
              </a:ext>
            </a:extLst>
          </p:cNvPr>
          <p:cNvSpPr txBox="1"/>
          <p:nvPr/>
        </p:nvSpPr>
        <p:spPr>
          <a:xfrm>
            <a:off x="4761203" y="5347454"/>
            <a:ext cx="6108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E3A5F"/>
                </a:solidFill>
              </a:rPr>
              <a:t>El </a:t>
            </a:r>
            <a:r>
              <a:rPr lang="en-US" sz="1800" b="1" dirty="0" err="1">
                <a:solidFill>
                  <a:srgbClr val="1E3A5F"/>
                </a:solidFill>
              </a:rPr>
              <a:t>protocolo</a:t>
            </a:r>
            <a:r>
              <a:rPr lang="en-US" sz="1800" b="1" dirty="0">
                <a:solidFill>
                  <a:srgbClr val="1E3A5F"/>
                </a:solidFill>
              </a:rPr>
              <a:t> </a:t>
            </a:r>
            <a:r>
              <a:rPr lang="en-US" sz="1800" b="1" dirty="0" err="1">
                <a:solidFill>
                  <a:srgbClr val="1E3A5F"/>
                </a:solidFill>
              </a:rPr>
              <a:t>guarda</a:t>
            </a:r>
            <a:r>
              <a:rPr lang="en-US" sz="1800" b="1" dirty="0">
                <a:solidFill>
                  <a:srgbClr val="1E3A5F"/>
                </a:solidFill>
              </a:rPr>
              <a:t> </a:t>
            </a:r>
            <a:r>
              <a:rPr lang="en-US" sz="1800" b="1" dirty="0" err="1">
                <a:solidFill>
                  <a:srgbClr val="1E3A5F"/>
                </a:solidFill>
              </a:rPr>
              <a:t>el</a:t>
            </a:r>
            <a:r>
              <a:rPr lang="en-US" sz="1800" b="1" dirty="0">
                <a:solidFill>
                  <a:srgbClr val="1E3A5F"/>
                </a:solidFill>
              </a:rPr>
              <a:t> </a:t>
            </a:r>
            <a:r>
              <a:rPr lang="en-US" sz="1800" b="1" dirty="0" err="1">
                <a:solidFill>
                  <a:srgbClr val="1E3A5F"/>
                </a:solidFill>
              </a:rPr>
              <a:t>razonamiento</a:t>
            </a:r>
            <a:endParaRPr lang="es-MX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StackEdit: escribir y ver el resultado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Una herramienta para practicar Markdown sin instalar software. </a:t>
            </a:r>
            <a:r>
              <a:rPr lang="en-US" sz="1050" dirty="0">
                <a:solidFill>
                  <a:srgbClr val="5B6B7C"/>
                </a:solidFill>
              </a:rPr>
              <a:t>URL: </a:t>
            </a:r>
            <a:r>
              <a:rPr lang="en-US" sz="1400" b="1" dirty="0">
                <a:solidFill>
                  <a:srgbClr val="C00000"/>
                </a:solidFill>
              </a:rPr>
              <a:t>https://</a:t>
            </a:r>
            <a:r>
              <a:rPr lang="en-US" sz="1400" b="1" dirty="0" err="1">
                <a:solidFill>
                  <a:srgbClr val="C00000"/>
                </a:solidFill>
              </a:rPr>
              <a:t>stackedit.io</a:t>
            </a:r>
            <a:r>
              <a:rPr lang="en-US" sz="1400" b="1" dirty="0">
                <a:solidFill>
                  <a:srgbClr val="C00000"/>
                </a:solidFill>
              </a:rPr>
              <a:t>/</a:t>
            </a:r>
            <a:endParaRPr lang="en-US" sz="1350" dirty="0"/>
          </a:p>
        </p:txBody>
      </p:sp>
      <p:pic>
        <p:nvPicPr>
          <p:cNvPr id="4" name="Image 0" descr="/mnt/data/figura-u1-s01-interfaz-stack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0908792" cy="5102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9555480" y="201168"/>
            <a:ext cx="2240280" cy="658368"/>
          </a:xfrm>
          <a:prstGeom prst="roundRect">
            <a:avLst/>
          </a:prstGeom>
          <a:solidFill>
            <a:srgbClr val="BE7E1C"/>
          </a:solidFill>
          <a:ln>
            <a:solidFill>
              <a:srgbClr val="BE7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🏠 PRÁCTICAS 3–4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Aptos"/>
              </a:rPr>
              <a:t>Markdown · StackEdit / GitHub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Markdown: escribir para que el análisis se entienda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Texto plano con marcas simples; el contenido sigue siendo legible.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166360" cy="420624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B8C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45920"/>
            <a:ext cx="461772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Pregunta central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¿Cuántos genes tiene E. coli?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Subpreguntas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¿Cuál es el tamaño?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¿Cuántos genes hay?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Estrategia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Pregunta | Evidencia |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|---|---|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Genes | registros gene |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508760"/>
            <a:ext cx="470916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7780">
            <a:solidFill>
              <a:srgbClr val="247A83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47688" y="1691640"/>
            <a:ext cx="4306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Quédate con esto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47688" y="2167128"/>
            <a:ext cx="430682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• Encabezados organizan.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• Listas ordenan pasos.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• Tablas comparan información.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• Código se distingue del texto.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• Enlaces registran fuentes.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5074920"/>
            <a:ext cx="4160520" cy="566928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1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52486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05A20"/>
                </a:solidFill>
              </a:rPr>
              <a:t>No memorices símbolos: úsalos con propósito.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VAMOS A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Práctica 2 — Iniciar protocolo.md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10835640" cy="566928"/>
          </a:xfrm>
          <a:prstGeom prst="roundRect">
            <a:avLst/>
          </a:prstGeom>
          <a:solidFill>
            <a:srgbClr val="FFFAEE"/>
          </a:solidFill>
          <a:ln>
            <a:solidFill>
              <a:srgbClr val="E6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868680" y="1338143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0D2D43"/>
                </a:solidFill>
                <a:latin typeface="Aptos"/>
              </a:rPr>
              <a:t>Crear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el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documento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que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crecerá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durante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el</a:t>
            </a:r>
            <a:r>
              <a:rPr sz="1400" b="1" dirty="0">
                <a:solidFill>
                  <a:srgbClr val="0D2D43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0D2D43"/>
                </a:solidFill>
                <a:latin typeface="Aptos"/>
              </a:rPr>
              <a:t>semestre</a:t>
            </a:r>
            <a:endParaRPr sz="1400" b="1" dirty="0">
              <a:solidFill>
                <a:srgbClr val="0D2D4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54591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64707A"/>
                </a:solidFill>
                <a:latin typeface="Aptos"/>
              </a:rPr>
              <a:t>Markdown </a:t>
            </a:r>
            <a:r>
              <a:rPr sz="1400" b="0" dirty="0" err="1">
                <a:solidFill>
                  <a:srgbClr val="64707A"/>
                </a:solidFill>
                <a:latin typeface="Aptos"/>
              </a:rPr>
              <a:t>básico</a:t>
            </a:r>
            <a:r>
              <a:rPr sz="1400" b="0" dirty="0">
                <a:solidFill>
                  <a:srgbClr val="64707A"/>
                </a:solidFill>
                <a:latin typeface="Aptos"/>
              </a:rPr>
              <a:t> · </a:t>
            </a:r>
            <a:r>
              <a:rPr sz="1400" b="0" dirty="0" err="1">
                <a:solidFill>
                  <a:srgbClr val="64707A"/>
                </a:solidFill>
                <a:latin typeface="Aptos"/>
              </a:rPr>
              <a:t>pregunta</a:t>
            </a:r>
            <a:r>
              <a:rPr sz="1400" b="0" dirty="0">
                <a:solidFill>
                  <a:srgbClr val="64707A"/>
                </a:solidFill>
                <a:latin typeface="Aptos"/>
              </a:rPr>
              <a:t> · </a:t>
            </a:r>
            <a:r>
              <a:rPr sz="1400" b="0" dirty="0" err="1">
                <a:solidFill>
                  <a:srgbClr val="64707A"/>
                </a:solidFill>
                <a:latin typeface="Aptos"/>
              </a:rPr>
              <a:t>subpreguntas</a:t>
            </a:r>
            <a:r>
              <a:rPr sz="1400" b="0" dirty="0">
                <a:solidFill>
                  <a:srgbClr val="64707A"/>
                </a:solidFill>
                <a:latin typeface="Aptos"/>
              </a:rPr>
              <a:t> · </a:t>
            </a:r>
            <a:r>
              <a:rPr sz="1400" b="0" dirty="0" err="1">
                <a:solidFill>
                  <a:srgbClr val="64707A"/>
                </a:solidFill>
                <a:latin typeface="Aptos"/>
              </a:rPr>
              <a:t>estrategia</a:t>
            </a:r>
            <a:endParaRPr sz="1400" b="0" dirty="0">
              <a:solidFill>
                <a:srgbClr val="64707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32004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1024128" y="2404872"/>
            <a:ext cx="2798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ESTRUCTURA MÍNIMA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743200"/>
            <a:ext cx="27980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# Pregunta
## Subpreguntas
## Evidencia
## Estrategia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32004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4681728" y="2404872"/>
            <a:ext cx="2798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D43"/>
                </a:solidFill>
                <a:latin typeface="Aptos"/>
              </a:rPr>
              <a:t>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743200"/>
            <a:ext cx="2798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títulos · listas · énfasis · bloques de código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40280"/>
            <a:ext cx="32004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339328" y="2404872"/>
            <a:ext cx="2798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8B5E"/>
                </a:solidFill>
                <a:latin typeface="Aptos"/>
              </a:rPr>
              <a:t>CRITERIO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743200"/>
            <a:ext cx="2798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otra persona debe poder seguir el razonamiento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¿Qué sección de protocolo.md contiene una decisión y no solo una descripción?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REPRESENTAR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Mermaid permite convertir una estrategia en un flujo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206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4297680" cy="2057400"/>
          </a:xfrm>
          <a:prstGeom prst="roundRect">
            <a:avLst/>
          </a:prstGeom>
          <a:solidFill>
            <a:srgbClr val="0F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840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Courier New"/>
              </a:rPr>
              <a:t>flowchart LR
  A[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Pregunta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] --&gt; B[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Datos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]
  B --&gt; C[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Análisis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]
  C --&gt; D[</a:t>
            </a:r>
            <a:r>
              <a:rPr sz="1400" b="0" dirty="0" err="1">
                <a:solidFill>
                  <a:srgbClr val="FFFFFF"/>
                </a:solidFill>
                <a:latin typeface="Courier New"/>
              </a:rPr>
              <a:t>Conclusión</a:t>
            </a:r>
            <a:r>
              <a:rPr sz="1400" b="0" dirty="0">
                <a:solidFill>
                  <a:srgbClr val="FFFFFF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IDEA VISUAL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148840"/>
            <a:ext cx="11887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5824728" y="2313432"/>
            <a:ext cx="960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D09B1C"/>
                </a:solidFill>
                <a:latin typeface="Aptos"/>
              </a:rPr>
              <a:t>Pregunta</a:t>
            </a:r>
            <a:endParaRPr sz="1400" b="1" dirty="0">
              <a:solidFill>
                <a:srgbClr val="D09B1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84848" y="2441448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148840"/>
            <a:ext cx="11887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7242048" y="2313432"/>
            <a:ext cx="786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441448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148840"/>
            <a:ext cx="11887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8659368" y="2313432"/>
            <a:ext cx="987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D09B1C"/>
                </a:solidFill>
                <a:latin typeface="Aptos"/>
              </a:rPr>
              <a:t>Análisis</a:t>
            </a:r>
            <a:endParaRPr sz="1400" b="1" dirty="0">
              <a:solidFill>
                <a:srgbClr val="D09B1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19488" y="2441448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148840"/>
            <a:ext cx="11887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9829236" y="2320635"/>
            <a:ext cx="1124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228B5E"/>
                </a:solidFill>
                <a:latin typeface="Aptos"/>
              </a:rPr>
              <a:t>Conclusión</a:t>
            </a:r>
            <a:endParaRPr sz="1400" b="1" dirty="0">
              <a:solidFill>
                <a:srgbClr val="228B5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5000" y="3794760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D2D43"/>
                </a:solidFill>
                <a:latin typeface="Aptos"/>
              </a:rPr>
              <a:t>El diagrama ayuda a detectar pasos faltantes o decisiones ambiguas.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¿Qué paso de tu estrategia sería útil convertir en una decisión sí/no?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EDE84E0-1B08-0767-06B2-10EC67303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56624"/>
            <a:ext cx="4206240" cy="16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37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USO RESPONSABLE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IA: revisora del razonamiento, no sustituto del razonamiento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317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TU BORRADOR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pregunta + estrategia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286000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3767328" y="1993392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D43"/>
                </a:solidFill>
                <a:latin typeface="Aptos"/>
              </a:rPr>
              <a:t>IA REVISA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331720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182B39"/>
                </a:solidFill>
                <a:latin typeface="Aptos"/>
              </a:rPr>
              <a:t>claridad</a:t>
            </a:r>
            <a:r>
              <a:rPr sz="1400" b="0" dirty="0">
                <a:solidFill>
                  <a:srgbClr val="182B39"/>
                </a:solidFill>
                <a:latin typeface="Aptos"/>
              </a:rPr>
              <a:t> / </a:t>
            </a:r>
            <a:r>
              <a:rPr sz="1400" b="0" dirty="0" err="1">
                <a:solidFill>
                  <a:srgbClr val="182B39"/>
                </a:solidFill>
                <a:latin typeface="Aptos"/>
              </a:rPr>
              <a:t>ambigüedad</a:t>
            </a:r>
            <a:endParaRPr sz="1400" b="0" dirty="0">
              <a:solidFill>
                <a:srgbClr val="182B3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25312" y="2286000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3317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6601968" y="1993392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09B1C"/>
                </a:solidFill>
                <a:latin typeface="Aptos"/>
              </a:rPr>
              <a:t>TÚ VERIFICAS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331720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contra la lección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286000"/>
            <a:ext cx="274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09B1C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3317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9436608" y="1993392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8B5E"/>
                </a:solidFill>
                <a:latin typeface="Aptos"/>
              </a:rPr>
              <a:t>TÚ DECIDES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331720"/>
            <a:ext cx="1929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aceptar / corregir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69080"/>
            <a:ext cx="9966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C1372D"/>
                </a:solidFill>
                <a:latin typeface="Aptos"/>
              </a:rPr>
              <a:t>Si la IA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inventa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una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herramienta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una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fuente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 o un paso que no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puedes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justificar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, no lo </a:t>
            </a:r>
            <a:r>
              <a:rPr sz="1400" b="1" dirty="0" err="1">
                <a:solidFill>
                  <a:srgbClr val="C1372D"/>
                </a:solidFill>
                <a:latin typeface="Aptos"/>
              </a:rPr>
              <a:t>adoptes</a:t>
            </a:r>
            <a:r>
              <a:rPr sz="1400" b="1" dirty="0">
                <a:solidFill>
                  <a:srgbClr val="C1372D"/>
                </a:solidFill>
                <a:latin typeface="Apto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¿Qué debe hacer el estudiante si la IA propone algo que no entiende?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EVIDENCIA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¿Qué debe quedar al terminar S1?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48463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1115568" y="1581912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09B1C"/>
                </a:solidFill>
                <a:latin typeface="Aptos"/>
              </a:rPr>
              <a:t>protocolo.md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20240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B39"/>
                </a:solidFill>
                <a:latin typeface="Aptos"/>
              </a:rPr>
              <a:t>pregunta + subpreguntas + estrategia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8463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6601968" y="1581912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D43"/>
                </a:solidFill>
                <a:latin typeface="Aptos"/>
              </a:rPr>
              <a:t>reporte de lectura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B39"/>
                </a:solidFill>
                <a:latin typeface="Aptos"/>
              </a:rPr>
              <a:t>ideas clave del capítulo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46120"/>
            <a:ext cx="48463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115568" y="3410712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8B5E"/>
                </a:solidFill>
                <a:latin typeface="Aptos"/>
              </a:rPr>
              <a:t>bitácora de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749039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B39"/>
                </a:solidFill>
                <a:latin typeface="Aptos"/>
              </a:rPr>
              <a:t>qué preguntaste y qué decidiste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4846320" cy="1371600"/>
          </a:xfrm>
          <a:prstGeom prst="roundRect">
            <a:avLst/>
          </a:prstGeom>
          <a:solidFill>
            <a:srgbClr val="F6F8FA"/>
          </a:solidFill>
          <a:ln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6601968" y="3410712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09B1C"/>
                </a:solidFill>
                <a:latin typeface="Aptos"/>
              </a:rPr>
              <a:t>dudas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749039"/>
            <a:ext cx="4443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B39"/>
                </a:solidFill>
                <a:latin typeface="Aptos"/>
              </a:rPr>
              <a:t>qué necesitas revisar después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D43"/>
                </a:solidFill>
                <a:latin typeface="Aptos"/>
              </a:rPr>
              <a:t>No buscamos un protocolo “perfecto”; buscamos un razonamiento explícito que pueda revisarse.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¿Qué evidencia mostraría que el estudiante realmente pensó la estrategia y no solo llenó una plantilla?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D43"/>
                </a:solidFill>
                <a:latin typeface="Aptos"/>
              </a:rPr>
              <a:t>Errores conceptuales que conviene detectar desde S1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64707A"/>
                </a:solidFill>
                <a:latin typeface="Aptos"/>
              </a:rPr>
              <a:t>Introducción a la Bioinformática · LCG UNAM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16459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64707A"/>
                </a:solidFill>
                <a:latin typeface="Aptos"/>
              </a:rPr>
              <a:t>S1 ·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“Bioinformática = comandos”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volver a pregunta → evidencia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“si corre, está bien”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67128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pedir verificación y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“documento al final”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08376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documentar mientras se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9624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“la IA sabe”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49624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exigir fuente, comprensión y verificación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310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372D"/>
                </a:solidFill>
                <a:latin typeface="Aptos"/>
              </a:rPr>
              <a:t>“reproducible = correcto”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690872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82B39"/>
                </a:solidFill>
                <a:latin typeface="Aptos"/>
              </a:rPr>
              <a:t>distinguir reproducibilidad de robustez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016752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D09B1C"/>
                </a:solidFill>
                <a:latin typeface="Aptos"/>
              </a:rPr>
              <a:t>PREGUNTA AL GRUPO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92531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82B39"/>
                </a:solidFill>
                <a:latin typeface="Aptos"/>
              </a:rPr>
              <a:t>¿Cuál de estos errores sería más costoso si se mantiene durante todo el semestre?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Cierre · ¿Con qué idea te quedas?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Cinco comprobaciones rápidas antes de terminar.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252728"/>
            <a:ext cx="502920" cy="502920"/>
          </a:xfrm>
          <a:prstGeom prst="ellipse">
            <a:avLst/>
          </a:prstGeom>
          <a:solidFill>
            <a:srgbClr val="2B7FB0"/>
          </a:solidFill>
          <a:ln w="12700">
            <a:solidFill>
              <a:srgbClr val="2B7F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Bioinformática no es…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0" y="12344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memorizar programas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24958A"/>
          </a:solidFill>
          <a:ln w="12700">
            <a:solidFill>
              <a:srgbClr val="2495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Reproducible significa…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21031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puedo regenerar el resultado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990088"/>
            <a:ext cx="502920" cy="502920"/>
          </a:xfrm>
          <a:prstGeom prst="ellipse">
            <a:avLst/>
          </a:prstGeom>
          <a:solidFill>
            <a:srgbClr val="7A62A3"/>
          </a:solidFill>
          <a:ln w="12700">
            <a:solidFill>
              <a:srgbClr val="7A62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971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Reproducible NO garantiza…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2971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que el resultado sea correcto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858768"/>
            <a:ext cx="502920" cy="502920"/>
          </a:xfrm>
          <a:prstGeom prst="ellipse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Antes de elegir una herramienta…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384048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defino la evidencia que necesito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727448"/>
            <a:ext cx="502920" cy="502920"/>
          </a:xfrm>
          <a:prstGeom prst="ellipse">
            <a:avLst/>
          </a:prstGeom>
          <a:solidFill>
            <a:srgbClr val="B97A1B"/>
          </a:solidFill>
          <a:ln w="12700">
            <a:solidFill>
              <a:srgbClr val="B97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7091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El razonamiento queda registrado en…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47091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4364B"/>
                </a:solidFill>
              </a:rPr>
              <a:t>el protocolo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E3A5F"/>
                </a:solidFill>
              </a:rPr>
              <a:t>Después de la sesión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04672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</a:rPr>
              <a:t>El taller abre el trabajo; la evidencia se completa después.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7780">
            <a:solidFill>
              <a:srgbClr val="2B7FB0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Completar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8408" y="2075688"/>
            <a:ext cx="30266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Terminar la estrategia de la Práctica 1 y corregirla con lo discutido en clase.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7780">
            <a:solidFill>
              <a:srgbClr val="24958A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Documentar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0288" y="2075688"/>
            <a:ext cx="30266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Iniciar protocolo.md con pregunta, subpreguntas y estrategia.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01000" y="141732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7780">
            <a:solidFill>
              <a:srgbClr val="7A62A3"/>
            </a:solidFill>
            <a:prstDash val="solid"/>
          </a:ln>
          <a:effectLst>
            <a:outerShdw blurRad="12700" dist="50800" dir="2700000" algn="bl" rotWithShape="0">
              <a:srgbClr val="D8E0E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02168" y="16002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Preparar S2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02168" y="2075688"/>
            <a:ext cx="3026664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64B"/>
                </a:solidFill>
              </a:rPr>
              <a:t>Reporte de lectura, práctica de Markdown y lectura/primer intento indicado para la siguiente sesión.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5166360"/>
            <a:ext cx="9098280" cy="640080"/>
          </a:xfrm>
          <a:prstGeom prst="roundRect">
            <a:avLst/>
          </a:prstGeom>
          <a:solidFill>
            <a:srgbClr val="247A83"/>
          </a:solidFill>
          <a:ln w="12700">
            <a:solidFill>
              <a:srgbClr val="247A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5358384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 partir de S2: leer antes → practicar en el taller → corregir después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748272" y="3760908"/>
            <a:ext cx="4800600" cy="1325880"/>
          </a:xfrm>
          <a:prstGeom prst="roundRect">
            <a:avLst/>
          </a:prstGeom>
          <a:solidFill>
            <a:srgbClr val="EBF6F6"/>
          </a:solidFill>
          <a:ln>
            <a:solidFill>
              <a:srgbClr val="25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/>
            <a:r>
              <a:rPr sz="1700" b="1" dirty="0" err="1">
                <a:solidFill>
                  <a:srgbClr val="1D3B60"/>
                </a:solidFill>
                <a:latin typeface="Aptos"/>
              </a:rPr>
              <a:t>Ruta</a:t>
            </a:r>
            <a:r>
              <a:rPr sz="1700" b="1" dirty="0">
                <a:solidFill>
                  <a:srgbClr val="1D3B60"/>
                </a:solidFill>
                <a:latin typeface="Aptos"/>
              </a:rPr>
              <a:t> de </a:t>
            </a:r>
            <a:r>
              <a:rPr sz="1700" b="1" dirty="0" err="1">
                <a:solidFill>
                  <a:srgbClr val="1D3B60"/>
                </a:solidFill>
                <a:latin typeface="Aptos"/>
              </a:rPr>
              <a:t>prácticas</a:t>
            </a:r>
            <a:r>
              <a:rPr sz="1700" b="1" dirty="0">
                <a:solidFill>
                  <a:srgbClr val="1D3B60"/>
                </a:solidFill>
                <a:latin typeface="Aptos"/>
              </a:rPr>
              <a:t> de S1</a:t>
            </a:r>
          </a:p>
          <a:p>
            <a:r>
              <a:rPr sz="1300" dirty="0">
                <a:solidFill>
                  <a:srgbClr val="1D3B60"/>
                </a:solidFill>
                <a:latin typeface="Aptos"/>
              </a:rPr>
              <a:t>P1 ·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revisar</a:t>
            </a:r>
            <a:r>
              <a:rPr sz="1300" dirty="0">
                <a:solidFill>
                  <a:srgbClr val="1D3B60"/>
                </a:solidFill>
                <a:latin typeface="Aptos"/>
              </a:rPr>
              <a:t>/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discutir</a:t>
            </a:r>
            <a:r>
              <a:rPr sz="1300" dirty="0">
                <a:solidFill>
                  <a:srgbClr val="1D3B60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en</a:t>
            </a:r>
            <a:r>
              <a:rPr sz="1300" dirty="0">
                <a:solidFill>
                  <a:srgbClr val="1D3B60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clase</a:t>
            </a:r>
            <a:endParaRPr sz="1300" dirty="0">
              <a:solidFill>
                <a:srgbClr val="1D3B60"/>
              </a:solidFill>
              <a:latin typeface="Aptos"/>
            </a:endParaRPr>
          </a:p>
          <a:p>
            <a:r>
              <a:rPr sz="1300" dirty="0">
                <a:solidFill>
                  <a:srgbClr val="1D3B60"/>
                </a:solidFill>
                <a:latin typeface="Aptos"/>
              </a:rPr>
              <a:t>P2 ·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iniciar</a:t>
            </a:r>
            <a:r>
              <a:rPr sz="1300" dirty="0">
                <a:solidFill>
                  <a:srgbClr val="1D3B60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protocolo.md</a:t>
            </a:r>
            <a:endParaRPr sz="1300" dirty="0">
              <a:solidFill>
                <a:srgbClr val="1D3B60"/>
              </a:solidFill>
              <a:latin typeface="Aptos"/>
            </a:endParaRPr>
          </a:p>
          <a:p>
            <a:r>
              <a:rPr sz="1300" dirty="0">
                <a:solidFill>
                  <a:srgbClr val="1D3B60"/>
                </a:solidFill>
                <a:latin typeface="Aptos"/>
              </a:rPr>
              <a:t>P3–P4 ·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continuar</a:t>
            </a:r>
            <a:r>
              <a:rPr sz="1300" dirty="0">
                <a:solidFill>
                  <a:srgbClr val="1D3B60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1D3B60"/>
                </a:solidFill>
                <a:latin typeface="Aptos"/>
              </a:rPr>
              <a:t>después</a:t>
            </a:r>
            <a:endParaRPr sz="1300" dirty="0">
              <a:solidFill>
                <a:srgbClr val="1D3B6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4419</Words>
  <Application>Microsoft Macintosh PowerPoint</Application>
  <PresentationFormat>Panorámica</PresentationFormat>
  <Paragraphs>498</Paragraphs>
  <Slides>29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Aptos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 — Documentar: Markdown y las fases del análisis de datos</dc:title>
  <dc:subject>Guía docente S1 — Introducción a la Bioinformática</dc:subject>
  <dc:creator>OpenAI</dc:creator>
  <cp:lastModifiedBy>Microsoft Office User</cp:lastModifiedBy>
  <cp:revision>13</cp:revision>
  <dcterms:created xsi:type="dcterms:W3CDTF">2026-08-21T02:32:11Z</dcterms:created>
  <dcterms:modified xsi:type="dcterms:W3CDTF">2026-09-02T17:26:23Z</dcterms:modified>
</cp:coreProperties>
</file>