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6583680" cy="11430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3400" b="1">
                <a:solidFill>
                  <a:srgbClr val="002B49"/>
                </a:solidFill>
                <a:latin typeface="Aptos"/>
              </a:rPr>
              <a:t>Introducción a la
Bioinformática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28800"/>
            <a:ext cx="36576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LCG · UNAM ·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331720"/>
            <a:ext cx="4590288" cy="0"/>
          </a:xfrm>
          <a:prstGeom prst="line">
            <a:avLst/>
          </a:prstGeom>
          <a:ln w="508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2633472"/>
            <a:ext cx="38404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C59B27"/>
                </a:solidFill>
                <a:latin typeface="Aptos"/>
              </a:rPr>
              <a:t>Unidad 2 · Sesión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35808"/>
            <a:ext cx="5760720" cy="9601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Navegar y organizar
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69663"/>
            <a:ext cx="530352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Aula invertida · Taller práctico de 2 horas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169164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1389888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pacientes.md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240280"/>
            <a:ext cx="169164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7808" y="2350008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protocolo.md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200400"/>
            <a:ext cx="169164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7808" y="3310128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bitacora-ia.md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423160"/>
            <a:ext cx="73152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64040" y="2084831"/>
            <a:ext cx="502920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325880"/>
            <a:ext cx="14630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 Mono"/>
              </a:rPr>
              <a:t>~/proyecto/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14432" y="1755648"/>
            <a:ext cx="0" cy="2359152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14432" y="1984248"/>
            <a:ext cx="274320" cy="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25328" y="1874519"/>
            <a:ext cx="9144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data/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14432" y="2532888"/>
            <a:ext cx="274320" cy="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625328" y="2423160"/>
            <a:ext cx="9144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src/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14432" y="3081528"/>
            <a:ext cx="274320" cy="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25328" y="2971800"/>
            <a:ext cx="9144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results/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14432" y="3630168"/>
            <a:ext cx="274320" cy="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625328" y="3520440"/>
            <a:ext cx="9144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doc/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069080"/>
            <a:ext cx="18288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archivos sueltos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4069080"/>
            <a:ext cx="16459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estructura verificable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¿Qué queremos lograr hoy?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53035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Al terminar la sesión, el estudiante podrá…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417320" y="2468880"/>
            <a:ext cx="1554480" cy="73152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2880360"/>
            <a:ext cx="621792" cy="62179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07791"/>
            <a:ext cx="621792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30168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UBICARSE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931920"/>
            <a:ext cx="16459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pwd · rutas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2468880"/>
            <a:ext cx="1600200" cy="73152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26080" y="2148840"/>
            <a:ext cx="621792" cy="62179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176272"/>
            <a:ext cx="621792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98648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ORGANIZAR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00400"/>
            <a:ext cx="16459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árbol de carpetas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486400" y="2468880"/>
            <a:ext cx="1600200" cy="73152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983480" y="2880360"/>
            <a:ext cx="621792" cy="62179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907791"/>
            <a:ext cx="621792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30168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TRANSFERIR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20"/>
            <a:ext cx="16459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cp · mv · scp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2468880"/>
            <a:ext cx="1600200" cy="73152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040880" y="2148840"/>
            <a:ext cx="621792" cy="62179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176272"/>
            <a:ext cx="621792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898648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COMPROBAR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00400"/>
            <a:ext cx="16459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ls/tree · checksum</a:t>
            </a:r>
          </a:p>
        </p:txBody>
      </p:sp>
      <p:sp>
        <p:nvSpPr>
          <p:cNvPr id="27" name="Oval 26"/>
          <p:cNvSpPr/>
          <p:nvPr/>
        </p:nvSpPr>
        <p:spPr>
          <a:xfrm>
            <a:off x="9098280" y="2880360"/>
            <a:ext cx="621792" cy="62179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0" y="2907791"/>
            <a:ext cx="621792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630168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DOCUMENTAR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3931920"/>
            <a:ext cx="16459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README · protocolo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¿Cuál de estas acciones parece más sencilla? ¿Cuál puede causar más problemas?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RESUMEN DE LA LECTURA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S4 en una sola mirada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002B49"/>
                </a:solidFill>
                <a:latin typeface="Aptos"/>
              </a:rPr>
              <a:t>La historia de hoy no empieza con comandos.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607040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Aptos"/>
              </a:rPr>
              <a:t>Empieza con una pregunta: ¿cómo convierto archivos sueltos en un proyecto que otra persona pueda entender y comprobar?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697480"/>
            <a:ext cx="347472" cy="34747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2679192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¿Dónde estoy?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679192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pwd · rutas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79576" y="3044952"/>
            <a:ext cx="0" cy="256032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3300984"/>
            <a:ext cx="347472" cy="34747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3282696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¿Dónde va cada cosa?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282696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árbol del proyecto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9576" y="3648456"/>
            <a:ext cx="0" cy="256032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05840" y="3904488"/>
            <a:ext cx="347472" cy="34747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3886200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¿Cómo la coloco ahí?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886200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mkdir · cp · mv · scp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9576" y="4251960"/>
            <a:ext cx="0" cy="256032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05840" y="4507992"/>
            <a:ext cx="347472" cy="34747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4489704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¿Cómo sé que quedó bien?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489704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ls/tree · sha256sum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9576" y="4855464"/>
            <a:ext cx="0" cy="256032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05840" y="5111496"/>
            <a:ext cx="347472" cy="34747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5093208"/>
            <a:ext cx="2743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¿Cómo dejo evidencia?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093208"/>
            <a:ext cx="23774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README · protocolo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2606040"/>
            <a:ext cx="3794760" cy="2971800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2816352"/>
            <a:ext cx="228600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 Mono"/>
              </a:rPr>
              <a:t>~/proyecto/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246120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├── README.md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584448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├── data/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922776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│   ├── source/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61104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│   └── processed/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599431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├── src/   ├── results/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29260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└── doc/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Sin mirar la lectura: ¿qué problema intenta resolver S4?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La historia viene de antes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4241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S4 no es una colección nueva de comandos: es el siguiente paso de un flujo reproducible.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713232" cy="7132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713232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78992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DOCUMENTAR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657600"/>
            <a:ext cx="19202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pregunta → evidencia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04872"/>
            <a:ext cx="5486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0" y="2331720"/>
            <a:ext cx="713232" cy="7132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450592"/>
            <a:ext cx="713232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246120"/>
            <a:ext cx="1078992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DISEÑAR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57600"/>
            <a:ext cx="19202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organización → FAIR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404872"/>
            <a:ext cx="5486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2331720"/>
            <a:ext cx="713232" cy="7132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450592"/>
            <a:ext cx="713232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46120"/>
            <a:ext cx="1078992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TRANSFERIR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657600"/>
            <a:ext cx="19202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local ↔ remoto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04872"/>
            <a:ext cx="5486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9052560" y="2331720"/>
            <a:ext cx="713232" cy="7132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2450592"/>
            <a:ext cx="713232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46120"/>
            <a:ext cx="1078992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ORGANIZAR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57600"/>
            <a:ext cx="192024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estructura → verificación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Hoy la evidencia deja de ser un archivo aislado y pasa a vivir dentro de una estructura.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archivo o evidencia de S3 necesitamos recuperar hoy?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IDEA GUÍA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Antes del comando viene el razonamiento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05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703320"/>
            <a:ext cx="19659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¿qué quiero lograr?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95728"/>
            <a:ext cx="5943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794760" y="2194560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245059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ESTRUCTURA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03320"/>
            <a:ext cx="19659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¿dónde debe vivir?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95728"/>
            <a:ext cx="5943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194560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3756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703320"/>
            <a:ext cx="19659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¿qué cambio haré?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395728"/>
            <a:ext cx="5943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2194560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33756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EVIDENCIA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03320"/>
            <a:ext cx="19659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¿cómo lo compruebo?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Crear una carpeta ≠ demostrar que el proyecto está organizado.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evidencia necesitarías para convencer a otra persona de que el proyecto quedó bien?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ACTIVACIÓN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¿Dónde pondrías cada archivo?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Aptos"/>
              </a:rPr>
              <a:t>INICIO · en ~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14884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 Mono"/>
              </a:rPr>
              <a:t>pacientes.md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24328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15768"/>
            <a:ext cx="214884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 Mono"/>
              </a:rPr>
              <a:t>pacientes-metadatos.md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82696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74136"/>
            <a:ext cx="214884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 Mono"/>
              </a:rPr>
              <a:t>protocolo.md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41064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032504"/>
            <a:ext cx="2148840" cy="23774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 Mono"/>
              </a:rPr>
              <a:t>bitacora-ia.md ·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29260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 Mono"/>
              </a:rPr>
              <a:t>DESTINO · ~/proyecto/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84995"/>
            <a:ext cx="2277162" cy="202517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sz="16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</a:t>
            </a:r>
            <a:r>
              <a:rPr sz="16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sz="16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├── data/
│   ├── source/
│   └── processed/
├── </a:t>
            </a:r>
            <a:r>
              <a:rPr sz="16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sz="16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results/
└── doc/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60" y="2194560"/>
            <a:ext cx="2834640" cy="0"/>
          </a:xfrm>
          <a:prstGeom prst="line">
            <a:avLst/>
          </a:prstGeom>
          <a:ln w="22860">
            <a:solidFill>
              <a:srgbClr val="C59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2029967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"/>
              </a:rPr>
              <a:t>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2852928"/>
            <a:ext cx="2834640" cy="0"/>
          </a:xfrm>
          <a:prstGeom prst="line">
            <a:avLst/>
          </a:prstGeom>
          <a:ln w="22860">
            <a:solidFill>
              <a:srgbClr val="C59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0" y="2688336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"/>
              </a:rPr>
              <a:t>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3511296"/>
            <a:ext cx="2834640" cy="0"/>
          </a:xfrm>
          <a:prstGeom prst="line">
            <a:avLst/>
          </a:prstGeom>
          <a:ln w="22860">
            <a:solidFill>
              <a:srgbClr val="C59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3346703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"/>
              </a:rPr>
              <a:t>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37560" y="4169663"/>
            <a:ext cx="2834640" cy="0"/>
          </a:xfrm>
          <a:prstGeom prst="line">
            <a:avLst/>
          </a:prstGeom>
          <a:ln w="22860">
            <a:solidFill>
              <a:srgbClr val="C59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0" y="4005072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Antes de ejecutar nada: ¿dónde pondrías cada archivo y cómo comprobarías que llegó?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MICROPRÁCTICA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Primero: confirma dónde y con quién trabajas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6492240" cy="40690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55648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 Mono"/>
              </a:rPr>
              <a:t>●  ●  ●    terminal remota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5303520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hostname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62072"/>
            <a:ext cx="5303520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whoami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5303520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cd 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22775"/>
            <a:ext cx="5303520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pwd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453127"/>
            <a:ext cx="5303520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ls -lah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74519"/>
            <a:ext cx="32918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Antes de crear, copiar o borrar…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2651760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578608"/>
            <a:ext cx="297180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¿Estoy en el servidor correcto?</a:t>
            </a:r>
          </a:p>
        </p:txBody>
      </p:sp>
      <p:sp>
        <p:nvSpPr>
          <p:cNvPr id="16" name="Oval 15"/>
          <p:cNvSpPr/>
          <p:nvPr/>
        </p:nvSpPr>
        <p:spPr>
          <a:xfrm>
            <a:off x="7882127" y="3429000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3355848"/>
            <a:ext cx="297180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¿Soy el usuario correcto?</a:t>
            </a:r>
          </a:p>
        </p:txBody>
      </p:sp>
      <p:sp>
        <p:nvSpPr>
          <p:cNvPr id="18" name="Oval 17"/>
          <p:cNvSpPr/>
          <p:nvPr/>
        </p:nvSpPr>
        <p:spPr>
          <a:xfrm>
            <a:off x="7882127" y="4206240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133087"/>
            <a:ext cx="297180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¿Estoy en la carpeta correcta?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salida demuestra que estás en el servidor y no en tu computadora local?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Home ahora; espacio institucional después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206240" cy="3246120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206240" cy="3246120"/>
          </a:xfrm>
          <a:prstGeom prst="roundRect">
            <a:avLst/>
          </a:prstGeom>
          <a:solidFill>
            <a:srgbClr val="F5F7FA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12801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1097280" cy="7315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4200" b="1">
                <a:solidFill>
                  <a:srgbClr val="C59B27"/>
                </a:solidFill>
                <a:latin typeface="Aptos Mono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14600"/>
            <a:ext cx="2331720" cy="7315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Espacio personal de trabajo
para esta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965960"/>
            <a:ext cx="301752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ESPACIO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606040"/>
            <a:ext cx="246888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C59B27"/>
                </a:solidFill>
                <a:latin typeface="Aptos Mono"/>
              </a:rPr>
              <a:t>/export/…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46120"/>
            <a:ext cx="3017520" cy="7315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Otra ubicación del sistema.
No asumir que es tu home.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51760"/>
            <a:ext cx="100584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B91C1C"/>
                </a:solidFill>
                <a:latin typeface="Aptos"/>
              </a:rPr>
              <a:t>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57800"/>
            <a:ext cx="81381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Mismo usuario no significa mismo directorio.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compararías para demostrar que son ubicaciones distintas?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Antes de construir: pausa de seguridad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600200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002B49"/>
                </a:solidFill>
                <a:latin typeface="Aptos"/>
              </a:rPr>
              <a:t>¿Ya existe ~/proyecto/?</a:t>
            </a:r>
          </a:p>
        </p:txBody>
      </p:sp>
      <p:sp>
        <p:nvSpPr>
          <p:cNvPr id="7" name="Oval 6"/>
          <p:cNvSpPr/>
          <p:nvPr/>
        </p:nvSpPr>
        <p:spPr>
          <a:xfrm>
            <a:off x="5623560" y="2331720"/>
            <a:ext cx="685800" cy="6858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560" y="2487168"/>
            <a:ext cx="6858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91840" y="3017520"/>
            <a:ext cx="2670048" cy="82296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61888" y="3017520"/>
            <a:ext cx="2633472" cy="822960"/>
          </a:xfrm>
          <a:prstGeom prst="line">
            <a:avLst/>
          </a:prstGeom>
          <a:ln w="2540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23160" y="3794760"/>
            <a:ext cx="9144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66534"/>
                </a:solidFill>
                <a:latin typeface="Aptos"/>
              </a:rPr>
              <a:t>SÍ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794760"/>
            <a:ext cx="9144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04B87"/>
                </a:solidFill>
                <a:latin typeface="Aptos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51960"/>
            <a:ext cx="2743200" cy="7772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inspecciona
ls -R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251960"/>
            <a:ext cx="2743200" cy="7772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crea paso a paso
mkdir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440680"/>
            <a:ext cx="676656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B91C1C"/>
                </a:solidFill>
                <a:latin typeface="Aptos"/>
              </a:rPr>
              <a:t>Evita crear proyecto/proyecto/ por accidente.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error puede ocurrir si vuelves a ejecutar mkdir proyecto sin mirar dónde estás?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Construye el árbol que usarás todo el curso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cd 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67712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mkdir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06624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cd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45536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pwd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84448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mkdir -p data/source data/processed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60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mkdir src results 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62272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touch 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01183"/>
            <a:ext cx="42976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$ ls -R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2926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C59B27"/>
                </a:solidFill>
                <a:latin typeface="Aptos"/>
              </a:rPr>
              <a:t>Resultado esperado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600"/>
            <a:ext cx="2421432" cy="21482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sz="17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</a:t>
            </a:r>
            <a:r>
              <a:rPr sz="17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sz="17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├── data/
│   ├── source/
│   └── processed/
├── </a:t>
            </a:r>
            <a:r>
              <a:rPr sz="17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sz="17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results/
└── doc/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4572000" cy="5943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La estructura es una decisión científica:
separa datos, código, resultados y documentación.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¿Por qué conviene separar data/source de data/processed?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PREDICE PRIMERO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mv puede hacer dos cosas distintas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5836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El significado depende del origen y del destino.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8288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RENOMBRAR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187451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70632"/>
            <a:ext cx="14173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b.txt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670048"/>
            <a:ext cx="64008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606040"/>
            <a:ext cx="1874519" cy="685800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2770632"/>
            <a:ext cx="14173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c.txt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611880"/>
            <a:ext cx="40233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mv -i b.txt c.txt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18288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MOVER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06040"/>
            <a:ext cx="187451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2770632"/>
            <a:ext cx="14173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c.txt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70048"/>
            <a:ext cx="64008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331720"/>
            <a:ext cx="1645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4352" y="2514600"/>
            <a:ext cx="1417320" cy="7772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Mono"/>
              </a:rPr>
              <a:t>📁 sub/
   c.txt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94760"/>
            <a:ext cx="402336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mv -i c.txt sub/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00600"/>
            <a:ext cx="8138160" cy="6858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No preguntes “¿qué hace mv?”
Pregunta: “¿qué cambia entre origen y destino?”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Antes de ejecutar: ¿en cuál caso cambia el nombre y en cuál cambia la ubicación?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RUTAS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Dos rutas pueden describir el mismo destino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29260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 Mono"/>
              </a:rPr>
              <a:t>Destino: data/source/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250263"/>
            <a:ext cx="530352" cy="53035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59991"/>
            <a:ext cx="53035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Mono"/>
              </a:rPr>
              <a:t>/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2250263"/>
            <a:ext cx="658368" cy="658368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2423999"/>
            <a:ext cx="658368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2515439"/>
            <a:ext cx="8458200" cy="0"/>
          </a:xfrm>
          <a:prstGeom prst="line">
            <a:avLst/>
          </a:prstGeom>
          <a:ln w="254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164663"/>
            <a:ext cx="1828800" cy="5943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ruta absoluta
empieza en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64663"/>
            <a:ext cx="2011680" cy="5943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~ representa tu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164663"/>
            <a:ext cx="2103120" cy="5943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ruta relativa
empieza donde estás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64663"/>
            <a:ext cx="2011680" cy="5943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mismo destino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134612"/>
            <a:ext cx="81381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100" b="1" dirty="0">
                <a:solidFill>
                  <a:srgbClr val="0F172A"/>
                </a:solidFill>
                <a:latin typeface="Aptos"/>
              </a:rPr>
              <a:t>La </a:t>
            </a:r>
            <a:r>
              <a:rPr sz="2100" b="1" dirty="0" err="1">
                <a:solidFill>
                  <a:srgbClr val="0F172A"/>
                </a:solidFill>
                <a:latin typeface="Aptos"/>
              </a:rPr>
              <a:t>ruta</a:t>
            </a:r>
            <a:r>
              <a:rPr sz="21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F172A"/>
                </a:solidFill>
                <a:latin typeface="Aptos"/>
              </a:rPr>
              <a:t>relativa</a:t>
            </a:r>
            <a:r>
              <a:rPr sz="21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F172A"/>
                </a:solidFill>
                <a:latin typeface="Aptos"/>
              </a:rPr>
              <a:t>depende</a:t>
            </a:r>
            <a:r>
              <a:rPr sz="2100" b="1" dirty="0">
                <a:solidFill>
                  <a:srgbClr val="0F172A"/>
                </a:solidFill>
                <a:latin typeface="Aptos"/>
              </a:rPr>
              <a:t> del </a:t>
            </a:r>
            <a:r>
              <a:rPr sz="2100" b="1" dirty="0" err="1">
                <a:solidFill>
                  <a:srgbClr val="0F172A"/>
                </a:solidFill>
                <a:latin typeface="Aptos"/>
              </a:rPr>
              <a:t>contexto</a:t>
            </a:r>
            <a:r>
              <a:rPr sz="2100" b="1" dirty="0">
                <a:solidFill>
                  <a:srgbClr val="0F172A"/>
                </a:solidFill>
                <a:latin typeface="Aptos"/>
              </a:rPr>
              <a:t>; la </a:t>
            </a:r>
            <a:r>
              <a:rPr sz="2100" b="1" dirty="0" err="1">
                <a:solidFill>
                  <a:srgbClr val="0F172A"/>
                </a:solidFill>
                <a:latin typeface="Aptos"/>
              </a:rPr>
              <a:t>absoluta</a:t>
            </a:r>
            <a:r>
              <a:rPr sz="2100" b="1" dirty="0">
                <a:solidFill>
                  <a:srgbClr val="0F172A"/>
                </a:solidFill>
                <a:latin typeface="Aptos"/>
              </a:rPr>
              <a:t> 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Si estás en ~/proyecto/doc/, ¿por qué data/source/ no llega a pacientes.md?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250263"/>
            <a:ext cx="530352" cy="530352"/>
          </a:xfrm>
          <a:prstGeom prst="ellipse">
            <a:avLst/>
          </a:prstGeom>
          <a:solidFill>
            <a:srgbClr val="004B87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359991"/>
            <a:ext cx="53035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Mono"/>
              </a:rPr>
              <a:t>~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250263"/>
            <a:ext cx="530352" cy="53035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359991"/>
            <a:ext cx="53035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Mono"/>
              </a:rPr>
              <a:t>.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692662E7-B7A3-56D4-AD87-93C3DFA6E3CA}"/>
              </a:ext>
            </a:extLst>
          </p:cNvPr>
          <p:cNvSpPr txBox="1"/>
          <p:nvPr/>
        </p:nvSpPr>
        <p:spPr>
          <a:xfrm>
            <a:off x="8872297" y="4701695"/>
            <a:ext cx="2100832" cy="171739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1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</a:t>
            </a:r>
            <a:r>
              <a:rPr sz="12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├── data/
│   ├── source/</a:t>
            </a:r>
            <a:endParaRPr lang="es-ES" sz="1200" b="0" dirty="0">
              <a:solidFill>
                <a:srgbClr val="0F172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        </a:t>
            </a:r>
            <a:r>
              <a:rPr lang="es-MX" sz="1200" b="0" dirty="0">
                <a:solidFill>
                  <a:srgbClr val="0F172A"/>
                </a:solidFill>
                <a:latin typeface="Aptos Mono"/>
              </a:rPr>
              <a:t>pacientes.md</a:t>
            </a:r>
            <a:r>
              <a:rPr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│   └── processed/
├── </a:t>
            </a:r>
            <a:r>
              <a:rPr sz="12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results/
└── </a:t>
            </a:r>
            <a:r>
              <a:rPr sz="1200" b="1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</a:t>
            </a:r>
            <a:r>
              <a:rPr sz="12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En el proyecto real: copia primero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3716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Aptos"/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600200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002B49"/>
                </a:solidFill>
                <a:latin typeface="Aptos"/>
              </a:rPr>
              <a:t>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560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pacientes.md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2432304"/>
            <a:ext cx="4617720" cy="0"/>
          </a:xfrm>
          <a:prstGeom prst="line">
            <a:avLst/>
          </a:prstGeom>
          <a:ln w="3048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0" y="2167128"/>
            <a:ext cx="9144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 Mono"/>
              </a:rPr>
              <a:t>cp -i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148840"/>
            <a:ext cx="2468880" cy="566928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Mono"/>
              </a:rPr>
              <a:t>data/source/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63240"/>
            <a:ext cx="2560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 dirty="0" err="1">
                <a:solidFill>
                  <a:srgbClr val="0F172A"/>
                </a:solidFill>
                <a:latin typeface="Aptos Mono"/>
              </a:rPr>
              <a:t>pacientes-metadatos.md</a:t>
            </a:r>
            <a:endParaRPr sz="1200" b="0" dirty="0">
              <a:solidFill>
                <a:srgbClr val="0F172A"/>
              </a:solidFill>
              <a:latin typeface="Aptos Mono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520440" y="3346704"/>
            <a:ext cx="4617720" cy="0"/>
          </a:xfrm>
          <a:prstGeom prst="line">
            <a:avLst/>
          </a:prstGeom>
          <a:ln w="3048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0" y="3081528"/>
            <a:ext cx="9144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 Mono"/>
              </a:rPr>
              <a:t>cp -i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063240"/>
            <a:ext cx="2468880" cy="566928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3200400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Mono"/>
              </a:rPr>
              <a:t>data/source/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977639"/>
            <a:ext cx="2560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protocolo.md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4261103"/>
            <a:ext cx="4617720" cy="0"/>
          </a:xfrm>
          <a:prstGeom prst="line">
            <a:avLst/>
          </a:prstGeom>
          <a:ln w="3048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0" y="3995927"/>
            <a:ext cx="9144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 Mono"/>
              </a:rPr>
              <a:t>cp -i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977639"/>
            <a:ext cx="2468880" cy="566928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4114800"/>
            <a:ext cx="219456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Mono"/>
              </a:rPr>
              <a:t>doc/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57800"/>
            <a:ext cx="859536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Conservar el original da un punto de regreso hasta verificar.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¿Por qué aquí cp -i es más prudente que mv?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LOCAL ↔ REMOTO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Un archivo todavía está en tu computadora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74320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34440" y="21488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463040"/>
            <a:ext cx="109728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17373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 Mono"/>
              </a:rPr>
              <a:t>bitacora-ia.md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737360"/>
            <a:ext cx="2651760" cy="2240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371600"/>
            <a:ext cx="12801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331720"/>
            <a:ext cx="1828800" cy="7772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Mono"/>
              </a:rPr>
              <a:t>~/proyecto/
doc/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834640"/>
            <a:ext cx="406908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7840" y="2395728"/>
            <a:ext cx="73152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 Mono"/>
              </a:rPr>
              <a:t>scp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859536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 Mono"/>
              </a:rPr>
              <a:t>scp bitacora-ia.md usuario@servidor:/ruta/.../doc/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85232"/>
            <a:ext cx="59436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B91C1C"/>
                </a:solidFill>
                <a:latin typeface="Aptos"/>
              </a:rPr>
              <a:t>El comando se ejecuta desde LOCAL.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dos cosas debes saber antes de usar scp?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DOS PREGUNTAS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Verificar no es mirar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002B49"/>
                </a:solidFill>
                <a:latin typeface="Aptos"/>
              </a:rPr>
              <a:t>¿Dónde quedó?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45920"/>
            <a:ext cx="29260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002B49"/>
                </a:solidFill>
                <a:latin typeface="Aptos"/>
              </a:rPr>
              <a:t>¿Cambió?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70135"/>
            <a:ext cx="3210110" cy="136345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sz="17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data/
│   └── source/
│       └── </a:t>
            </a:r>
            <a:r>
              <a:rPr sz="17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pacientes.md</a:t>
            </a:r>
            <a:r>
              <a:rPr sz="17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└── doc/</a:t>
            </a:r>
          </a:p>
        </p:txBody>
      </p:sp>
      <p:sp>
        <p:nvSpPr>
          <p:cNvPr id="9" name="Oval 8"/>
          <p:cNvSpPr/>
          <p:nvPr/>
        </p:nvSpPr>
        <p:spPr>
          <a:xfrm>
            <a:off x="9006840" y="2423160"/>
            <a:ext cx="1325880" cy="132588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6840" y="2743200"/>
            <a:ext cx="1325880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2B49"/>
                </a:solidFill>
                <a:latin typeface="Aptos Mono"/>
              </a:rPr>
              <a:t>SHA
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27432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C59B27"/>
                </a:solidFill>
                <a:latin typeface="Aptos Mono"/>
              </a:rPr>
              <a:t>tree / ls -R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754880"/>
            <a:ext cx="27432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C59B27"/>
                </a:solidFill>
                <a:latin typeface="Aptos Mono"/>
              </a:rPr>
              <a:t>sha256sum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3154680"/>
            <a:ext cx="2743200" cy="0"/>
          </a:xfrm>
          <a:prstGeom prst="line">
            <a:avLst/>
          </a:prstGeom>
          <a:ln w="25400">
            <a:solidFill>
              <a:srgbClr val="D9E1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60520" y="2761488"/>
            <a:ext cx="384048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B91C1C"/>
                </a:solidFill>
                <a:latin typeface="Aptos"/>
              </a:rPr>
              <a:t>UBICACIÓN ≠ INTEGRIDAD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¿Por qué un árbol correcto no demuestra que el archivo conserve el mismo contenido?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NANO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Editar es un ciclo, no un momento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148840"/>
            <a:ext cx="2651760" cy="914400"/>
          </a:xfrm>
          <a:prstGeom prst="line">
            <a:avLst/>
          </a:prstGeom>
          <a:ln w="2286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275320" y="3063240"/>
            <a:ext cx="457200" cy="1965960"/>
          </a:xfrm>
          <a:prstGeom prst="line">
            <a:avLst/>
          </a:prstGeom>
          <a:ln w="2286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86200" y="5029200"/>
            <a:ext cx="4389120" cy="0"/>
          </a:xfrm>
          <a:prstGeom prst="line">
            <a:avLst/>
          </a:prstGeom>
          <a:ln w="2286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383280" y="3063240"/>
            <a:ext cx="502920" cy="1965960"/>
          </a:xfrm>
          <a:prstGeom prst="line">
            <a:avLst/>
          </a:prstGeom>
          <a:ln w="2286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383280" y="2148840"/>
            <a:ext cx="2697480" cy="914400"/>
          </a:xfrm>
          <a:prstGeom prst="line">
            <a:avLst/>
          </a:prstGeom>
          <a:ln w="22860">
            <a:solidFill>
              <a:srgbClr val="00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62981" y="3279511"/>
            <a:ext cx="301752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 Mono"/>
              </a:rPr>
              <a:t>README.md · protocolo.md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1621" y="3709279"/>
            <a:ext cx="19202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 dirty="0" err="1">
                <a:solidFill>
                  <a:srgbClr val="166534"/>
                </a:solidFill>
                <a:latin typeface="Aptos"/>
              </a:rPr>
              <a:t>Sí</a:t>
            </a:r>
            <a:r>
              <a:rPr sz="1400" b="1" dirty="0">
                <a:solidFill>
                  <a:srgbClr val="166534"/>
                </a:solidFill>
                <a:latin typeface="Aptos"/>
              </a:rPr>
              <a:t> se </a:t>
            </a:r>
            <a:r>
              <a:rPr sz="1400" b="1" dirty="0" err="1">
                <a:solidFill>
                  <a:srgbClr val="166534"/>
                </a:solidFill>
                <a:latin typeface="Aptos"/>
              </a:rPr>
              <a:t>editan</a:t>
            </a:r>
            <a:endParaRPr sz="1400" b="1" dirty="0">
              <a:solidFill>
                <a:srgbClr val="16653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5623560"/>
            <a:ext cx="448056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Aptos Mono"/>
              </a:rPr>
              <a:t>data/source/ → NO editar datos fuente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¿Cómo comprobarías fuera de nano que el cambio realmente quedó guardado?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Oval 5"/>
          <p:cNvSpPr/>
          <p:nvPr/>
        </p:nvSpPr>
        <p:spPr>
          <a:xfrm>
            <a:off x="5623560" y="1691640"/>
            <a:ext cx="914400" cy="91440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13832" y="2002536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ABRIR</a:t>
            </a:r>
          </a:p>
        </p:txBody>
      </p:sp>
      <p:sp>
        <p:nvSpPr>
          <p:cNvPr id="8" name="Oval 7"/>
          <p:cNvSpPr/>
          <p:nvPr/>
        </p:nvSpPr>
        <p:spPr>
          <a:xfrm>
            <a:off x="8275320" y="2606040"/>
            <a:ext cx="914400" cy="91440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5592" y="2916936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002B49"/>
                </a:solidFill>
                <a:latin typeface="Aptos"/>
              </a:rPr>
              <a:t>EDITAR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4572000"/>
            <a:ext cx="914400" cy="91440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4882896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SALIR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0" y="2606040"/>
            <a:ext cx="914400" cy="91440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16352" y="2916936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COMPROBAR</a:t>
            </a:r>
          </a:p>
        </p:txBody>
      </p:sp>
      <p:sp>
        <p:nvSpPr>
          <p:cNvPr id="10" name="Oval 9"/>
          <p:cNvSpPr/>
          <p:nvPr/>
        </p:nvSpPr>
        <p:spPr>
          <a:xfrm>
            <a:off x="7729730" y="4507992"/>
            <a:ext cx="914400" cy="914400"/>
          </a:xfrm>
          <a:prstGeom prst="ellipse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9181" y="4842158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002B49"/>
                </a:solidFill>
                <a:latin typeface="Aptos"/>
              </a:rPr>
              <a:t>GUARDAR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COMPROBAR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La evidencia aparece fuera del editor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6492240" cy="4206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56692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 Mono"/>
              </a:rPr>
              <a:t>$ nano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07208"/>
            <a:ext cx="56692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0">
                <a:solidFill>
                  <a:srgbClr val="C59B27"/>
                </a:solidFill>
                <a:latin typeface="Aptos Mono"/>
              </a:rPr>
              <a:t>  [editar · Ctrl-O · Enter · Ctrl-X]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57015"/>
            <a:ext cx="56692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 Mono"/>
              </a:rPr>
              <a:t>$ ls -l 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06824"/>
            <a:ext cx="566928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 Mono"/>
              </a:rPr>
              <a:t>$ cat 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57400"/>
            <a:ext cx="22860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"/>
              </a:rPr>
              <a:t>“Lo guardé”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97480"/>
            <a:ext cx="640080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59B27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383280"/>
            <a:ext cx="2743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002B49"/>
                </a:solidFill>
                <a:latin typeface="Aptos"/>
              </a:rPr>
              <a:t>“Lo comprobé”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4106" y="3946592"/>
            <a:ext cx="1671227" cy="74789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 dirty="0">
                <a:solidFill>
                  <a:srgbClr val="C59B27"/>
                </a:solidFill>
                <a:latin typeface="Aptos Mono"/>
              </a:rPr>
              <a:t>cat </a:t>
            </a:r>
            <a:r>
              <a:rPr sz="1500" b="1" dirty="0" err="1">
                <a:solidFill>
                  <a:srgbClr val="C59B27"/>
                </a:solidFill>
                <a:latin typeface="Aptos Mono"/>
              </a:rPr>
              <a:t>README.md</a:t>
            </a:r>
            <a:endParaRPr lang="es-ES" sz="1500" b="1" dirty="0">
              <a:solidFill>
                <a:srgbClr val="C59B27"/>
              </a:solidFill>
              <a:latin typeface="Aptos Mono"/>
            </a:endParaRPr>
          </a:p>
          <a:p>
            <a:pPr algn="ctr"/>
            <a:r>
              <a:rPr lang="es-MX" sz="1500" b="1" dirty="0">
                <a:solidFill>
                  <a:srgbClr val="C59B27"/>
                </a:solidFill>
                <a:latin typeface="Aptos Mono"/>
              </a:rPr>
              <a:t>less README.md</a:t>
            </a:r>
          </a:p>
          <a:p>
            <a:pPr algn="ctr"/>
            <a:r>
              <a:rPr lang="es-MX" sz="1500" b="1" dirty="0">
                <a:solidFill>
                  <a:srgbClr val="C59B27"/>
                </a:solidFill>
                <a:latin typeface="Aptos Mono"/>
              </a:rPr>
              <a:t>more README.md</a:t>
            </a:r>
            <a:endParaRPr sz="1500" b="1" dirty="0">
              <a:solidFill>
                <a:srgbClr val="C59B27"/>
              </a:solidFill>
              <a:latin typeface="Apto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diferencia hay entre guardar y verificar?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La entrega es una historia verificable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2064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No queremos una colección de capturas.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59736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4168" y="2615184"/>
            <a:ext cx="167335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3154680"/>
            <a:ext cx="11430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ÁRBOL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" y="3520440"/>
            <a:ext cx="164592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qué estructura quedó</a:t>
            </a:r>
          </a:p>
        </p:txBody>
      </p:sp>
      <p:sp>
        <p:nvSpPr>
          <p:cNvPr id="12" name="Oval 11"/>
          <p:cNvSpPr/>
          <p:nvPr/>
        </p:nvSpPr>
        <p:spPr>
          <a:xfrm>
            <a:off x="3017520" y="2331720"/>
            <a:ext cx="566928" cy="566928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459736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615184"/>
            <a:ext cx="167335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3154680"/>
            <a:ext cx="11430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RUTAS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520440"/>
            <a:ext cx="164592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desde dónde trabajaste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2331720"/>
            <a:ext cx="566928" cy="566928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459736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4728" y="2615184"/>
            <a:ext cx="1673351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83480" y="3154680"/>
            <a:ext cx="11430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CHECKSUM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520440"/>
            <a:ext cx="164592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qué contenido verificaste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0" y="2331720"/>
            <a:ext cx="566928" cy="566928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2459736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2615184"/>
            <a:ext cx="167335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3154680"/>
            <a:ext cx="11430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PROBLEMA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520440"/>
            <a:ext cx="164592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qué falló</a:t>
            </a:r>
          </a:p>
        </p:txBody>
      </p:sp>
      <p:sp>
        <p:nvSpPr>
          <p:cNvPr id="27" name="Oval 26"/>
          <p:cNvSpPr/>
          <p:nvPr/>
        </p:nvSpPr>
        <p:spPr>
          <a:xfrm>
            <a:off x="9738360" y="2331720"/>
            <a:ext cx="566928" cy="566928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2459736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154680"/>
            <a:ext cx="11430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CORRECCIÓN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520440"/>
            <a:ext cx="1645920" cy="6400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qué hiciste y por qué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4709160"/>
            <a:ext cx="6492240" cy="685800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40" y="4892040"/>
            <a:ext cx="603504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 Mono"/>
              </a:rPr>
              <a:t>doc/protocolo.md = decisiones + comandos + problemas + evidencia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información se perdería si solo entregaras una captura final?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Antes de borrar, detente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19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1143000" cy="114300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35708"/>
            <a:ext cx="11430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92024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1600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¿Dónde estoy?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7180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pwd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1600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¿Qué existe?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97180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ls -R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9572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92024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1600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¿Qué voy a borrar?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predice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23160"/>
            <a:ext cx="1600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Ejecuto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7180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 Mono"/>
              </a:rPr>
              <a:t>rm -i / rmdir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51960"/>
            <a:ext cx="182880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rmdir sub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51960"/>
            <a:ext cx="301752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B91C1C"/>
                </a:solidFill>
                <a:latin typeface="Aptos"/>
              </a:rPr>
              <a:t>falla si sub/ no está vacío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074920"/>
            <a:ext cx="6217920" cy="4572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El error aquí protege información.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¿Por qué un error de rmdir puede ser una buena noticia?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DEPURACIÓN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Cuando algo falla, lee antes de repetir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Aptos Mono"/>
              </a:rPr>
              <a:t>No such file or 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600200"/>
            <a:ext cx="5029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60350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002B49"/>
                </a:solidFill>
                <a:latin typeface="Aptos Mono"/>
              </a:rPr>
              <a:t>pwd + ls + revisa la ruta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310896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Aptos Mono"/>
              </a:rPr>
              <a:t>mkdir falla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386584"/>
            <a:ext cx="5029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86584"/>
            <a:ext cx="60350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002B49"/>
                </a:solidFill>
                <a:latin typeface="Aptos Mono"/>
              </a:rPr>
              <a:t>¿falta el padre? → -p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310896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Aptos Mono"/>
              </a:rPr>
              <a:t>mv “desapareció”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172968"/>
            <a:ext cx="5029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72968"/>
            <a:ext cx="60350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002B49"/>
                </a:solidFill>
                <a:latin typeface="Aptos Mono"/>
              </a:rPr>
              <a:t>revisa el destino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310896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Aptos Mono"/>
              </a:rPr>
              <a:t>checksum distinto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959352"/>
            <a:ext cx="5029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59352"/>
            <a:ext cx="60350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002B49"/>
                </a:solidFill>
                <a:latin typeface="Aptos Mono"/>
              </a:rPr>
              <a:t>conserva y vuelve a copiar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45736"/>
            <a:ext cx="310896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Aptos Mono"/>
              </a:rPr>
              <a:t>scp raro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745736"/>
            <a:ext cx="5029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745736"/>
            <a:ext cx="603504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002B49"/>
                </a:solidFill>
                <a:latin typeface="Aptos Mono"/>
              </a:rPr>
              <a:t>¿estás local? ¿ruta remota?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623560"/>
            <a:ext cx="804672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El mensaje de error también es evidencia.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sería peor: que un comando falle o repetirlo sin leer por qué falló?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USO CRÍTICO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IA después: revisora, no operadora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21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57400"/>
            <a:ext cx="960120" cy="960120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TU PROPUESTA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9312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 Mono"/>
              </a:rPr>
              <a:t>anonimizada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304288"/>
            <a:ext cx="457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6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2057400"/>
            <a:ext cx="960120" cy="9601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35915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46120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39312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 Mono"/>
              </a:rPr>
              <a:t>sugiere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04288"/>
            <a:ext cx="457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6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057400"/>
            <a:ext cx="960120" cy="960120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35915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246120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PRUEBA SEGURA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639312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 Mono"/>
              </a:rPr>
              <a:t>man · prueba-s4/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304288"/>
            <a:ext cx="45720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600" b="1">
                <a:solidFill>
                  <a:srgbClr val="C59B27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2057400"/>
            <a:ext cx="960120" cy="960120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2359152"/>
            <a:ext cx="960120" cy="2286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46120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02B49"/>
                </a:solidFill>
                <a:latin typeface="Aptos"/>
              </a:rPr>
              <a:t>DECISIÓN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39312"/>
            <a:ext cx="17830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 Mono"/>
              </a:rPr>
              <a:t>registrada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617720"/>
            <a:ext cx="8001000" cy="685800"/>
          </a:xfrm>
          <a:prstGeom prst="roundRect">
            <a:avLst/>
          </a:prstGeom>
          <a:solidFill>
            <a:srgbClr val="FFF7DE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31720" y="4818888"/>
            <a:ext cx="754380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 Mono"/>
              </a:rPr>
              <a:t>[SERVIDOR]   [USUARIO]   [RUTA]   ·   nunca llaves SSH ni contraseñas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¿Qué tendría que verificar antes de aceptar una sugerencia de IA?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GUÍA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¿Dónde entra la práctica?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La presentación orienta; la práctica es donde el estudiante predice, ejecuta, comprueba y corrige.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Árbol y rutas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Retos A–F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48840"/>
            <a:ext cx="46634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razonar rutas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Unix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346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Comprobación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834640"/>
            <a:ext cx="46634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hostname · whoami · pwd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Organiza con cuidado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5204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mv / rmdir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520440"/>
            <a:ext cx="46634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predecir antes de cambiar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Verifica y documenta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2062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checksum ·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206240"/>
            <a:ext cx="46634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producir evidencia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Revisión con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920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auditoría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892040"/>
            <a:ext cx="46634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verificar antes de aceptar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4663440" cy="29260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Referencia docente: Bitácora Interactiva 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99632"/>
            <a:ext cx="14173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6126480"/>
            <a:ext cx="9189720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002B49"/>
                </a:solidFill>
                <a:latin typeface="Aptos"/>
              </a:rPr>
              <a:t>¿En qué momento conviene dejar de explicar y pedir que el alumno pruebe?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65392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0292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"/>
              </a:rPr>
              <a:t>Quédate con esto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228600"/>
            <a:ext cx="7772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S4 ·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 Mono"/>
              </a:rPr>
              <a:t>1  pwd da contexto a las rutas relativas.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2  Home y espacio institucional no son lo mismo.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3  Copia antes de mover; verifica antes de borrar.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83864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 Mono"/>
              </a:rPr>
              <a:t>4  Árbol y checksum responden preguntas distintas.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42231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0">
                <a:solidFill>
                  <a:srgbClr val="002B49"/>
                </a:solidFill>
                <a:latin typeface="Aptos"/>
              </a:rPr>
              <a:t>5  Editar incluye comprobar fuera del editor.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9966960" cy="36576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6  Un error leído y corregido también es evidencia.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5669280"/>
            <a:ext cx="992124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806440"/>
            <a:ext cx="9875520" cy="38404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Semáforo de salida:  VERDE · AMARILLO · ROJO  +  una duda para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1997</Words>
  <Application>Microsoft Macintosh PowerPoint</Application>
  <PresentationFormat>Panorámica</PresentationFormat>
  <Paragraphs>420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2026-08-26T17:57:02Z</dcterms:modified>
  <cp:category/>
</cp:coreProperties>
</file>