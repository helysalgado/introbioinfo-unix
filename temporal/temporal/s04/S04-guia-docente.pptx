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**Objetivo:** recordar que la lectura ocurrió antes; hoy se ejecuta y corrige. **Transición:** “¿Qué llegó de S3 y qué aún falta?” **Tiempo aproximado:**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**Respuesta esperada:** suelen señalar “mover archivos” como fácil; recuperar que un cambio de ruta puede volverlo riesgoso. **Tiempo aproximado:**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**Dinámica:** recuperación rápida antes de explicar. **Qué observar:** si identifican que `bitacora-ia.md` aún está local. **Transición:** “No empezamos por comandos: empezamos por una historia de datos y evidencia.” **Tiempo aproximado:**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**Respuesta esperada:** existencia no prueba ubicación ni integridad. **Conexión:** S1 pregunta/evidencia y S3 checksum. **Transición:** “Ahora veamos la ruta del taller y después el reto.” **Tiempo aproximado:**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**Tiempo aproximado:**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**No revelar todavía:** la secuencia de comandos ni la solución cerrada. **Respuesta esperada:** datos y metadatos en `data/source/`; documentación en `doc/`; README en raíz. **Tiempo aproximado:**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**Qué observar:** alguien que solo teclea sin leer salida. **Pregunta de seguimiento:** “¿qué salida demuestra que estás en el servidor y no local?” **Tiempo aproximado:** 8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**Dinámica:** pedir que comparen `pwd` con `ls -ld /export/space3/users/$USER`. **Error frecuente:** concluir que son el mismo directorio porque ambos pertenecen al usuario. **Tiempo aproximado:** 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**Respuesta esperada:** duplicar/anidar y perder la lectura del árbol. **Transición:** construirán el proyecto definitivo, no una plantilla opaca. **Tiempo aproximado:**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**Qué observar:** `pwd` tras entrar a proyecto y anidación correcta de `data/source`. **Tiempo aproximado:** 10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**No revelar todavía:** la clasificación de los dos `mv`. **Errores frecuentes:** creer que un archivo “desapareció”. **Tiempo aproximado:** 10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**Cómo corregir o comprobar:** pedir una explicación causal: “¿qué comando produjo cada cambio?” **Transición:** en el proyecto real primero se copia, no se mueve. **Tiempo aproximado:**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**Objetivo:** introducir robustez como llegar al mismo lugar por rutas distintas. **Tiempo aproximado:** 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**Error frecuente:** sustituir `cp -i` por `mv`. **Respuesta esperada:** la copia en home permite recuperar si falla la verificación. **Tiempo aproximado:** 6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**Respuesta esperada:** estar local y tener ruta absoluta remota real. **Qué observar:** datos sensibles en pantallas/capturas. **Tiempo aproximado:** 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**Respuesta esperada:** árbol no prueba integridad; checksum no muestra organización. **Tiempo aproximado:** 6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**Respuesta esperada:** después de salir, con `cat README.md`/reabrir. **No revelar todavía:** solución a Ctrl-S. **Tiempo aproximado:**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**Error frecuente:** usar Ctrl-S y pensar que guardó. **Cómo corregir o comprobar:** si se pausa terminal, Ctrl-Q; volver a usar Ctrl-O. **Tiempo aproximado:**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**Qué observar:** protocolo con comandos inventados o sin problemas/decisiones. **Tiempo aproximado:** 12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**Transición:** hacer el registro antes de olvidar decisiones. **Tiempo aproximado:**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**No revelar todavía:** el resultado del primer intento. **Errores frecuentes:** sugerir `rm -r`; recordar que no es parte de la tarea obligatoria. **Tiempo aproximado:** 6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**Objetivo:** normalizar el error como evidencia. **Tiempo aproximado:**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**Respuesta esperada:** que no borre/sobrescriba, que use home, y que produzca la estructura requerida. **Tiempo aproximado:**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**Objetivo:** identificar estudiantes que requieren apoyo en rutas, integridad o estructura antes de S5. **Transición:** preparar lectura de S5 y probar `file`/`head`. **Tiempo aproximado:**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S4 · Navegar y organizar 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66928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E3A5F"/>
                </a:solidFill>
                <a:latin typeface="Aptos"/>
              </a:defRPr>
            </a:pPr>
            <a:r>
              <a:t>Introducción a la Bioinformática</a:t>
            </a:r>
          </a:p>
          <a:p>
            <a:pPr algn="l">
              <a:spcAft>
                <a:spcPts val="400"/>
              </a:spcAft>
              <a:defRPr sz="2800" b="1">
                <a:solidFill>
                  <a:srgbClr val="1E3A5F"/>
                </a:solidFill>
                <a:latin typeface="Aptos"/>
              </a:defRPr>
            </a:pPr>
            <a:r>
              <a:t>LCG · UNAM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06040"/>
            <a:ext cx="484632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5B6B7C"/>
                </a:solidFill>
                <a:latin typeface="Aptos"/>
              </a:defRPr>
            </a:pPr>
            <a:r>
              <a:t>Unidad 2 · Sesión 4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5B6B7C"/>
                </a:solidFill>
                <a:latin typeface="Aptos"/>
              </a:defRPr>
            </a:pPr>
            <a:r>
              <a:t>Aula invertida · Taller práctico de 2 horas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0" y="2011680"/>
            <a:ext cx="4251960" cy="0"/>
          </a:xfrm>
          <a:prstGeom prst="line">
            <a:avLst/>
          </a:prstGeom>
          <a:ln w="50800">
            <a:solidFill>
              <a:srgbClr val="247A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0" y="2468880"/>
            <a:ext cx="448056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E3A5F"/>
                </a:solidFill>
                <a:latin typeface="Aptos Mono"/>
              </a:defRPr>
            </a:pPr>
            <a:r>
              <a:t>~/  →  ~/proyecto/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1E3A5F"/>
                </a:solidFill>
                <a:latin typeface="Aptos Mono"/>
              </a:defRPr>
            </a:pPr>
            <a:r>
              <a:t>archivos sueltos     estructura verificable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¿Qué queremos lograr en S04?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2743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47A83"/>
                </a:solidFill>
                <a:latin typeface="Aptos"/>
              </a:defRPr>
            </a:pPr>
            <a:r>
              <a:t>Al terminar...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929384" cy="749808"/>
          </a:xfrm>
          <a:prstGeom prst="roundRect">
            <a:avLst/>
          </a:prstGeom>
          <a:solidFill>
            <a:srgbClr val="24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ubicarme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52344" y="238658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80944" y="2011680"/>
            <a:ext cx="1929384" cy="74980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54096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construir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10328" y="238658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38928" y="2011680"/>
            <a:ext cx="1929384" cy="749808"/>
          </a:xfrm>
          <a:prstGeom prst="roundRect">
            <a:avLst/>
          </a:prstGeom>
          <a:solidFill>
            <a:srgbClr val="B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organizar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68312" y="238658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96912" y="2011680"/>
            <a:ext cx="1929384" cy="749808"/>
          </a:xfrm>
          <a:prstGeom prst="roundRect">
            <a:avLst/>
          </a:prstGeom>
          <a:solidFill>
            <a:srgbClr val="24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verificar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26296" y="238658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54896" y="2011680"/>
            <a:ext cx="1929384" cy="74980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8048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documentar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86200"/>
            <a:ext cx="102412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E3A5F"/>
                </a:solidFill>
                <a:latin typeface="Aptos"/>
              </a:defRPr>
            </a:pPr>
            <a:r>
              <a:t>¿Qué acción te parece más sencilla? ¿Cuál tiene más riesgo?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Lo que ya traemos: S1 → S2 → S3 →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2468880" cy="74980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S1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documentar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40" y="234086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20440" y="1965960"/>
            <a:ext cx="2468880" cy="749808"/>
          </a:xfrm>
          <a:prstGeom prst="roundRect">
            <a:avLst/>
          </a:prstGeom>
          <a:solidFill>
            <a:srgbClr val="7A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214884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S2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diseñar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9320" y="234086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17920" y="1965960"/>
            <a:ext cx="2468880" cy="749808"/>
          </a:xfrm>
          <a:prstGeom prst="roundRect">
            <a:avLst/>
          </a:prstGeom>
          <a:solidFill>
            <a:srgbClr val="2B7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214884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S3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transferir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0" y="234086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15400" y="1965960"/>
            <a:ext cx="2468880" cy="749808"/>
          </a:xfrm>
          <a:prstGeom prst="roundRect">
            <a:avLst/>
          </a:prstGeom>
          <a:solidFill>
            <a:srgbClr val="24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214884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S4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organizar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86200"/>
            <a:ext cx="10058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1E3A5F"/>
                </a:solidFill>
                <a:latin typeface="Aptos"/>
              </a:defRPr>
            </a:pPr>
            <a:r>
              <a:t>¿Qué archivo o evidencia de sesiones anteriores usarás hoy?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Idea guía: antes del comando viene el razonamiento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468880" cy="74980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28600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pregunta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40" y="247802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20440" y="2103120"/>
            <a:ext cx="2468880" cy="749808"/>
          </a:xfrm>
          <a:prstGeom prst="roundRect">
            <a:avLst/>
          </a:prstGeom>
          <a:solidFill>
            <a:srgbClr val="24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228600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estructura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9320" y="247802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17920" y="2103120"/>
            <a:ext cx="2468880" cy="749808"/>
          </a:xfrm>
          <a:prstGeom prst="roundRect">
            <a:avLst/>
          </a:prstGeom>
          <a:solidFill>
            <a:srgbClr val="B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228600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acción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0" y="247802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15400" y="2103120"/>
            <a:ext cx="2468880" cy="749808"/>
          </a:xfrm>
          <a:prstGeom prst="roundRect">
            <a:avLst/>
          </a:prstGeom>
          <a:solidFill>
            <a:srgbClr val="7A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228600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102412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E3A5F"/>
                </a:solidFill>
                <a:latin typeface="Aptos"/>
              </a:defRPr>
            </a:pPr>
            <a:r>
              <a:t>Crear una carpeta no demuestra que el proyecto esté organizado.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70832"/>
            <a:ext cx="10241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900" b="0">
                <a:solidFill>
                  <a:srgbClr val="5B6B7C"/>
                </a:solidFill>
                <a:latin typeface="Aptos"/>
              </a:defRPr>
            </a:pPr>
            <a:r>
              <a:t>Hay que comprobar ubicación, integridad y registro.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Ruta del taller: recuperar → ejecutar → comprobar → corregir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569720" cy="749808"/>
          </a:xfrm>
          <a:prstGeom prst="roundRect">
            <a:avLst/>
          </a:prstGeom>
          <a:solidFill>
            <a:srgbClr val="7A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14234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rutas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92680" y="234086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21280" y="1965960"/>
            <a:ext cx="1569720" cy="749808"/>
          </a:xfrm>
          <a:prstGeom prst="roundRect">
            <a:avLst/>
          </a:prstGeom>
          <a:solidFill>
            <a:srgbClr val="2B7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4432" y="2148840"/>
            <a:ext cx="14234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contexto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91000" y="234086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19600" y="1965960"/>
            <a:ext cx="1569720" cy="749808"/>
          </a:xfrm>
          <a:prstGeom prst="roundRect">
            <a:avLst/>
          </a:prstGeom>
          <a:solidFill>
            <a:srgbClr val="24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2752" y="2148840"/>
            <a:ext cx="14234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construir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9320" y="234086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17920" y="1965960"/>
            <a:ext cx="1569720" cy="749808"/>
          </a:xfrm>
          <a:prstGeom prst="roundRect">
            <a:avLst/>
          </a:prstGeom>
          <a:solidFill>
            <a:srgbClr val="B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2148840"/>
            <a:ext cx="14234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verificar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87640" y="234086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16240" y="1965960"/>
            <a:ext cx="1569720" cy="74980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9392" y="2148840"/>
            <a:ext cx="14234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editar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85960" y="234086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14560" y="1965960"/>
            <a:ext cx="1569720" cy="749808"/>
          </a:xfrm>
          <a:prstGeom prst="roundRect">
            <a:avLst/>
          </a:prstGeom>
          <a:solidFill>
            <a:srgbClr val="24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87712" y="2148840"/>
            <a:ext cx="14234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corregir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886200"/>
            <a:ext cx="100584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1E3A5F"/>
                </a:solidFill>
                <a:latin typeface="Aptos"/>
              </a:defRPr>
            </a:pPr>
            <a:r>
              <a:t>Bitácora: predice y registra evidencia.</a:t>
            </a:r>
          </a:p>
          <a:p>
            <a:pPr algn="ctr">
              <a:spcAft>
                <a:spcPts val="400"/>
              </a:spcAft>
              <a:defRPr sz="2500" b="1">
                <a:solidFill>
                  <a:srgbClr val="1E3A5F"/>
                </a:solidFill>
                <a:latin typeface="Aptos"/>
              </a:defRPr>
            </a:pPr>
            <a:r>
              <a:t>Terminal: ejecuta y comprueba.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Activación · ¿Dónde pondrías cada archivo?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2743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B5473A"/>
                </a:solidFill>
                <a:latin typeface="Aptos"/>
              </a:defRPr>
            </a:pPr>
            <a:r>
              <a:t>INICIO · en ~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474720" cy="2286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24364B"/>
                </a:solidFill>
                <a:latin typeface="Aptos Mono"/>
              </a:defRPr>
            </a:pPr>
            <a:r>
              <a:t>pacientes.md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24364B"/>
                </a:solidFill>
                <a:latin typeface="Aptos Mono"/>
              </a:defRPr>
            </a:pPr>
            <a:r>
              <a:t>pacientes-metadatos.md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24364B"/>
                </a:solidFill>
                <a:latin typeface="Aptos Mono"/>
              </a:defRPr>
            </a:pPr>
            <a:r>
              <a:t>protocolo.md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24364B"/>
                </a:solidFill>
                <a:latin typeface="Aptos Mono"/>
              </a:defRPr>
            </a:pPr>
          </a:p>
          <a:p>
            <a:pPr algn="l">
              <a:spcAft>
                <a:spcPts val="400"/>
              </a:spcAft>
              <a:defRPr sz="2000" b="0">
                <a:solidFill>
                  <a:srgbClr val="24364B"/>
                </a:solidFill>
                <a:latin typeface="Aptos Mono"/>
              </a:defRPr>
            </a:pPr>
            <a:r>
              <a:t>bitacora-ia.md · local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926080"/>
            <a:ext cx="2743200" cy="0"/>
          </a:xfrm>
          <a:prstGeom prst="line">
            <a:avLst/>
          </a:prstGeom>
          <a:ln w="50800">
            <a:solidFill>
              <a:srgbClr val="247A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543800" y="1325880"/>
            <a:ext cx="3474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247A83"/>
                </a:solidFill>
                <a:latin typeface="Aptos"/>
              </a:defRPr>
            </a:pPr>
            <a:r>
              <a:t>DESTINO · ~/proyecto/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828800"/>
            <a:ext cx="3200400" cy="1828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24364B"/>
                </a:solidFill>
                <a:latin typeface="Aptos Mono"/>
              </a:defRPr>
            </a:pPr>
            <a:r>
              <a:t>data/source/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24364B"/>
                </a:solidFill>
                <a:latin typeface="Aptos Mono"/>
              </a:defRPr>
            </a:pPr>
            <a:r>
              <a:t>doc/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24364B"/>
                </a:solidFill>
                <a:latin typeface="Aptos Mono"/>
              </a:defRPr>
            </a:pPr>
            <a:r>
              <a:t>README.md · raíz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102412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7A62A3"/>
                </a:solidFill>
                <a:latin typeface="Aptos"/>
              </a:defRPr>
            </a:pPr>
            <a:r>
              <a:t>🧪 MP1 · Antes de ejecutar: ¿dónde pondrías cada archivo y con qué evidencia lo comprobarías?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MP2 · La evidencia inicial: ¿dónde y con quién trabajo?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07040" cy="4297680"/>
          </a:xfrm>
          <a:prstGeom prst="roundRect">
            <a:avLst/>
          </a:prstGeom>
          <a:solidFill>
            <a:srgbClr val="24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490472"/>
            <a:ext cx="10149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AFC7D9"/>
                </a:solidFill>
                <a:latin typeface="Aptos"/>
              </a:defRPr>
            </a:pPr>
            <a:r>
              <a:t>●  ●  ●    terminal remota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47672"/>
            <a:ext cx="9875519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hostname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whoami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cd ~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pwd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ls -lah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33288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5B6B7C"/>
                </a:solidFill>
                <a:latin typeface="Aptos"/>
              </a:defRPr>
            </a:pPr>
            <a:r>
              <a:t>Antes de crear, copiar o borrar: confirma el contexto.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Home ahora; espacio institucional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08</a:t>
            </a:r>
          </a:p>
        </p:txBody>
      </p:sp>
      <p:pic>
        <p:nvPicPr>
          <p:cNvPr id="5" name="Picture 4" descr="figura-u2-s04-home-espacio-institu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092708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Antes de construir: pausa de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417320"/>
            <a:ext cx="3840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600" b="1">
                <a:solidFill>
                  <a:srgbClr val="1E3A5F"/>
                </a:solidFill>
                <a:latin typeface="Aptos"/>
              </a:defRPr>
            </a:pPr>
            <a:r>
              <a:t>¿Existe proyecto?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3108960" y="1965960"/>
            <a:ext cx="2971800" cy="914400"/>
          </a:xfrm>
          <a:prstGeom prst="line">
            <a:avLst/>
          </a:prstGeom>
          <a:ln w="38100">
            <a:solidFill>
              <a:srgbClr val="247A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0760" y="1965960"/>
            <a:ext cx="2971800" cy="914400"/>
          </a:xfrm>
          <a:prstGeom prst="line">
            <a:avLst/>
          </a:prstGeom>
          <a:ln w="38100">
            <a:solidFill>
              <a:srgbClr val="B97A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17320" y="3063240"/>
            <a:ext cx="320040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247A83"/>
                </a:solidFill>
                <a:latin typeface="Aptos"/>
              </a:defRPr>
            </a:pPr>
            <a:r>
              <a:t>sí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247A83"/>
                </a:solidFill>
                <a:latin typeface="Aptos"/>
              </a:defRPr>
            </a:pPr>
            <a:r>
              <a:t>inspecciona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247A83"/>
                </a:solidFill>
                <a:latin typeface="Aptos"/>
              </a:defRPr>
            </a:pPr>
            <a:r>
              <a:t>ls -R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063240"/>
            <a:ext cx="320040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B97A1B"/>
                </a:solidFill>
                <a:latin typeface="Aptos"/>
              </a:defRPr>
            </a:pPr>
            <a:r>
              <a:t>no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B97A1B"/>
                </a:solidFill>
                <a:latin typeface="Aptos"/>
              </a:defRPr>
            </a:pPr>
            <a:r>
              <a:t>crea paso a paso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83480"/>
            <a:ext cx="9418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B5473A"/>
                </a:solidFill>
                <a:latin typeface="Aptos"/>
              </a:defRPr>
            </a:pPr>
            <a:r>
              <a:t>No corrijas creando un proyecto dentro de otro.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Construye el árbol que usarás todo 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07040" cy="4297680"/>
          </a:xfrm>
          <a:prstGeom prst="roundRect">
            <a:avLst/>
          </a:prstGeom>
          <a:solidFill>
            <a:srgbClr val="24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490472"/>
            <a:ext cx="10149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AFC7D9"/>
                </a:solidFill>
                <a:latin typeface="Aptos"/>
              </a:defRPr>
            </a:pPr>
            <a:r>
              <a:t>●  ●  ●    terminal remota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47672"/>
            <a:ext cx="9875519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cd ~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mkdir proyecto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cd proyecto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pwd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mkdir -p data/source data/processed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mkdir src results doc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touch README.md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ls -R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MP3 · Copiar, renombrar o mover: predice primero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3657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B5473A"/>
                </a:solidFill>
                <a:latin typeface="Aptos"/>
              </a:defRPr>
            </a:pPr>
            <a:r>
              <a:t>Solo en prueba-s4/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2468880" cy="74980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2316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a.txt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261518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20440" y="2240280"/>
            <a:ext cx="2468880" cy="749808"/>
          </a:xfrm>
          <a:prstGeom prst="roundRect">
            <a:avLst/>
          </a:prstGeom>
          <a:solidFill>
            <a:srgbClr val="24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42316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b.txt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9320" y="261518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17920" y="2240280"/>
            <a:ext cx="2468880" cy="749808"/>
          </a:xfrm>
          <a:prstGeom prst="roundRect">
            <a:avLst/>
          </a:prstGeom>
          <a:solidFill>
            <a:srgbClr val="B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42316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c.txt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0" y="261518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915400" y="2240280"/>
            <a:ext cx="2468880" cy="749808"/>
          </a:xfrm>
          <a:prstGeom prst="roundRect">
            <a:avLst/>
          </a:prstGeom>
          <a:solidFill>
            <a:srgbClr val="24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242316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sub/c.txt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69080"/>
            <a:ext cx="100584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1E3A5F"/>
                </a:solidFill>
                <a:latin typeface="Aptos"/>
              </a:defRPr>
            </a:pPr>
            <a:r>
              <a:t>Antes de ejecutar mv: ¿cambia el nombre o cambia la ubicación?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Un movimiento no se entiende sin origen y destino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5B6B7C"/>
                </a:solidFill>
                <a:latin typeface="Aptos"/>
              </a:defRPr>
            </a:pPr>
            <a:r>
              <a:t>mismo directorio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8404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E3A5F"/>
                </a:solidFill>
                <a:latin typeface="Courier New"/>
              </a:defRPr>
            </a:pPr>
            <a:r>
              <a:t>b.txt  →  c.txt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554480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5B6B7C"/>
                </a:solidFill>
                <a:latin typeface="Aptos"/>
              </a:defRPr>
            </a:pPr>
            <a:r>
              <a:t>nuevo destino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965960"/>
            <a:ext cx="38404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247A83"/>
                </a:solidFill>
                <a:latin typeface="Courier New"/>
              </a:defRPr>
            </a:pPr>
            <a:r>
              <a:t>c.txt  →  sub/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886200"/>
            <a:ext cx="84124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24364B"/>
                </a:solidFill>
                <a:latin typeface="Aptos"/>
              </a:defRPr>
            </a:pPr>
            <a:r>
              <a:t>Comprueba con ls y ls -R.</a:t>
            </a:r>
          </a:p>
          <a:p>
            <a:pPr algn="ctr">
              <a:spcAft>
                <a:spcPts val="400"/>
              </a:spcAft>
              <a:defRPr sz="2400" b="1">
                <a:solidFill>
                  <a:srgbClr val="24364B"/>
                </a:solidFill>
                <a:latin typeface="Aptos"/>
              </a:defRPr>
            </a:pPr>
            <a:r>
              <a:t>El origen y el destino dan sentido a mv.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Tres caminos, un destino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2412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E3A5F"/>
                </a:solidFill>
                <a:latin typeface="Courier New"/>
              </a:defRPr>
            </a:pPr>
            <a:r>
              <a:t>/ruta-real/home/proyecto/data/source/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3368040" cy="749808"/>
          </a:xfrm>
          <a:prstGeom prst="roundRect">
            <a:avLst/>
          </a:prstGeom>
          <a:solidFill>
            <a:srgbClr val="5B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14600"/>
            <a:ext cx="322173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cualquier lugar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91000" y="270662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19600" y="2331720"/>
            <a:ext cx="3368040" cy="74980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2752" y="2514600"/>
            <a:ext cx="322173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ruta absoluta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87640" y="270662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6240" y="2331720"/>
            <a:ext cx="3368040" cy="749808"/>
          </a:xfrm>
          <a:prstGeom prst="roundRect">
            <a:avLst/>
          </a:prstGeom>
          <a:solidFill>
            <a:srgbClr val="24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9392" y="2514600"/>
            <a:ext cx="322173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data/source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100584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247A83"/>
                </a:solidFill>
                <a:latin typeface="Courier New"/>
              </a:defRPr>
            </a:pPr>
            <a:r>
              <a:t>~/proyecto/  +  data/source/</a:t>
            </a:r>
          </a:p>
          <a:p>
            <a:pPr algn="ctr">
              <a:spcAft>
                <a:spcPts val="400"/>
              </a:spcAft>
              <a:defRPr sz="2100" b="1">
                <a:solidFill>
                  <a:srgbClr val="247A83"/>
                </a:solidFill>
                <a:latin typeface="Courier New"/>
              </a:defRPr>
            </a:pPr>
            <a:r>
              <a:t>~/proyecto/doc/  +  ../data/source/pacientes.md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Copia primero; verifica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07040" cy="4297680"/>
          </a:xfrm>
          <a:prstGeom prst="roundRect">
            <a:avLst/>
          </a:prstGeom>
          <a:solidFill>
            <a:srgbClr val="24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490472"/>
            <a:ext cx="10149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AFC7D9"/>
                </a:solidFill>
                <a:latin typeface="Aptos"/>
              </a:defRPr>
            </a:pPr>
            <a:r>
              <a:t>●  ●  ●    terminal remota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47672"/>
            <a:ext cx="9875519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cd ~/proyecto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cp -i ~/pacientes.md data/source/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cp -i ~/pacientes-metadatos.md data/source/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cp -i ~/protocolo.md doc/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33288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5B6B7C"/>
                </a:solidFill>
                <a:latin typeface="Aptos"/>
              </a:defRPr>
            </a:pPr>
            <a:r>
              <a:t>Copiar conserva un punto de regreso hasta verificar.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Lo que falta viaja desde tu computadora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828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47A83"/>
                </a:solidFill>
                <a:latin typeface="Aptos"/>
              </a:defRPr>
            </a:pPr>
            <a:r>
              <a:t>[LOCAL]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834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24364B"/>
                </a:solidFill>
                <a:latin typeface="Courier New"/>
              </a:defRPr>
            </a:pPr>
            <a:r>
              <a:t>bitacora-ia.md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86200" y="2148840"/>
            <a:ext cx="3977640" cy="0"/>
          </a:xfrm>
          <a:prstGeom prst="line">
            <a:avLst/>
          </a:prstGeom>
          <a:ln w="50800">
            <a:solidFill>
              <a:srgbClr val="247A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046720" y="1554480"/>
            <a:ext cx="292608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E3A5F"/>
                </a:solidFill>
                <a:latin typeface="Courier New"/>
              </a:defRPr>
            </a:pPr>
            <a:r>
              <a:t>[REMOTO]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E3A5F"/>
                </a:solidFill>
                <a:latin typeface="Courier New"/>
              </a:defRPr>
            </a:pPr>
            <a:r>
              <a:t>~/proyecto/doc/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106984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900" b="1">
                <a:solidFill>
                  <a:srgbClr val="24364B"/>
                </a:solidFill>
                <a:latin typeface="Courier New"/>
              </a:defRPr>
            </a:pPr>
            <a:r>
              <a:t>scp bitacora-ia.md usuario@servidor:/ruta/absoluta/.../doc/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Verificar no es mirar: árbol + checksum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3108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247A83"/>
                </a:solidFill>
                <a:latin typeface="Aptos"/>
              </a:defRPr>
            </a:pPr>
            <a:r>
              <a:t>¿Dónde quedó?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310896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600" b="1">
                <a:solidFill>
                  <a:srgbClr val="24364B"/>
                </a:solidFill>
                <a:latin typeface="Courier New"/>
              </a:defRPr>
            </a:pPr>
            <a:r>
              <a:t>tree</a:t>
            </a:r>
          </a:p>
          <a:p>
            <a:pPr algn="ctr">
              <a:spcAft>
                <a:spcPts val="400"/>
              </a:spcAft>
              <a:defRPr sz="2600" b="1">
                <a:solidFill>
                  <a:srgbClr val="24364B"/>
                </a:solidFill>
                <a:latin typeface="Courier New"/>
              </a:defRPr>
            </a:pPr>
            <a:r>
              <a:t>ó</a:t>
            </a:r>
          </a:p>
          <a:p>
            <a:pPr algn="ctr">
              <a:spcAft>
                <a:spcPts val="400"/>
              </a:spcAft>
              <a:defRPr sz="2600" b="1">
                <a:solidFill>
                  <a:srgbClr val="24364B"/>
                </a:solidFill>
                <a:latin typeface="Courier New"/>
              </a:defRPr>
            </a:pPr>
            <a:r>
              <a:t>ls -R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417320"/>
            <a:ext cx="3108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B97A1B"/>
                </a:solidFill>
                <a:latin typeface="Aptos"/>
              </a:defRPr>
            </a:pPr>
            <a:r>
              <a:t>¿Cambió?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057400"/>
            <a:ext cx="310896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600" b="1">
                <a:solidFill>
                  <a:srgbClr val="24364B"/>
                </a:solidFill>
                <a:latin typeface="Courier New"/>
              </a:defRPr>
            </a:pPr>
            <a:r>
              <a:t>sha256sum</a:t>
            </a:r>
          </a:p>
          <a:p>
            <a:pPr algn="ctr">
              <a:spcAft>
                <a:spcPts val="400"/>
              </a:spcAft>
              <a:defRPr sz="2600" b="1">
                <a:solidFill>
                  <a:srgbClr val="24364B"/>
                </a:solidFill>
                <a:latin typeface="Courier New"/>
              </a:defRPr>
            </a:pPr>
            <a:r>
              <a:t>pacientes.md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1E3A5F"/>
                </a:solidFill>
                <a:latin typeface="Aptos"/>
              </a:defRPr>
            </a:pPr>
            <a:r>
              <a:t>Ubicación e integridad son preguntas distintas.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MP5 · Editar es un ciclo, no un momento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929384" cy="749808"/>
          </a:xfrm>
          <a:prstGeom prst="roundRect">
            <a:avLst/>
          </a:prstGeom>
          <a:solidFill>
            <a:srgbClr val="24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abrir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52344" y="238658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80944" y="2011680"/>
            <a:ext cx="1929384" cy="74980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editar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10328" y="238658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38928" y="2011680"/>
            <a:ext cx="1929384" cy="749808"/>
          </a:xfrm>
          <a:prstGeom prst="roundRect">
            <a:avLst/>
          </a:prstGeom>
          <a:solidFill>
            <a:srgbClr val="B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guardar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68312" y="238658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96912" y="2011680"/>
            <a:ext cx="1929384" cy="749808"/>
          </a:xfrm>
          <a:prstGeom prst="roundRect">
            <a:avLst/>
          </a:prstGeom>
          <a:solidFill>
            <a:srgbClr val="24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0064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salir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26296" y="238658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54896" y="2011680"/>
            <a:ext cx="1929384" cy="74980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8048" y="2194560"/>
            <a:ext cx="1783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77639"/>
            <a:ext cx="100584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1E3A5F"/>
                </a:solidFill>
                <a:latin typeface="Aptos"/>
              </a:defRPr>
            </a:pPr>
            <a:r>
              <a:t>README.md y protocolo.md sí.</a:t>
            </a:r>
          </a:p>
          <a:p>
            <a:pPr algn="ctr">
              <a:spcAft>
                <a:spcPts val="400"/>
              </a:spcAft>
              <a:defRPr sz="2300" b="1">
                <a:solidFill>
                  <a:srgbClr val="1E3A5F"/>
                </a:solidFill>
                <a:latin typeface="Aptos"/>
              </a:defRPr>
            </a:pPr>
            <a:r>
              <a:t>Datos en data/source/ no se editan.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Nano: lee la pantalla antes de confirmar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18</a:t>
            </a:r>
          </a:p>
        </p:txBody>
      </p:sp>
      <p:pic>
        <p:nvPicPr>
          <p:cNvPr id="5" name="Picture 4" descr="figura-u2-s04-nano-interf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744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Evidencia de edición: no basta con “lo guardé”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07040" cy="4297680"/>
          </a:xfrm>
          <a:prstGeom prst="roundRect">
            <a:avLst/>
          </a:prstGeom>
          <a:solidFill>
            <a:srgbClr val="24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490472"/>
            <a:ext cx="10149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AFC7D9"/>
                </a:solidFill>
                <a:latin typeface="Aptos"/>
              </a:defRPr>
            </a:pPr>
            <a:r>
              <a:t>●  ●  ●    terminal remota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47672"/>
            <a:ext cx="9875519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nano README.md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[escribe · Ctrl-W busca · Ctrl-O guarda · Enter confirma · Ctrl-X sale]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ls -l README.md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cat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33288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5B6B7C"/>
                </a:solidFill>
                <a:latin typeface="Aptos"/>
              </a:defRPr>
            </a:pPr>
            <a:r>
              <a:t>La evidencia independiente aparece fuera del editor.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La entrega es una historia verificable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828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247A83"/>
                </a:solidFill>
                <a:latin typeface="Aptos"/>
              </a:defRPr>
            </a:pPr>
            <a:r>
              <a:t>árbol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554480"/>
            <a:ext cx="1828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B97A1B"/>
                </a:solidFill>
                <a:latin typeface="Aptos"/>
              </a:defRPr>
            </a:pPr>
            <a:r>
              <a:t>checksum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554480"/>
            <a:ext cx="1828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1E3A5F"/>
                </a:solidFill>
                <a:latin typeface="Aptos"/>
              </a:defRPr>
            </a:pPr>
            <a:r>
              <a:t>rutas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54480"/>
            <a:ext cx="30175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B5473A"/>
                </a:solidFill>
                <a:latin typeface="Aptos"/>
              </a:defRPr>
            </a:pPr>
            <a:r>
              <a:t>comandos + problemas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194560"/>
            <a:ext cx="4251960" cy="105156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2194560"/>
            <a:ext cx="1965960" cy="105156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080760" y="2194560"/>
            <a:ext cx="320040" cy="105156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080760" y="2194560"/>
            <a:ext cx="3246120" cy="105156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69080" y="3291840"/>
            <a:ext cx="40233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700" b="1">
                <a:solidFill>
                  <a:srgbClr val="24364B"/>
                </a:solidFill>
                <a:latin typeface="Courier New"/>
              </a:defRPr>
            </a:pPr>
            <a:r>
              <a:t>doc/protocolo.md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00600"/>
            <a:ext cx="100584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E3A5F"/>
                </a:solidFill>
                <a:latin typeface="Aptos"/>
              </a:defRPr>
            </a:pPr>
            <a:r>
              <a:t>Una captura no sustituye una historia verificable.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MP4 · Antes de borrar, detente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2468880" cy="749808"/>
          </a:xfrm>
          <a:prstGeom prst="roundRect">
            <a:avLst/>
          </a:prstGeom>
          <a:solidFill>
            <a:srgbClr val="24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¿dónde estoy?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40" y="202082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20440" y="1645920"/>
            <a:ext cx="2468880" cy="74980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82880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¿qué existe?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9320" y="202082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17920" y="1645920"/>
            <a:ext cx="2468880" cy="749808"/>
          </a:xfrm>
          <a:prstGeom prst="roundRect">
            <a:avLst/>
          </a:prstGeom>
          <a:solidFill>
            <a:srgbClr val="B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82880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¿qué borro?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0" y="202082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15400" y="1645920"/>
            <a:ext cx="2468880" cy="749808"/>
          </a:xfrm>
          <a:prstGeom prst="roundRect">
            <a:avLst/>
          </a:prstGeom>
          <a:solidFill>
            <a:srgbClr val="24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828800"/>
            <a:ext cx="232257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ejecuto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2743200"/>
            <a:ext cx="10149840" cy="2743200"/>
          </a:xfrm>
          <a:prstGeom prst="roundRect">
            <a:avLst/>
          </a:prstGeom>
          <a:solidFill>
            <a:srgbClr val="24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2907792"/>
            <a:ext cx="9692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AFC7D9"/>
                </a:solidFill>
                <a:latin typeface="Aptos"/>
              </a:defRPr>
            </a:pPr>
            <a:r>
              <a:t>●  ●  ●    terminal remota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364992"/>
            <a:ext cx="9418319" cy="1783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cd ~/prueba-s4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pwd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ls -R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rmdir sub    # predice antes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rm -i sub/c.txt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$ rmdir sub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Cuando algo falla, lee antes de repetir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44200" cy="4480560"/>
          </a:xfrm>
          <a:prstGeom prst="roundRect">
            <a:avLst/>
          </a:prstGeom>
          <a:solidFill>
            <a:srgbClr val="24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399032"/>
            <a:ext cx="10287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AFC7D9"/>
                </a:solidFill>
                <a:latin typeface="Aptos"/>
              </a:defRPr>
            </a:pPr>
            <a:r>
              <a:t>●  ●  ●    terminal remota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56232"/>
            <a:ext cx="10012680" cy="3520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No such file or directory  →  pwd + ls + revisa ruta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mkdir falla                  →  ¿falta el padre? usa -p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mv “desapareció”            →  revisa destino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checksum distinto            →  conserva y vuelve a copiar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2F7FA"/>
                </a:solidFill>
                <a:latin typeface="Courier New"/>
              </a:defRPr>
            </a:pPr>
            <a:r>
              <a:t>scp raro                     →  ¿estás local? ¿ruta remota?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IA después: revisora, no operadora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368040" cy="74980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322173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propuesta IA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91000" y="234086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19600" y="1965960"/>
            <a:ext cx="3368040" cy="749808"/>
          </a:xfrm>
          <a:prstGeom prst="roundRect">
            <a:avLst/>
          </a:prstGeom>
          <a:solidFill>
            <a:srgbClr val="24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2752" y="2148840"/>
            <a:ext cx="322173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prueba segura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87640" y="2340864"/>
            <a:ext cx="182880" cy="0"/>
          </a:xfrm>
          <a:prstGeom prst="line">
            <a:avLst/>
          </a:prstGeom>
          <a:ln w="25400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16240" y="1965960"/>
            <a:ext cx="3368040" cy="749808"/>
          </a:xfrm>
          <a:prstGeom prst="roundRect">
            <a:avLst/>
          </a:prstGeom>
          <a:solidFill>
            <a:srgbClr val="B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9392" y="2148840"/>
            <a:ext cx="322173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decisión registrada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2412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24364B"/>
                </a:solidFill>
                <a:latin typeface="Aptos"/>
              </a:defRPr>
            </a:pPr>
            <a:r>
              <a:t>Anonimiza [SERVIDOR] [USUARIO] [RUTA].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24364B"/>
                </a:solidFill>
                <a:latin typeface="Aptos"/>
              </a:defRPr>
            </a:pPr>
            <a:r>
              <a:t>Valida con man y prueba-s4/. No compartas secretos.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E3A5F"/>
                </a:solidFill>
                <a:latin typeface="Aptos"/>
              </a:defRPr>
            </a:pPr>
            <a:r>
              <a:t>Quédate con 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43891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5B6B7C"/>
                </a:solidFill>
                <a:latin typeface="Aptos"/>
              </a:defRPr>
            </a:pPr>
            <a:r>
              <a:t>S4 ·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143000"/>
            <a:ext cx="10881360" cy="416052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9966960" cy="3474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E3A5F"/>
                </a:solidFill>
                <a:latin typeface="Aptos"/>
              </a:defRPr>
            </a:pPr>
            <a:r>
              <a:t>1  pwd orienta rutas relativas.</a:t>
            </a:r>
          </a:p>
          <a:p>
            <a:pPr algn="l">
              <a:spcAft>
                <a:spcPts val="400"/>
              </a:spcAft>
              <a:defRPr sz="2300" b="1">
                <a:solidFill>
                  <a:srgbClr val="1E3A5F"/>
                </a:solidFill>
                <a:latin typeface="Aptos"/>
              </a:defRPr>
            </a:pPr>
            <a:r>
              <a:t>2  Home y espacio institucional no son lo mismo.</a:t>
            </a:r>
          </a:p>
          <a:p>
            <a:pPr algn="l">
              <a:spcAft>
                <a:spcPts val="400"/>
              </a:spcAft>
              <a:defRPr sz="2300" b="1">
                <a:solidFill>
                  <a:srgbClr val="1E3A5F"/>
                </a:solidFill>
                <a:latin typeface="Aptos"/>
              </a:defRPr>
            </a:pPr>
            <a:r>
              <a:t>3  Copia antes de mover; verifica antes de borrar.</a:t>
            </a:r>
          </a:p>
          <a:p>
            <a:pPr algn="l">
              <a:spcAft>
                <a:spcPts val="400"/>
              </a:spcAft>
              <a:defRPr sz="2300" b="1">
                <a:solidFill>
                  <a:srgbClr val="1E3A5F"/>
                </a:solidFill>
                <a:latin typeface="Aptos"/>
              </a:defRPr>
            </a:pPr>
            <a:r>
              <a:t>4  Árbol y checksum responden preguntas distintas.</a:t>
            </a:r>
          </a:p>
          <a:p>
            <a:pPr algn="l">
              <a:spcAft>
                <a:spcPts val="400"/>
              </a:spcAft>
              <a:defRPr sz="2300" b="1">
                <a:solidFill>
                  <a:srgbClr val="1E3A5F"/>
                </a:solidFill>
                <a:latin typeface="Aptos"/>
              </a:defRPr>
            </a:pPr>
            <a:r>
              <a:t>5  Editar incluye comprobar fuera del editor.</a:t>
            </a:r>
          </a:p>
          <a:p>
            <a:pPr algn="l">
              <a:spcAft>
                <a:spcPts val="400"/>
              </a:spcAft>
              <a:defRPr sz="2300" b="1">
                <a:solidFill>
                  <a:srgbClr val="1E3A5F"/>
                </a:solidFill>
                <a:latin typeface="Aptos"/>
              </a:defRPr>
            </a:pPr>
            <a:r>
              <a:t>6  Un error leído y corregido también es evidencia.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5B6B7C"/>
                </a:solidFill>
                <a:latin typeface="Aptos"/>
              </a:defRPr>
            </a:pPr>
            <a:r>
              <a:t>Semáforo de salida: verde · amarillo · rojo + una duda para S5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