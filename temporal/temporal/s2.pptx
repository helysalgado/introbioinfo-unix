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0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APERTURA. Ubicar la sesión. Recordar: el material se leyó antes de clase y el alumnado llega con el primer intento de la Práctica 1. La sesión se usa para comparar, corregir y justificar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OBJETIVO. No leer los siete resultados de aprendizaje de la web. Resumirlos en tres acciones: organizar, describir y usar IA con criterio. Preguntar: ¿qué le faltaba al protocolo de S1 para que otra persona pudiera reproducir el trabajo?</a:t>
            </a:r>
          </a:p>
          <a:p>
            <a:endParaRPr/>
          </a:p>
          <a:p>
            <a:r>
              <a:t>DINÁMICA DE REPASO</a:t>
            </a:r>
          </a:p>
          <a:p>
            <a:r>
              <a:t>Regla de S2 en adelante: el significado del concepto sí aparece en la diapositiva, pero cada bloque debe terminar con una pregunta breve que obligue a recuperar, decidir, detectar un error o aplicar.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CONTROL DE TIEMPO. La primera hora es FAIR/metadatos/organización. La segunda es IA. No convertir FAIR en una conferencia larga; usarlo para corregir la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DETONADOR. Preguntar: si tenemos un protocolo perfecto pero nadie sabe de dónde salió el archivo, ¿podemos repetir el análisis? Recuperar la idea de procedencia sin exigir todavía la palabra 'metadatos'.</a:t>
            </a:r>
          </a:p>
          <a:p>
            <a:endParaRPr/>
          </a:p>
          <a:p>
            <a:r>
              <a:t>DINÁMICA DE REPASO</a:t>
            </a:r>
          </a:p>
          <a:p>
            <a:r>
              <a:t>Dar 30 s individual + 1 min en pareja. Respuesta esperada: no plenamente. Recuperar 'procedencia' antes de nombrarla.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CONCEPTO. Explicar FAIR en lenguaje cotidiano: ¿se encuentra?, ¿se puede recuperar?, ¿otras herramientas lo entienden?, ¿alguien puede volver a usarlo? Aclarar que FAIR no significa necesariamente abierto ni gratuito. Evitar profundizar en FAIR4RS aquí.</a:t>
            </a:r>
          </a:p>
          <a:p>
            <a:endParaRPr/>
          </a:p>
          <a:p>
            <a:r>
              <a:t>DINÁMICA DE REPASO</a:t>
            </a:r>
          </a:p>
          <a:p>
            <a:r>
              <a:t>Votación rápida sí/no. Cierre: no. FAIR describe localización, acceso bajo condiciones, interoperabilidad y reutilización; no equivale a datos abiertos.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TIP. Esta diapositiva simplifica la relación FAIR-proceso A. El objetivo es que entiendan que FAIR son acciones distribuidas durante el proyecto, no un archivo que se agrega al final.</a:t>
            </a:r>
          </a:p>
          <a:p>
            <a:endParaRPr/>
          </a:p>
          <a:p>
            <a:r>
              <a:t>DINÁMICA DE REPASO</a:t>
            </a:r>
          </a:p>
          <a:p>
            <a:r>
              <a:t>Pedir ejemplos. Buscar: URL/origen, fecha de acceso, versión, licencia, responsable. Conectar con 'FAIR empieza desde la obtención'.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CONCEPTO. Definir metadato como 'dato sobre el dato' solo después del ejemplo. Preguntar: ¿podemos interpretar peso=68.2 sin saber la unidad? Introducir diccionario de variables. Destacar honestidad epistemológica: documentar lo desconocido también es información.</a:t>
            </a:r>
          </a:p>
          <a:p>
            <a:endParaRPr/>
          </a:p>
          <a:p>
            <a:r>
              <a:t>DINÁMICA DE REPASO</a:t>
            </a:r>
          </a:p>
          <a:p>
            <a:r>
              <a:t>Esperar 'unidad' y quizá definición de variable. Después preguntar: si no sabemos la unidad, ¿qué escribimos? → no documentado /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VOCABULARIO NUEVO. No enseñar algoritmos hash ni comandos. Analogía: una huella digital del archivo. Su función aquí es entender por qué reservamos el campo checksum en los metadatos.</a:t>
            </a:r>
          </a:p>
          <a:p>
            <a:endParaRPr/>
          </a:p>
          <a:p>
            <a:r>
              <a:t>DINÁMICA DE REPASO</a:t>
            </a:r>
          </a:p>
          <a:p>
            <a:r>
              <a:t>Respuesta: no. Pedir qué podría ayudar a comprobar integridad. Introducir checksum como huella digital, sin enseñar aún a calcularlo.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 + PREPARACIÓN DE PRÁCTICA 1. Recorrer rápidamente: data/source = original, data/processed = derivados, src = procedimiento, results = salidas regenerables, doc = explicación. Regla central: nunca sobrescribir el original.</a:t>
            </a:r>
          </a:p>
          <a:p>
            <a:endParaRPr/>
          </a:p>
          <a:p>
            <a:r>
              <a:t>DINÁMICA DE REPASO</a:t>
            </a:r>
          </a:p>
          <a:p>
            <a:r>
              <a:t>Think-pair-share de 2 min. Cierre: source conserva el punto de partida; processed contiene derivados. Nunca sobrescribir el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PRÁCTICA 1. No rehacerla desde cero. 1) Parejas comparan sus árboles y metadatos. 2) Pedir que señalen una decisión de la que estén seguros y una duda. 3) Revisar especialmente: pacientes.md debe estar en data/source junto con pacientes-metadatos.md; no inventar unidades, dx, origen o licencia; distinguir extensión .md de formato interno. Error buscado: 'si termina en .md entonces es Markdown'. Preguntar: ¿qué ves dentro del archivo?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PRÁCTICA 1. Mostrar después de la discusión. No tratar la estructura como única convención universal; es la convención del curso. Pedir una justificación: ¿por qué pacientes-metadatos.md vive junto al dato original?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SÍNTESIS DE LA PRIMERA HORA. Usar la figura para conectar acciones, carpetas y FAIR. No memorizar letras por fase. Preguntar: ¿qué acción de la práctica contribuye a Findable? ¿y a Reusable? Cerrar antes de la pausa.</a:t>
            </a:r>
          </a:p>
          <a:p>
            <a:endParaRPr/>
          </a:p>
          <a:p>
            <a:r>
              <a:t>DINÁMICA DE REPASO</a:t>
            </a:r>
          </a:p>
          <a:p>
            <a:r>
              <a:t>Pedir 2–3 respuestas: metadatos, diccionario, licencia si se conoce, conservar original, procedencia. No exigir una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LENGUAJE SIMPLE. Un LLM genera texto probable; no asumir que 'sabe' o que 'verifica'. Ejemplos de alucinación del material: comando inexistente o referencia inventada. No entrar en arquitectura de transformers.</a:t>
            </a:r>
          </a:p>
          <a:p>
            <a:endParaRPr/>
          </a:p>
          <a:p>
            <a:r>
              <a:t>DINÁMICA DE REPASO</a:t>
            </a:r>
          </a:p>
          <a:p>
            <a:r>
              <a:t>Respuesta esperada: lo segundo. Introducir 'alucinación' después de escuchar razones.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CONCEPTO. Para primer semestre, resumir la lista larga del material en cuatro bloques visuales: contexto, objetivo, formato y verificación. Mencionar que también pueden añadirse ambiente, restricciones, supuestos y fuentes cuando sean relevantes. Preguntar: ¿qué información faltaría si solo digo 'cuenta mis genes'?</a:t>
            </a:r>
          </a:p>
          <a:p>
            <a:endParaRPr/>
          </a:p>
          <a:p>
            <a:r>
              <a:t>DINÁMICA DE REPASO</a:t>
            </a:r>
          </a:p>
          <a:p>
            <a:r>
              <a:t>Pedir que detecten 3 elementos faltantes. Recuperar contexto, objetivo, formato de datos, restricciones, resultado esperado y 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ACTIVIDAD 5–7 MIN. No revelar de inmediato que ambos elementos son deliberadamente falsos. Pedir cómo lo comprobarían, no solo 'creo que está mal'. Conectar con validación independiente.</a:t>
            </a:r>
          </a:p>
          <a:p>
            <a:endParaRPr/>
          </a:p>
          <a:p>
            <a:r>
              <a:t>DINÁMICA DE REPASO</a:t>
            </a:r>
          </a:p>
          <a:p>
            <a:r>
              <a:t>No revelar inmediatamente los errores. Buscar: existencia del comando, documentación, existencia de la referencia y qué cuenta realmente.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 CENTRAL DE IA. Entender: poder explicarlo con palabras propias. Probar: caso pequeño con resultado conocido. Contrastar: documentación oficial/material del curso. Si falla, corregir y repetir. Una respuesta plausible no es evidencia.</a:t>
            </a:r>
          </a:p>
          <a:p>
            <a:endParaRPr/>
          </a:p>
          <a:p>
            <a:r>
              <a:t>DINÁMICA DE REPASO</a:t>
            </a:r>
          </a:p>
          <a:p>
            <a:r>
              <a:t>Respuesta: no. La validación debe ser independiente. Pedir un ejemplo de prueba controlada o fuente independiente.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PRÁCTICA 2. El primer intento manual es línea base, no verdad absoluta. La validación final debe ser independiente tanto de la IA como del primer intento. Circular y preguntar: ¿qué dato le diste a la IA?, ¿qué asumió?, ¿cómo lo comprobaste?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LEER LA PLANTILLA COMPLETA. Mostrar qué categorías deben quedar registradas. Reforzar que el objetivo no es burocrático: es hacer visible el criterio del estudiante y permitir revisar decisiones.</a:t>
            </a:r>
          </a:p>
          <a:p>
            <a:endParaRPr/>
          </a:p>
          <a:p>
            <a:r>
              <a:t>DINÁMICA DE REPASO</a:t>
            </a:r>
          </a:p>
          <a:p>
            <a:r>
              <a:t>Pedir respuestas antes de mostrar/recorrer los campos: prompt, respuesta relevante, error, fuente, prueba, corrección y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POLÍTICA. Aclarar que en tareas se permite con declaración y bitácora; en exámenes solo si se autoriza expresamente. No compartir datos privados/no públicos. Mantenerlo breve.</a:t>
            </a:r>
          </a:p>
          <a:p>
            <a:endParaRPr/>
          </a:p>
          <a:p>
            <a:r>
              <a:t>DINÁMICA DE REPASO</a:t>
            </a:r>
          </a:p>
          <a:p>
            <a:r>
              <a:t>Según la política del curso: no; todo uso relevante se declara. Distinguir comprender/validar de declarar.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oralmente como cierre, no como examen. Pedir que completen cada frase.
Si hay confusión entre verificación y validación, recuperar un ejemplo, no repetir definiciones.
Tiempo: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CIERRE. Exit ticket oral: 1) ¿qué información jamás debes inventar en metadatos? 2) ¿por qué data/source debe permanecer intacto? 3) ¿qué tres pasos sigues antes de aceptar una respuesta de IA? Recordar entrega de Tarea 2.</a:t>
            </a:r>
          </a:p>
          <a:p>
            <a:endParaRPr/>
          </a:p>
          <a:p>
            <a:r>
              <a:t>DINÁMICA DE REPASO</a:t>
            </a:r>
          </a:p>
          <a:p>
            <a:r>
              <a:t>Exit ticket oral o en papel. Buscar acciones concretas: conservar original, registrar procedencia, crear metadatos, organizar carpetas, validar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6E"/>
          </a:solidFill>
          <a:ln w="12700">
            <a:solidFill>
              <a:srgbClr val="1F4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Introducción a la Bioinformática · S1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6565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Guía docente · aula invertida / taller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3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D3D66"/>
                </a:solidFill>
                <a:latin typeface="Aptos"/>
              </a:rPr>
              <a:t>Introducción a la Bioinformática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64208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4C6074"/>
                </a:solidFill>
                <a:latin typeface="Aptos"/>
              </a:rPr>
              <a:t>LCG · UNAM ·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40" y="2514600"/>
            <a:ext cx="8823960" cy="1417320"/>
          </a:xfrm>
          <a:prstGeom prst="roundRect">
            <a:avLst/>
          </a:prstGeom>
          <a:solidFill>
            <a:srgbClr val="EBF7F6"/>
          </a:solidFill>
          <a:ln>
            <a:solidFill>
              <a:srgbClr val="84C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679192"/>
            <a:ext cx="81838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7780"/>
                </a:solidFill>
                <a:latin typeface="Aptos"/>
              </a:rPr>
              <a:t>Unidad 1 · Sesión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090672"/>
            <a:ext cx="8366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D3D66"/>
                </a:solidFill>
                <a:latin typeface="Aptos"/>
              </a:rPr>
              <a:t>Organizar: buenas prácticas FAIR e introducción al prompting científico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61772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4C6074"/>
                </a:solidFill>
                <a:latin typeface="Aptos"/>
              </a:rPr>
              <a:t>Aula invertida · Sesión-taller de 2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¿Qué queremos lograr en S2?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Organizar los datos para que otra persona pueda encontrarlos, entenderlos y volver a usarlos.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9966960" cy="960120"/>
          </a:xfrm>
          <a:prstGeom prst="roundRect">
            <a:avLst/>
          </a:prstGeom>
          <a:solidFill>
            <a:srgbClr val="EBF7F6"/>
          </a:solidFill>
          <a:ln>
            <a:solidFill>
              <a:srgbClr val="84C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581912"/>
            <a:ext cx="93268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D3D66"/>
                </a:solidFill>
                <a:latin typeface="Aptos"/>
              </a:rPr>
              <a:t>Dejar un proyecto organizado, con datos descritos y procedencia documentada, y usar IA sin delegarle el criterio científico.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3154680" cy="214884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47672" y="2633472"/>
            <a:ext cx="621792" cy="621792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47672" y="263347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01568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Organizar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26517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Separar datos originales, derivados, código, resultados y documentación.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3154680" cy="214884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22392" y="2633472"/>
            <a:ext cx="621792" cy="621792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22392" y="263347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01568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Describir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840480"/>
            <a:ext cx="26517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Crear metadatos y declarar honestamente lo que no sabemos.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926080"/>
            <a:ext cx="3154680" cy="214884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97112" y="2633472"/>
            <a:ext cx="621792" cy="621792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7112" y="263347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01568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Usar IA con criterio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3840480"/>
            <a:ext cx="26517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Formular prompts útiles y validar las respuestas de forma independiente.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23560"/>
            <a:ext cx="9418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7780"/>
                </a:solidFill>
                <a:latin typeface="Aptos"/>
              </a:rPr>
              <a:t>Idea guía: si no sabemos de dónde salió un dato y qué significa, no podemos confiar plenamente en el análisis.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Ruta del taller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La lectura ocurrió antes. En clase comparamos, corregimos y comprobamos.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057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78308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80B2"/>
                </a:solidFill>
                <a:latin typeface="Aptos"/>
              </a:rPr>
              <a:t>0–10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Conectar con 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¿Qué le falta a un protocolo si los datos no tienen historia?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600200"/>
            <a:ext cx="2057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178308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10–55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799" y="2331720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FAIR + metadatos +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5468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Revisar y corregir el primer intento de la Práctica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600200"/>
            <a:ext cx="2057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178308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C6074"/>
                </a:solidFill>
                <a:latin typeface="Aptos"/>
              </a:rPr>
              <a:t>55–60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31720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Pausa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15468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Cambio de bloque.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00200"/>
            <a:ext cx="2057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7" y="178308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75DA0"/>
                </a:solidFill>
                <a:latin typeface="Aptos"/>
              </a:rPr>
              <a:t>60–110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331720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IA científica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15468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Prompt, alucinaciones y validación. Práctica 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600200"/>
            <a:ext cx="2057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9528" y="178308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F801D"/>
                </a:solidFill>
                <a:latin typeface="Aptos"/>
              </a:rPr>
              <a:t>110–120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331720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315468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Qué se entrega y qué debe quedar registrado.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Antes de clase: lectura §1–§4 + primer intento de Práctica 1  ·  Después: cerrar Tarea 2 + bitácora de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5961888"/>
            <a:ext cx="3154680" cy="438912"/>
          </a:xfrm>
          <a:prstGeom prst="roundRect">
            <a:avLst/>
          </a:prstGeom>
          <a:solidFill>
            <a:srgbClr val="EBF7F6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27780"/>
                </a:solidFill>
                <a:latin typeface="Aptos"/>
              </a:rPr>
              <a:t>Repaso activo: recordar → decidir → aplicar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De S1 a 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S1 documentó el análisis. S2 documenta y organiza los datos que alimentan ese análisis.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754880" cy="2926080"/>
          </a:xfrm>
          <a:prstGeom prst="roundRect">
            <a:avLst/>
          </a:prstGeom>
          <a:solidFill>
            <a:srgbClr val="EEF5FA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D3D66"/>
                </a:solidFill>
                <a:latin typeface="Aptos"/>
              </a:rPr>
              <a:t>S1 · Protocolo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97480"/>
            <a:ext cx="3657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4C6074"/>
                </a:solidFill>
                <a:latin typeface="Aptos"/>
              </a:rPr>
              <a:t>Pregunta
Estrategia
Decisiones
Resultados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2926080"/>
          </a:xfrm>
          <a:prstGeom prst="roundRect">
            <a:avLst/>
          </a:prstGeom>
          <a:solidFill>
            <a:srgbClr val="EBF7F6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59" y="196596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D3D66"/>
                </a:solidFill>
                <a:latin typeface="Aptos"/>
              </a:rPr>
              <a:t>S2 · Datos y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9" y="2697480"/>
            <a:ext cx="3657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4C6074"/>
                </a:solidFill>
                <a:latin typeface="Aptos"/>
              </a:rPr>
              <a:t>Procedencia
Metadatos
Carpetas
Uso responsable de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788920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D3D66"/>
                </a:solidFill>
                <a:latin typeface="Aptos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983480"/>
            <a:ext cx="8503920" cy="777240"/>
          </a:xfrm>
          <a:prstGeom prst="roundRect">
            <a:avLst/>
          </a:prstGeom>
          <a:solidFill>
            <a:srgbClr val="1D3D66"/>
          </a:solidFill>
          <a:ln>
            <a:solidFill>
              <a:srgbClr val="1D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5102352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Un análisis impecable sobre datos sin procedencia NO es reproducible.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el protocolo está perfecto, pero nadie sabe de dónde salió el archivo, ¿el análisis es reproducible?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FAIR: cuatro preguntas para cuidar un recurso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No es un examen de siglas: es una forma de pensar qué necesita un dato para conservar su valor.</a:t>
            </a:r>
          </a:p>
        </p:txBody>
      </p:sp>
      <p:pic>
        <p:nvPicPr>
          <p:cNvPr id="4" name="Picture 3" descr="figura-u1-s01-principios-f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8" y="1234440"/>
            <a:ext cx="10222523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05332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¿Un dato FAIR necesariamente tiene que ser público o gratuito?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FAIR no se agrega al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Empieza desde el momento en que obtienes el dato.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057400" cy="2971800"/>
          </a:xfrm>
          <a:prstGeom prst="roundRect">
            <a:avLst/>
          </a:prstGeom>
          <a:solidFill>
            <a:srgbClr val="F6F9FC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80B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Obtengo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¿De dónde vino?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691640"/>
            <a:ext cx="2057400" cy="2971800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799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2778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799" y="242316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Registro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6324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¿Qué versión y fecha?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691640"/>
            <a:ext cx="2057400" cy="2971800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75DA0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Exploro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06324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¿Qué formato tiene?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91640"/>
            <a:ext cx="2057400" cy="2971800"/>
          </a:xfrm>
          <a:prstGeom prst="roundRect">
            <a:avLst/>
          </a:prstGeom>
          <a:solidFill>
            <a:srgbClr val="F6F9FC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F801D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42316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Conservo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06324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¿El original sigue intacto?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691640"/>
            <a:ext cx="2057400" cy="2971800"/>
          </a:xfrm>
          <a:prstGeom prst="roundRect">
            <a:avLst/>
          </a:prstGeom>
          <a:solidFill>
            <a:srgbClr val="F6F9FC"/>
          </a:solidFill>
          <a:ln>
            <a:solidFill>
              <a:srgbClr val="1D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60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D3D66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42316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Documento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3063240"/>
            <a:ext cx="1691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¿Otra persona lo entendería?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7780"/>
                </a:solidFill>
                <a:latin typeface="Aptos"/>
              </a:rPr>
              <a:t>💡 Si no registras la procedencia cuando obtienes el dato, después puede ser imposible reconstruirla.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05332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¿Cuál de estas acciones sería demasiado tarde intentar reconstruir al final del proyecto?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Metadatos = la ficha del dato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Un archivo por sí solo rara vez cuenta toda su historia.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206240"/>
          </a:xfrm>
          <a:prstGeom prst="roundRect">
            <a:avLst/>
          </a:prstGeom>
          <a:solidFill>
            <a:srgbClr val="EEF5FA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D3D66"/>
                </a:solidFill>
                <a:latin typeface="Aptos"/>
              </a:rPr>
              <a:t>El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438912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 Mono"/>
              </a:rPr>
              <a:t>pacientes.md
id, peso, altura, sexo, edad, dx
P01, 68.2, 1.70, F, 34,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4206240"/>
          </a:xfrm>
          <a:prstGeom prst="roundRect">
            <a:avLst/>
          </a:prstGeom>
          <a:solidFill>
            <a:srgbClr val="EBF7F6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D3D66"/>
                </a:solidFill>
                <a:latin typeface="Aptos"/>
              </a:rPr>
              <a:t>La ficha que necesitamos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31720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• ¿De dónde viene?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34639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• ¿Qué significa cada columna?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337560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• ¿En qué unidades?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• ¿Qué versión / fecha?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343400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• ¿Qué no está documentado?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89788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C34239"/>
                </a:solidFill>
                <a:latin typeface="Aptos"/>
              </a:rPr>
              <a:t>Regla: lo desconocido se escribe como “no documentado” o “pendiente de confirmar”. Nunca se inventa.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una tabla dice peso = 68.2, ¿qué información falta para poder interpretarlo correctamente?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Checksum: una huella digital del archivo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En S2 solo necesitamos entender para qué sirve; lo calcularemos más adelante.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645920"/>
            <a:ext cx="3931920" cy="3200400"/>
          </a:xfrm>
          <a:prstGeom prst="roundRect">
            <a:avLst/>
          </a:prstGeom>
          <a:solidFill>
            <a:srgbClr val="EEF5FA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6596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archivo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C80B2"/>
                </a:solidFill>
                <a:latin typeface="Aptos Mono"/>
              </a:rPr>
              <a:t>pacientes.csv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 Mono"/>
              </a:rPr>
              <a:t>huella: 8f3a…c21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74320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C34239"/>
                </a:solidFill>
                <a:latin typeface="Aptos"/>
              </a:rPr>
              <a:t>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3931920" cy="3200400"/>
          </a:xfrm>
          <a:prstGeom prst="roundRect">
            <a:avLst/>
          </a:prstGeom>
          <a:solidFill>
            <a:srgbClr val="F6F2FA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96596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archivo alterado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75DA0"/>
                </a:solidFill>
                <a:latin typeface="Aptos Mono"/>
              </a:rPr>
              <a:t>pacientes.csv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03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 Mono"/>
              </a:rPr>
              <a:t>huella: 1b9d…7aa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4924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7780"/>
                </a:solidFill>
                <a:latin typeface="Aptos"/>
              </a:rPr>
              <a:t>Si cambia el contenido, cambia la huella → ayuda a comprobar integridad.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Dos archivos tienen el mismo nombre. ¿Eso demuestra que su contenido es idéntico?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Una casa para cada cosa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Separar lo que entra, lo que hacemos y lo que producimos.</a:t>
            </a:r>
          </a:p>
        </p:txBody>
      </p:sp>
      <p:pic>
        <p:nvPicPr>
          <p:cNvPr id="4" name="Picture 3" descr="figura-u1-s01-estructura-proye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143000"/>
            <a:ext cx="9265920" cy="5212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¿Dónde guardarías un archivo que acabas de transformar: data/source o data/processed? ¿Por qué?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256032"/>
            <a:ext cx="1371600" cy="347472"/>
          </a:xfrm>
          <a:prstGeom prst="roundRect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🧪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Práctica 1 — Organización del proyecto y metadatos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El alumnado llega con un primer intento. Aquí se compara y se corrige.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3520440"/>
          </a:xfrm>
          <a:prstGeom prst="roundRect">
            <a:avLst/>
          </a:prstGeom>
          <a:solidFill>
            <a:srgbClr val="EEF5FA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1 · Árbol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88036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¿Dónde colocaron?
• pacientes.md
• metadatos
• datos derivados
• resultados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20440"/>
          </a:xfrm>
          <a:prstGeom prst="roundRect">
            <a:avLst/>
          </a:prstGeom>
          <a:solidFill>
            <a:srgbClr val="EBF7F6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2 · Diccionario de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23160"/>
            <a:ext cx="278892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Revisar:
id · peso · altura
sexo · edad · dx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3520440"/>
          </a:xfrm>
          <a:prstGeom prst="roundRect">
            <a:avLst/>
          </a:prstGeom>
          <a:solidFill>
            <a:srgbClr val="F6F2FA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3 · ¿Qué NO sabemos?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23160"/>
            <a:ext cx="278892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Unidades · códigos dx
origen · fecha
responsable · licencia
formato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7780"/>
                </a:solidFill>
                <a:latin typeface="Aptos"/>
              </a:rPr>
              <a:t>⏱ 15–20 min · Primero comparar en parejas → después discutir 3–4 decisiones en plenaria.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256032"/>
            <a:ext cx="1600200" cy="347472"/>
          </a:xfrm>
          <a:prstGeom prst="roundRect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600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💬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Práctica 1 — ¿Qué debimos descubrir?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La corrección importa más que coincidir con una plantilla.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05740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80B2"/>
                </a:solidFill>
                <a:latin typeface="Aptos"/>
              </a:rPr>
              <a:t>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data/source/
pacientes.md
pacientes-metadatos.md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00200"/>
            <a:ext cx="205740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7780"/>
                </a:solidFill>
                <a:latin typeface="Aptos"/>
              </a:rPr>
              <a:t>Derivados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14600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data/processed/
archivos transformados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600200"/>
            <a:ext cx="205740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84648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75DA0"/>
                </a:solidFill>
                <a:latin typeface="Aptos"/>
              </a:rPr>
              <a:t>Procedimiento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src/
scripts y comandos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600200"/>
            <a:ext cx="205740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7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F801D"/>
                </a:solidFill>
                <a:latin typeface="Aptos"/>
              </a:rPr>
              <a:t>Resultados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514600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results/
salidas regenerables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600200"/>
            <a:ext cx="205740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1D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48087" y="18288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Documentación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2514600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doc/
protocolo y reportes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92040"/>
            <a:ext cx="9875520" cy="731520"/>
          </a:xfrm>
          <a:prstGeom prst="roundRect">
            <a:avLst/>
          </a:prstGeom>
          <a:solidFill>
            <a:srgbClr val="FFF7E8"/>
          </a:solidFill>
          <a:ln>
            <a:solidFill>
              <a:srgbClr val="E0A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29200"/>
            <a:ext cx="9326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F801D"/>
                </a:solidFill>
                <a:latin typeface="Aptos"/>
              </a:rPr>
              <a:t>Lo que no está documentado NO se completa por intuición: se marca como pendiente.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¿Dónde encajan FAIR y las carpetas?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Ahora conectamos las decisiones de la práctica con el ciclo de manejo de datos.</a:t>
            </a:r>
          </a:p>
        </p:txBody>
      </p:sp>
      <p:pic>
        <p:nvPicPr>
          <p:cNvPr id="4" name="Picture 3" descr="figura-u1-s01-proyecto-fases-f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47" y="1188720"/>
            <a:ext cx="10670344" cy="5074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05332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decisión de la Práctica 1 contribuye a que los datos sean reutilizables?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IA en el curso: apoyo, no piloto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Una respuesta que suena convincente puede estar equivocada.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4800600" cy="3337560"/>
          </a:xfrm>
          <a:prstGeom prst="roundRect">
            <a:avLst/>
          </a:prstGeom>
          <a:solidFill>
            <a:srgbClr val="EEF5FA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D3D66"/>
                </a:solidFill>
                <a:latin typeface="Aptos"/>
              </a:rPr>
              <a:t>Lo que una IA puede hacer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5146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Explicar un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9718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Proponer una estrategia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4290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Sugerir un comando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8862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Revisar redacción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4800600" cy="3337560"/>
          </a:xfrm>
          <a:prstGeom prst="roundRect">
            <a:avLst/>
          </a:prstGeom>
          <a:solidFill>
            <a:srgbClr val="F6F2FA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D3D66"/>
                </a:solidFill>
                <a:latin typeface="Aptos"/>
              </a:rPr>
              <a:t>Lo que NO debemos asumir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5146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Que entiende tu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9718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Que verificó lo que dijo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290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Que una cita existe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886200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Que conoce tus datos faltantes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0352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34239"/>
                </a:solidFill>
                <a:latin typeface="Aptos"/>
              </a:rPr>
              <a:t>Alucinación = respuesta falsa o inventada que puede sonar perfectamente plausible.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es más peligroso: que una IA diga “no sé” o que responda con seguridad algo falso?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Un prompt científico hace explícito lo importante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Primero la versión sencilla; los detalles se afinan con la práctica.</a:t>
            </a:r>
          </a:p>
        </p:txBody>
      </p:sp>
      <p:pic>
        <p:nvPicPr>
          <p:cNvPr id="4" name="Picture 3" descr="figura-u1-s01-anatomia-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0" y="1234440"/>
            <a:ext cx="8894618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05332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Prompt: “Analiza estos datos y dime qué encuentras”. ¿Qué le falta para ser científicamente útil?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256032"/>
            <a:ext cx="1645920" cy="347472"/>
          </a:xfrm>
          <a:prstGeom prst="roundRect">
            <a:avLst/>
          </a:prstGeom>
          <a:solidFill>
            <a:srgbClr val="C34239"/>
          </a:solidFill>
          <a:ln>
            <a:solidFill>
              <a:srgbClr val="C3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💬 RETO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¿Confiarías en esta respuesta?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Detectar señales de alerta antes de ejecutar.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508760"/>
            <a:ext cx="10149840" cy="1508760"/>
          </a:xfrm>
          <a:prstGeom prst="roundRect">
            <a:avLst/>
          </a:prstGeom>
          <a:solidFill>
            <a:srgbClr val="FFF6F6"/>
          </a:solidFill>
          <a:ln>
            <a:solidFill>
              <a:srgbClr val="E59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9509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3D66"/>
                </a:solidFill>
                <a:latin typeface="Aptos"/>
              </a:rPr>
              <a:t>“Usa el comando countgenes archivo.gff, que devuelve el número exacto de genes. Está descrito en Smith et al. (2019), Journal of Genome Counting.”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29000"/>
            <a:ext cx="9692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34239"/>
                </a:solidFill>
                <a:latin typeface="Aptos"/>
              </a:rPr>
              <a:t>En parejas: identifiquen al menos 2 razones para desconfiar.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320040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407408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C6074"/>
                </a:solidFill>
                <a:latin typeface="Aptos"/>
              </a:rPr>
              <a:t>¿Existe el comando?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4251960"/>
            <a:ext cx="320040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4407408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C6074"/>
                </a:solidFill>
                <a:latin typeface="Aptos"/>
              </a:rPr>
              <a:t>¿Existe la referencia?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251960"/>
            <a:ext cx="320040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C7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4407408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C6074"/>
                </a:solidFill>
                <a:latin typeface="Aptos"/>
              </a:rPr>
              <a:t>¿Qué está contando realmente?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605332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tendrías que comprobar ANTES de ejecutar o citar esta respuesta?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Antes de usar una respuesta de IA: entender → probar → contrastar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La responsabilidad científica sigue siendo de quien realiza el análisis.</a:t>
            </a:r>
          </a:p>
        </p:txBody>
      </p:sp>
      <p:pic>
        <p:nvPicPr>
          <p:cNvPr id="4" name="Picture 3" descr="figura-u1-s01-validacion-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824" y="1234440"/>
            <a:ext cx="927159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05332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la IA propone exactamente lo mismo que tú hiciste a mano, ¿eso demuestra que ambos están bien?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256032"/>
            <a:ext cx="1371600" cy="347472"/>
          </a:xfrm>
          <a:prstGeom prst="roundRect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🧪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Práctica 2 — Formular y validar el uso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Regla: primero a mano, después con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840480"/>
          </a:xfrm>
          <a:prstGeom prst="roundRect">
            <a:avLst/>
          </a:prstGeom>
          <a:solidFill>
            <a:srgbClr val="EEF5FA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A · Metadatos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38912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Comparar la propuesta de IA con la ficha manual.
Buscar:
• unidades inventadas
• códigos dx inventados
• fuente/licencia supuestas
• conocido vs. inferido vs. faltante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840480"/>
          </a:xfrm>
          <a:prstGeom prst="roundRect">
            <a:avLst/>
          </a:prstGeom>
          <a:solidFill>
            <a:srgbClr val="F6F2FA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B · Estrategia con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38912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Pedir una estrategia alternativa y compararla con la propia.
Validar con:
• archivo original
• documentación autorizada
• prueba controlada
• retroalimentación docente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7780"/>
                </a:solidFill>
                <a:latin typeface="Aptos"/>
              </a:rPr>
              <a:t>Todo uso relevante queda registrado en bitacora-ia.md.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Bitácora de IA: dejar rastro del razonamiento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No basta con decir “usé ChatGPT”.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73351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Fecha + actividad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50876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599" y="1673351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Herramienta/modelo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73351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Prompt completo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59" y="150876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19" y="1673351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Respuesta relevante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Error o limitación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92608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599" y="3090672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Fuente de validación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090672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Prueba realizada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2926080"/>
            <a:ext cx="25603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19" y="3090672"/>
            <a:ext cx="2286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"/>
              </a:rPr>
              <a:t>Corrección + conclusión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709160"/>
            <a:ext cx="9784080" cy="868680"/>
          </a:xfrm>
          <a:prstGeom prst="roundRect">
            <a:avLst/>
          </a:prstGeom>
          <a:solidFill>
            <a:srgbClr val="1D3D66"/>
          </a:solidFill>
          <a:ln>
            <a:solidFill>
              <a:srgbClr val="1D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63040" y="4864608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La bitácora permite explicar qué aceptaste, qué rechazaste y por qué.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tendría que quedar en la bitácora para que otra persona entienda por qué aceptaste una respuesta de IA?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Política de IA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Una regla sencilla: puedes apoyarte en IA, pero debes comprender, validar y declarar.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520440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7780"/>
                </a:solidFill>
                <a:latin typeface="Aptos"/>
              </a:rPr>
              <a:t>✓ Permitido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25603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Entender conceptos
Explicar comandos
Sugerir estrategias
Revisar redacción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520440"/>
          </a:xfrm>
          <a:prstGeom prst="roundRect">
            <a:avLst/>
          </a:prstGeom>
          <a:solidFill>
            <a:srgbClr val="F6F9FC"/>
          </a:solidFill>
          <a:ln>
            <a:solidFill>
              <a:srgbClr val="C3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34239"/>
                </a:solidFill>
                <a:latin typeface="Aptos"/>
              </a:rPr>
              <a:t>✗ No permitido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651760"/>
            <a:ext cx="25603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Entregar sin comprender
Inventar evidencia
Usar IA cuando se prohíba
Compartir datos sensibles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3520440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75DA0"/>
                </a:solidFill>
                <a:latin typeface="Aptos"/>
              </a:rPr>
              <a:t>Tu responsabilidad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51760"/>
            <a:ext cx="25603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Validar
Corregir
Registrar
Responder por el 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486400"/>
            <a:ext cx="9784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La IA puede proponer. El criterio científico no se delega.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Una IA genera un texto correcto y tú lo entiendes. ¿Puedes entregarlo sin declararlo?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Cierre · ¿Con qué idea te quedas?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Cinco comprobaciones rápidas antes de terminar.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252728"/>
            <a:ext cx="502920" cy="502920"/>
          </a:xfrm>
          <a:prstGeom prst="ellipse">
            <a:avLst/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b="1" dirty="0">
                <a:solidFill>
                  <a:srgbClr val="1E3A5F"/>
                </a:solidFill>
              </a:rPr>
              <a:t>Organizar también es hacer ciencia.</a:t>
            </a:r>
            <a:endParaRPr lang="en-US" b="1" dirty="0">
              <a:solidFill>
                <a:srgbClr val="1E3A5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0" y="12344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s-MX" dirty="0">
                <a:solidFill>
                  <a:srgbClr val="24364B"/>
                </a:solidFill>
              </a:rPr>
              <a:t>Un proyecto ordenado permite entender qué son los datos, qué hicimos con ellos y qué resultados obtuvimos.</a:t>
            </a:r>
            <a:endParaRPr lang="en-US" dirty="0">
              <a:solidFill>
                <a:srgbClr val="24364B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b="1" dirty="0">
                <a:solidFill>
                  <a:srgbClr val="1E3A5F"/>
                </a:solidFill>
              </a:rPr>
              <a:t>Un dato sin contexto pierde valor.</a:t>
            </a:r>
            <a:endParaRPr lang="en-US" b="1" dirty="0">
              <a:solidFill>
                <a:srgbClr val="1E3A5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0" y="21031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s-MX" dirty="0">
                <a:solidFill>
                  <a:srgbClr val="24364B"/>
                </a:solidFill>
              </a:rPr>
              <a:t>Registra su procedencia, significado y lo que sabes —o no sabes— sobre él.</a:t>
            </a:r>
          </a:p>
        </p:txBody>
      </p:sp>
      <p:sp>
        <p:nvSpPr>
          <p:cNvPr id="12" name="Shape 10"/>
          <p:cNvSpPr/>
          <p:nvPr/>
        </p:nvSpPr>
        <p:spPr>
          <a:xfrm>
            <a:off x="914400" y="2990088"/>
            <a:ext cx="502920" cy="502920"/>
          </a:xfrm>
          <a:prstGeom prst="ellipse">
            <a:avLst/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971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s-MX" b="1" dirty="0">
                <a:solidFill>
                  <a:srgbClr val="1E3A5F"/>
                </a:solidFill>
              </a:rPr>
              <a:t>FAIR empieza desde que obtienes los datos.</a:t>
            </a:r>
            <a:endParaRPr lang="en-US" b="1" dirty="0">
              <a:solidFill>
                <a:srgbClr val="1E3A5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2971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dirty="0">
                <a:solidFill>
                  <a:srgbClr val="24364B"/>
                </a:solidFill>
              </a:rPr>
              <a:t>No es algo que se agrega al proyecto al final.</a:t>
            </a:r>
            <a:endParaRPr lang="en-US" dirty="0">
              <a:solidFill>
                <a:srgbClr val="24364B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3858768"/>
            <a:ext cx="502920" cy="502920"/>
          </a:xfrm>
          <a:prstGeom prst="ellipse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b="1" dirty="0">
                <a:solidFill>
                  <a:srgbClr val="1E3A5F"/>
                </a:solidFill>
              </a:rPr>
              <a:t>No inventes lo que no sabes.</a:t>
            </a:r>
            <a:endParaRPr lang="en-US" b="1" dirty="0">
              <a:solidFill>
                <a:srgbClr val="1E3A5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38404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s-MX" b="1" dirty="0">
                <a:solidFill>
                  <a:srgbClr val="24364B"/>
                </a:solidFill>
              </a:rPr>
              <a:t>“No documentado” </a:t>
            </a:r>
            <a:r>
              <a:rPr lang="es-MX" dirty="0">
                <a:solidFill>
                  <a:srgbClr val="24364B"/>
                </a:solidFill>
              </a:rPr>
              <a:t>es mejor que una suposición presentada como hecho.</a:t>
            </a:r>
            <a:endParaRPr lang="en-US" dirty="0">
              <a:solidFill>
                <a:srgbClr val="24364B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02920" cy="502920"/>
          </a:xfrm>
          <a:prstGeom prst="ellipse">
            <a:avLst/>
          </a:prstGeom>
          <a:solidFill>
            <a:srgbClr val="B97A1B"/>
          </a:solidFill>
          <a:ln w="12700">
            <a:solidFill>
              <a:srgbClr val="B97A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7091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s-MX" b="1" dirty="0">
                <a:solidFill>
                  <a:srgbClr val="1E3A5F"/>
                </a:solidFill>
              </a:rPr>
              <a:t>La IA puede proponer; tú debes comprobar.</a:t>
            </a:r>
            <a:endParaRPr lang="en-US" b="1" dirty="0">
              <a:solidFill>
                <a:srgbClr val="1E3A5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0" y="47091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dirty="0">
                <a:solidFill>
                  <a:srgbClr val="24364B"/>
                </a:solidFill>
              </a:rPr>
              <a:t>Entiende → prueba → contrasta → corrige.</a:t>
            </a:r>
            <a:endParaRPr lang="en-US" dirty="0">
              <a:solidFill>
                <a:srgbClr val="24364B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F606A0-C9F9-A6CF-AC1E-FE899BD19172}"/>
              </a:ext>
            </a:extLst>
          </p:cNvPr>
          <p:cNvSpPr txBox="1"/>
          <p:nvPr/>
        </p:nvSpPr>
        <p:spPr>
          <a:xfrm>
            <a:off x="3154166" y="5577840"/>
            <a:ext cx="4420697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defPPr>
              <a:defRPr lang="en-US"/>
            </a:defPPr>
            <a:lvl1pPr indent="0">
              <a:buNone/>
              <a:defRPr sz="2500" b="1">
                <a:solidFill>
                  <a:srgbClr val="1E3A5F"/>
                </a:solidFill>
              </a:defRPr>
            </a:lvl1pPr>
          </a:lstStyle>
          <a:p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El criterio científico no se delega.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D3D66"/>
                </a:solidFill>
                <a:latin typeface="Aptos"/>
              </a:rPr>
              <a:t>Cierre de 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¿Qué debe quedar al terminar esta sesión?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15468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80B2"/>
                </a:solidFill>
                <a:latin typeface="Aptos"/>
              </a:rPr>
              <a:t>1 · Proyecto organizado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data/source · data/processed · src · results · doc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600200"/>
            <a:ext cx="315468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874519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7780"/>
                </a:solidFill>
                <a:latin typeface="Aptos"/>
              </a:rPr>
              <a:t>2 · Datos descritos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69748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metadatos + diccionario de variables + pendientes explícitos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600200"/>
            <a:ext cx="3154680" cy="2926080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75DA0"/>
                </a:solidFill>
                <a:latin typeface="Aptos"/>
              </a:rPr>
              <a:t>3 · IA documentada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9748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prompt + validación + correcciones en bitacora-ia.md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983480"/>
            <a:ext cx="10058400" cy="777240"/>
          </a:xfrm>
          <a:prstGeom prst="roundRect">
            <a:avLst/>
          </a:prstGeom>
          <a:solidFill>
            <a:srgbClr val="EBF7F6"/>
          </a:solidFill>
          <a:ln>
            <a:solidFill>
              <a:srgbClr val="84C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5102352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Después del taller: corregir y entregar la Tarea 2. La estructura creada hoy se reutilizará en la Unidad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70448"/>
            <a:ext cx="10817352" cy="530352"/>
          </a:xfrm>
          <a:prstGeom prst="roundRect">
            <a:avLst/>
          </a:prstGeom>
          <a:solidFill>
            <a:srgbClr val="F1F8FA"/>
          </a:solidFill>
          <a:ln>
            <a:solidFill>
              <a:srgbClr val="81B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Salida: menciona una cosa que ahora harías diferente al recibir un conjunto de datos nuevo.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3036</Words>
  <Application>Microsoft Macintosh PowerPoint</Application>
  <PresentationFormat>Panorámica</PresentationFormat>
  <Paragraphs>276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2026-08-21T04:34:28Z</dcterms:modified>
  <cp:category/>
</cp:coreProperties>
</file>