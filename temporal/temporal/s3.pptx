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>
        <p:scale>
          <a:sx n="137" d="100"/>
          <a:sy n="137" d="100"/>
        </p:scale>
        <p:origin x="1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53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APERTURA. La lectura fue previa. Hoy casi todo se ejecuta en vivo sobre el servidor. Confirmar preflight: pacientes.md, pacientes-metadatos.md y protocolo.md localizados; terminal/cliente disponible; una duda anotada.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OBJETIVO. Presentar el flujo como historia de la sesión, no como lista de resultados. Recuperar dudas de la lectura.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CONTROL DE TIEMPO. Mantener margen para problemas reales de conexión. Si hay incidentes, convertirlos en diagnóstico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RESPUESTA: no. La CLI favorece reproducibilidad porque deja instrucciones explícitas; aún hay que verificar datos, entorno y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enseñar pipes todavía. Buscar modularidad, reutilización, claridad y combinación.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Terminal sigue local; el shell que responde tras SSH está en el servidor. Bash/zsh solo si surge.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Respuesta: argumento. Pedir identificar las tres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SSH: terminal remota. SFTP: transferencia segura sobre SSH. HTTPS solo como ejemplo conocido.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Respuesta: servidor. La contraseña no muestra caracteres al teclear: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No. Huella = identidad del servidor; contraseña = autenticación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hostname, whoami, pwd. Repetir durante toda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P1. Confirmar huella oficial antes de aceptar. No avanzar hasta distinguir local/remoto.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 ~10 min. Tercera ronda evidencia autonomía inicial. Usar errores para diagnosticar.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P3. Respuesta: man ls. Añadir Tab y flecha ↑. history no sustituye protocolo.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Micropráctica. Ctrl-C no cierra sesión; exit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lpwd local; pwd remoto. En S3 no formalizar navegación aún.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 ~25 min. Si se pierde: preguntar local/remoto/SFTP. Confirmar ambos con ls -lh.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No. Aplicación de S2. Todos usarán SHA-256.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usar archivo; retransmitir y verificar. Servidor Linux: sha256sum.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Actualizar protocolo y transferirlo como tercer archivo. No sobrescribir sin consultar.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Respuesta: ninguna. Conectar U1 y U2.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Mensaje exacto, contexto, diagnóstico y solución. Huella distinta: no aceptar.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Actividad posterior. Registrar decisiones en bitacora-ia.md.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COGNITIVO. Cada estudiante elige una frase y la explica con un ejemplo de lo que hizo. Después semáforo de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1D3D66"/>
                </a:solidFill>
                <a:latin typeface="Aptos"/>
              </a:rPr>
              <a:t>Introducción a la Bioinformática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0020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4C6074"/>
                </a:solidFill>
                <a:latin typeface="Aptos"/>
              </a:rPr>
              <a:t>LCG · UNAM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7780"/>
                </a:solidFill>
                <a:latin typeface="Aptos"/>
              </a:rPr>
              <a:t>UNIDAD 2 · SESIÓN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07792"/>
            <a:ext cx="99669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Conectar:
el shell, el acceso remoto y la transferencia de archivos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C6074"/>
                </a:solidFill>
                <a:latin typeface="Aptos"/>
              </a:rPr>
              <a:t>Aula invertida · Taller práctico de 2 horas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4617720"/>
            <a:ext cx="2926080" cy="114300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31352" y="474573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32520" y="474573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33688" y="474573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67928" y="4937759"/>
            <a:ext cx="25237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 Mono"/>
              </a:rPr>
              <a:t>$ ssh estudiante@servidor
$ hostname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¿Qué queremos lograr en S3?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Del archivo local al trabajo remoto, sin perder control ni reproducibilidad.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74519"/>
            <a:ext cx="658368" cy="658368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697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Conectar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68" y="2212848"/>
            <a:ext cx="1170432" cy="0"/>
          </a:xfrm>
          <a:prstGeom prst="line">
            <a:avLst/>
          </a:prstGeom>
          <a:ln w="2540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63240" y="1874519"/>
            <a:ext cx="658368" cy="658368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697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Ubicarte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13048" y="2212848"/>
            <a:ext cx="1170432" cy="0"/>
          </a:xfrm>
          <a:prstGeom prst="line">
            <a:avLst/>
          </a:prstGeom>
          <a:ln w="2540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303520" y="1874519"/>
            <a:ext cx="658368" cy="658368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697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Transferir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53328" y="2212848"/>
            <a:ext cx="1170432" cy="0"/>
          </a:xfrm>
          <a:prstGeom prst="line">
            <a:avLst/>
          </a:prstGeom>
          <a:ln w="2540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543800" y="1874519"/>
            <a:ext cx="658368" cy="658368"/>
          </a:xfrm>
          <a:prstGeom prst="ellipse">
            <a:avLst/>
          </a:prstGeom>
          <a:solidFill>
            <a:srgbClr val="BF801D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697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Verificar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93608" y="2212848"/>
            <a:ext cx="1170432" cy="0"/>
          </a:xfrm>
          <a:prstGeom prst="line">
            <a:avLst/>
          </a:prstGeom>
          <a:ln w="25400">
            <a:solidFill>
              <a:srgbClr val="A0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784080" y="1874519"/>
            <a:ext cx="658368" cy="658368"/>
          </a:xfrm>
          <a:prstGeom prst="ellipse">
            <a:avLst/>
          </a:prstGeom>
          <a:solidFill>
            <a:srgbClr val="1D3D66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1874519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697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Documentar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86200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C6074"/>
                </a:solidFill>
                <a:latin typeface="Aptos"/>
              </a:rPr>
              <a:t>SSH → reconocer el entorno → mover datos + metadatos → comparar SHA-256 → dejar evidencia en protocolo.md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¿En cuál de estos pasos sería más fácil cometer un error sin darte cuenta?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Ruta de las 2 horas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Poca exposición, mucha ejecución y diagnóstico.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743200"/>
            <a:ext cx="10149840" cy="0"/>
          </a:xfrm>
          <a:prstGeom prst="line">
            <a:avLst/>
          </a:prstGeom>
          <a:ln w="38100">
            <a:solidFill>
              <a:srgbClr val="A5B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60120" y="2432304"/>
            <a:ext cx="621792" cy="621792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C80B2"/>
                </a:solidFill>
                <a:latin typeface="Aptos"/>
              </a:rPr>
              <a:t>0–10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Repaso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432304"/>
            <a:ext cx="621792" cy="621792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43230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27780"/>
                </a:solidFill>
                <a:latin typeface="Aptos"/>
              </a:rPr>
              <a:t>10–35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2461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P1–P2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2432304"/>
            <a:ext cx="621792" cy="621792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80" y="243230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75DA0"/>
                </a:solidFill>
                <a:latin typeface="Aptos"/>
              </a:rPr>
              <a:t>35–55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P3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2432304"/>
            <a:ext cx="621792" cy="621792"/>
          </a:xfrm>
          <a:prstGeom prst="ellipse">
            <a:avLst/>
          </a:prstGeom>
          <a:solidFill>
            <a:srgbClr val="BF801D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243230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F801D"/>
                </a:solidFill>
                <a:latin typeface="Aptos"/>
              </a:rPr>
              <a:t>55–95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461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P4–P5</a:t>
            </a:r>
          </a:p>
        </p:txBody>
      </p:sp>
      <p:sp>
        <p:nvSpPr>
          <p:cNvPr id="22" name="Oval 21"/>
          <p:cNvSpPr/>
          <p:nvPr/>
        </p:nvSpPr>
        <p:spPr>
          <a:xfrm>
            <a:off x="10835640" y="2432304"/>
            <a:ext cx="621792" cy="621792"/>
          </a:xfrm>
          <a:prstGeom prst="ellipse">
            <a:avLst/>
          </a:prstGeom>
          <a:solidFill>
            <a:srgbClr val="1D3D66"/>
          </a:solidFill>
          <a:ln>
            <a:solidFill>
              <a:srgbClr val="1D3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35640" y="2432304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D3D66"/>
                </a:solidFill>
                <a:latin typeface="Aptos"/>
              </a:rPr>
              <a:t>95–120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2461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Cierre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033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Unix · SSH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7033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entrar/salir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033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comandos/ayuda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7033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transferir/verificar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70332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protocolo/semáforo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983480"/>
            <a:ext cx="7406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75DA0"/>
                </a:solidFill>
                <a:latin typeface="Aptos"/>
              </a:rPr>
              <a:t>IA: revisión crítica después del taller.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GUI vs. CLI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Dos formas de hablar con una computadora.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80B2"/>
                </a:solidFill>
                <a:latin typeface="Aptos"/>
              </a:rPr>
              <a:t>GUI · interfaz gráfica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13248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clics, menús, ventanas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47488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7780"/>
                </a:solidFill>
                <a:latin typeface="Aptos"/>
              </a:rPr>
              <a:t>CLI · línea de comandos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13248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acciones explícitas que puedes guardar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¿Usar comandos garantiza que el análisis sea correcto?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99DD3D3-993D-4E7B-29E3-21A2F7A2F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290" y="1292850"/>
            <a:ext cx="8378423" cy="3618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Filosofía Unix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Una herramienta pequeña para cada tarea; después se combinan.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C80B2"/>
                </a:solidFill>
                <a:latin typeface="Aptos Mono"/>
              </a:rPr>
              <a:t>grep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buscar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659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0B4C2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8288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27780"/>
                </a:solidFill>
                <a:latin typeface="Aptos Mono"/>
              </a:rPr>
              <a:t>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423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extraer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659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0B4C2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288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75DA0"/>
                </a:solidFill>
                <a:latin typeface="Aptos Mono"/>
              </a:rPr>
              <a:t>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423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ordenar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9659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A0B4C2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BF801D"/>
                </a:solidFill>
                <a:latin typeface="Aptos Mono"/>
              </a:rPr>
              <a:t>uniq -c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4231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contar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25880" y="3337560"/>
            <a:ext cx="9509760" cy="0"/>
          </a:xfrm>
          <a:prstGeom prst="line">
            <a:avLst/>
          </a:prstGeom>
          <a:ln w="50800">
            <a:solidFill>
              <a:srgbClr val="CD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43000" y="3099816"/>
            <a:ext cx="475488" cy="475488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931920" y="3099816"/>
            <a:ext cx="475488" cy="475488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20840" y="3099816"/>
            <a:ext cx="475488" cy="475488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09759" y="3099816"/>
            <a:ext cx="475488" cy="475488"/>
          </a:xfrm>
          <a:prstGeom prst="ellipse">
            <a:avLst/>
          </a:prstGeom>
          <a:solidFill>
            <a:srgbClr val="BF801D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416052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No necesitas dominar todas las herramientas hoy.
Necesitas entender la lógica de construir un análisis paso a paso.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ventaja tiene combinar herramientas pequeñas?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Terminal ≠ shell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La ventana y el intérprete no son la misma cosa.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16636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80B2"/>
                </a:solidFill>
                <a:latin typeface="Aptos"/>
              </a:rPr>
              <a:t>TERMINAL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246120"/>
            <a:ext cx="1051560" cy="0"/>
          </a:xfrm>
          <a:prstGeom prst="line">
            <a:avLst/>
          </a:prstGeom>
          <a:ln w="254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60920" y="2057400"/>
            <a:ext cx="2377440" cy="2377440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69748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"/>
              </a:rPr>
              <a:t>SHELL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617720"/>
            <a:ext cx="3474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4C6074"/>
                </a:solidFill>
                <a:latin typeface="Aptos"/>
              </a:rPr>
              <a:t>Interpreta lo que escribes
y pide al sistema que lo ejecute.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Al conectarte por SSH, ¿qué parte sigue estando en tu computadora y cuál trabaja en el servidor?</a:t>
            </a:r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06624A36-C05C-F311-127E-605DCEC63153}"/>
              </a:ext>
            </a:extLst>
          </p:cNvPr>
          <p:cNvSpPr/>
          <p:nvPr/>
        </p:nvSpPr>
        <p:spPr>
          <a:xfrm>
            <a:off x="685800" y="1691640"/>
            <a:ext cx="4892040" cy="333756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1">
            <a:extLst>
              <a:ext uri="{FF2B5EF4-FFF2-40B4-BE49-F238E27FC236}">
                <a16:creationId xmlns:a16="http://schemas.microsoft.com/office/drawing/2014/main" id="{2E4BE487-D5C1-74E3-37DB-D461561829BE}"/>
              </a:ext>
            </a:extLst>
          </p:cNvPr>
          <p:cNvSpPr/>
          <p:nvPr/>
        </p:nvSpPr>
        <p:spPr>
          <a:xfrm>
            <a:off x="850392" y="1819655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2">
            <a:extLst>
              <a:ext uri="{FF2B5EF4-FFF2-40B4-BE49-F238E27FC236}">
                <a16:creationId xmlns:a16="http://schemas.microsoft.com/office/drawing/2014/main" id="{7A8112EA-3829-0B02-690E-CA020CE4DB71}"/>
              </a:ext>
            </a:extLst>
          </p:cNvPr>
          <p:cNvSpPr/>
          <p:nvPr/>
        </p:nvSpPr>
        <p:spPr>
          <a:xfrm>
            <a:off x="1051559" y="1819655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3">
            <a:extLst>
              <a:ext uri="{FF2B5EF4-FFF2-40B4-BE49-F238E27FC236}">
                <a16:creationId xmlns:a16="http://schemas.microsoft.com/office/drawing/2014/main" id="{0C400DBF-B725-A023-720E-5C8BADAE6588}"/>
              </a:ext>
            </a:extLst>
          </p:cNvPr>
          <p:cNvSpPr/>
          <p:nvPr/>
        </p:nvSpPr>
        <p:spPr>
          <a:xfrm>
            <a:off x="1252728" y="1819655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390D6354-BEB6-5059-6548-F8CFDFBB0F3B}"/>
              </a:ext>
            </a:extLst>
          </p:cNvPr>
          <p:cNvSpPr txBox="1"/>
          <p:nvPr/>
        </p:nvSpPr>
        <p:spPr>
          <a:xfrm>
            <a:off x="886968" y="2011679"/>
            <a:ext cx="4489703" cy="2907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Mono"/>
              </a:rPr>
              <a:t>$ ls -lh
$ grep "gene" archivo.gff
$ sort datos.tsv
$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Anatomía de un comando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Léelo como una oración.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508760"/>
            <a:ext cx="9875520" cy="114300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07592" y="163677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163677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09928" y="163677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1828800"/>
            <a:ext cx="9473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 Mono"/>
              </a:rPr>
              <a:t>ls    -l    pacientes.md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2743200"/>
            <a:ext cx="0" cy="594360"/>
          </a:xfrm>
          <a:prstGeom prst="line">
            <a:avLst/>
          </a:prstGeom>
          <a:ln w="25400">
            <a:solidFill>
              <a:srgbClr val="2C8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19" y="340156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80B2"/>
                </a:solidFill>
                <a:latin typeface="Aptos"/>
              </a:rPr>
              <a:t>comando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qué herramienta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743200"/>
            <a:ext cx="0" cy="594360"/>
          </a:xfrm>
          <a:prstGeom prst="line">
            <a:avLst/>
          </a:prstGeom>
          <a:ln w="254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0" y="340156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7780"/>
                </a:solidFill>
                <a:latin typeface="Aptos"/>
              </a:rPr>
              <a:t>opción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cómo se comporta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18120" y="2743200"/>
            <a:ext cx="0" cy="594360"/>
          </a:xfrm>
          <a:prstGeom prst="line">
            <a:avLst/>
          </a:prstGeom>
          <a:ln w="25400">
            <a:solidFill>
              <a:srgbClr val="775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0" y="3401568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75DA0"/>
                </a:solidFill>
                <a:latin typeface="Aptos"/>
              </a:rPr>
              <a:t>argumento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67328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C6074"/>
                </a:solidFill>
                <a:latin typeface="Aptos"/>
              </a:rPr>
              <a:t>sobre qué actúa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quieres actuar sobre otro archivo, ¿qué parte cambiarías?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Cliente, servidor y protocolo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Una conversación necesita dos extremos y reglas comunes.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¿SSH y SFTP sirven para lo mismo?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F487E98D-D92F-451A-DC22-BAC0C0AC9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66" y="1443610"/>
            <a:ext cx="9276184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SSH: tu teclado aquí, el comando allá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La conexión crea un canal cifrado hacia el servidor.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840480" cy="91440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163677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163677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44168" y="163677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28800"/>
            <a:ext cx="3438144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$ ssh usuario@servidor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80B2"/>
                </a:solidFill>
                <a:latin typeface="Aptos"/>
              </a:rPr>
              <a:t>TU COMPUTADORA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3108960"/>
            <a:ext cx="457200" cy="0"/>
          </a:xfrm>
          <a:prstGeom prst="line">
            <a:avLst/>
          </a:prstGeom>
          <a:ln w="508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3108960"/>
            <a:ext cx="457200" cy="0"/>
          </a:xfrm>
          <a:prstGeom prst="line">
            <a:avLst/>
          </a:prstGeom>
          <a:ln w="508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32120" y="3108960"/>
            <a:ext cx="457200" cy="0"/>
          </a:xfrm>
          <a:prstGeom prst="line">
            <a:avLst/>
          </a:prstGeom>
          <a:ln w="508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3108960"/>
            <a:ext cx="457200" cy="0"/>
          </a:xfrm>
          <a:prstGeom prst="line">
            <a:avLst/>
          </a:prstGeom>
          <a:ln w="508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108960"/>
            <a:ext cx="457200" cy="0"/>
          </a:xfrm>
          <a:prstGeom prst="line">
            <a:avLst/>
          </a:prstGeom>
          <a:ln w="508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24231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canal cifrado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331720"/>
            <a:ext cx="2468880" cy="438912"/>
          </a:xfrm>
          <a:prstGeom prst="roundRect">
            <a:avLst/>
          </a:prstGeom>
          <a:solidFill>
            <a:srgbClr val="F2F6F8"/>
          </a:solidFill>
          <a:ln>
            <a:solidFill>
              <a:srgbClr val="B1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2898648"/>
            <a:ext cx="2468880" cy="438912"/>
          </a:xfrm>
          <a:prstGeom prst="roundRect">
            <a:avLst/>
          </a:prstGeom>
          <a:solidFill>
            <a:srgbClr val="F2F6F8"/>
          </a:solidFill>
          <a:ln>
            <a:solidFill>
              <a:srgbClr val="B1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3465576"/>
            <a:ext cx="2468880" cy="438912"/>
          </a:xfrm>
          <a:prstGeom prst="roundRect">
            <a:avLst/>
          </a:prstGeom>
          <a:solidFill>
            <a:srgbClr val="F2F6F8"/>
          </a:solidFill>
          <a:ln>
            <a:solidFill>
              <a:srgbClr val="B1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425196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7780"/>
                </a:solidFill>
                <a:latin typeface="Aptos"/>
              </a:rPr>
              <a:t>SERVIDOR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Después de conectarte, ¿dónde se ejecuta `hostname`?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Primera conexión: verifica la huella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La huella responde: “¿éste es realmente el servidor que espero?”</a:t>
            </a:r>
          </a:p>
        </p:txBody>
      </p:sp>
      <p:sp>
        <p:nvSpPr>
          <p:cNvPr id="5" name="Arc 4"/>
          <p:cNvSpPr/>
          <p:nvPr/>
        </p:nvSpPr>
        <p:spPr>
          <a:xfrm>
            <a:off x="1005840" y="1645920"/>
            <a:ext cx="2286000" cy="2286000"/>
          </a:xfrm>
          <a:prstGeom prst="arc">
            <a:avLst/>
          </a:prstGeom>
          <a:noFill/>
          <a:ln w="38100"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1280160" y="1920240"/>
            <a:ext cx="1737360" cy="1737360"/>
          </a:xfrm>
          <a:prstGeom prst="arc">
            <a:avLst/>
          </a:prstGeom>
          <a:noFill/>
          <a:ln w="38100"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1554480" y="2194560"/>
            <a:ext cx="1188720" cy="1188720"/>
          </a:xfrm>
          <a:prstGeom prst="arc">
            <a:avLst/>
          </a:prstGeom>
          <a:noFill/>
          <a:ln w="38100"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1828800" y="2468880"/>
            <a:ext cx="640080" cy="640080"/>
          </a:xfrm>
          <a:prstGeom prst="arc">
            <a:avLst/>
          </a:prstGeom>
          <a:noFill/>
          <a:ln w="38100"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0" y="1691640"/>
            <a:ext cx="7132320" cy="109728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005072" y="181965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181965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07408" y="181965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2011680"/>
            <a:ext cx="6729983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 Mono"/>
              </a:rPr>
              <a:t>ED25519 key fingerprint is SHA256: ...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3429000"/>
            <a:ext cx="566928" cy="566928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34290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41071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Coincide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776472"/>
            <a:ext cx="2514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acepta y continúa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3429000"/>
            <a:ext cx="566928" cy="566928"/>
          </a:xfrm>
          <a:prstGeom prst="ellipse">
            <a:avLst/>
          </a:prstGeom>
          <a:solidFill>
            <a:srgbClr val="C34239"/>
          </a:solidFill>
          <a:ln>
            <a:solidFill>
              <a:srgbClr val="C3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41071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No coincide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776472"/>
            <a:ext cx="2514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detente y consulta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¿Aceptar la huella sustituye la contraseña?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LOCAL ≠ REMOTO ≠ SFTP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Antes de ejecutar: identifica el contexto.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50791" y="1508760"/>
            <a:ext cx="0" cy="370332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01583" y="1508760"/>
            <a:ext cx="0" cy="370332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691640"/>
            <a:ext cx="3520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C80B2"/>
                </a:solidFill>
                <a:latin typeface="Aptos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tu computadora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063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 Mono"/>
              </a:rPr>
              <a:t>hostname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archivos locales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691640"/>
            <a:ext cx="3520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27780"/>
                </a:solidFill>
                <a:latin typeface="Aptos"/>
              </a:rPr>
              <a:t>REMOTO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40280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063240"/>
            <a:ext cx="3063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 Mono"/>
              </a:rPr>
              <a:t>hostname · whoami · pwd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1" y="416052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procesos remotos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504" y="1691640"/>
            <a:ext cx="3520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775DA0"/>
                </a:solidFill>
                <a:latin typeface="Aptos"/>
              </a:rPr>
              <a:t>SFTP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4" y="2240280"/>
            <a:ext cx="3520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transferencia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3063240"/>
            <a:ext cx="30632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 Mono"/>
              </a:rPr>
              <a:t>sftp&gt; · lpwd · pwd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4160520"/>
            <a:ext cx="2880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4C6074"/>
                </a:solidFill>
                <a:latin typeface="Aptos"/>
              </a:rPr>
              <a:t>dos lados a la vez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dudas de dónde estás, ¿qué comandos te ayudan a orientarte?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27780"/>
                </a:solidFill>
                <a:latin typeface="Aptos"/>
              </a:rPr>
              <a:t>🧪 PRÁCTICA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Entrar, reconocer el entorno y salir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Primera conexión acompañada · 10–15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577840" cy="333756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54533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54533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4168" y="154533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5175503" cy="2907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 Mono"/>
              </a:rPr>
              <a:t>[LOCAL]  ssh usuario@servidor
[REMOTO] hostname
         whoami
         pwd
         exit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D3D66"/>
                </a:solidFill>
                <a:latin typeface="Aptos"/>
              </a:rPr>
              <a:t>Mientras ejecutas, pregúntate: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2331720"/>
            <a:ext cx="219456" cy="219456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6912" y="224028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¿En qué máquina estoy?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2926079"/>
            <a:ext cx="219456" cy="219456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6912" y="283464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¿Con qué cuenta?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3520439"/>
            <a:ext cx="219456" cy="219456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34290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¿En qué carpeta inicié?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4114800"/>
            <a:ext cx="219456" cy="219456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402336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¿Qué cambió al salir?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cambió en el prompt al entrar y al salir?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C80B2"/>
                </a:solidFill>
                <a:latin typeface="Aptos"/>
              </a:rPr>
              <a:t>🧪 PRÁCTICA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Entrar, salir y volver a entrar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La autonomía se construye quitando poco a poco el apoyo.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29449" y="4439410"/>
            <a:ext cx="2377440" cy="0"/>
          </a:xfrm>
          <a:prstGeom prst="line">
            <a:avLst/>
          </a:prstGeom>
          <a:ln w="63500">
            <a:solidFill>
              <a:srgbClr val="2C8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29449" y="357073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80B2"/>
                </a:solidFill>
                <a:latin typeface="Aptos"/>
              </a:rPr>
              <a:t>Ronda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9449" y="400049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con el docente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80842" y="4433998"/>
            <a:ext cx="2377440" cy="0"/>
          </a:xfrm>
          <a:prstGeom prst="line">
            <a:avLst/>
          </a:prstGeom>
          <a:ln w="635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80842" y="3565318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7780"/>
                </a:solidFill>
                <a:latin typeface="Aptos"/>
              </a:rPr>
              <a:t>Ronda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0842" y="399508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con tus notas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32235" y="4414870"/>
            <a:ext cx="2377440" cy="0"/>
          </a:xfrm>
          <a:prstGeom prst="line">
            <a:avLst/>
          </a:prstGeom>
          <a:ln w="63500">
            <a:solidFill>
              <a:srgbClr val="775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32235" y="354619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775DA0"/>
                </a:solidFill>
                <a:latin typeface="Aptos"/>
              </a:rPr>
              <a:t>Ronda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2235" y="397595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sin pasos visibles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4133461" y="4070198"/>
            <a:ext cx="606022" cy="0"/>
          </a:xfrm>
          <a:prstGeom prst="line">
            <a:avLst/>
          </a:prstGeom>
          <a:ln w="25400">
            <a:solidFill>
              <a:srgbClr val="AAB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 flipV="1">
            <a:off x="7464021" y="4050977"/>
            <a:ext cx="581762" cy="5411"/>
          </a:xfrm>
          <a:prstGeom prst="line">
            <a:avLst/>
          </a:prstGeom>
          <a:ln w="25400">
            <a:solidFill>
              <a:srgbClr val="AAB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ya puedes hacer sin mirar y qué todavía necesitas consultar?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C2A3BD77-A3D9-8CB4-6B09-CF540763C350}"/>
              </a:ext>
            </a:extLst>
          </p:cNvPr>
          <p:cNvSpPr txBox="1"/>
          <p:nvPr/>
        </p:nvSpPr>
        <p:spPr>
          <a:xfrm>
            <a:off x="992124" y="2125139"/>
            <a:ext cx="10149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 dirty="0" err="1">
                <a:solidFill>
                  <a:srgbClr val="1D3D66"/>
                </a:solidFill>
                <a:latin typeface="Aptos Mono"/>
              </a:rPr>
              <a:t>conectarse</a:t>
            </a:r>
            <a:r>
              <a:rPr sz="2300" b="1" dirty="0">
                <a:solidFill>
                  <a:srgbClr val="1D3D66"/>
                </a:solidFill>
                <a:latin typeface="Aptos Mono"/>
              </a:rPr>
              <a:t>  →  hostname  →  </a:t>
            </a:r>
            <a:r>
              <a:rPr sz="2300" b="1" dirty="0" err="1">
                <a:solidFill>
                  <a:srgbClr val="1D3D66"/>
                </a:solidFill>
                <a:latin typeface="Aptos Mono"/>
              </a:rPr>
              <a:t>whoami</a:t>
            </a:r>
            <a:r>
              <a:rPr sz="2300" b="1" dirty="0">
                <a:solidFill>
                  <a:srgbClr val="1D3D66"/>
                </a:solidFill>
                <a:latin typeface="Aptos Mono"/>
              </a:rPr>
              <a:t>  →  </a:t>
            </a:r>
            <a:r>
              <a:rPr sz="2300" b="1" dirty="0" err="1">
                <a:solidFill>
                  <a:srgbClr val="1D3D66"/>
                </a:solidFill>
                <a:latin typeface="Aptos Mono"/>
              </a:rPr>
              <a:t>pwd</a:t>
            </a:r>
            <a:r>
              <a:rPr sz="2300" b="1" dirty="0">
                <a:solidFill>
                  <a:srgbClr val="1D3D66"/>
                </a:solidFill>
                <a:latin typeface="Aptos Mono"/>
              </a:rPr>
              <a:t>  → 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775DA0"/>
                </a:solidFill>
                <a:latin typeface="Aptos"/>
              </a:rPr>
              <a:t>🧪 PRÁCTICA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Reconocer archivos y aprender a pedir ayuda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No memorices todo: aprende a orientarte.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384048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54533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154533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98448" y="154533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4535424" cy="34107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 Mono"/>
              </a:rPr>
              <a:t>$ pwd
$ ls
$ ls -l
$ man ls
$ ls -lh
$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1">
                <a:solidFill>
                  <a:srgbClr val="2C80B2"/>
                </a:solidFill>
                <a:latin typeface="Aptos Mono"/>
              </a:rPr>
              <a:t>pwd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1792224"/>
            <a:ext cx="411480" cy="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157276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¿dónde estoy?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1">
                <a:solidFill>
                  <a:srgbClr val="227780"/>
                </a:solidFill>
                <a:latin typeface="Aptos Mono"/>
              </a:rPr>
              <a:t>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0" y="2615184"/>
            <a:ext cx="411480" cy="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41080" y="239572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¿qué hay aquí?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1">
                <a:solidFill>
                  <a:srgbClr val="775DA0"/>
                </a:solidFill>
                <a:latin typeface="Aptos Mono"/>
              </a:rPr>
              <a:t>man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3438144"/>
            <a:ext cx="411480" cy="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41080" y="321868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¿cómo consulto ayuda?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700" b="1">
                <a:solidFill>
                  <a:srgbClr val="BF801D"/>
                </a:solidFill>
                <a:latin typeface="Aptos Mono"/>
              </a:rPr>
              <a:t>history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4261104"/>
            <a:ext cx="411480" cy="0"/>
          </a:xfrm>
          <a:prstGeom prst="line">
            <a:avLst/>
          </a:prstGeom>
          <a:ln w="1905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41080" y="4041648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¿qué ejecuté?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no recuerdas `-h`, ¿qué harías antes de preguntar al profesor o a una IA?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Dos teclas que te ahorrarán muchos problemas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Pequeños hábitos, gran diferencia.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45920"/>
            <a:ext cx="4480560" cy="2468880"/>
          </a:xfrm>
          <a:prstGeom prst="roundRect">
            <a:avLst/>
          </a:prstGeom>
          <a:solidFill>
            <a:srgbClr val="F4F7F9"/>
          </a:solidFill>
          <a:ln>
            <a:solidFill>
              <a:srgbClr val="B4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C80B2"/>
                </a:solidFill>
                <a:latin typeface="Aptos Mono"/>
              </a:rPr>
              <a:t>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3474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"/>
              </a:rPr>
              <a:t>autocompleta
nombres y comandos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480560" cy="2468880"/>
          </a:xfrm>
          <a:prstGeom prst="roundRect">
            <a:avLst/>
          </a:prstGeom>
          <a:solidFill>
            <a:srgbClr val="F4F7F9"/>
          </a:solidFill>
          <a:ln>
            <a:solidFill>
              <a:srgbClr val="B4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874519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27780"/>
                </a:solidFill>
                <a:latin typeface="Aptos Mono"/>
              </a:rPr>
              <a:t>Ctrl-C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880360"/>
            <a:ext cx="3474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"/>
              </a:rPr>
              <a:t>detiene
un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 Mono"/>
              </a:rPr>
              <a:t>Prueba: `sleep 30` → Ctrl-C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¿Cuándo preferirías detener un proceso antes de que termine?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SFTP: dos lados en una misma transferencia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Piensa como FileZilla: izquierda local, derecha remoto.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B1C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6108192" y="1417320"/>
            <a:ext cx="0" cy="4023360"/>
          </a:xfrm>
          <a:prstGeom prst="line">
            <a:avLst/>
          </a:prstGeom>
          <a:ln w="19050">
            <a:solidFill>
              <a:srgbClr val="B1C2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16916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80B2"/>
                </a:solidFill>
                <a:latin typeface="Aptos"/>
              </a:rP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7780"/>
                </a:solidFill>
                <a:latin typeface="Aptos"/>
              </a:rPr>
              <a:t>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2316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▤  pacientes.md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39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▤  pacientes-metadatos.md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0332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▤  protocolo.md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▤  archivo1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63239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▤  archivo2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251960"/>
            <a:ext cx="2468880" cy="0"/>
          </a:xfrm>
          <a:prstGeom prst="line">
            <a:avLst/>
          </a:prstGeom>
          <a:ln w="25400">
            <a:solidFill>
              <a:srgbClr val="775D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6360" y="37033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75DA0"/>
                </a:solidFill>
                <a:latin typeface="Aptos Mono"/>
              </a:rPr>
              <a:t>put archivo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Dentro de `sftp&gt;`, ¿qué diferencia hay entre `lpwd` y `pwd`?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BF801D"/>
                </a:solidFill>
                <a:latin typeface="Aptos"/>
              </a:rPr>
              <a:t>🧪 PRÁCTICA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Transferir datos + metadatos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Mover el archivo es solo la mitad: después hay que confirmar.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C80B2"/>
                </a:solidFill>
                <a:latin typeface="Aptos"/>
              </a:rPr>
              <a:t>IDENTIFICA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pacientes.md
+
metadatos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8892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A0B4C2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27780"/>
                </a:solidFill>
                <a:latin typeface="Aptos"/>
              </a:rPr>
              <a:t>TRANSFIERE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SFTP / FileZilla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8892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A0B4C2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54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775DA0"/>
                </a:solidFill>
                <a:latin typeface="Aptos"/>
              </a:rPr>
              <a:t>CONFIRMA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06040"/>
            <a:ext cx="2697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4C6074"/>
                </a:solidFill>
                <a:latin typeface="Aptos Mono"/>
              </a:rPr>
              <a:t>SSH + ls -lh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434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Después: salir, volver a entrar y comprobar que siguen ahí.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¿Por qué no deberíamos transferir `pacientes.md` sin sus metadatos?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Checksum: ¿llegó intacto?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El nombre puede coincidir. La huella compara el contenido.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188720" y="1828800"/>
            <a:ext cx="2011680" cy="2331720"/>
          </a:xfrm>
          <a:prstGeom prst="foldedCorner">
            <a:avLst/>
          </a:prstGeom>
          <a:solidFill>
            <a:srgbClr val="F6F9FB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14884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C80B2"/>
                </a:solidFill>
                <a:latin typeface="Aptos Mono"/>
              </a:rPr>
              <a:t>pacientes.md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92608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 Mono"/>
              </a:rPr>
              <a:t>SHA-256
8f3a…c21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8321040" y="1828800"/>
            <a:ext cx="2011680" cy="2331720"/>
          </a:xfrm>
          <a:prstGeom prst="foldedCorner">
            <a:avLst/>
          </a:prstGeom>
          <a:solidFill>
            <a:srgbClr val="F6F9FB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214884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27780"/>
                </a:solidFill>
                <a:latin typeface="Aptos Mono"/>
              </a:rPr>
              <a:t>pacientes.md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926080"/>
            <a:ext cx="1554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D3D66"/>
                </a:solidFill>
                <a:latin typeface="Aptos Mono"/>
              </a:rPr>
              <a:t>SHA-256
8f3a…c21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68880"/>
            <a:ext cx="2560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27780"/>
                </a:solidFill>
                <a:latin typeface="Aptos Mono"/>
              </a:rPr>
              <a:t>8f3a…c21
   =
8f3a…c21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2519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D3D66"/>
                </a:solidFill>
                <a:latin typeface="Aptos"/>
              </a:rPr>
              <a:t>misma huella → mismo contenido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¿Nombre y tamaño iguales son suficientes para afirmar que dos archivos son idénticos?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34239"/>
                </a:solidFill>
                <a:latin typeface="Aptos"/>
              </a:rPr>
              <a:t>🧪 PRÁCTICA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Calcular SHA-256 según tu sistema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El objetivo es comparar la cadena, no memorizar tres comandos.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C80B2"/>
                </a:solidFill>
                <a:latin typeface="Aptos"/>
              </a:rPr>
              <a:t>macOS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128016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" y="195681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20" y="195681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89888" y="195681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293522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shasum -a 256
pacientes.md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7780"/>
                </a:solidFill>
                <a:latin typeface="Aptos"/>
              </a:rPr>
              <a:t>Linux / WSL / Git Bash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337560" cy="128016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99431" y="195681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00599" y="195681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01768" y="195681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2148840"/>
            <a:ext cx="293522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Mono"/>
              </a:rPr>
              <a:t>sha256sum
pacientes.md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41732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775DA0"/>
                </a:solidFill>
                <a:latin typeface="Aptos"/>
              </a:rPr>
              <a:t>PowerShell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337560" cy="1508760"/>
          </a:xfrm>
          <a:prstGeom prst="roundRect">
            <a:avLst/>
          </a:prstGeom>
          <a:solidFill>
            <a:srgbClr val="232B35"/>
          </a:solidFill>
          <a:ln>
            <a:solidFill>
              <a:srgbClr val="23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11312" y="1956816"/>
            <a:ext cx="100584" cy="100584"/>
          </a:xfrm>
          <a:prstGeom prst="ellipse">
            <a:avLst/>
          </a:prstGeom>
          <a:solidFill>
            <a:srgbClr val="EE5B52"/>
          </a:solidFill>
          <a:ln>
            <a:solidFill>
              <a:srgbClr val="EE5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0" y="1956816"/>
            <a:ext cx="100584" cy="100584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13648" y="1956816"/>
            <a:ext cx="100584" cy="100584"/>
          </a:xfrm>
          <a:prstGeom prst="ellipse">
            <a:avLst/>
          </a:prstGeom>
          <a:solidFill>
            <a:srgbClr val="52C368"/>
          </a:solidFill>
          <a:ln>
            <a:solidFill>
              <a:srgbClr val="52C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2148840"/>
            <a:ext cx="2935224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 Mono"/>
              </a:rPr>
              <a:t>Get-FileHash
.\pacientes.md
-Algorithm SHA256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3840480"/>
            <a:ext cx="3520440" cy="731520"/>
          </a:xfrm>
          <a:prstGeom prst="line">
            <a:avLst/>
          </a:prstGeom>
          <a:ln w="25400">
            <a:solidFill>
              <a:srgbClr val="AF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80760" y="3840480"/>
            <a:ext cx="0" cy="731520"/>
          </a:xfrm>
          <a:prstGeom prst="line">
            <a:avLst/>
          </a:prstGeom>
          <a:ln w="25400">
            <a:solidFill>
              <a:srgbClr val="AF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72200" y="3840480"/>
            <a:ext cx="3566160" cy="731520"/>
          </a:xfrm>
          <a:prstGeom prst="line">
            <a:avLst/>
          </a:prstGeom>
          <a:ln w="25400">
            <a:solidFill>
              <a:srgbClr val="AF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80560" y="461772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"/>
              </a:rPr>
              <a:t>COMPARAR HASH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Si NO coinciden, ¿qué haces antes de analizar?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29800" y="320040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1D3D66"/>
                </a:solidFill>
                <a:latin typeface="Aptos"/>
              </a:rPr>
              <a:t>📝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`protocolo.md`: deja una historia reproducible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Documenta lo que realmente ocurrió.</a:t>
            </a:r>
          </a:p>
        </p:txBody>
      </p:sp>
      <p:sp>
        <p:nvSpPr>
          <p:cNvPr id="6" name="Folded Corner 5"/>
          <p:cNvSpPr/>
          <p:nvPr/>
        </p:nvSpPr>
        <p:spPr>
          <a:xfrm>
            <a:off x="914400" y="1417320"/>
            <a:ext cx="4572000" cy="4251960"/>
          </a:xfrm>
          <a:prstGeom prst="foldedCorner">
            <a:avLst/>
          </a:prstGeom>
          <a:solidFill>
            <a:srgbClr val="FFFFFF"/>
          </a:solidFill>
          <a:ln>
            <a:solidFill>
              <a:srgbClr val="B4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3D66"/>
                </a:solidFill>
                <a:latin typeface="Aptos Mono"/>
              </a:rPr>
              <a:t>protocolo.md</a:t>
            </a:r>
          </a:p>
        </p:txBody>
      </p:sp>
      <p:sp>
        <p:nvSpPr>
          <p:cNvPr id="8" name="Oval 7"/>
          <p:cNvSpPr/>
          <p:nvPr/>
        </p:nvSpPr>
        <p:spPr>
          <a:xfrm>
            <a:off x="1417320" y="2514600"/>
            <a:ext cx="164592" cy="164592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Objetivo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3044952"/>
            <a:ext cx="164592" cy="164592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9260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Entorno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3575304"/>
            <a:ext cx="164592" cy="164592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3456432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Procedimiento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4105656"/>
            <a:ext cx="164592" cy="164592"/>
          </a:xfrm>
          <a:prstGeom prst="ellipse">
            <a:avLst/>
          </a:prstGeom>
          <a:solidFill>
            <a:srgbClr val="BF801D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986783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Verificación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1417320" y="4636008"/>
            <a:ext cx="164592" cy="164592"/>
          </a:xfrm>
          <a:prstGeom prst="ellipse">
            <a:avLst/>
          </a:prstGeom>
          <a:solidFill>
            <a:srgbClr val="C34239"/>
          </a:solidFill>
          <a:ln>
            <a:solidFill>
              <a:srgbClr val="C3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451713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Problemas y solución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4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27780"/>
                </a:solidFill>
                <a:latin typeface="Aptos"/>
              </a:rPr>
              <a:t>Escribe: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8600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C6074"/>
                </a:solidFill>
                <a:latin typeface="Aptos"/>
              </a:rPr>
              <a:t>LOCAL / REMOTO / SFTP
comandos exactos + propósito
checksums +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389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C34239"/>
                </a:solidFill>
                <a:latin typeface="Aptos"/>
              </a:rPr>
              <a:t>Nunca escribas: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contraseñas · llaves privadas · tokens
credenciales o datos sensibles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evidencia sostiene la frase “los archivos llegaron intactos”?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Tres piezas, un proyecto reproducible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Dato + significado + procedimiento.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783080"/>
            <a:ext cx="2286000" cy="2286000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39" y="226771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Mono"/>
              </a:rPr>
              <a:t>pacientes.md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971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DATOS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1783080"/>
            <a:ext cx="2286000" cy="2286000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26771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Mono"/>
              </a:rPr>
              <a:t>pacientes-
metadatos.md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783080"/>
            <a:ext cx="2286000" cy="2286000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226771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Mono"/>
              </a:rPr>
              <a:t>protocolo.md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9718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PROCEDIMIENTO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74920"/>
            <a:ext cx="6675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D3D66"/>
                </a:solidFill>
                <a:latin typeface="Aptos"/>
              </a:rPr>
              <a:t>Si falta una pieza, alguien más tendrá que adivinar.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¿Cuál de las tres podría faltar sin afectar la reproducibilidad?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Cuando algo falla: lee el error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Diagnosticar es mejor que repetir al azar.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80B2"/>
                </a:solidFill>
                <a:latin typeface="Aptos"/>
              </a:rPr>
              <a:t>“No veo la contraseña al escribir”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41732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Es normal en SSH.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075688"/>
            <a:ext cx="5074919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0" y="141732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34239"/>
                </a:solidFill>
                <a:latin typeface="Aptos"/>
              </a:rPr>
              <a:t>Permission denied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1732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Revisa usuario / credencial.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075688"/>
            <a:ext cx="5074920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34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27780"/>
                </a:solidFill>
                <a:latin typeface="Aptos"/>
              </a:rPr>
              <a:t>“No sé dónde estoy”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3464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hostname · whoami · pwd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493008"/>
            <a:ext cx="5074919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283464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75DA0"/>
                </a:solidFill>
                <a:latin typeface="Aptos"/>
              </a:rPr>
              <a:t>sftp&gt;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3464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Estás en SFTP, no en el shell.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3493008"/>
            <a:ext cx="5074920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25196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F801D"/>
                </a:solidFill>
                <a:latin typeface="Aptos"/>
              </a:rPr>
              <a:t>No such file…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25196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Revisa contexto + nombre.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910328"/>
            <a:ext cx="5074919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425196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34239"/>
                </a:solidFill>
                <a:latin typeface="Aptos"/>
              </a:rPr>
              <a:t>checksums distintos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51960"/>
            <a:ext cx="2423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→  No uses el archivo. Retransfiere.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0" y="4910328"/>
            <a:ext cx="5074920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registrarías en el protocolo además de “no funcionó”?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D3D66"/>
                </a:solidFill>
                <a:latin typeface="Aptos"/>
              </a:rPr>
              <a:t>IA después del taller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987552"/>
            <a:ext cx="10817352" cy="0"/>
          </a:xfrm>
          <a:prstGeom prst="line">
            <a:avLst/>
          </a:prstGeom>
          <a:ln w="12700">
            <a:solidFill>
              <a:srgbClr val="CD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4C6074"/>
                </a:solidFill>
                <a:latin typeface="Aptos"/>
              </a:rPr>
              <a:t>Úsala como revisora crítica, no como operadora.</a:t>
            </a:r>
          </a:p>
        </p:txBody>
      </p:sp>
      <p:sp>
        <p:nvSpPr>
          <p:cNvPr id="5" name="Oval 4"/>
          <p:cNvSpPr/>
          <p:nvPr/>
        </p:nvSpPr>
        <p:spPr>
          <a:xfrm>
            <a:off x="5074920" y="1828800"/>
            <a:ext cx="2011680" cy="2011680"/>
          </a:xfrm>
          <a:prstGeom prst="ellipse">
            <a:avLst/>
          </a:prstGeom>
          <a:solidFill>
            <a:srgbClr val="EBF7F6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4920" y="1828800"/>
            <a:ext cx="20116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1D3D66"/>
                </a:solidFill>
                <a:latin typeface="Aptos"/>
              </a:rPr>
              <a:t>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0" y="3291840"/>
            <a:ext cx="914399" cy="868680"/>
          </a:xfrm>
          <a:prstGeom prst="line">
            <a:avLst/>
          </a:prstGeom>
          <a:ln w="101600">
            <a:solidFill>
              <a:srgbClr val="22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69164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27780"/>
                </a:solidFill>
                <a:latin typeface="Aptos"/>
              </a:rPr>
              <a:t>Puede ayudarte 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 detectar pasos ambiguos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 señalar información faltante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5576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✓  cuestionar evidencia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C34239"/>
                </a:solidFill>
                <a:latin typeface="Aptos"/>
              </a:rPr>
              <a:t>No debe recibir: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3172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 credenciales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98648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 huellas/IP sensibles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65576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✗  datos privados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879592"/>
            <a:ext cx="10607040" cy="0"/>
          </a:xfrm>
          <a:prstGeom prst="line">
            <a:avLst/>
          </a:prstGeom>
          <a:ln w="19050">
            <a:solidFill>
              <a:srgbClr val="9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94360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7780"/>
                </a:solidFill>
                <a:latin typeface="Aptos"/>
              </a:rPr>
              <a:t>💬  ¿Qué reemplazarías por marcadores antes de compartir tu protocolo con una IA?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D3D66"/>
                </a:solidFill>
                <a:latin typeface="Aptos"/>
              </a:rPr>
              <a:t>Quédate con 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2588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C6074"/>
                </a:solidFill>
                <a:latin typeface="Aptos"/>
              </a:rPr>
              <a:t>Cinco ideas que deben sobrevivir a los detalles.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075688"/>
            <a:ext cx="228600" cy="228600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96596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LOCAL ≠ REMOTO ≠ SFTP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Antes de ejecutar, sabe dónde estás.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606039"/>
            <a:ext cx="9144000" cy="0"/>
          </a:xfrm>
          <a:prstGeom prst="line">
            <a:avLst/>
          </a:prstGeom>
          <a:ln w="12700">
            <a:solidFill>
              <a:srgbClr val="E6E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97280" y="2880360"/>
            <a:ext cx="228600" cy="228600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770632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Un comando escrito se puede repetir.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0632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Eso favorece la reproducibilidad.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3410711"/>
            <a:ext cx="9144000" cy="0"/>
          </a:xfrm>
          <a:prstGeom prst="line">
            <a:avLst/>
          </a:prstGeom>
          <a:ln w="12700">
            <a:solidFill>
              <a:srgbClr val="E6E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97280" y="3685032"/>
            <a:ext cx="228600" cy="228600"/>
          </a:xfrm>
          <a:prstGeom prst="ellipse">
            <a:avLst/>
          </a:prstGeom>
          <a:solidFill>
            <a:srgbClr val="775DA0"/>
          </a:solidFill>
          <a:ln>
            <a:solidFill>
              <a:srgbClr val="775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3575304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El dato viaja con sus metadatos.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75304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Sin contexto, pierde significado.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54480" y="4215384"/>
            <a:ext cx="9144000" cy="0"/>
          </a:xfrm>
          <a:prstGeom prst="line">
            <a:avLst/>
          </a:prstGeom>
          <a:ln w="12700">
            <a:solidFill>
              <a:srgbClr val="E6E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7280" y="4489704"/>
            <a:ext cx="228600" cy="228600"/>
          </a:xfrm>
          <a:prstGeom prst="ellipse">
            <a:avLst/>
          </a:prstGeom>
          <a:solidFill>
            <a:srgbClr val="BF801D"/>
          </a:solidFill>
          <a:ln>
            <a:solidFill>
              <a:srgbClr val="BF8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4379976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Que el archivo exista no basta.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79976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Comprueba su integridad.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5020056"/>
            <a:ext cx="9144000" cy="0"/>
          </a:xfrm>
          <a:prstGeom prst="line">
            <a:avLst/>
          </a:prstGeom>
          <a:ln w="12700">
            <a:solidFill>
              <a:srgbClr val="E6E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97280" y="5294376"/>
            <a:ext cx="228600" cy="228600"/>
          </a:xfrm>
          <a:prstGeom prst="ellipse">
            <a:avLst/>
          </a:prstGeom>
          <a:solidFill>
            <a:srgbClr val="C34239"/>
          </a:solidFill>
          <a:ln>
            <a:solidFill>
              <a:srgbClr val="C34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518464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D3D66"/>
                </a:solidFill>
                <a:latin typeface="Aptos"/>
              </a:rPr>
              <a:t>Documenta lo que realmente hiciste.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84648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C6074"/>
                </a:solidFill>
                <a:latin typeface="Aptos"/>
              </a:rPr>
              <a:t>Nunca documentes credenciales.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1813</Words>
  <Application>Microsoft Macintosh PowerPoint</Application>
  <PresentationFormat>Panorámica</PresentationFormat>
  <Paragraphs>290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2026-08-21T05:15:31Z</dcterms:modified>
  <cp:category/>
</cp:coreProperties>
</file>